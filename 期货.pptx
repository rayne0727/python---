
<file path=[Content_Types].xml><?xml version="1.0" encoding="utf-8"?>
<Types xmlns="http://schemas.openxmlformats.org/package/2006/content-types">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80" r:id="rId8"/>
    <p:sldId id="279" r:id="rId9"/>
    <p:sldId id="278" r:id="rId10"/>
    <p:sldId id="277" r:id="rId11"/>
    <p:sldId id="281" r:id="rId12"/>
    <p:sldId id="288" r:id="rId13"/>
    <p:sldId id="268" r:id="rId14"/>
    <p:sldId id="269" r:id="rId15"/>
    <p:sldId id="282" r:id="rId16"/>
    <p:sldId id="270" r:id="rId17"/>
    <p:sldId id="283" r:id="rId18"/>
    <p:sldId id="284" r:id="rId19"/>
    <p:sldId id="285" r:id="rId20"/>
    <p:sldId id="274" r:id="rId21"/>
    <p:sldId id="275" r:id="rId22"/>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29.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080630" y="806858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584630" y="806858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346230" y="806858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slides/_rels/slide8.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4" Type="http://schemas.openxmlformats.org/officeDocument/2006/relationships/slideLayout" Target="../slideLayouts/slideLayout1.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www.bilibili.com/video/BV1SquEzGERq/?spm_id_from=333.337.search-card.all.click&amp;vd_source=7f2d7b7b17639b7b47ddc19873c7be43" TargetMode="Externa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399030" y="2050415"/>
            <a:ext cx="7053580" cy="1986280"/>
          </a:xfrm>
          <a:prstGeom prst="rect">
            <a:avLst/>
          </a:prstGeom>
          <a:noFill/>
          <a:ln w="0" cap="flat">
            <a:noFill/>
            <a:prstDash val="solid"/>
            <a:miter lim="0"/>
          </a:ln>
        </p:spPr>
        <p:txBody>
          <a:bodyPr vert="horz" wrap="square" lIns="0" tIns="0" rIns="0" bIns="0"/>
          <a:lstStyle/>
          <a:p>
            <a:pPr algn="l" rtl="0" eaLnBrk="0">
              <a:lnSpc>
                <a:spcPct val="64000"/>
              </a:lnSpc>
            </a:pPr>
            <a:endParaRPr sz="100" dirty="0">
              <a:latin typeface="Arial" panose="020B0604020202020204"/>
              <a:ea typeface="Arial" panose="020B0604020202020204"/>
              <a:cs typeface="Arial" panose="020B0604020202020204"/>
            </a:endParaRPr>
          </a:p>
          <a:p>
            <a:pPr algn="l" rtl="0" eaLnBrk="0">
              <a:lnSpc>
                <a:spcPct val="100000"/>
              </a:lnSpc>
            </a:pPr>
            <a:r>
              <a:rPr lang="zh-CN" altLang="en-US" sz="4200" kern="0" spc="-60" dirty="0">
                <a:solidFill>
                  <a:schemeClr val="tx1">
                    <a:alpha val="100000"/>
                  </a:schemeClr>
                </a:solidFill>
                <a:latin typeface="楷体" panose="02010609060101010101" charset="-122"/>
                <a:ea typeface="楷体" panose="02010609060101010101" charset="-122"/>
                <a:cs typeface="楷体" panose="02010609060101010101" charset="-122"/>
              </a:rPr>
              <a:t>从风险管理到风险失控</a:t>
            </a:r>
            <a:endParaRPr lang="zh-CN" altLang="en-US" sz="4200" kern="0" spc="-60" dirty="0">
              <a:solidFill>
                <a:schemeClr val="tx1">
                  <a:alpha val="100000"/>
                </a:schemeClr>
              </a:solidFill>
              <a:latin typeface="楷体" panose="02010609060101010101" charset="-122"/>
              <a:ea typeface="楷体" panose="02010609060101010101" charset="-122"/>
              <a:cs typeface="楷体" panose="02010609060101010101" charset="-122"/>
            </a:endParaRPr>
          </a:p>
          <a:p>
            <a:pPr indent="457200" algn="l" rtl="0" eaLnBrk="0">
              <a:lnSpc>
                <a:spcPct val="100000"/>
              </a:lnSpc>
            </a:pPr>
            <a:r>
              <a:rPr lang="en-US" altLang="zh-CN" sz="4200" kern="0" spc="-60" dirty="0">
                <a:solidFill>
                  <a:schemeClr val="tx1">
                    <a:alpha val="100000"/>
                  </a:schemeClr>
                </a:solidFill>
                <a:latin typeface="楷体" panose="02010609060101010101" charset="-122"/>
                <a:ea typeface="楷体" panose="02010609060101010101" charset="-122"/>
                <a:cs typeface="楷体" panose="02010609060101010101" charset="-122"/>
              </a:rPr>
              <a:t> ——</a:t>
            </a:r>
            <a:r>
              <a:rPr lang="zh-CN" altLang="en-US" sz="4200" kern="0" spc="-60" dirty="0">
                <a:solidFill>
                  <a:schemeClr val="tx1">
                    <a:alpha val="100000"/>
                  </a:schemeClr>
                </a:solidFill>
                <a:latin typeface="楷体" panose="02010609060101010101" charset="-122"/>
                <a:ea typeface="楷体" panose="02010609060101010101" charset="-122"/>
                <a:cs typeface="楷体" panose="02010609060101010101" charset="-122"/>
              </a:rPr>
              <a:t>原油宝事件的当代启示</a:t>
            </a:r>
            <a:endParaRPr lang="zh-CN" altLang="en-US" sz="4200" kern="0" spc="-60" dirty="0">
              <a:solidFill>
                <a:schemeClr val="tx1">
                  <a:alpha val="100000"/>
                </a:schemeClr>
              </a:solidFill>
              <a:latin typeface="楷体" panose="02010609060101010101" charset="-122"/>
              <a:ea typeface="楷体" panose="02010609060101010101" charset="-122"/>
              <a:cs typeface="楷体" panose="02010609060101010101" charset="-122"/>
            </a:endParaRPr>
          </a:p>
          <a:p>
            <a:pPr algn="r" rtl="0" eaLnBrk="0">
              <a:lnSpc>
                <a:spcPct val="100000"/>
              </a:lnSpc>
            </a:pPr>
            <a:endParaRPr sz="1000" dirty="0">
              <a:solidFill>
                <a:schemeClr val="tx1"/>
              </a:solidFill>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ctr" rtl="0" eaLnBrk="0">
              <a:lnSpc>
                <a:spcPct val="101000"/>
              </a:lnSpc>
            </a:pPr>
            <a:r>
              <a:rPr sz="2400" kern="0" spc="-130" dirty="0">
                <a:solidFill>
                  <a:srgbClr val="000000">
                    <a:alpha val="100000"/>
                  </a:srgbClr>
                </a:solidFill>
                <a:latin typeface="楷体" panose="02010609060101010101" charset="-122"/>
                <a:ea typeface="楷体" panose="02010609060101010101" charset="-122"/>
                <a:cs typeface="楷体" panose="02010609060101010101" charset="-122"/>
              </a:rPr>
              <a:t>《金融方舟》编辑部</a:t>
            </a:r>
            <a:endParaRPr sz="2400" dirty="0">
              <a:latin typeface="楷体" panose="02010609060101010101" charset="-122"/>
              <a:ea typeface="楷体" panose="02010609060101010101" charset="-122"/>
              <a:cs typeface="楷体" panose="02010609060101010101" charset="-122"/>
            </a:endParaRPr>
          </a:p>
          <a:p>
            <a:pPr algn="ctr" rtl="0" eaLnBrk="0">
              <a:lnSpc>
                <a:spcPct val="110000"/>
              </a:lnSpc>
            </a:pPr>
            <a:r>
              <a:rPr lang="zh-CN" sz="2400" kern="0" spc="-60" dirty="0">
                <a:solidFill>
                  <a:srgbClr val="000000">
                    <a:alpha val="100000"/>
                  </a:srgbClr>
                </a:solidFill>
                <a:latin typeface="楷体" panose="02010609060101010101" charset="-122"/>
                <a:ea typeface="楷体" panose="02010609060101010101" charset="-122"/>
                <a:cs typeface="楷体" panose="02010609060101010101" charset="-122"/>
              </a:rPr>
              <a:t>邓湘雯</a:t>
            </a:r>
            <a:endParaRPr lang="zh-CN" sz="2400" kern="0" spc="-60" dirty="0">
              <a:solidFill>
                <a:srgbClr val="000000">
                  <a:alpha val="100000"/>
                </a:srgbClr>
              </a:solidFill>
              <a:latin typeface="楷体" panose="02010609060101010101" charset="-122"/>
              <a:ea typeface="楷体" panose="02010609060101010101" charset="-122"/>
              <a:cs typeface="楷体" panose="02010609060101010101" charset="-122"/>
            </a:endParaRPr>
          </a:p>
          <a:p>
            <a:pPr algn="ctr" rtl="0" eaLnBrk="0">
              <a:lnSpc>
                <a:spcPct val="110000"/>
              </a:lnSpc>
            </a:pPr>
            <a:r>
              <a:rPr sz="2400" kern="0" spc="-10" dirty="0">
                <a:solidFill>
                  <a:srgbClr val="000000">
                    <a:alpha val="100000"/>
                  </a:srgbClr>
                </a:solidFill>
                <a:latin typeface="Times New Roman" panose="02020603050405020304"/>
                <a:ea typeface="Times New Roman" panose="02020603050405020304"/>
                <a:cs typeface="Times New Roman" panose="02020603050405020304"/>
              </a:rPr>
              <a:t>2025</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年</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10</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月</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a:t>
            </a:r>
            <a:r>
              <a:rPr lang="en-US" sz="2400" kern="0" spc="-10" dirty="0">
                <a:solidFill>
                  <a:srgbClr val="000000">
                    <a:alpha val="100000"/>
                  </a:srgbClr>
                </a:solidFill>
                <a:latin typeface="Times New Roman" panose="02020603050405020304"/>
                <a:ea typeface="Times New Roman" panose="02020603050405020304"/>
                <a:cs typeface="Times New Roman" panose="02020603050405020304"/>
              </a:rPr>
              <a:t>9</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日</a:t>
            </a:r>
            <a:endParaRPr sz="2400" dirty="0">
              <a:latin typeface="楷体" panose="02010609060101010101" charset="-122"/>
              <a:ea typeface="楷体" panose="02010609060101010101" charset="-122"/>
              <a:cs typeface="楷体" panose="02010609060101010101" charset="-122"/>
            </a:endParaRPr>
          </a:p>
        </p:txBody>
      </p:sp>
      <p:sp>
        <p:nvSpPr>
          <p:cNvPr id="4" name="rect 4"/>
          <p:cNvSpPr/>
          <p:nvPr/>
        </p:nvSpPr>
        <p:spPr>
          <a:xfrm>
            <a:off x="0" y="0"/>
            <a:ext cx="12192000" cy="357759"/>
          </a:xfrm>
          <a:prstGeom prst="rect">
            <a:avLst/>
          </a:prstGeom>
          <a:solidFill>
            <a:schemeClr val="accent6"/>
          </a:solidFill>
          <a:ln w="0" cap="flat">
            <a:noFill/>
            <a:prstDash val="solid"/>
            <a:miter lim="0"/>
          </a:ln>
        </p:spPr>
        <p:txBody>
          <a:bodyPr rtlCol="0"/>
          <a:lstStyle/>
          <a:p>
            <a:pPr algn="ctr"/>
            <a:endParaRPr lang="zh-CN" altLang="en-US"/>
          </a:p>
        </p:txBody>
      </p:sp>
      <p:pic>
        <p:nvPicPr>
          <p:cNvPr id="6" name="picture 6"/>
          <p:cNvPicPr>
            <a:picLocks noChangeAspect="1"/>
          </p:cNvPicPr>
          <p:nvPr/>
        </p:nvPicPr>
        <p:blipFill>
          <a:blip r:embed="rId1"/>
          <a:stretch>
            <a:fillRect/>
          </a:stretch>
        </p:blipFill>
        <p:spPr>
          <a:xfrm rot="21600000">
            <a:off x="28721" y="459073"/>
            <a:ext cx="3962265" cy="729085"/>
          </a:xfrm>
          <a:prstGeom prst="rect">
            <a:avLst/>
          </a:prstGeom>
        </p:spPr>
      </p:pic>
      <p:sp>
        <p:nvSpPr>
          <p:cNvPr id="24" name="path 24"/>
          <p:cNvSpPr/>
          <p:nvPr/>
        </p:nvSpPr>
        <p:spPr>
          <a:xfrm>
            <a:off x="0" y="681228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 10"/>
          <p:cNvSpPr/>
          <p:nvPr/>
        </p:nvSpPr>
        <p:spPr>
          <a:xfrm>
            <a:off x="3681983" y="2924936"/>
            <a:ext cx="306120" cy="292480"/>
          </a:xfrm>
          <a:prstGeom prst="rect">
            <a:avLst/>
          </a:prstGeom>
          <a:solidFill>
            <a:schemeClr val="accent6"/>
          </a:solidFill>
          <a:ln w="0" cap="flat">
            <a:noFill/>
            <a:prstDash val="solid"/>
            <a:miter lim="0"/>
          </a:ln>
        </p:spPr>
        <p:txBody>
          <a:bodyPr rtlCol="0"/>
          <a:lstStyle/>
          <a:p>
            <a:pPr algn="ctr"/>
            <a:endParaRPr lang="zh-CN" altLang="en-US"/>
          </a:p>
        </p:txBody>
      </p:sp>
      <p:sp>
        <p:nvSpPr>
          <p:cNvPr id="12" name="rect 12"/>
          <p:cNvSpPr/>
          <p:nvPr/>
        </p:nvSpPr>
        <p:spPr>
          <a:xfrm>
            <a:off x="3681983" y="3886834"/>
            <a:ext cx="306120" cy="292480"/>
          </a:xfrm>
          <a:prstGeom prst="rect">
            <a:avLst/>
          </a:prstGeom>
          <a:solidFill>
            <a:schemeClr val="accent6"/>
          </a:solidFill>
          <a:ln w="0" cap="flat">
            <a:noFill/>
            <a:prstDash val="solid"/>
            <a:miter lim="0"/>
          </a:ln>
        </p:spPr>
        <p:txBody>
          <a:bodyPr rtlCol="0"/>
          <a:lstStyle/>
          <a:p>
            <a:pPr algn="ctr"/>
            <a:endParaRPr lang="zh-CN" altLang="en-US"/>
          </a:p>
        </p:txBody>
      </p:sp>
      <p:sp>
        <p:nvSpPr>
          <p:cNvPr id="16" name="rect 16"/>
          <p:cNvSpPr/>
          <p:nvPr/>
        </p:nvSpPr>
        <p:spPr>
          <a:xfrm>
            <a:off x="3681983" y="3405885"/>
            <a:ext cx="306120" cy="292481"/>
          </a:xfrm>
          <a:prstGeom prst="rect">
            <a:avLst/>
          </a:prstGeom>
          <a:solidFill>
            <a:schemeClr val="accent6"/>
          </a:solidFill>
          <a:ln w="0" cap="flat">
            <a:noFill/>
            <a:prstDash val="solid"/>
            <a:miter lim="0"/>
          </a:ln>
        </p:spPr>
        <p:txBody>
          <a:bodyPr rtlCol="0"/>
          <a:lstStyle/>
          <a:p>
            <a:pPr algn="ctr"/>
            <a:endParaRPr lang="zh-CN" altLang="en-US"/>
          </a:p>
        </p:txBody>
      </p:sp>
      <p:sp>
        <p:nvSpPr>
          <p:cNvPr id="18" name="rect 18"/>
          <p:cNvSpPr/>
          <p:nvPr/>
        </p:nvSpPr>
        <p:spPr>
          <a:xfrm>
            <a:off x="3685413" y="1951482"/>
            <a:ext cx="306120" cy="292480"/>
          </a:xfrm>
          <a:prstGeom prst="rect">
            <a:avLst/>
          </a:prstGeom>
          <a:solidFill>
            <a:schemeClr val="accent6"/>
          </a:solidFill>
          <a:ln w="0" cap="flat">
            <a:noFill/>
            <a:prstDash val="solid"/>
            <a:miter lim="0"/>
          </a:ln>
        </p:spPr>
        <p:txBody>
          <a:bodyPr rtlCol="0"/>
          <a:lstStyle/>
          <a:p>
            <a:pPr algn="ctr"/>
            <a:endParaRPr lang="zh-CN" altLang="en-US"/>
          </a:p>
        </p:txBody>
      </p:sp>
      <p:sp>
        <p:nvSpPr>
          <p:cNvPr id="20" name="rect 20"/>
          <p:cNvSpPr/>
          <p:nvPr/>
        </p:nvSpPr>
        <p:spPr>
          <a:xfrm>
            <a:off x="3685413" y="2438273"/>
            <a:ext cx="306120" cy="292480"/>
          </a:xfrm>
          <a:prstGeom prst="rect">
            <a:avLst/>
          </a:prstGeom>
          <a:solidFill>
            <a:schemeClr val="accent6"/>
          </a:solidFill>
          <a:ln w="0" cap="flat">
            <a:noFill/>
            <a:prstDash val="solid"/>
            <a:miter lim="0"/>
          </a:ln>
        </p:spPr>
        <p:txBody>
          <a:bodyPr rtlCol="0"/>
          <a:lstStyle/>
          <a:p>
            <a:pPr algn="ctr"/>
            <a:endParaRPr lang="zh-CN" altLang="en-US"/>
          </a:p>
        </p:txBody>
      </p:sp>
      <p:sp>
        <p:nvSpPr>
          <p:cNvPr id="22" name="textbox 22"/>
          <p:cNvSpPr/>
          <p:nvPr/>
        </p:nvSpPr>
        <p:spPr>
          <a:xfrm>
            <a:off x="3648075" y="1951355"/>
            <a:ext cx="4895215" cy="2743835"/>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86000"/>
              </a:lnSpc>
              <a:tabLst>
                <a:tab pos="134620" algn="l"/>
              </a:tabLst>
            </a:pPr>
            <a:r>
              <a:rPr sz="1700" kern="0" spc="0" dirty="0">
                <a:solidFill>
                  <a:srgbClr val="FFFFFF">
                    <a:alpha val="100000"/>
                  </a:srgbClr>
                </a:solidFill>
                <a:latin typeface="Times New Roman" panose="02020603050405020304"/>
                <a:ea typeface="Times New Roman" panose="02020603050405020304"/>
                <a:cs typeface="Times New Roman" panose="02020603050405020304"/>
              </a:rPr>
              <a:t>	</a:t>
            </a:r>
            <a:r>
              <a:rPr sz="2700" kern="0" spc="-20" baseline="15000" dirty="0">
                <a:solidFill>
                  <a:srgbClr val="FFFFFF">
                    <a:alpha val="100000"/>
                  </a:srgbClr>
                </a:solidFill>
                <a:latin typeface="Times New Roman" panose="02020603050405020304"/>
                <a:ea typeface="Times New Roman" panose="02020603050405020304"/>
                <a:cs typeface="Times New Roman" panose="02020603050405020304"/>
              </a:rPr>
              <a:t>1</a:t>
            </a:r>
            <a:r>
              <a:rPr sz="1700" kern="0" spc="-20" dirty="0">
                <a:solidFill>
                  <a:srgbClr val="FFFFFF">
                    <a:alpha val="100000"/>
                  </a:srgbClr>
                </a:solidFill>
                <a:latin typeface="Times New Roman" panose="02020603050405020304"/>
                <a:ea typeface="Times New Roman" panose="02020603050405020304"/>
                <a:cs typeface="Times New Roman" panose="02020603050405020304"/>
              </a:rPr>
              <a:t>        </a:t>
            </a:r>
            <a:r>
              <a:rPr lang="zh-CN" sz="2400" kern="0" spc="-20" dirty="0">
                <a:solidFill>
                  <a:srgbClr val="000000">
                    <a:alpha val="100000"/>
                  </a:srgbClr>
                </a:solidFill>
                <a:latin typeface="楷体" panose="02010609060101010101" charset="-122"/>
                <a:ea typeface="楷体" panose="02010609060101010101" charset="-122"/>
                <a:cs typeface="楷体" panose="02010609060101010101" charset="-122"/>
              </a:rPr>
              <a:t>期货</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介绍</a:t>
            </a:r>
            <a:endParaRPr sz="2400" dirty="0">
              <a:latin typeface="楷体" panose="02010609060101010101" charset="-122"/>
              <a:ea typeface="楷体" panose="02010609060101010101" charset="-122"/>
              <a:cs typeface="楷体" panose="02010609060101010101" charset="-122"/>
            </a:endParaRPr>
          </a:p>
          <a:p>
            <a:pPr marL="113665" algn="l" rtl="0" eaLnBrk="0">
              <a:lnSpc>
                <a:spcPct val="85000"/>
              </a:lnSpc>
              <a:spcBef>
                <a:spcPts val="1335"/>
              </a:spcBef>
            </a:pPr>
            <a:r>
              <a:rPr sz="2700" kern="0" spc="-10" baseline="15000" dirty="0">
                <a:solidFill>
                  <a:srgbClr val="FFFFFF">
                    <a:alpha val="100000"/>
                  </a:srgbClr>
                </a:solidFill>
                <a:latin typeface="Times New Roman" panose="02020603050405020304"/>
                <a:ea typeface="Times New Roman" panose="02020603050405020304"/>
                <a:cs typeface="Times New Roman" panose="02020603050405020304"/>
              </a:rPr>
              <a:t>2</a:t>
            </a:r>
            <a:r>
              <a:rPr sz="1700" kern="0" spc="40" dirty="0">
                <a:solidFill>
                  <a:srgbClr val="FFFFFF">
                    <a:alpha val="100000"/>
                  </a:srgbClr>
                </a:solidFill>
                <a:latin typeface="Times New Roman" panose="02020603050405020304"/>
                <a:ea typeface="Times New Roman" panose="02020603050405020304"/>
                <a:cs typeface="Times New Roman" panose="02020603050405020304"/>
              </a:rPr>
              <a:t>       </a:t>
            </a:r>
            <a:r>
              <a:rPr lang="zh-CN" sz="2400" kern="0" spc="-10" dirty="0">
                <a:solidFill>
                  <a:srgbClr val="000000">
                    <a:alpha val="100000"/>
                  </a:srgbClr>
                </a:solidFill>
                <a:latin typeface="楷体" panose="02010609060101010101" charset="-122"/>
                <a:ea typeface="楷体" panose="02010609060101010101" charset="-122"/>
                <a:cs typeface="楷体" panose="02010609060101010101" charset="-122"/>
              </a:rPr>
              <a:t>期货运作机制与定价逻辑</a:t>
            </a:r>
            <a:endParaRPr sz="2400" dirty="0">
              <a:latin typeface="楷体" panose="02010609060101010101" charset="-122"/>
              <a:ea typeface="楷体" panose="02010609060101010101" charset="-122"/>
              <a:cs typeface="楷体" panose="02010609060101010101" charset="-122"/>
            </a:endParaRPr>
          </a:p>
          <a:p>
            <a:pPr marL="108585" algn="l" rtl="0" eaLnBrk="0">
              <a:lnSpc>
                <a:spcPct val="83000"/>
              </a:lnSpc>
              <a:spcBef>
                <a:spcPts val="1360"/>
              </a:spcBef>
            </a:pPr>
            <a:r>
              <a:rPr sz="2700" kern="0" spc="-10" baseline="15000" dirty="0">
                <a:solidFill>
                  <a:srgbClr val="FFFFFF">
                    <a:alpha val="100000"/>
                  </a:srgbClr>
                </a:solidFill>
                <a:latin typeface="Times New Roman" panose="02020603050405020304"/>
                <a:ea typeface="Times New Roman" panose="02020603050405020304"/>
                <a:cs typeface="Times New Roman" panose="02020603050405020304"/>
                <a:sym typeface="+mn-ea"/>
              </a:rPr>
              <a:t>3 </a:t>
            </a:r>
            <a:r>
              <a:rPr sz="2700" kern="0" spc="40" dirty="0">
                <a:solidFill>
                  <a:srgbClr val="FFFFFF">
                    <a:alpha val="100000"/>
                  </a:srgbClr>
                </a:solidFill>
                <a:latin typeface="Times New Roman" panose="02020603050405020304"/>
                <a:ea typeface="Times New Roman" panose="02020603050405020304"/>
                <a:cs typeface="Times New Roman" panose="02020603050405020304"/>
                <a:sym typeface="+mn-ea"/>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sym typeface="+mn-ea"/>
              </a:rPr>
              <a:t>原油宝事件</a:t>
            </a:r>
            <a:endParaRPr sz="2700" dirty="0">
              <a:latin typeface="楷体" panose="02010609060101010101" charset="-122"/>
              <a:ea typeface="楷体" panose="02010609060101010101" charset="-122"/>
              <a:cs typeface="楷体" panose="02010609060101010101" charset="-122"/>
            </a:endParaRPr>
          </a:p>
          <a:p>
            <a:pPr marL="108585" algn="l" rtl="0" eaLnBrk="0">
              <a:lnSpc>
                <a:spcPct val="83000"/>
              </a:lnSpc>
              <a:spcBef>
                <a:spcPts val="1360"/>
              </a:spcBef>
            </a:pPr>
            <a:r>
              <a:rPr sz="2700" kern="0" spc="0" baseline="14000" dirty="0">
                <a:solidFill>
                  <a:srgbClr val="FFFFFF">
                    <a:alpha val="100000"/>
                  </a:srgbClr>
                </a:solidFill>
                <a:latin typeface="Times New Roman" panose="02020603050405020304"/>
                <a:ea typeface="Times New Roman" panose="02020603050405020304"/>
                <a:cs typeface="Times New Roman" panose="02020603050405020304"/>
              </a:rPr>
              <a:t>4</a:t>
            </a:r>
            <a:r>
              <a:rPr sz="1700" kern="0" spc="0" dirty="0">
                <a:solidFill>
                  <a:srgbClr val="FFFFFF">
                    <a:alpha val="100000"/>
                  </a:srgbClr>
                </a:solidFill>
                <a:latin typeface="Times New Roman" panose="02020603050405020304"/>
                <a:ea typeface="Times New Roman" panose="02020603050405020304"/>
                <a:cs typeface="Times New Roman" panose="02020603050405020304"/>
              </a:rPr>
              <a:t>        </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讨论点</a:t>
            </a:r>
            <a:endParaRPr sz="2400" dirty="0">
              <a:latin typeface="楷体" panose="02010609060101010101" charset="-122"/>
              <a:ea typeface="楷体" panose="02010609060101010101" charset="-122"/>
              <a:cs typeface="楷体" panose="02010609060101010101" charset="-122"/>
            </a:endParaRPr>
          </a:p>
          <a:p>
            <a:pPr marL="116205" algn="l" rtl="0" eaLnBrk="0">
              <a:lnSpc>
                <a:spcPct val="85000"/>
              </a:lnSpc>
              <a:spcBef>
                <a:spcPts val="1400"/>
              </a:spcBef>
            </a:pPr>
            <a:r>
              <a:rPr sz="2700" kern="0" spc="-10" baseline="15000" dirty="0">
                <a:solidFill>
                  <a:srgbClr val="FFFFFF">
                    <a:alpha val="100000"/>
                  </a:srgbClr>
                </a:solidFill>
                <a:latin typeface="Times New Roman" panose="02020603050405020304"/>
                <a:ea typeface="Times New Roman" panose="02020603050405020304"/>
                <a:cs typeface="Times New Roman" panose="02020603050405020304"/>
              </a:rPr>
              <a:t>5</a:t>
            </a:r>
            <a:r>
              <a:rPr sz="1700" kern="0" spc="-10" dirty="0">
                <a:solidFill>
                  <a:srgbClr val="FFFFFF">
                    <a:alpha val="100000"/>
                  </a:srgbClr>
                </a:solidFill>
                <a:latin typeface="Times New Roman" panose="02020603050405020304"/>
                <a:ea typeface="Times New Roman" panose="02020603050405020304"/>
                <a:cs typeface="Times New Roman" panose="02020603050405020304"/>
              </a:rPr>
              <a:t>        </a:t>
            </a:r>
            <a:r>
              <a:rPr lang="zh-CN" altLang="en-US" sz="2400" dirty="0">
                <a:latin typeface="楷体" panose="02010609060101010101" charset="-122"/>
                <a:ea typeface="楷体" panose="02010609060101010101" charset="-122"/>
                <a:cs typeface="楷体" panose="02010609060101010101" charset="-122"/>
              </a:rPr>
              <a:t>衍生品全景与学术视野</a:t>
            </a:r>
            <a:endParaRPr lang="zh-CN" altLang="en-US" sz="2400" dirty="0">
              <a:latin typeface="楷体" panose="02010609060101010101" charset="-122"/>
              <a:ea typeface="楷体" panose="02010609060101010101" charset="-122"/>
              <a:cs typeface="楷体" panose="02010609060101010101" charset="-122"/>
            </a:endParaRPr>
          </a:p>
          <a:p>
            <a:pPr algn="l" rtl="0" eaLnBrk="0">
              <a:lnSpc>
                <a:spcPct val="102000"/>
              </a:lnSpc>
            </a:pPr>
            <a:endParaRPr sz="1100" dirty="0">
              <a:latin typeface="Arial" panose="020B0604020202020204"/>
              <a:ea typeface="Arial" panose="020B0604020202020204"/>
              <a:cs typeface="Arial" panose="020B0604020202020204"/>
            </a:endParaRPr>
          </a:p>
          <a:p>
            <a:pPr algn="l" rtl="0" eaLnBrk="0">
              <a:lnSpc>
                <a:spcPct val="10000"/>
              </a:lnSpc>
            </a:pPr>
            <a:endParaRPr sz="2400" dirty="0">
              <a:latin typeface="楷体" panose="02010609060101010101" charset="-122"/>
              <a:ea typeface="楷体" panose="02010609060101010101" charset="-122"/>
              <a:cs typeface="楷体" panose="02010609060101010101" charset="-122"/>
            </a:endParaRPr>
          </a:p>
        </p:txBody>
      </p:sp>
      <p:sp>
        <p:nvSpPr>
          <p:cNvPr id="24" name="path 24"/>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26" name="path 26"/>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28" name="textbox 28"/>
          <p:cNvSpPr/>
          <p:nvPr/>
        </p:nvSpPr>
        <p:spPr>
          <a:xfrm>
            <a:off x="322753" y="270946"/>
            <a:ext cx="913130" cy="533400"/>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20204"/>
              <a:ea typeface="Arial" panose="020B0604020202020204"/>
              <a:cs typeface="Arial" panose="020B0604020202020204"/>
            </a:endParaRPr>
          </a:p>
          <a:p>
            <a:pPr algn="r" rtl="0" eaLnBrk="0">
              <a:lnSpc>
                <a:spcPct val="88000"/>
              </a:lnSpc>
            </a:pPr>
            <a:r>
              <a:rPr sz="3800" b="1" kern="0" spc="-550" dirty="0">
                <a:solidFill>
                  <a:schemeClr val="tx1">
                    <a:alpha val="100000"/>
                  </a:schemeClr>
                </a:solidFill>
                <a:latin typeface="楷体" panose="02010609060101010101" charset="-122"/>
                <a:ea typeface="楷体" panose="02010609060101010101" charset="-122"/>
                <a:cs typeface="楷体" panose="02010609060101010101" charset="-122"/>
              </a:rPr>
              <a:t>目</a:t>
            </a:r>
            <a:r>
              <a:rPr sz="3800" b="1" kern="0" spc="-110" dirty="0">
                <a:solidFill>
                  <a:schemeClr val="tx1">
                    <a:alpha val="100000"/>
                  </a:schemeClr>
                </a:solidFill>
                <a:latin typeface="楷体" panose="02010609060101010101" charset="-122"/>
                <a:ea typeface="楷体" panose="02010609060101010101" charset="-122"/>
                <a:cs typeface="楷体" panose="02010609060101010101" charset="-122"/>
              </a:rPr>
              <a:t>录</a:t>
            </a:r>
            <a:endParaRPr sz="3800" b="1" kern="0" spc="-110" dirty="0">
              <a:solidFill>
                <a:schemeClr val="tx1">
                  <a:alpha val="100000"/>
                </a:schemeClr>
              </a:solidFill>
              <a:latin typeface="楷体" panose="02010609060101010101" charset="-122"/>
              <a:ea typeface="楷体" panose="02010609060101010101" charset="-122"/>
              <a:cs typeface="楷体" panose="02010609060101010101" charset="-122"/>
            </a:endParaRPr>
          </a:p>
        </p:txBody>
      </p:sp>
      <p:sp>
        <p:nvSpPr>
          <p:cNvPr id="30" name="textbox 30"/>
          <p:cNvSpPr/>
          <p:nvPr/>
        </p:nvSpPr>
        <p:spPr>
          <a:xfrm>
            <a:off x="11869191" y="6478473"/>
            <a:ext cx="98425" cy="1644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6000"/>
              </a:lnSpc>
            </a:pPr>
            <a:endParaRPr sz="12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2"/>
          <p:cNvSpPr/>
          <p:nvPr/>
        </p:nvSpPr>
        <p:spPr>
          <a:xfrm>
            <a:off x="591820" y="1413510"/>
            <a:ext cx="11148060" cy="450596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a:ea typeface="Arial" panose="020B0604020202020204"/>
              <a:cs typeface="Arial" panose="020B0604020202020204"/>
            </a:endParaRPr>
          </a:p>
          <a:p>
            <a:pPr marL="25400" algn="l" rtl="0" eaLnBrk="0">
              <a:lnSpc>
                <a:spcPct val="90000"/>
              </a:lnSpc>
            </a:pP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1. </a:t>
            </a:r>
            <a:r>
              <a:rPr lang="zh-CN" sz="2400" b="1" kern="0" spc="-120" dirty="0">
                <a:solidFill>
                  <a:srgbClr val="000000">
                    <a:alpha val="100000"/>
                  </a:srgbClr>
                </a:solidFill>
                <a:latin typeface="华文楷体" panose="02010600040101010101" charset="-122"/>
                <a:ea typeface="华文楷体" panose="02010600040101010101" charset="-122"/>
                <a:cs typeface="Times New Roman" panose="02020603050405020304"/>
              </a:rPr>
              <a:t>什么是期货</a:t>
            </a:r>
            <a:r>
              <a:rPr sz="2400" b="1" kern="0" spc="-120" dirty="0">
                <a:solidFill>
                  <a:srgbClr val="000000">
                    <a:alpha val="100000"/>
                  </a:srgbClr>
                </a:solidFill>
                <a:latin typeface="华文楷体" panose="02010600040101010101" charset="-122"/>
                <a:ea typeface="华文楷体" panose="02010600040101010101" charset="-122"/>
                <a:cs typeface="楷体" panose="02010609060101010101" charset="-122"/>
              </a:rPr>
              <a:t>？</a:t>
            </a:r>
            <a:endParaRPr sz="2400" dirty="0">
              <a:latin typeface="楷体" panose="02010609060101010101" charset="-122"/>
              <a:ea typeface="楷体" panose="02010609060101010101" charset="-122"/>
              <a:cs typeface="楷体" panose="02010609060101010101" charset="-122"/>
            </a:endParaRPr>
          </a:p>
          <a:p>
            <a:pPr marL="365760" indent="-335280" algn="l" rtl="0" eaLnBrk="0">
              <a:lnSpc>
                <a:spcPct val="90000"/>
              </a:lnSpc>
              <a:spcBef>
                <a:spcPts val="395"/>
              </a:spcBef>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350" dirty="0">
                <a:solidFill>
                  <a:srgbClr val="000000">
                    <a:alpha val="100000"/>
                  </a:srgbClr>
                </a:solidFill>
                <a:latin typeface="Wingdings" panose="05000000000000000000"/>
                <a:ea typeface="Wingdings" panose="05000000000000000000"/>
                <a:cs typeface="Wingdings" panose="05000000000000000000"/>
              </a:rPr>
              <a:t> </a:t>
            </a:r>
            <a:r>
              <a:rPr lang="zh-CN" altLang="en-US" sz="2400" dirty="0">
                <a:latin typeface="楷体" panose="02010609060101010101" charset="-122"/>
                <a:ea typeface="楷体" panose="02010609060101010101" charset="-122"/>
                <a:cs typeface="楷体" panose="02010609060101010101" charset="-122"/>
              </a:rPr>
              <a:t>期货合约：在未来特定时间，以事先约定价格，</a:t>
            </a:r>
            <a:r>
              <a:rPr lang="zh-CN" altLang="en-US" sz="2400" b="1" dirty="0">
                <a:latin typeface="楷体" panose="02010609060101010101" charset="-122"/>
                <a:ea typeface="楷体" panose="02010609060101010101" charset="-122"/>
                <a:cs typeface="楷体" panose="02010609060101010101" charset="-122"/>
              </a:rPr>
              <a:t>交易标准化</a:t>
            </a:r>
            <a:r>
              <a:rPr lang="zh-CN" altLang="en-US" sz="2400" dirty="0">
                <a:latin typeface="楷体" panose="02010609060101010101" charset="-122"/>
                <a:ea typeface="楷体" panose="02010609060101010101" charset="-122"/>
                <a:cs typeface="楷体" panose="02010609060101010101" charset="-122"/>
              </a:rPr>
              <a:t>数量的某种资产（商品、金融工具、指数等）的法律协议。</a:t>
            </a:r>
            <a:endParaRPr lang="zh-CN" altLang="en-US" sz="2400" dirty="0">
              <a:latin typeface="楷体" panose="02010609060101010101" charset="-122"/>
              <a:ea typeface="楷体" panose="02010609060101010101" charset="-122"/>
              <a:cs typeface="楷体" panose="02010609060101010101" charset="-122"/>
            </a:endParaRPr>
          </a:p>
          <a:p>
            <a:pPr marL="365760" indent="-335280" algn="l" rtl="0" eaLnBrk="0">
              <a:lnSpc>
                <a:spcPct val="90000"/>
              </a:lnSpc>
              <a:spcBef>
                <a:spcPts val="395"/>
              </a:spcBef>
            </a:pPr>
            <a:r>
              <a:rPr sz="2400" kern="0" spc="-1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2400" dirty="0">
                <a:latin typeface="楷体" panose="02010609060101010101" charset="-122"/>
                <a:ea typeface="楷体" panose="02010609060101010101" charset="-122"/>
                <a:cs typeface="楷体" panose="02010609060101010101" charset="-122"/>
                <a:sym typeface="+mn-ea"/>
              </a:rPr>
              <a:t> </a:t>
            </a:r>
            <a:r>
              <a:rPr lang="zh-CN" altLang="en-US" sz="2400" dirty="0">
                <a:latin typeface="楷体" panose="02010609060101010101" charset="-122"/>
                <a:ea typeface="楷体" panose="02010609060101010101" charset="-122"/>
                <a:cs typeface="楷体" panose="02010609060101010101" charset="-122"/>
              </a:rPr>
              <a:t>本质：是对未来价格的</a:t>
            </a:r>
            <a:r>
              <a:rPr lang="zh-CN" sz="2400" dirty="0">
                <a:latin typeface="楷体" panose="02010609060101010101" charset="-122"/>
                <a:ea typeface="楷体" panose="02010609060101010101" charset="-122"/>
                <a:cs typeface="楷体" panose="02010609060101010101" charset="-122"/>
              </a:rPr>
              <a:t>锁定或对赌</a:t>
            </a:r>
            <a:r>
              <a:rPr lang="zh-CN" altLang="en-US" sz="2400" dirty="0">
                <a:latin typeface="楷体" panose="02010609060101010101" charset="-122"/>
                <a:ea typeface="楷体" panose="02010609060101010101" charset="-122"/>
                <a:cs typeface="楷体" panose="02010609060101010101" charset="-122"/>
              </a:rPr>
              <a:t>。它不一定是为实物交割而生，更多是起到价格发现与套期保值的作用。</a:t>
            </a:r>
            <a:endParaRPr lang="zh-CN" altLang="en-US" sz="2400" dirty="0">
              <a:latin typeface="楷体" panose="02010609060101010101" charset="-122"/>
              <a:ea typeface="楷体" panose="02010609060101010101" charset="-122"/>
              <a:cs typeface="楷体" panose="02010609060101010101" charset="-122"/>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12700" algn="l" rtl="0" eaLnBrk="0">
              <a:lnSpc>
                <a:spcPct val="90000"/>
              </a:lnSpc>
              <a:spcBef>
                <a:spcPts val="725"/>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2. </a:t>
            </a:r>
            <a:r>
              <a:rPr lang="zh-CN" sz="2400" b="1" kern="0" spc="-10" dirty="0">
                <a:solidFill>
                  <a:srgbClr val="000000">
                    <a:alpha val="100000"/>
                  </a:srgbClr>
                </a:solidFill>
                <a:latin typeface="楷体" panose="02010609060101010101" charset="-122"/>
                <a:ea typeface="楷体" panose="02010609060101010101" charset="-122"/>
                <a:cs typeface="楷体" panose="02010609060101010101" charset="-122"/>
              </a:rPr>
              <a:t>期货的特征</a:t>
            </a:r>
            <a:endParaRPr sz="2400" dirty="0">
              <a:latin typeface="楷体" panose="02010609060101010101" charset="-122"/>
              <a:ea typeface="楷体" panose="02010609060101010101" charset="-122"/>
              <a:cs typeface="楷体" panose="02010609060101010101" charset="-122"/>
            </a:endParaRPr>
          </a:p>
          <a:p>
            <a:pPr marL="30480" algn="l" rtl="0" eaLnBrk="0">
              <a:lnSpc>
                <a:spcPct val="90000"/>
              </a:lnSpc>
              <a:spcBef>
                <a:spcPts val="290"/>
              </a:spcBef>
            </a:pPr>
            <a:r>
              <a:rPr sz="2400" kern="0" spc="-20" dirty="0">
                <a:solidFill>
                  <a:srgbClr val="000000">
                    <a:alpha val="100000"/>
                  </a:srgbClr>
                </a:solidFill>
                <a:latin typeface="Wingdings" panose="05000000000000000000"/>
                <a:ea typeface="Wingdings" panose="05000000000000000000"/>
                <a:cs typeface="Wingdings" panose="05000000000000000000"/>
              </a:rPr>
              <a:t>n</a:t>
            </a:r>
            <a:r>
              <a:rPr sz="2400" kern="0" spc="-1220" dirty="0">
                <a:solidFill>
                  <a:srgbClr val="000000">
                    <a:alpha val="100000"/>
                  </a:srgbClr>
                </a:solidFill>
                <a:latin typeface="Wingdings" panose="05000000000000000000"/>
                <a:ea typeface="Wingdings" panose="05000000000000000000"/>
                <a:cs typeface="Wingdings" panose="05000000000000000000"/>
              </a:rPr>
              <a:t> </a:t>
            </a:r>
            <a:r>
              <a:rPr lang="zh-CN" altLang="en-US" sz="2400" dirty="0">
                <a:latin typeface="楷体" panose="02010609060101010101" charset="-122"/>
                <a:ea typeface="楷体" panose="02010609060101010101" charset="-122"/>
                <a:cs typeface="楷体" panose="02010609060101010101" charset="-122"/>
              </a:rPr>
              <a:t>高杠杆：保证金交易，以小博大，放大收益也放大风险。</a:t>
            </a:r>
            <a:endParaRPr lang="zh-CN" altLang="en-US" sz="2400" kern="0" spc="30" dirty="0">
              <a:solidFill>
                <a:srgbClr val="000000">
                  <a:alpha val="100000"/>
                </a:srgbClr>
              </a:solidFill>
              <a:latin typeface="Wingdings" panose="05000000000000000000"/>
              <a:ea typeface="Wingdings" panose="05000000000000000000"/>
              <a:cs typeface="Wingdings" panose="05000000000000000000"/>
            </a:endParaRPr>
          </a:p>
          <a:p>
            <a:pPr marL="30480" algn="l" rtl="0" eaLnBrk="0">
              <a:lnSpc>
                <a:spcPct val="90000"/>
              </a:lnSpc>
              <a:spcBef>
                <a:spcPts val="290"/>
              </a:spcBef>
            </a:pPr>
            <a:r>
              <a:rPr sz="2400" kern="0" spc="30" dirty="0">
                <a:solidFill>
                  <a:srgbClr val="000000">
                    <a:alpha val="100000"/>
                  </a:srgbClr>
                </a:solidFill>
                <a:latin typeface="Wingdings" panose="05000000000000000000"/>
                <a:ea typeface="Wingdings" panose="05000000000000000000"/>
                <a:cs typeface="Wingdings" panose="05000000000000000000"/>
              </a:rPr>
              <a:t>n</a:t>
            </a:r>
            <a:r>
              <a:rPr lang="zh-CN" altLang="en-US" sz="2400" dirty="0">
                <a:latin typeface="楷体" panose="02010609060101010101" charset="-122"/>
                <a:ea typeface="楷体" panose="02010609060101010101" charset="-122"/>
                <a:cs typeface="楷体" panose="02010609060101010101" charset="-122"/>
              </a:rPr>
              <a:t> 高流动性：交易所集中交易，买卖便捷。</a:t>
            </a:r>
            <a:endParaRPr lang="zh-CN" altLang="en-US" sz="2400" kern="0" spc="-10" dirty="0">
              <a:solidFill>
                <a:srgbClr val="000000">
                  <a:alpha val="100000"/>
                </a:srgbClr>
              </a:solidFill>
              <a:latin typeface="Wingdings" panose="05000000000000000000"/>
              <a:ea typeface="Wingdings" panose="05000000000000000000"/>
              <a:cs typeface="Wingdings" panose="05000000000000000000"/>
            </a:endParaRPr>
          </a:p>
          <a:p>
            <a:pPr marL="30480" algn="l" rtl="0" eaLnBrk="0">
              <a:lnSpc>
                <a:spcPct val="90000"/>
              </a:lnSpc>
              <a:spcBef>
                <a:spcPts val="290"/>
              </a:spcBef>
            </a:pPr>
            <a:r>
              <a:rPr sz="2400" kern="0" spc="-10" dirty="0">
                <a:solidFill>
                  <a:srgbClr val="000000">
                    <a:alpha val="100000"/>
                  </a:srgbClr>
                </a:solidFill>
                <a:latin typeface="Wingdings" panose="05000000000000000000"/>
                <a:ea typeface="Wingdings" panose="05000000000000000000"/>
                <a:cs typeface="Wingdings" panose="05000000000000000000"/>
              </a:rPr>
              <a:t>n</a:t>
            </a:r>
            <a:r>
              <a:rPr sz="2400" kern="0" spc="-1400" dirty="0">
                <a:solidFill>
                  <a:srgbClr val="000000">
                    <a:alpha val="100000"/>
                  </a:srgbClr>
                </a:solidFill>
                <a:latin typeface="Wingdings" panose="05000000000000000000"/>
                <a:ea typeface="Wingdings" panose="05000000000000000000"/>
                <a:cs typeface="Wingdings" panose="05000000000000000000"/>
              </a:rPr>
              <a:t> </a:t>
            </a:r>
            <a:r>
              <a:rPr lang="zh-CN" altLang="en-US" sz="2400" dirty="0">
                <a:latin typeface="楷体" panose="02010609060101010101" charset="-122"/>
                <a:ea typeface="楷体" panose="02010609060101010101" charset="-122"/>
                <a:cs typeface="楷体" panose="02010609060101010101" charset="-122"/>
                <a:sym typeface="+mn-ea"/>
              </a:rPr>
              <a:t>高透明度：价格公开，规则明确。</a:t>
            </a:r>
            <a:endParaRPr lang="zh-CN" altLang="en-US" sz="2400" dirty="0">
              <a:latin typeface="楷体" panose="02010609060101010101" charset="-122"/>
              <a:ea typeface="楷体" panose="02010609060101010101" charset="-122"/>
              <a:cs typeface="楷体" panose="02010609060101010101" charset="-122"/>
              <a:sym typeface="+mn-ea"/>
            </a:endParaRPr>
          </a:p>
          <a:p>
            <a:pPr marL="30480" algn="l" rtl="0" eaLnBrk="0">
              <a:lnSpc>
                <a:spcPct val="90000"/>
              </a:lnSpc>
              <a:spcBef>
                <a:spcPts val="290"/>
              </a:spcBef>
            </a:pPr>
            <a:r>
              <a:rPr sz="2400" kern="0" spc="-10" dirty="0">
                <a:solidFill>
                  <a:srgbClr val="000000">
                    <a:alpha val="100000"/>
                  </a:srgbClr>
                </a:solidFill>
                <a:latin typeface="Wingdings" panose="05000000000000000000"/>
                <a:ea typeface="Wingdings" panose="05000000000000000000"/>
                <a:cs typeface="Wingdings" panose="05000000000000000000"/>
                <a:sym typeface="+mn-ea"/>
              </a:rPr>
              <a:t>n</a:t>
            </a:r>
            <a:r>
              <a:rPr lang="en-US" altLang="zh-CN" sz="2400" dirty="0">
                <a:latin typeface="楷体" panose="02010609060101010101" charset="-122"/>
                <a:ea typeface="楷体" panose="02010609060101010101" charset="-122"/>
                <a:cs typeface="楷体" panose="02010609060101010101" charset="-122"/>
                <a:sym typeface="+mn-ea"/>
              </a:rPr>
              <a:t>“</a:t>
            </a:r>
            <a:r>
              <a:rPr lang="zh-CN" altLang="en-US" sz="2400" dirty="0">
                <a:latin typeface="楷体" panose="02010609060101010101" charset="-122"/>
                <a:ea typeface="楷体" panose="02010609060101010101" charset="-122"/>
                <a:cs typeface="楷体" panose="02010609060101010101" charset="-122"/>
                <a:sym typeface="+mn-ea"/>
              </a:rPr>
              <a:t>一切皆可期货</a:t>
            </a:r>
            <a:r>
              <a:rPr lang="en-US" altLang="zh-CN" sz="2400" dirty="0">
                <a:latin typeface="楷体" panose="02010609060101010101" charset="-122"/>
                <a:ea typeface="楷体" panose="02010609060101010101" charset="-122"/>
                <a:cs typeface="楷体" panose="02010609060101010101" charset="-122"/>
                <a:sym typeface="+mn-ea"/>
              </a:rPr>
              <a:t>”</a:t>
            </a:r>
            <a:r>
              <a:rPr lang="zh-CN" altLang="en-US" sz="2400" dirty="0">
                <a:latin typeface="楷体" panose="02010609060101010101" charset="-122"/>
                <a:ea typeface="楷体" panose="02010609060101010101" charset="-122"/>
                <a:cs typeface="楷体" panose="02010609060101010101" charset="-122"/>
                <a:sym typeface="+mn-ea"/>
              </a:rPr>
              <a:t>：从黄金、原油到大豆、股指，再到利率（</a:t>
            </a:r>
            <a:r>
              <a:rPr lang="en-US" altLang="zh-CN" sz="2400" dirty="0">
                <a:latin typeface="楷体" panose="02010609060101010101" charset="-122"/>
                <a:ea typeface="楷体" panose="02010609060101010101" charset="-122"/>
                <a:cs typeface="楷体" panose="02010609060101010101" charset="-122"/>
                <a:sym typeface="+mn-ea"/>
              </a:rPr>
              <a:t>SOFR</a:t>
            </a:r>
            <a:r>
              <a:rPr lang="zh-CN" altLang="en-US" sz="2400" dirty="0">
                <a:latin typeface="楷体" panose="02010609060101010101" charset="-122"/>
                <a:ea typeface="楷体" panose="02010609060101010101" charset="-122"/>
                <a:cs typeface="楷体" panose="02010609060101010101" charset="-122"/>
                <a:sym typeface="+mn-ea"/>
              </a:rPr>
              <a:t>）只要有对赌需求，任何可量化指标均可成为期货标的。</a:t>
            </a:r>
            <a:endParaRPr lang="zh-CN" altLang="en-US" sz="2400" dirty="0">
              <a:latin typeface="楷体" panose="02010609060101010101" charset="-122"/>
              <a:ea typeface="楷体" panose="02010609060101010101" charset="-122"/>
              <a:cs typeface="楷体" panose="02010609060101010101" charset="-122"/>
              <a:sym typeface="+mn-ea"/>
            </a:endParaRPr>
          </a:p>
          <a:p>
            <a:pPr marL="30480" algn="l" rtl="0" eaLnBrk="0">
              <a:lnSpc>
                <a:spcPct val="90000"/>
              </a:lnSpc>
              <a:spcBef>
                <a:spcPts val="290"/>
              </a:spcBef>
            </a:pPr>
            <a:endParaRPr sz="2400" dirty="0">
              <a:latin typeface="Times New Roman" panose="02020603050405020304"/>
              <a:ea typeface="Times New Roman" panose="02020603050405020304"/>
              <a:cs typeface="Times New Roman" panose="02020603050405020304"/>
            </a:endParaRPr>
          </a:p>
        </p:txBody>
      </p:sp>
      <p:sp>
        <p:nvSpPr>
          <p:cNvPr id="34" name="textbox 34"/>
          <p:cNvSpPr/>
          <p:nvPr/>
        </p:nvSpPr>
        <p:spPr>
          <a:xfrm>
            <a:off x="209583" y="270946"/>
            <a:ext cx="2554604"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sz="3900" b="1" kern="0" spc="60" dirty="0">
                <a:solidFill>
                  <a:schemeClr val="tx1">
                    <a:alpha val="100000"/>
                  </a:schemeClr>
                </a:solidFill>
                <a:latin typeface="楷体" panose="02010609060101010101" charset="-122"/>
                <a:ea typeface="楷体" panose="02010609060101010101" charset="-122"/>
                <a:cs typeface="楷体" panose="02010609060101010101" charset="-122"/>
              </a:rPr>
              <a:t>期货</a:t>
            </a:r>
            <a:r>
              <a:rPr sz="3900" b="1" kern="0" spc="60" dirty="0">
                <a:solidFill>
                  <a:schemeClr val="tx1">
                    <a:alpha val="100000"/>
                  </a:schemeClr>
                </a:solidFill>
                <a:latin typeface="楷体" panose="02010609060101010101" charset="-122"/>
                <a:ea typeface="楷体" panose="02010609060101010101" charset="-122"/>
                <a:cs typeface="楷体" panose="02010609060101010101" charset="-122"/>
              </a:rPr>
              <a:t>介绍</a:t>
            </a:r>
            <a:endParaRPr sz="3900" b="1" kern="0" spc="60" dirty="0">
              <a:solidFill>
                <a:schemeClr val="tx1">
                  <a:alpha val="100000"/>
                </a:schemeClr>
              </a:solidFill>
              <a:latin typeface="楷体" panose="02010609060101010101" charset="-122"/>
              <a:ea typeface="楷体" panose="02010609060101010101" charset="-122"/>
              <a:cs typeface="楷体" panose="02010609060101010101" charset="-122"/>
            </a:endParaRPr>
          </a:p>
        </p:txBody>
      </p:sp>
      <p:sp>
        <p:nvSpPr>
          <p:cNvPr id="36" name="path 36"/>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38" name="path 38"/>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0" name="textbox 40"/>
          <p:cNvSpPr/>
          <p:nvPr/>
        </p:nvSpPr>
        <p:spPr>
          <a:xfrm>
            <a:off x="11872239" y="6478473"/>
            <a:ext cx="95885" cy="1644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6000"/>
              </a:lnSpc>
            </a:pPr>
            <a:endParaRPr sz="12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2"/>
          <p:cNvSpPr/>
          <p:nvPr/>
        </p:nvSpPr>
        <p:spPr>
          <a:xfrm>
            <a:off x="640715" y="1382395"/>
            <a:ext cx="4314190" cy="720725"/>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90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3. </a:t>
            </a:r>
            <a:r>
              <a:rPr lang="zh-CN" sz="2400" b="1" kern="0" spc="-10" dirty="0">
                <a:solidFill>
                  <a:srgbClr val="000000">
                    <a:alpha val="100000"/>
                  </a:srgbClr>
                </a:solidFill>
                <a:latin typeface="华文楷体" panose="02010600040101010101" charset="-122"/>
                <a:ea typeface="华文楷体" panose="02010600040101010101" charset="-122"/>
                <a:cs typeface="Times New Roman" panose="02020603050405020304"/>
              </a:rPr>
              <a:t>期货市场三类参与者</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2400" dirty="0">
              <a:latin typeface="楷体" panose="02010609060101010101" charset="-122"/>
              <a:ea typeface="楷体" panose="02010609060101010101" charset="-122"/>
              <a:cs typeface="楷体" panose="02010609060101010101" charset="-122"/>
            </a:endParaRPr>
          </a:p>
          <a:p>
            <a:pPr marL="19685" algn="l" rtl="0" eaLnBrk="0">
              <a:lnSpc>
                <a:spcPct val="81000"/>
              </a:lnSpc>
              <a:spcBef>
                <a:spcPts val="310"/>
              </a:spcBef>
            </a:pPr>
            <a:r>
              <a:rPr sz="2400" kern="0" spc="-30" dirty="0">
                <a:solidFill>
                  <a:srgbClr val="000000">
                    <a:alpha val="100000"/>
                  </a:srgbClr>
                </a:solidFill>
                <a:latin typeface="华文楷体" panose="02010600040101010101" charset="-122"/>
                <a:ea typeface="华文楷体" panose="02010600040101010101" charset="-122"/>
                <a:cs typeface="Times New Roman" panose="02020603050405020304"/>
              </a:rPr>
              <a:t>3.1</a:t>
            </a:r>
            <a:r>
              <a:rPr sz="2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lang="zh-CN" sz="2400" kern="0" spc="-30" dirty="0">
                <a:solidFill>
                  <a:srgbClr val="000000">
                    <a:alpha val="100000"/>
                  </a:srgbClr>
                </a:solidFill>
                <a:latin typeface="华文楷体" panose="02010600040101010101" charset="-122"/>
                <a:ea typeface="华文楷体" panose="02010600040101010101" charset="-122"/>
                <a:cs typeface="楷体" panose="02010609060101010101" charset="-122"/>
              </a:rPr>
              <a:t>套期保值者</a:t>
            </a:r>
            <a:endParaRPr sz="2400" dirty="0">
              <a:latin typeface="楷体" panose="02010609060101010101" charset="-122"/>
              <a:ea typeface="楷体" panose="02010609060101010101" charset="-122"/>
              <a:cs typeface="楷体" panose="02010609060101010101" charset="-122"/>
            </a:endParaRPr>
          </a:p>
          <a:p>
            <a:pPr algn="r" rtl="0" eaLnBrk="0">
              <a:lnSpc>
                <a:spcPct val="82000"/>
              </a:lnSpc>
              <a:spcBef>
                <a:spcPts val="20"/>
              </a:spcBef>
            </a:pPr>
            <a:endParaRPr sz="1800" dirty="0">
              <a:latin typeface="楷体" panose="02010609060101010101" charset="-122"/>
              <a:ea typeface="楷体" panose="02010609060101010101" charset="-122"/>
              <a:cs typeface="楷体" panose="02010609060101010101" charset="-122"/>
            </a:endParaRPr>
          </a:p>
        </p:txBody>
      </p:sp>
      <p:sp>
        <p:nvSpPr>
          <p:cNvPr id="54" name="textbox 54"/>
          <p:cNvSpPr/>
          <p:nvPr/>
        </p:nvSpPr>
        <p:spPr>
          <a:xfrm>
            <a:off x="217507" y="284535"/>
            <a:ext cx="2552700"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sz="3900" b="1" kern="0" spc="60" dirty="0">
                <a:solidFill>
                  <a:schemeClr val="tx1">
                    <a:alpha val="100000"/>
                  </a:schemeClr>
                </a:solidFill>
                <a:latin typeface="楷体" panose="02010609060101010101" charset="-122"/>
                <a:ea typeface="楷体" panose="02010609060101010101" charset="-122"/>
                <a:cs typeface="楷体" panose="02010609060101010101" charset="-122"/>
                <a:sym typeface="+mn-ea"/>
              </a:rPr>
              <a:t>期货</a:t>
            </a:r>
            <a:r>
              <a:rPr sz="3900" b="1" kern="0" spc="60" dirty="0">
                <a:solidFill>
                  <a:schemeClr val="tx1">
                    <a:alpha val="100000"/>
                  </a:schemeClr>
                </a:solidFill>
                <a:latin typeface="楷体" panose="02010609060101010101" charset="-122"/>
                <a:ea typeface="楷体" panose="02010609060101010101" charset="-122"/>
                <a:cs typeface="楷体" panose="02010609060101010101" charset="-122"/>
                <a:sym typeface="+mn-ea"/>
              </a:rPr>
              <a:t>介绍</a:t>
            </a:r>
            <a:endParaRPr sz="3900" dirty="0">
              <a:latin typeface="楷体" panose="02010609060101010101" charset="-122"/>
              <a:ea typeface="楷体" panose="02010609060101010101" charset="-122"/>
              <a:cs typeface="楷体" panose="02010609060101010101" charset="-122"/>
            </a:endParaRPr>
          </a:p>
        </p:txBody>
      </p:sp>
      <p:sp>
        <p:nvSpPr>
          <p:cNvPr id="56" name="path 56"/>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58" name="path 58"/>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2" name="文本框 1"/>
          <p:cNvSpPr txBox="1"/>
          <p:nvPr/>
        </p:nvSpPr>
        <p:spPr>
          <a:xfrm>
            <a:off x="844550" y="2087245"/>
            <a:ext cx="11414125" cy="1588135"/>
          </a:xfrm>
          <a:prstGeom prst="rect">
            <a:avLst/>
          </a:prstGeom>
        </p:spPr>
        <p:txBody>
          <a:bodyPr wrap="square">
            <a:noAutofit/>
          </a:bodyPr>
          <a:p>
            <a:r>
              <a:rPr lang="en-US" altLang="zh-CN" sz="2000">
                <a:latin typeface="华文楷体" panose="02010600040101010101" charset="-122"/>
                <a:ea typeface="华文楷体" panose="02010600040101010101" charset="-122"/>
                <a:cs typeface="华文楷体" panose="02010600040101010101" charset="-122"/>
              </a:rPr>
              <a:t>·</a:t>
            </a:r>
            <a:r>
              <a:rPr lang="zh-CN" altLang="en-US" sz="2000">
                <a:latin typeface="华文楷体" panose="02010600040101010101" charset="-122"/>
                <a:ea typeface="华文楷体" panose="02010600040101010101" charset="-122"/>
                <a:cs typeface="华文楷体" panose="02010600040101010101" charset="-122"/>
              </a:rPr>
              <a:t>核心目标：</a:t>
            </a:r>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规避风险，而非追求利润。</a:t>
            </a:r>
            <a:endParaRPr lang="zh-CN" altLang="en-US" sz="2000">
              <a:latin typeface="华文楷体" panose="02010600040101010101" charset="-122"/>
              <a:ea typeface="华文楷体" panose="02010600040101010101" charset="-122"/>
              <a:cs typeface="华文楷体" panose="02010600040101010101" charset="-122"/>
            </a:endParaRPr>
          </a:p>
          <a:p>
            <a:r>
              <a:rPr lang="en-US" altLang="zh-CN" sz="2000">
                <a:latin typeface="华文楷体" panose="02010600040101010101" charset="-122"/>
                <a:ea typeface="华文楷体" panose="02010600040101010101" charset="-122"/>
                <a:cs typeface="华文楷体" panose="02010600040101010101" charset="-122"/>
              </a:rPr>
              <a:t>·</a:t>
            </a:r>
            <a:r>
              <a:rPr lang="zh-CN" altLang="en-US" sz="2000">
                <a:latin typeface="华文楷体" panose="02010600040101010101" charset="-122"/>
                <a:ea typeface="华文楷体" panose="02010600040101010101" charset="-122"/>
                <a:cs typeface="华文楷体" panose="02010600040101010101" charset="-122"/>
              </a:rPr>
              <a:t>身份特征：</a:t>
            </a:r>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通常是实体经济的生产者、加工商或贸易商。</a:t>
            </a:r>
            <a:r>
              <a:rPr lang="zh-CN" sz="2000">
                <a:latin typeface="华文楷体" panose="02010600040101010101" charset="-122"/>
                <a:ea typeface="华文楷体" panose="02010600040101010101" charset="-122"/>
                <a:cs typeface="华文楷体" panose="02010600040101010101" charset="-122"/>
              </a:rPr>
              <a:t>对冲收益</a:t>
            </a:r>
            <a:r>
              <a:rPr lang="en-US" altLang="zh-CN" sz="2000">
                <a:latin typeface="华文楷体" panose="02010600040101010101" charset="-122"/>
                <a:ea typeface="华文楷体" panose="02010600040101010101" charset="-122"/>
                <a:cs typeface="华文楷体" panose="02010600040101010101" charset="-122"/>
              </a:rPr>
              <a:t>/</a:t>
            </a:r>
            <a:r>
              <a:rPr lang="zh-CN" altLang="en-US" sz="2000">
                <a:latin typeface="华文楷体" panose="02010600040101010101" charset="-122"/>
                <a:ea typeface="华文楷体" panose="02010600040101010101" charset="-122"/>
                <a:cs typeface="华文楷体" panose="02010600040101010101" charset="-122"/>
              </a:rPr>
              <a:t>风险。</a:t>
            </a:r>
            <a:endParaRPr lang="zh-CN" altLang="en-US" sz="2000">
              <a:latin typeface="华文楷体" panose="02010600040101010101" charset="-122"/>
              <a:ea typeface="华文楷体" panose="02010600040101010101" charset="-122"/>
              <a:cs typeface="华文楷体" panose="02010600040101010101" charset="-122"/>
            </a:endParaRPr>
          </a:p>
          <a:p>
            <a:r>
              <a:rPr lang="en-US" altLang="zh-CN" sz="2000">
                <a:latin typeface="华文楷体" panose="02010600040101010101" charset="-122"/>
                <a:ea typeface="华文楷体" panose="02010600040101010101" charset="-122"/>
                <a:cs typeface="华文楷体" panose="02010600040101010101" charset="-122"/>
              </a:rPr>
              <a:t>​·</a:t>
            </a:r>
            <a:r>
              <a:rPr lang="zh-CN" altLang="en-US" sz="2000">
                <a:latin typeface="华文楷体" panose="02010600040101010101" charset="-122"/>
                <a:ea typeface="华文楷体" panose="02010600040101010101" charset="-122"/>
                <a:cs typeface="华文楷体" panose="02010600040101010101" charset="-122"/>
              </a:rPr>
              <a:t>行为模式：</a:t>
            </a:r>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在期货市场上建立与现货市场方向相反、数量相当的头寸。</a:t>
            </a:r>
            <a:endParaRPr lang="zh-CN" altLang="en-US" sz="2000">
              <a:latin typeface="华文楷体" panose="02010600040101010101" charset="-122"/>
              <a:ea typeface="华文楷体" panose="02010600040101010101" charset="-122"/>
              <a:cs typeface="华文楷体" panose="02010600040101010101" charset="-122"/>
            </a:endParaRPr>
          </a:p>
          <a:p>
            <a:pPr lvl="1" indent="0">
              <a:buFont typeface="Arial" panose="020B0604020202020204"/>
              <a:buNone/>
            </a:pPr>
            <a:r>
              <a:rPr lang="zh-CN" altLang="en-US" sz="2000">
                <a:latin typeface="华文楷体" panose="02010600040101010101" charset="-122"/>
                <a:ea typeface="华文楷体" panose="02010600040101010101" charset="-122"/>
                <a:cs typeface="华文楷体" panose="02010600040101010101" charset="-122"/>
              </a:rPr>
              <a:t>空头套保：</a:t>
            </a:r>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未来要卖出实物商品，担心价格下跌。</a:t>
            </a:r>
            <a:endParaRPr lang="zh-CN" altLang="en-US" sz="2000">
              <a:latin typeface="华文楷体" panose="02010600040101010101" charset="-122"/>
              <a:ea typeface="华文楷体" panose="02010600040101010101" charset="-122"/>
              <a:cs typeface="华文楷体" panose="02010600040101010101" charset="-122"/>
            </a:endParaRPr>
          </a:p>
          <a:p>
            <a:pPr indent="457200">
              <a:buFont typeface="Arial" panose="020B0604020202020204"/>
              <a:buNone/>
            </a:pPr>
            <a:r>
              <a:rPr lang="zh-CN" altLang="en-US" sz="2000">
                <a:latin typeface="华文楷体" panose="02010600040101010101" charset="-122"/>
                <a:ea typeface="华文楷体" panose="02010600040101010101" charset="-122"/>
                <a:cs typeface="华文楷体" panose="02010600040101010101" charset="-122"/>
              </a:rPr>
              <a:t>多头套保：</a:t>
            </a:r>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未来要买入原材料，担心价格上涨。</a:t>
            </a:r>
            <a:endParaRPr lang="zh-CN" altLang="en-US" sz="2000">
              <a:latin typeface="华文楷体" panose="02010600040101010101" charset="-122"/>
              <a:ea typeface="华文楷体" panose="02010600040101010101" charset="-122"/>
              <a:cs typeface="华文楷体" panose="02010600040101010101" charset="-122"/>
            </a:endParaRPr>
          </a:p>
        </p:txBody>
      </p:sp>
      <p:sp>
        <p:nvSpPr>
          <p:cNvPr id="3" name="文本框 2"/>
          <p:cNvSpPr txBox="1"/>
          <p:nvPr/>
        </p:nvSpPr>
        <p:spPr>
          <a:xfrm>
            <a:off x="564515" y="3754755"/>
            <a:ext cx="6096000" cy="389890"/>
          </a:xfrm>
          <a:prstGeom prst="rect">
            <a:avLst/>
          </a:prstGeom>
          <a:noFill/>
        </p:spPr>
        <p:txBody>
          <a:bodyPr wrap="square" rtlCol="0" anchor="t">
            <a:spAutoFit/>
          </a:bodyPr>
          <a:p>
            <a:pPr marL="19685" algn="l" rtl="0" eaLnBrk="0">
              <a:lnSpc>
                <a:spcPct val="81000"/>
              </a:lnSpc>
              <a:spcBef>
                <a:spcPts val="310"/>
              </a:spcBef>
            </a:pPr>
            <a:r>
              <a:rPr sz="2400" kern="0" spc="-30" dirty="0">
                <a:solidFill>
                  <a:srgbClr val="000000">
                    <a:alpha val="100000"/>
                  </a:srgbClr>
                </a:solidFill>
                <a:latin typeface="华文楷体" panose="02010600040101010101" charset="-122"/>
                <a:ea typeface="华文楷体" panose="02010600040101010101" charset="-122"/>
                <a:cs typeface="Times New Roman" panose="02020603050405020304"/>
                <a:sym typeface="+mn-ea"/>
              </a:rPr>
              <a:t>3.</a:t>
            </a:r>
            <a:r>
              <a:rPr lang="en-US" sz="2400" kern="0" spc="-30" dirty="0">
                <a:solidFill>
                  <a:srgbClr val="000000">
                    <a:alpha val="100000"/>
                  </a:srgbClr>
                </a:solidFill>
                <a:latin typeface="华文楷体" panose="02010600040101010101" charset="-122"/>
                <a:ea typeface="华文楷体" panose="02010600040101010101" charset="-122"/>
                <a:cs typeface="Times New Roman" panose="02020603050405020304"/>
                <a:sym typeface="+mn-ea"/>
              </a:rPr>
              <a:t>2</a:t>
            </a:r>
            <a:r>
              <a:rPr sz="2400" kern="0" spc="270" dirty="0">
                <a:solidFill>
                  <a:srgbClr val="000000">
                    <a:alpha val="100000"/>
                  </a:srgbClr>
                </a:solidFill>
                <a:latin typeface="Times New Roman" panose="02020603050405020304"/>
                <a:ea typeface="Times New Roman" panose="02020603050405020304"/>
                <a:cs typeface="Times New Roman" panose="02020603050405020304"/>
                <a:sym typeface="+mn-ea"/>
              </a:rPr>
              <a:t> </a:t>
            </a:r>
            <a:r>
              <a:rPr lang="zh-CN" sz="2400" kern="0" spc="-30" dirty="0">
                <a:solidFill>
                  <a:srgbClr val="000000">
                    <a:alpha val="100000"/>
                  </a:srgbClr>
                </a:solidFill>
                <a:latin typeface="华文楷体" panose="02010600040101010101" charset="-122"/>
                <a:ea typeface="华文楷体" panose="02010600040101010101" charset="-122"/>
                <a:cs typeface="楷体" panose="02010609060101010101" charset="-122"/>
                <a:sym typeface="+mn-ea"/>
              </a:rPr>
              <a:t>投机者</a:t>
            </a:r>
            <a:endParaRPr sz="24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sym typeface="+mn-ea"/>
            </a:endParaRPr>
          </a:p>
        </p:txBody>
      </p:sp>
      <p:sp>
        <p:nvSpPr>
          <p:cNvPr id="5" name="文本框 4"/>
          <p:cNvSpPr txBox="1"/>
          <p:nvPr/>
        </p:nvSpPr>
        <p:spPr>
          <a:xfrm>
            <a:off x="1033145" y="4224020"/>
            <a:ext cx="10471150" cy="1014730"/>
          </a:xfrm>
          <a:prstGeom prst="rect">
            <a:avLst/>
          </a:prstGeom>
        </p:spPr>
        <p:txBody>
          <a:bodyPr wrap="square">
            <a:spAutoFit/>
          </a:bodyPr>
          <a:p>
            <a:r>
              <a:rPr lang="zh-CN" altLang="en-US" sz="2000">
                <a:latin typeface="华文楷体" panose="02010600040101010101" charset="-122"/>
                <a:ea typeface="华文楷体" panose="02010600040101010101" charset="-122"/>
                <a:cs typeface="华文楷体" panose="02010600040101010101" charset="-122"/>
              </a:rPr>
              <a:t>·身份特征：​​ 通常是个人投资者、机构投资者，他们自身没有现货背景，不涉及实物交割。</a:t>
            </a:r>
            <a:endParaRPr lang="zh-CN" altLang="en-US" sz="2000">
              <a:latin typeface="华文楷体" panose="02010600040101010101" charset="-122"/>
              <a:ea typeface="华文楷体" panose="02010600040101010101" charset="-122"/>
              <a:cs typeface="华文楷体" panose="02010600040101010101" charset="-122"/>
            </a:endParaRPr>
          </a:p>
          <a:p>
            <a:r>
              <a:rPr lang="zh-CN" altLang="en-US" sz="2000">
                <a:latin typeface="华文楷体" panose="02010600040101010101" charset="-122"/>
                <a:ea typeface="华文楷体" panose="02010600040101010101" charset="-122"/>
                <a:cs typeface="华文楷体" panose="02010600040101010101" charset="-122"/>
              </a:rPr>
              <a:t>​·行为模式：​​ 通过对未来价格走势的预测进行买卖操作。如果他们预测价格会上涨，就做多，等价格上涨后卖出平仓获利；如果预测价格会下跌，就做空，等价格下跌后买入平仓获利。</a:t>
            </a:r>
            <a:endParaRPr lang="zh-CN" altLang="en-US" sz="2000">
              <a:latin typeface="华文楷体" panose="02010600040101010101" charset="-122"/>
              <a:ea typeface="华文楷体" panose="02010600040101010101" charset="-122"/>
              <a:cs typeface="华文楷体" panose="02010600040101010101" charset="-122"/>
            </a:endParaRPr>
          </a:p>
        </p:txBody>
      </p:sp>
      <p:sp>
        <p:nvSpPr>
          <p:cNvPr id="4" name="文本框 3"/>
          <p:cNvSpPr txBox="1"/>
          <p:nvPr/>
        </p:nvSpPr>
        <p:spPr>
          <a:xfrm>
            <a:off x="1176020" y="5318125"/>
            <a:ext cx="5992495" cy="306705"/>
          </a:xfrm>
          <a:prstGeom prst="rect">
            <a:avLst/>
          </a:prstGeom>
        </p:spPr>
        <p:txBody>
          <a:bodyPr wrap="square">
            <a:spAutoFit/>
          </a:bodyPr>
          <a:p>
            <a:pPr marL="0" indent="0" algn="l">
              <a:lnSpc>
                <a:spcPts val="1680"/>
              </a:lnSpc>
              <a:spcBef>
                <a:spcPct val="0"/>
              </a:spcBef>
              <a:spcAft>
                <a:spcPct val="0"/>
              </a:spcAft>
            </a:pPr>
            <a:r>
              <a:rPr lang="zh-CN" altLang="en-US" sz="2000" b="1" i="0">
                <a:solidFill>
                  <a:srgbClr val="000000"/>
                </a:solidFill>
                <a:latin typeface="华文楷体" panose="02010600040101010101" charset="-122"/>
                <a:ea typeface="华文楷体" panose="02010600040101010101" charset="-122"/>
                <a:cs typeface="华文楷体" panose="02010600040101010101" charset="-122"/>
              </a:rPr>
              <a:t>国储铜事件（</a:t>
            </a:r>
            <a:r>
              <a:rPr lang="en-US" altLang="zh-CN" sz="2000" b="1" i="0">
                <a:solidFill>
                  <a:srgbClr val="000000"/>
                </a:solidFill>
                <a:latin typeface="华文楷体" panose="02010600040101010101" charset="-122"/>
                <a:ea typeface="华文楷体" panose="02010600040101010101" charset="-122"/>
                <a:cs typeface="华文楷体" panose="02010600040101010101" charset="-122"/>
              </a:rPr>
              <a:t>2005 </a:t>
            </a:r>
            <a:r>
              <a:rPr lang="zh-CN" altLang="en-US" sz="2000" b="1" i="0">
                <a:solidFill>
                  <a:srgbClr val="000000"/>
                </a:solidFill>
                <a:latin typeface="华文楷体" panose="02010600040101010101" charset="-122"/>
                <a:ea typeface="华文楷体" panose="02010600040101010101" charset="-122"/>
                <a:cs typeface="华文楷体" panose="02010600040101010101" charset="-122"/>
              </a:rPr>
              <a:t>年）</a:t>
            </a:r>
            <a:endParaRPr lang="zh-CN" altLang="en-US" sz="2000" b="1" i="0">
              <a:solidFill>
                <a:srgbClr val="000000"/>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84"/>
          <p:cNvSpPr/>
          <p:nvPr/>
        </p:nvSpPr>
        <p:spPr>
          <a:xfrm>
            <a:off x="339725" y="1378585"/>
            <a:ext cx="11852275" cy="348869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a:ea typeface="Arial" panose="020B0604020202020204"/>
              <a:cs typeface="Arial" panose="020B0604020202020204"/>
            </a:endParaRPr>
          </a:p>
          <a:p>
            <a:pPr marL="12700" indent="0" algn="l" rtl="0" eaLnBrk="0" fontAlgn="auto">
              <a:lnSpc>
                <a:spcPts val="21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sym typeface="+mn-ea"/>
              </a:rPr>
              <a:t>3. </a:t>
            </a:r>
            <a:r>
              <a:rPr lang="zh-CN" sz="2400" b="1" kern="0" spc="-10" dirty="0">
                <a:solidFill>
                  <a:srgbClr val="000000">
                    <a:alpha val="100000"/>
                  </a:srgbClr>
                </a:solidFill>
                <a:latin typeface="华文楷体" panose="02010600040101010101" charset="-122"/>
                <a:ea typeface="华文楷体" panose="02010600040101010101" charset="-122"/>
                <a:cs typeface="Times New Roman" panose="02020603050405020304"/>
                <a:sym typeface="+mn-ea"/>
              </a:rPr>
              <a:t>期货市场三类参与者</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sym typeface="+mn-ea"/>
              </a:rPr>
              <a:t>：</a:t>
            </a:r>
            <a:endParaRPr sz="2400" dirty="0">
              <a:latin typeface="楷体" panose="02010609060101010101" charset="-122"/>
              <a:ea typeface="楷体" panose="02010609060101010101" charset="-122"/>
              <a:cs typeface="楷体" panose="02010609060101010101" charset="-122"/>
            </a:endParaRPr>
          </a:p>
          <a:p>
            <a:pPr marL="476885" lvl="1" indent="0" algn="l" rtl="0" eaLnBrk="0" fontAlgn="auto">
              <a:lnSpc>
                <a:spcPts val="2100"/>
              </a:lnSpc>
              <a:spcBef>
                <a:spcPts val="310"/>
              </a:spcBef>
            </a:pPr>
            <a:r>
              <a:rPr sz="2400" kern="0" spc="-30" dirty="0">
                <a:solidFill>
                  <a:srgbClr val="000000">
                    <a:alpha val="100000"/>
                  </a:srgbClr>
                </a:solidFill>
                <a:latin typeface="Times New Roman" panose="02020603050405020304"/>
                <a:ea typeface="Times New Roman" panose="02020603050405020304"/>
                <a:cs typeface="Times New Roman" panose="02020603050405020304"/>
                <a:sym typeface="+mn-ea"/>
              </a:rPr>
              <a:t>3.</a:t>
            </a:r>
            <a:r>
              <a:rPr lang="en-US" sz="2400" kern="0" spc="-30" dirty="0">
                <a:solidFill>
                  <a:srgbClr val="000000">
                    <a:alpha val="100000"/>
                  </a:srgbClr>
                </a:solidFill>
                <a:latin typeface="Times New Roman" panose="02020603050405020304"/>
                <a:ea typeface="Times New Roman" panose="02020603050405020304"/>
                <a:cs typeface="Times New Roman" panose="02020603050405020304"/>
                <a:sym typeface="+mn-ea"/>
              </a:rPr>
              <a:t>3</a:t>
            </a:r>
            <a:r>
              <a:rPr sz="2400" kern="0" spc="270" dirty="0">
                <a:solidFill>
                  <a:srgbClr val="000000">
                    <a:alpha val="100000"/>
                  </a:srgbClr>
                </a:solidFill>
                <a:latin typeface="Times New Roman" panose="02020603050405020304"/>
                <a:ea typeface="Times New Roman" panose="02020603050405020304"/>
                <a:cs typeface="Times New Roman" panose="02020603050405020304"/>
                <a:sym typeface="+mn-ea"/>
              </a:rPr>
              <a:t> </a:t>
            </a:r>
            <a:r>
              <a:rPr lang="zh-CN" sz="2400" kern="0" spc="-30" dirty="0">
                <a:solidFill>
                  <a:srgbClr val="000000">
                    <a:alpha val="100000"/>
                  </a:srgbClr>
                </a:solidFill>
                <a:latin typeface="华文楷体" panose="02010600040101010101" charset="-122"/>
                <a:ea typeface="华文楷体" panose="02010600040101010101" charset="-122"/>
                <a:cs typeface="楷体" panose="02010609060101010101" charset="-122"/>
                <a:sym typeface="+mn-ea"/>
              </a:rPr>
              <a:t>套利者</a:t>
            </a:r>
            <a:endParaRPr sz="24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核心目标：</a:t>
            </a:r>
            <a:r>
              <a:rPr lang="en-US" altLang="zh-CN" sz="2000" dirty="0">
                <a:latin typeface="楷体" panose="02010609060101010101" charset="-122"/>
                <a:ea typeface="楷体" panose="02010609060101010101" charset="-122"/>
                <a:cs typeface="楷体" panose="02010609060101010101" charset="-122"/>
              </a:rPr>
              <a:t>​​ ​</a:t>
            </a:r>
            <a:r>
              <a:rPr lang="zh-CN" altLang="en-US" sz="2000" dirty="0">
                <a:latin typeface="楷体" panose="02010609060101010101" charset="-122"/>
                <a:ea typeface="楷体" panose="02010609060101010101" charset="-122"/>
                <a:cs typeface="楷体" panose="02010609060101010101" charset="-122"/>
              </a:rPr>
              <a:t>捕捉错误定价的机会，获取无风险或低风险利润。</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身份特征：</a:t>
            </a:r>
            <a:r>
              <a:rPr lang="en-US" altLang="zh-CN" sz="2000" dirty="0">
                <a:latin typeface="楷体" panose="02010609060101010101" charset="-122"/>
                <a:ea typeface="楷体" panose="02010609060101010101" charset="-122"/>
                <a:cs typeface="楷体" panose="02010609060101010101" charset="-122"/>
              </a:rPr>
              <a:t>​​ </a:t>
            </a:r>
            <a:r>
              <a:rPr lang="zh-CN" altLang="en-US" sz="2000" dirty="0">
                <a:latin typeface="楷体" panose="02010609060101010101" charset="-122"/>
                <a:ea typeface="楷体" panose="02010609060101010101" charset="-122"/>
                <a:cs typeface="楷体" panose="02010609060101010101" charset="-122"/>
              </a:rPr>
              <a:t>通常是专业的交易员、量化基金或机构，拥有复杂的模型和快速的交易系统。</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行为模式：</a:t>
            </a:r>
            <a:r>
              <a:rPr lang="en-US" altLang="zh-CN" sz="2000" dirty="0">
                <a:latin typeface="楷体" panose="02010609060101010101" charset="-122"/>
                <a:ea typeface="楷体" panose="02010609060101010101" charset="-122"/>
                <a:cs typeface="楷体" panose="02010609060101010101" charset="-122"/>
              </a:rPr>
              <a:t>​​ </a:t>
            </a:r>
            <a:r>
              <a:rPr lang="zh-CN" altLang="en-US" sz="2000" dirty="0">
                <a:latin typeface="楷体" panose="02010609060101010101" charset="-122"/>
                <a:ea typeface="楷体" panose="02010609060101010101" charset="-122"/>
                <a:cs typeface="楷体" panose="02010609060101010101" charset="-122"/>
              </a:rPr>
              <a:t>他们同时买入和卖出两个相关性极高的合约，利用这两个合约之间暂时的、不合理的价差来获利。一旦价差回归正常，他们就平仓离场。</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主要套利方式包括：</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期现套利：</a:t>
            </a: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利用期货价格与现货价格之间的不合理价差进行套利。</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跨期套利：</a:t>
            </a: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利用同一商品不同到期月份的期货合约之间的价差进行套利。</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跨市场套利：</a:t>
            </a: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利用同一商品在不同交易所的期货价格差进行套利。</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跨商品套利：</a:t>
            </a:r>
            <a:r>
              <a:rPr lang="en-US" altLang="zh-CN" sz="2000" dirty="0">
                <a:latin typeface="楷体" panose="02010609060101010101" charset="-122"/>
                <a:ea typeface="楷体" panose="02010609060101010101" charset="-122"/>
                <a:cs typeface="楷体" panose="02010609060101010101" charset="-122"/>
              </a:rPr>
              <a:t>​​</a:t>
            </a:r>
            <a:r>
              <a:rPr lang="zh-CN" altLang="en-US" sz="2000" dirty="0">
                <a:latin typeface="楷体" panose="02010609060101010101" charset="-122"/>
                <a:ea typeface="楷体" panose="02010609060101010101" charset="-122"/>
                <a:cs typeface="楷体" panose="02010609060101010101" charset="-122"/>
              </a:rPr>
              <a:t>利用两种不同但相关联的商品之间的价差进行套利。</a:t>
            </a:r>
            <a:endParaRPr lang="zh-CN" altLang="en-US" sz="2000" dirty="0">
              <a:latin typeface="楷体" panose="02010609060101010101" charset="-122"/>
              <a:ea typeface="楷体" panose="02010609060101010101" charset="-122"/>
              <a:cs typeface="楷体" panose="02010609060101010101" charset="-122"/>
            </a:endParaRPr>
          </a:p>
          <a:p>
            <a:pPr marL="470535" lvl="1" indent="0" algn="l" rtl="0" eaLnBrk="0" fontAlgn="auto">
              <a:lnSpc>
                <a:spcPts val="2100"/>
              </a:lnSpc>
              <a:spcBef>
                <a:spcPts val="240"/>
              </a:spcBef>
            </a:pPr>
            <a:r>
              <a:rPr lang="zh-CN" altLang="en-US" sz="2000" b="1" dirty="0">
                <a:latin typeface="楷体" panose="02010609060101010101" charset="-122"/>
                <a:ea typeface="楷体" panose="02010609060101010101" charset="-122"/>
                <a:cs typeface="楷体" panose="02010609060101010101" charset="-122"/>
              </a:rPr>
              <a:t>基差风险</a:t>
            </a:r>
            <a:r>
              <a:rPr lang="en-US" altLang="zh-CN" sz="2000" b="1" dirty="0">
                <a:latin typeface="楷体" panose="02010609060101010101" charset="-122"/>
                <a:ea typeface="楷体" panose="02010609060101010101" charset="-122"/>
                <a:cs typeface="楷体" panose="02010609060101010101" charset="-122"/>
              </a:rPr>
              <a:t>&amp;</a:t>
            </a:r>
            <a:r>
              <a:rPr lang="zh-CN" altLang="en-US" sz="2000" b="1" dirty="0">
                <a:latin typeface="楷体" panose="02010609060101010101" charset="-122"/>
                <a:ea typeface="楷体" panose="02010609060101010101" charset="-122"/>
                <a:cs typeface="楷体" panose="02010609060101010101" charset="-122"/>
              </a:rPr>
              <a:t>交叉对冲</a:t>
            </a:r>
            <a:endParaRPr lang="zh-CN" altLang="en-US" sz="2000" dirty="0">
              <a:latin typeface="楷体" panose="02010609060101010101" charset="-122"/>
              <a:ea typeface="楷体" panose="02010609060101010101" charset="-122"/>
              <a:cs typeface="楷体" panose="02010609060101010101" charset="-122"/>
            </a:endParaRPr>
          </a:p>
        </p:txBody>
      </p:sp>
      <p:sp>
        <p:nvSpPr>
          <p:cNvPr id="86" name="textbox 86"/>
          <p:cNvSpPr/>
          <p:nvPr/>
        </p:nvSpPr>
        <p:spPr>
          <a:xfrm>
            <a:off x="217507" y="296600"/>
            <a:ext cx="2552700" cy="536575"/>
          </a:xfrm>
          <a:prstGeom prst="rect">
            <a:avLst/>
          </a:prstGeom>
          <a:noFill/>
          <a:ln w="0" cap="flat">
            <a:noFill/>
            <a:prstDash val="solid"/>
            <a:miter lim="0"/>
          </a:ln>
        </p:spPr>
        <p:txBody>
          <a:bodyPr vert="horz" wrap="square" lIns="0" tIns="0" rIns="0" bIns="0">
            <a:scene3d>
              <a:camera prst="orthographicFront"/>
              <a:lightRig rig="threePt" dir="t"/>
            </a:scene3d>
          </a:bodyPr>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sz="3900" b="1" kern="0" spc="5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rPr>
              <a:t>期货介绍</a:t>
            </a:r>
            <a:endParaRPr lang="zh-CN" sz="3900" b="1" kern="0" spc="5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endParaRPr>
          </a:p>
        </p:txBody>
      </p:sp>
      <p:sp>
        <p:nvSpPr>
          <p:cNvPr id="88" name="path 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0" name="path 90"/>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3" name="文本框 2"/>
          <p:cNvSpPr txBox="1"/>
          <p:nvPr/>
        </p:nvSpPr>
        <p:spPr>
          <a:xfrm>
            <a:off x="339725" y="5160010"/>
            <a:ext cx="11628120" cy="645160"/>
          </a:xfrm>
          <a:prstGeom prst="rect">
            <a:avLst/>
          </a:prstGeom>
        </p:spPr>
        <p:txBody>
          <a:bodyPr wrap="square">
            <a:spAutoFit/>
          </a:bodyPr>
          <a:p>
            <a:r>
              <a:rPr lang="en-US" altLang="zh-CN"/>
              <a:t>​  </a:t>
            </a:r>
            <a:r>
              <a:rPr lang="zh-CN" altLang="en-US">
                <a:latin typeface="华文楷体" panose="02010600040101010101" charset="-122"/>
                <a:ea typeface="华文楷体" panose="02010600040101010101" charset="-122"/>
                <a:cs typeface="华文楷体" panose="02010600040101010101" charset="-122"/>
              </a:rPr>
              <a:t>套期保值者为市场提供了需要管理的风险；投机者主动承担了这些风险并提供了充足的资金流动性；套利者确保价格不会偏离太远。正是他们之间的互动和博弈，共同实现了期货市场的两大核心功能：</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价格发现</a:t>
            </a:r>
            <a:r>
              <a:rPr lang="zh-CN">
                <a:latin typeface="华文楷体" panose="02010600040101010101" charset="-122"/>
                <a:ea typeface="华文楷体" panose="02010600040101010101" charset="-122"/>
                <a:cs typeface="华文楷体" panose="02010600040101010101" charset="-122"/>
              </a:rPr>
              <a:t>和</a:t>
            </a:r>
            <a:r>
              <a:rPr lang="zh-CN" altLang="en-US">
                <a:latin typeface="华文楷体" panose="02010600040101010101" charset="-122"/>
                <a:ea typeface="华文楷体" panose="02010600040101010101" charset="-122"/>
                <a:cs typeface="华文楷体" panose="02010600040101010101" charset="-122"/>
              </a:rPr>
              <a:t>风险管理。</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ath 3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6" name="textbox 96"/>
          <p:cNvSpPr/>
          <p:nvPr/>
        </p:nvSpPr>
        <p:spPr>
          <a:xfrm>
            <a:off x="217805" y="296545"/>
            <a:ext cx="6091555"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b="1" dirty="0">
                <a:latin typeface="楷体" panose="02010609060101010101" charset="-122"/>
                <a:ea typeface="楷体" panose="02010609060101010101" charset="-122"/>
                <a:cs typeface="楷体" panose="02010609060101010101" charset="-122"/>
              </a:rPr>
              <a:t>期货的运作机制</a:t>
            </a:r>
            <a:endParaRPr lang="zh-CN" altLang="en-US" sz="3900" b="1" dirty="0">
              <a:latin typeface="楷体" panose="02010609060101010101" charset="-122"/>
              <a:ea typeface="楷体" panose="02010609060101010101" charset="-122"/>
              <a:cs typeface="楷体" panose="02010609060101010101" charset="-122"/>
            </a:endParaRPr>
          </a:p>
        </p:txBody>
      </p:sp>
      <p:sp>
        <p:nvSpPr>
          <p:cNvPr id="2" name="path 388"/>
          <p:cNvSpPr/>
          <p:nvPr/>
        </p:nvSpPr>
        <p:spPr>
          <a:xfrm>
            <a:off x="0" y="64325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3" name="文本框 2"/>
          <p:cNvSpPr txBox="1"/>
          <p:nvPr/>
        </p:nvSpPr>
        <p:spPr>
          <a:xfrm>
            <a:off x="383540" y="1042035"/>
            <a:ext cx="11584305" cy="5181600"/>
          </a:xfrm>
          <a:prstGeom prst="rect">
            <a:avLst/>
          </a:prstGeom>
        </p:spPr>
        <p:txBody>
          <a:bodyPr wrap="square">
            <a:noAutofit/>
          </a:bodyPr>
          <a:p>
            <a:pPr indent="0" fontAlgn="auto">
              <a:lnSpc>
                <a:spcPct val="150000"/>
              </a:lnSpc>
              <a:spcAft>
                <a:spcPts val="0"/>
              </a:spcAft>
            </a:pPr>
            <a:r>
              <a:rPr lang="en-US" altLang="zh-CN" sz="1900" b="1">
                <a:latin typeface="华文楷体" panose="02010600040101010101" charset="-122"/>
                <a:ea typeface="华文楷体" panose="02010600040101010101" charset="-122"/>
                <a:cs typeface="华文楷体" panose="02010600040101010101" charset="-122"/>
              </a:rPr>
              <a:t>1. </a:t>
            </a:r>
            <a:r>
              <a:rPr lang="zh-CN" altLang="en-US" sz="1900" b="1">
                <a:latin typeface="华文楷体" panose="02010600040101010101" charset="-122"/>
                <a:ea typeface="华文楷体" panose="02010600040101010101" charset="-122"/>
                <a:cs typeface="华文楷体" panose="02010600040101010101" charset="-122"/>
              </a:rPr>
              <a:t>交易所和标准化合约 </a:t>
            </a:r>
            <a:endParaRPr lang="zh-CN" altLang="en-US" sz="1900" b="1">
              <a:latin typeface="华文楷体" panose="02010600040101010101" charset="-122"/>
              <a:ea typeface="华文楷体" panose="02010600040101010101" charset="-122"/>
              <a:cs typeface="华文楷体" panose="02010600040101010101" charset="-122"/>
            </a:endParaRPr>
          </a:p>
          <a:p>
            <a:pPr indent="0" fontAlgn="auto">
              <a:lnSpc>
                <a:spcPct val="150000"/>
              </a:lnSpc>
            </a:pPr>
            <a:r>
              <a:rPr lang="zh-CN" altLang="en-US" sz="1600">
                <a:latin typeface="华文楷体" panose="02010600040101010101" charset="-122"/>
                <a:ea typeface="华文楷体" panose="02010600040101010101" charset="-122"/>
                <a:cs typeface="华文楷体" panose="02010600040101010101" charset="-122"/>
              </a:rPr>
              <a:t>所有期货交易都在交易所内进行（如上海期货交易所、芝加哥商品交易所）。交易所负责制定合约的标准条款。</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120"/>
              </a:lnSpc>
            </a:pPr>
            <a:r>
              <a:rPr lang="zh-CN" altLang="en-US" sz="1600">
                <a:latin typeface="华文楷体" panose="02010600040101010101" charset="-122"/>
                <a:ea typeface="华文楷体" panose="02010600040101010101" charset="-122"/>
                <a:cs typeface="华文楷体" panose="02010600040101010101" charset="-122"/>
              </a:rPr>
              <a:t>例如：标的物、</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合约规模、</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交割月份、</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最小变动价位。</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120"/>
              </a:lnSpc>
            </a:pPr>
            <a:r>
              <a:rPr lang="en-US" altLang="zh-CN" sz="1900" b="1">
                <a:latin typeface="华文楷体" panose="02010600040101010101" charset="-122"/>
                <a:ea typeface="华文楷体" panose="02010600040101010101" charset="-122"/>
                <a:cs typeface="华文楷体" panose="02010600040101010101" charset="-122"/>
              </a:rPr>
              <a:t>2. </a:t>
            </a:r>
            <a:r>
              <a:rPr lang="zh-CN" altLang="en-US" sz="1900" b="1">
                <a:latin typeface="华文楷体" panose="02010600040101010101" charset="-122"/>
                <a:ea typeface="华文楷体" panose="02010600040101010101" charset="-122"/>
                <a:cs typeface="华文楷体" panose="02010600040101010101" charset="-122"/>
              </a:rPr>
              <a:t>保证金制度 </a:t>
            </a:r>
            <a:r>
              <a:rPr lang="en-US" altLang="zh-CN" sz="1900" b="1">
                <a:latin typeface="华文楷体" panose="02010600040101010101" charset="-122"/>
                <a:ea typeface="华文楷体" panose="02010600040101010101" charset="-122"/>
                <a:cs typeface="华文楷体" panose="02010600040101010101" charset="-122"/>
              </a:rPr>
              <a:t>- </a:t>
            </a:r>
            <a:r>
              <a:rPr lang="zh-CN" altLang="en-US" sz="1900" b="1">
                <a:latin typeface="华文楷体" panose="02010600040101010101" charset="-122"/>
                <a:ea typeface="华文楷体" panose="02010600040101010101" charset="-122"/>
                <a:cs typeface="华文楷体" panose="02010600040101010101" charset="-122"/>
              </a:rPr>
              <a:t>期货的杠杆核心 </a:t>
            </a:r>
            <a:endParaRPr lang="zh-CN" altLang="en-US" sz="1900" b="1">
              <a:latin typeface="华文楷体" panose="02010600040101010101" charset="-122"/>
              <a:ea typeface="华文楷体" panose="02010600040101010101" charset="-122"/>
              <a:cs typeface="华文楷体" panose="02010600040101010101" charset="-122"/>
            </a:endParaRPr>
          </a:p>
          <a:p>
            <a:pPr indent="0" fontAlgn="auto">
              <a:lnSpc>
                <a:spcPct val="150000"/>
              </a:lnSpc>
            </a:pPr>
            <a:r>
              <a:rPr lang="zh-CN" altLang="en-US" sz="1600">
                <a:latin typeface="华文楷体" panose="02010600040101010101" charset="-122"/>
                <a:ea typeface="华文楷体" panose="02010600040101010101" charset="-122"/>
                <a:cs typeface="华文楷体" panose="02010600040101010101" charset="-122"/>
              </a:rPr>
              <a:t>和股票不同，不需要支付合约的全部价值，只需要缴纳一定比例的保证金</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作为履约的担保。</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ct val="15000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初始保证金</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：开仓时需要缴纳的资金，通常是合约价值的</a:t>
            </a:r>
            <a:r>
              <a:rPr lang="en-US" altLang="zh-CN" sz="1600">
                <a:latin typeface="华文楷体" panose="02010600040101010101" charset="-122"/>
                <a:ea typeface="华文楷体" panose="02010600040101010101" charset="-122"/>
                <a:cs typeface="华文楷体" panose="02010600040101010101" charset="-122"/>
              </a:rPr>
              <a:t>5%-15%</a:t>
            </a:r>
            <a:r>
              <a:rPr lang="zh-CN" altLang="en-US" sz="1600">
                <a:latin typeface="华文楷体" panose="02010600040101010101" charset="-122"/>
                <a:ea typeface="华文楷体" panose="02010600040101010101" charset="-122"/>
                <a:cs typeface="华文楷体" panose="02010600040101010101" charset="-122"/>
              </a:rPr>
              <a:t>。</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12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杠杆效应</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：正因为只付了少量保证金，就控制了价值巨大的合约，所以收益和风险都被放大了。这就是杠杆。</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120"/>
              </a:lnSpc>
              <a:spcAft>
                <a:spcPts val="0"/>
              </a:spcAft>
            </a:pPr>
            <a:r>
              <a:rPr lang="en-US" altLang="zh-CN" sz="1900" b="1">
                <a:latin typeface="华文楷体" panose="02010600040101010101" charset="-122"/>
                <a:ea typeface="华文楷体" panose="02010600040101010101" charset="-122"/>
                <a:cs typeface="华文楷体" panose="02010600040101010101" charset="-122"/>
              </a:rPr>
              <a:t>3. </a:t>
            </a:r>
            <a:r>
              <a:rPr lang="zh-CN" altLang="en-US" sz="1900" b="1">
                <a:latin typeface="华文楷体" panose="02010600040101010101" charset="-122"/>
                <a:ea typeface="华文楷体" panose="02010600040101010101" charset="-122"/>
                <a:cs typeface="华文楷体" panose="02010600040101010101" charset="-122"/>
              </a:rPr>
              <a:t>逐日盯市制度 </a:t>
            </a:r>
            <a:endParaRPr lang="zh-CN" altLang="en-US" sz="1900" b="1">
              <a:latin typeface="华文楷体" panose="02010600040101010101" charset="-122"/>
              <a:ea typeface="华文楷体" panose="02010600040101010101" charset="-122"/>
              <a:cs typeface="华文楷体" panose="02010600040101010101" charset="-122"/>
            </a:endParaRPr>
          </a:p>
          <a:p>
            <a:pPr indent="0" fontAlgn="auto">
              <a:lnSpc>
                <a:spcPct val="150000"/>
              </a:lnSpc>
            </a:pPr>
            <a:r>
              <a:rPr lang="zh-CN" altLang="en-US" sz="1600">
                <a:latin typeface="华文楷体" panose="02010600040101010101" charset="-122"/>
                <a:ea typeface="华文楷体" panose="02010600040101010101" charset="-122"/>
                <a:cs typeface="华文楷体" panose="02010600040101010101" charset="-122"/>
              </a:rPr>
              <a:t>这是控制风险的核心机制。</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每个交易日结束时，交易所会根据当日的结算价，计算所有持仓的盈亏，并直接划转资金。</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120"/>
              </a:lnSpc>
              <a:spcAft>
                <a:spcPts val="0"/>
              </a:spcAft>
            </a:pPr>
            <a:r>
              <a:rPr lang="en-US" altLang="zh-CN" sz="1900" b="1">
                <a:latin typeface="华文楷体" panose="02010600040101010101" charset="-122"/>
                <a:ea typeface="华文楷体" panose="02010600040101010101" charset="-122"/>
                <a:cs typeface="华文楷体" panose="02010600040101010101" charset="-122"/>
                <a:sym typeface="+mn-ea"/>
              </a:rPr>
              <a:t>4. 保证金催缴和强行平仓 </a:t>
            </a:r>
            <a:endParaRPr lang="en-US" altLang="zh-CN" sz="1900" b="1">
              <a:latin typeface="华文楷体" panose="02010600040101010101" charset="-122"/>
              <a:ea typeface="华文楷体" panose="02010600040101010101" charset="-122"/>
              <a:cs typeface="华文楷体" panose="02010600040101010101" charset="-122"/>
            </a:endParaRPr>
          </a:p>
          <a:p>
            <a:pPr indent="0" fontAlgn="auto">
              <a:lnSpc>
                <a:spcPct val="150000"/>
              </a:lnSpc>
            </a:pPr>
            <a:r>
              <a:rPr lang="zh-CN" altLang="en-US" sz="1600">
                <a:latin typeface="华文楷体" panose="02010600040101010101" charset="-122"/>
                <a:ea typeface="华文楷体" panose="02010600040101010101" charset="-122"/>
                <a:cs typeface="华文楷体" panose="02010600040101010101" charset="-122"/>
                <a:sym typeface="+mn-ea"/>
              </a:rPr>
              <a:t>维持保证金制度&amp;追加保证金或强行平仓</a:t>
            </a:r>
            <a:r>
              <a:rPr lang="zh-CN" altLang="en-US" sz="1600">
                <a:sym typeface="+mn-ea"/>
              </a:rPr>
              <a:t>。</a:t>
            </a:r>
            <a:r>
              <a:rPr lang="zh-CN" altLang="en-US" sz="1600" b="1">
                <a:latin typeface="华文楷体" panose="02010600040101010101" charset="-122"/>
                <a:ea typeface="华文楷体" panose="02010600040101010101" charset="-122"/>
                <a:cs typeface="华文楷体" panose="02010600040101010101" charset="-122"/>
              </a:rPr>
              <a:t>巴林银行破产（</a:t>
            </a:r>
            <a:r>
              <a:rPr lang="en-US" altLang="zh-CN" sz="1600" b="1">
                <a:latin typeface="华文楷体" panose="02010600040101010101" charset="-122"/>
                <a:ea typeface="华文楷体" panose="02010600040101010101" charset="-122"/>
                <a:cs typeface="华文楷体" panose="02010600040101010101" charset="-122"/>
              </a:rPr>
              <a:t>1995 </a:t>
            </a:r>
            <a:r>
              <a:rPr lang="zh-CN" altLang="en-US" sz="1600" b="1">
                <a:latin typeface="华文楷体" panose="02010600040101010101" charset="-122"/>
                <a:ea typeface="华文楷体" panose="02010600040101010101" charset="-122"/>
                <a:cs typeface="华文楷体" panose="02010600040101010101" charset="-122"/>
              </a:rPr>
              <a:t>年）</a:t>
            </a:r>
            <a:endParaRPr lang="zh-CN" altLang="en-US" sz="1600" b="1">
              <a:latin typeface="华文楷体" panose="02010600040101010101" charset="-122"/>
              <a:ea typeface="华文楷体" panose="02010600040101010101" charset="-122"/>
              <a:cs typeface="华文楷体" panose="02010600040101010101" charset="-122"/>
            </a:endParaRPr>
          </a:p>
          <a:p>
            <a:pPr indent="0" algn="l" fontAlgn="auto">
              <a:lnSpc>
                <a:spcPts val="2120"/>
              </a:lnSpc>
              <a:spcAft>
                <a:spcPts val="0"/>
              </a:spcAft>
              <a:buClrTx/>
              <a:buSzTx/>
              <a:buFontTx/>
            </a:pPr>
            <a:r>
              <a:rPr lang="en-US" altLang="zh-CN" sz="1900" b="1">
                <a:latin typeface="华文楷体" panose="02010600040101010101" charset="-122"/>
                <a:ea typeface="华文楷体" panose="02010600040101010101" charset="-122"/>
                <a:cs typeface="华文楷体" panose="02010600040101010101" charset="-122"/>
                <a:sym typeface="+mn-ea"/>
              </a:rPr>
              <a:t>5. 交割机制 </a:t>
            </a:r>
            <a:endParaRPr lang="en-US" altLang="zh-CN" sz="1900" b="1">
              <a:latin typeface="华文楷体" panose="02010600040101010101" charset="-122"/>
              <a:ea typeface="华文楷体" panose="02010600040101010101" charset="-122"/>
              <a:cs typeface="华文楷体" panose="02010600040101010101" charset="-122"/>
            </a:endParaRPr>
          </a:p>
          <a:p>
            <a:pPr indent="0" fontAlgn="auto">
              <a:lnSpc>
                <a:spcPct val="15000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实物交割</a:t>
            </a: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：大部分商品期货（如原油、金属、农产品）在合约到期时，可以通过实物交割来履行合约。卖方交付实物，买方支付货款。但只有极少数的交易者（约</a:t>
            </a:r>
            <a:r>
              <a:rPr lang="en-US" altLang="zh-CN" sz="1600">
                <a:latin typeface="华文楷体" panose="02010600040101010101" charset="-122"/>
                <a:ea typeface="华文楷体" panose="02010600040101010101" charset="-122"/>
                <a:cs typeface="华文楷体" panose="02010600040101010101" charset="-122"/>
                <a:sym typeface="+mn-ea"/>
              </a:rPr>
              <a:t>1-2%</a:t>
            </a:r>
            <a:r>
              <a:rPr lang="zh-CN" altLang="en-US" sz="1600">
                <a:latin typeface="华文楷体" panose="02010600040101010101" charset="-122"/>
                <a:ea typeface="华文楷体" panose="02010600040101010101" charset="-122"/>
                <a:cs typeface="华文楷体" panose="02010600040101010101" charset="-122"/>
                <a:sym typeface="+mn-ea"/>
              </a:rPr>
              <a:t>）会持有到最后进行实物交割。</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12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现金交割</a:t>
            </a:r>
            <a:r>
              <a:rPr lang="en-US" altLang="zh-CN" sz="1600">
                <a:latin typeface="华文楷体" panose="02010600040101010101" charset="-122"/>
                <a:ea typeface="华文楷体" panose="02010600040101010101" charset="-122"/>
                <a:cs typeface="华文楷体" panose="02010600040101010101" charset="-122"/>
                <a:sym typeface="+mn-ea"/>
              </a:rPr>
              <a:t>​</a:t>
            </a:r>
            <a:r>
              <a:rPr lang="zh-CN" altLang="en-US" sz="1600">
                <a:latin typeface="华文楷体" panose="02010600040101010101" charset="-122"/>
                <a:ea typeface="华文楷体" panose="02010600040101010101" charset="-122"/>
                <a:cs typeface="华文楷体" panose="02010600040101010101" charset="-122"/>
                <a:sym typeface="+mn-ea"/>
              </a:rPr>
              <a:t>：大部分金融期货（如股指期货）采用现金交割。到期时，直接根据现货价格和期货价格的差额，用现金进行盈亏划转，不涉及实物。这更方便。</a:t>
            </a:r>
            <a:endParaRPr lang="zh-CN" altLang="en-US" sz="1600">
              <a:latin typeface="华文楷体" panose="02010600040101010101" charset="-122"/>
              <a:ea typeface="华文楷体" panose="02010600040101010101" charset="-122"/>
              <a:cs typeface="华文楷体" panose="02010600040101010101" charset="-122"/>
              <a:sym typeface="+mn-ea"/>
            </a:endParaRPr>
          </a:p>
          <a:p>
            <a:r>
              <a:rPr lang="en-US" altLang="zh-CN" sz="1600">
                <a:latin typeface="华文楷体" panose="02010600040101010101" charset="-122"/>
                <a:ea typeface="华文楷体" panose="02010600040101010101" charset="-122"/>
                <a:cs typeface="华文楷体" panose="02010600040101010101" charset="-122"/>
              </a:rPr>
              <a:t>​​</a:t>
            </a:r>
            <a:endParaRPr lang="en-US" altLang="zh-CN" sz="1600">
              <a:latin typeface="华文楷体" panose="02010600040101010101" charset="-122"/>
              <a:ea typeface="华文楷体" panose="02010600040101010101" charset="-122"/>
              <a:cs typeface="华文楷体" panose="02010600040101010101" charset="-122"/>
            </a:endParaRPr>
          </a:p>
          <a:p>
            <a:pPr>
              <a:spcAft>
                <a:spcPct val="60000"/>
              </a:spcAft>
            </a:pPr>
            <a:endParaRPr lang="zh-CN" altLang="en-US" sz="16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ath 3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6" name="textbox 96"/>
          <p:cNvSpPr/>
          <p:nvPr/>
        </p:nvSpPr>
        <p:spPr>
          <a:xfrm>
            <a:off x="217805" y="296545"/>
            <a:ext cx="6091555"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b="1" dirty="0">
                <a:latin typeface="楷体" panose="02010609060101010101" charset="-122"/>
                <a:ea typeface="楷体" panose="02010609060101010101" charset="-122"/>
                <a:cs typeface="楷体" panose="02010609060101010101" charset="-122"/>
              </a:rPr>
              <a:t>期货的定价</a:t>
            </a:r>
            <a:endParaRPr lang="zh-CN" altLang="en-US" sz="3900" b="1" dirty="0">
              <a:latin typeface="楷体" panose="02010609060101010101" charset="-122"/>
              <a:ea typeface="楷体" panose="02010609060101010101" charset="-122"/>
              <a:cs typeface="楷体" panose="02010609060101010101" charset="-122"/>
            </a:endParaRPr>
          </a:p>
        </p:txBody>
      </p:sp>
      <p:sp>
        <p:nvSpPr>
          <p:cNvPr id="2" name="path 388"/>
          <p:cNvSpPr/>
          <p:nvPr/>
        </p:nvSpPr>
        <p:spPr>
          <a:xfrm>
            <a:off x="0" y="64325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3" name="文本框 2"/>
          <p:cNvSpPr txBox="1"/>
          <p:nvPr/>
        </p:nvSpPr>
        <p:spPr>
          <a:xfrm>
            <a:off x="495935" y="1349375"/>
            <a:ext cx="5941060" cy="583565"/>
          </a:xfrm>
          <a:prstGeom prst="rect">
            <a:avLst/>
          </a:prstGeom>
        </p:spPr>
        <p:txBody>
          <a:bodyPr wrap="square">
            <a:spAutoFit/>
          </a:bodyPr>
          <a:p>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a:latin typeface="华文楷体" panose="02010600040101010101" charset="-122"/>
                <a:ea typeface="华文楷体" panose="02010600040101010101" charset="-122"/>
              </a:rPr>
              <a:t>基本模型：持有成本模型</a:t>
            </a:r>
            <a:endParaRPr lang="zh-CN" altLang="en-US" sz="1600">
              <a:latin typeface="华文楷体" panose="02010600040101010101" charset="-122"/>
              <a:ea typeface="华文楷体" panose="02010600040101010101" charset="-122"/>
            </a:endParaRPr>
          </a:p>
          <a:p>
            <a:r>
              <a:rPr lang="zh-CN" altLang="en-US" sz="1600">
                <a:latin typeface="华文楷体" panose="02010600040101010101" charset="-122"/>
                <a:ea typeface="华文楷体" panose="02010600040101010101" charset="-122"/>
              </a:rPr>
              <a:t>该模型考虑了从现在持有资产到未来交割日所需的所有成本。</a:t>
            </a:r>
            <a:endParaRPr lang="zh-CN" altLang="en-US" sz="1600">
              <a:latin typeface="华文楷体" panose="02010600040101010101" charset="-122"/>
              <a:ea typeface="华文楷体" panose="02010600040101010101" charset="-122"/>
            </a:endParaRPr>
          </a:p>
        </p:txBody>
      </p:sp>
      <p:pic>
        <p:nvPicPr>
          <p:cNvPr id="4" name="图片 3"/>
          <p:cNvPicPr>
            <a:picLocks noChangeAspect="1"/>
          </p:cNvPicPr>
          <p:nvPr/>
        </p:nvPicPr>
        <p:blipFill>
          <a:blip r:embed="rId1"/>
          <a:stretch>
            <a:fillRect/>
          </a:stretch>
        </p:blipFill>
        <p:spPr>
          <a:xfrm>
            <a:off x="5062855" y="1932940"/>
            <a:ext cx="1607185" cy="367665"/>
          </a:xfrm>
          <a:prstGeom prst="rect">
            <a:avLst/>
          </a:prstGeom>
          <a:noFill/>
          <a:ln w="9525">
            <a:noFill/>
          </a:ln>
        </p:spPr>
      </p:pic>
      <p:sp>
        <p:nvSpPr>
          <p:cNvPr id="5" name="文本框 4"/>
          <p:cNvSpPr txBox="1"/>
          <p:nvPr/>
        </p:nvSpPr>
        <p:spPr>
          <a:xfrm>
            <a:off x="574040" y="3400425"/>
            <a:ext cx="6096000" cy="337185"/>
          </a:xfrm>
          <a:prstGeom prst="rect">
            <a:avLst/>
          </a:prstGeom>
          <a:noFill/>
        </p:spPr>
        <p:txBody>
          <a:bodyPr wrap="square" rtlCol="0" anchor="t">
            <a:spAutoFit/>
          </a:bodyPr>
          <a:p>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a:latin typeface="华文楷体" panose="02010600040101010101" charset="-122"/>
                <a:ea typeface="华文楷体" panose="02010600040101010101" charset="-122"/>
                <a:sym typeface="+mn-ea"/>
              </a:rPr>
              <a:t>支付已知股息的股票指数期货</a:t>
            </a:r>
            <a:endParaRPr lang="zh-CN" altLang="en-US" sz="1600">
              <a:latin typeface="华文楷体" panose="02010600040101010101" charset="-122"/>
              <a:ea typeface="华文楷体" panose="02010600040101010101" charset="-122"/>
              <a:sym typeface="+mn-ea"/>
            </a:endParaRPr>
          </a:p>
        </p:txBody>
      </p:sp>
      <p:sp>
        <p:nvSpPr>
          <p:cNvPr id="6" name="文本框 5"/>
          <p:cNvSpPr txBox="1"/>
          <p:nvPr/>
        </p:nvSpPr>
        <p:spPr>
          <a:xfrm>
            <a:off x="624840" y="2385695"/>
            <a:ext cx="10362565" cy="1076325"/>
          </a:xfrm>
          <a:prstGeom prst="rect">
            <a:avLst/>
          </a:prstGeom>
          <a:noFill/>
        </p:spPr>
        <p:txBody>
          <a:bodyPr wrap="square" rtlCol="0" anchor="t">
            <a:spAutoFit/>
          </a:bodyPr>
          <a:p>
            <a:r>
              <a:rPr lang="en-US" altLang="zh-CN" sz="1600">
                <a:latin typeface="华文楷体" panose="02010600040101010101" charset="-122"/>
                <a:ea typeface="华文楷体" panose="02010600040101010101" charset="-122"/>
                <a:sym typeface="+mn-ea"/>
              </a:rPr>
              <a:t>r​​</a:t>
            </a:r>
            <a:r>
              <a:rPr lang="zh-CN" altLang="en-US" sz="1600">
                <a:latin typeface="华文楷体" panose="02010600040101010101" charset="-122"/>
                <a:ea typeface="华文楷体" panose="02010600040101010101" charset="-122"/>
                <a:sym typeface="+mn-ea"/>
              </a:rPr>
              <a:t>：无风险年利率（连续复利）。机会成本。</a:t>
            </a:r>
            <a:endParaRPr lang="zh-CN" altLang="en-US" sz="1600">
              <a:latin typeface="华文楷体" panose="02010600040101010101" charset="-122"/>
              <a:ea typeface="华文楷体" panose="02010600040101010101" charset="-122"/>
              <a:sym typeface="+mn-ea"/>
            </a:endParaRPr>
          </a:p>
          <a:p>
            <a:r>
              <a:rPr lang="en-US" altLang="zh-CN" sz="1600">
                <a:latin typeface="华文楷体" panose="02010600040101010101" charset="-122"/>
                <a:ea typeface="华文楷体" panose="02010600040101010101" charset="-122"/>
                <a:sym typeface="+mn-ea"/>
              </a:rPr>
              <a:t>​​q​​</a:t>
            </a:r>
            <a:r>
              <a:rPr lang="zh-CN" altLang="en-US" sz="1600">
                <a:latin typeface="华文楷体" panose="02010600040101010101" charset="-122"/>
                <a:ea typeface="华文楷体" panose="02010600040101010101" charset="-122"/>
                <a:sym typeface="+mn-ea"/>
              </a:rPr>
              <a:t>：标的资产在持有期内按比例支付的年化收益率（连续复利）。</a:t>
            </a:r>
            <a:r>
              <a:rPr lang="en-US" altLang="zh-CN" sz="1600">
                <a:latin typeface="华文楷体" panose="02010600040101010101" charset="-122"/>
                <a:ea typeface="华文楷体" panose="02010600040101010101" charset="-122"/>
                <a:sym typeface="+mn-ea"/>
              </a:rPr>
              <a:t>​</a:t>
            </a:r>
            <a:r>
              <a:rPr lang="zh-CN" altLang="en-US" sz="1600">
                <a:latin typeface="华文楷体" panose="02010600040101010101" charset="-122"/>
                <a:ea typeface="华文楷体" panose="02010600040101010101" charset="-122"/>
                <a:sym typeface="+mn-ea"/>
              </a:rPr>
              <a:t>对于股票指数期货，这就是股息率。</a:t>
            </a:r>
            <a:endParaRPr lang="zh-CN" altLang="en-US" sz="1600">
              <a:latin typeface="华文楷体" panose="02010600040101010101" charset="-122"/>
              <a:ea typeface="华文楷体" panose="02010600040101010101" charset="-122"/>
              <a:sym typeface="+mn-ea"/>
            </a:endParaRPr>
          </a:p>
          <a:p>
            <a:r>
              <a:rPr lang="en-US" altLang="zh-CN" sz="1600">
                <a:latin typeface="华文楷体" panose="02010600040101010101" charset="-122"/>
                <a:ea typeface="华文楷体" panose="02010600040101010101" charset="-122"/>
                <a:sym typeface="+mn-ea"/>
              </a:rPr>
              <a:t>​​T​​</a:t>
            </a:r>
            <a:r>
              <a:rPr lang="zh-CN" altLang="en-US" sz="1600">
                <a:latin typeface="华文楷体" panose="02010600040101010101" charset="-122"/>
                <a:ea typeface="华文楷体" panose="02010600040101010101" charset="-122"/>
                <a:sym typeface="+mn-ea"/>
              </a:rPr>
              <a:t>：距离期货合约到期的年限。</a:t>
            </a:r>
            <a:endParaRPr lang="zh-CN" altLang="en-US" sz="1600">
              <a:latin typeface="华文楷体" panose="02010600040101010101" charset="-122"/>
              <a:ea typeface="华文楷体" panose="02010600040101010101" charset="-122"/>
              <a:sym typeface="+mn-ea"/>
            </a:endParaRPr>
          </a:p>
          <a:p>
            <a:r>
              <a:rPr lang="en-US" altLang="zh-CN" sz="1600">
                <a:latin typeface="华文楷体" panose="02010600040101010101" charset="-122"/>
                <a:ea typeface="华文楷体" panose="02010600040101010101" charset="-122"/>
                <a:sym typeface="+mn-ea"/>
              </a:rPr>
              <a:t>​​u​​</a:t>
            </a:r>
            <a:r>
              <a:rPr lang="zh-CN" altLang="en-US" sz="1600">
                <a:latin typeface="华文楷体" panose="02010600040101010101" charset="-122"/>
                <a:ea typeface="华文楷体" panose="02010600040101010101" charset="-122"/>
                <a:sym typeface="+mn-ea"/>
              </a:rPr>
              <a:t>：年化的储存成本。</a:t>
            </a:r>
            <a:r>
              <a:rPr lang="en-US" altLang="zh-CN" sz="1600">
                <a:latin typeface="华文楷体" panose="02010600040101010101" charset="-122"/>
                <a:ea typeface="华文楷体" panose="02010600040101010101" charset="-122"/>
                <a:sym typeface="+mn-ea"/>
              </a:rPr>
              <a:t>​</a:t>
            </a:r>
            <a:r>
              <a:rPr lang="zh-CN" altLang="en-US" sz="1600">
                <a:latin typeface="华文楷体" panose="02010600040101010101" charset="-122"/>
                <a:ea typeface="华文楷体" panose="02010600040101010101" charset="-122"/>
                <a:sym typeface="+mn-ea"/>
              </a:rPr>
              <a:t>对于商品（如原油、黄金）非常重要。</a:t>
            </a:r>
            <a:endParaRPr lang="zh-CN" altLang="en-US" sz="1600">
              <a:latin typeface="华文楷体" panose="02010600040101010101" charset="-122"/>
              <a:ea typeface="华文楷体" panose="02010600040101010101" charset="-122"/>
              <a:sym typeface="+mn-ea"/>
            </a:endParaRPr>
          </a:p>
        </p:txBody>
      </p:sp>
      <p:pic>
        <p:nvPicPr>
          <p:cNvPr id="7" name="图片 6"/>
          <p:cNvPicPr>
            <a:picLocks noChangeAspect="1"/>
          </p:cNvPicPr>
          <p:nvPr/>
        </p:nvPicPr>
        <p:blipFill>
          <a:blip r:embed="rId2"/>
          <a:stretch>
            <a:fillRect/>
          </a:stretch>
        </p:blipFill>
        <p:spPr>
          <a:xfrm>
            <a:off x="5022215" y="3651885"/>
            <a:ext cx="1477010" cy="377825"/>
          </a:xfrm>
          <a:prstGeom prst="rect">
            <a:avLst/>
          </a:prstGeom>
          <a:noFill/>
          <a:ln w="9525">
            <a:noFill/>
          </a:ln>
        </p:spPr>
      </p:pic>
      <p:sp>
        <p:nvSpPr>
          <p:cNvPr id="9" name="文本框 8"/>
          <p:cNvSpPr txBox="1"/>
          <p:nvPr/>
        </p:nvSpPr>
        <p:spPr>
          <a:xfrm>
            <a:off x="574040" y="4178935"/>
            <a:ext cx="3448685" cy="326390"/>
          </a:xfrm>
          <a:prstGeom prst="rect">
            <a:avLst/>
          </a:prstGeom>
          <a:noFill/>
        </p:spPr>
        <p:txBody>
          <a:bodyPr wrap="square" rtlCol="0" anchor="t">
            <a:noAutofit/>
          </a:bodyPr>
          <a:p>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a:latin typeface="华文楷体" panose="02010600040101010101" charset="-122"/>
                <a:ea typeface="华文楷体" panose="02010600040101010101" charset="-122"/>
                <a:sym typeface="+mn-ea"/>
              </a:rPr>
              <a:t>商品期货（如原油、黄金、铜）</a:t>
            </a:r>
            <a:endParaRPr lang="zh-CN" altLang="en-US" sz="1600"/>
          </a:p>
          <a:p>
            <a:endParaRPr lang="zh-CN" altLang="en-US" sz="1600">
              <a:latin typeface="华文楷体" panose="02010600040101010101" charset="-122"/>
              <a:ea typeface="华文楷体" panose="02010600040101010101" charset="-122"/>
              <a:sym typeface="+mn-ea"/>
            </a:endParaRPr>
          </a:p>
        </p:txBody>
      </p:sp>
      <p:pic>
        <p:nvPicPr>
          <p:cNvPr id="10" name="图片 9"/>
          <p:cNvPicPr>
            <a:picLocks noChangeAspect="1"/>
          </p:cNvPicPr>
          <p:nvPr/>
        </p:nvPicPr>
        <p:blipFill>
          <a:blip r:embed="rId3"/>
          <a:stretch>
            <a:fillRect/>
          </a:stretch>
        </p:blipFill>
        <p:spPr>
          <a:xfrm>
            <a:off x="5022215" y="4531360"/>
            <a:ext cx="1524635" cy="348615"/>
          </a:xfrm>
          <a:prstGeom prst="rect">
            <a:avLst/>
          </a:prstGeom>
          <a:noFill/>
          <a:ln w="9525">
            <a:noFill/>
          </a:ln>
        </p:spPr>
      </p:pic>
      <p:sp>
        <p:nvSpPr>
          <p:cNvPr id="11" name="文本框 10"/>
          <p:cNvSpPr txBox="1"/>
          <p:nvPr/>
        </p:nvSpPr>
        <p:spPr>
          <a:xfrm>
            <a:off x="624840" y="4946650"/>
            <a:ext cx="10362565" cy="337185"/>
          </a:xfrm>
          <a:prstGeom prst="rect">
            <a:avLst/>
          </a:prstGeom>
          <a:noFill/>
        </p:spPr>
        <p:txBody>
          <a:bodyPr wrap="square" rtlCol="0" anchor="t">
            <a:spAutoFit/>
          </a:bodyPr>
          <a:p>
            <a:r>
              <a:rPr lang="en-US" altLang="zh-CN" sz="1600">
                <a:latin typeface="华文楷体" panose="02010600040101010101" charset="-122"/>
                <a:ea typeface="华文楷体" panose="02010600040101010101" charset="-122"/>
                <a:sym typeface="+mn-ea"/>
              </a:rPr>
              <a:t>y​​</a:t>
            </a:r>
            <a:r>
              <a:rPr lang="zh-CN" altLang="en-US" sz="1600">
                <a:latin typeface="华文楷体" panose="02010600040101010101" charset="-122"/>
                <a:ea typeface="华文楷体" panose="02010600040101010101" charset="-122"/>
                <a:sym typeface="+mn-ea"/>
              </a:rPr>
              <a:t>：</a:t>
            </a:r>
            <a:r>
              <a:rPr lang="en-US" altLang="zh-CN" sz="1600">
                <a:latin typeface="华文楷体" panose="02010600040101010101" charset="-122"/>
                <a:ea typeface="华文楷体" panose="02010600040101010101" charset="-122"/>
                <a:sym typeface="+mn-ea"/>
              </a:rPr>
              <a:t> </a:t>
            </a:r>
            <a:r>
              <a:rPr lang="zh-CN" altLang="en-US" sz="1600">
                <a:latin typeface="华文楷体" panose="02010600040101010101" charset="-122"/>
                <a:ea typeface="华文楷体" panose="02010600040101010101" charset="-122"/>
                <a:sym typeface="+mn-ea"/>
              </a:rPr>
              <a:t>便利收益。持有实物商品带来的隐性好处（例如，在短缺时能保证供应），它会降低期货价格。</a:t>
            </a:r>
            <a:r>
              <a:rPr lang="en-US" altLang="zh-CN" sz="1600">
                <a:latin typeface="华文楷体" panose="02010600040101010101" charset="-122"/>
                <a:ea typeface="华文楷体" panose="02010600040101010101" charset="-122"/>
                <a:sym typeface="+mn-ea"/>
              </a:rPr>
              <a:t>​</a:t>
            </a:r>
            <a:r>
              <a:rPr lang="zh-CN" altLang="en-US" sz="1600">
                <a:latin typeface="华文楷体" panose="02010600040101010101" charset="-122"/>
                <a:ea typeface="华文楷体" panose="02010600040101010101" charset="-122"/>
                <a:sym typeface="+mn-ea"/>
              </a:rPr>
              <a:t>主要针对商品。</a:t>
            </a:r>
            <a:endParaRPr lang="zh-CN" altLang="en-US" sz="1600">
              <a:latin typeface="华文楷体" panose="02010600040101010101" charset="-122"/>
              <a:ea typeface="华文楷体" panose="02010600040101010101" charset="-122"/>
              <a:sym typeface="+mn-ea"/>
            </a:endParaRPr>
          </a:p>
        </p:txBody>
      </p:sp>
      <p:sp>
        <p:nvSpPr>
          <p:cNvPr id="12" name="文本框 11"/>
          <p:cNvSpPr txBox="1"/>
          <p:nvPr/>
        </p:nvSpPr>
        <p:spPr>
          <a:xfrm>
            <a:off x="624840" y="5350510"/>
            <a:ext cx="3448685" cy="326390"/>
          </a:xfrm>
          <a:prstGeom prst="rect">
            <a:avLst/>
          </a:prstGeom>
          <a:noFill/>
        </p:spPr>
        <p:txBody>
          <a:bodyPr wrap="square" rtlCol="0" anchor="t">
            <a:noAutofit/>
          </a:bodyPr>
          <a:p>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a:latin typeface="华文楷体" panose="02010600040101010101" charset="-122"/>
                <a:ea typeface="华文楷体" panose="02010600040101010101" charset="-122"/>
                <a:sym typeface="+mn-ea"/>
              </a:rPr>
              <a:t>利率期货</a:t>
            </a:r>
            <a:endParaRPr lang="zh-CN" altLang="en-US" sz="1600"/>
          </a:p>
          <a:p>
            <a:endParaRPr lang="zh-CN" altLang="en-US" sz="1600">
              <a:latin typeface="华文楷体" panose="02010600040101010101" charset="-122"/>
              <a:ea typeface="华文楷体" panose="02010600040101010101" charset="-122"/>
              <a:sym typeface="+mn-ea"/>
            </a:endParaRPr>
          </a:p>
        </p:txBody>
      </p:sp>
      <p:sp>
        <p:nvSpPr>
          <p:cNvPr id="13" name="文本框 12"/>
          <p:cNvSpPr txBox="1"/>
          <p:nvPr/>
        </p:nvSpPr>
        <p:spPr>
          <a:xfrm>
            <a:off x="748665" y="5621655"/>
            <a:ext cx="7534275" cy="829945"/>
          </a:xfrm>
          <a:prstGeom prst="rect">
            <a:avLst/>
          </a:prstGeom>
        </p:spPr>
        <p:txBody>
          <a:bodyPr wrap="square">
            <a:spAutoFit/>
          </a:bodyPr>
          <a:p>
            <a:r>
              <a:rPr lang="zh-CN" altLang="en-US" sz="1600">
                <a:latin typeface="华文楷体" panose="02010600040101010101" charset="-122"/>
                <a:ea typeface="华文楷体" panose="02010600040101010101" charset="-122"/>
              </a:rPr>
              <a:t>定价复杂，涉及到债券的票息、最便宜可交割债券、转换因子等。</a:t>
            </a:r>
            <a:endParaRPr lang="zh-CN" altLang="en-US" sz="1600">
              <a:latin typeface="华文楷体" panose="02010600040101010101" charset="-122"/>
              <a:ea typeface="华文楷体" panose="02010600040101010101" charset="-122"/>
            </a:endParaRPr>
          </a:p>
          <a:p>
            <a:r>
              <a:rPr lang="zh-CN" altLang="en-US" sz="1600">
                <a:latin typeface="华文楷体" panose="02010600040101010101" charset="-122"/>
                <a:ea typeface="华文楷体" panose="02010600040101010101" charset="-122"/>
              </a:rPr>
              <a:t>​期货价格 = （最便宜可交割债券的现货价格 - 持有债券期间的利息收入现值）× </a:t>
            </a:r>
            <a:endParaRPr lang="zh-CN" altLang="en-US" sz="1600">
              <a:latin typeface="华文楷体" panose="02010600040101010101" charset="-122"/>
              <a:ea typeface="华文楷体" panose="02010600040101010101" charset="-122"/>
            </a:endParaRPr>
          </a:p>
          <a:p>
            <a:endParaRPr lang="zh-CN" altLang="en-US" sz="1600"/>
          </a:p>
        </p:txBody>
      </p:sp>
      <p:pic>
        <p:nvPicPr>
          <p:cNvPr id="14" name="图片 13"/>
          <p:cNvPicPr>
            <a:picLocks noChangeAspect="1"/>
          </p:cNvPicPr>
          <p:nvPr/>
        </p:nvPicPr>
        <p:blipFill>
          <a:blip r:embed="rId4"/>
          <a:stretch>
            <a:fillRect/>
          </a:stretch>
        </p:blipFill>
        <p:spPr>
          <a:xfrm>
            <a:off x="8022590" y="5790565"/>
            <a:ext cx="347980" cy="359410"/>
          </a:xfrm>
          <a:prstGeom prst="rect">
            <a:avLst/>
          </a:prstGeom>
          <a:noFill/>
          <a:ln w="9525">
            <a:noFill/>
          </a:ln>
        </p:spPr>
      </p:pic>
      <p:sp>
        <p:nvSpPr>
          <p:cNvPr id="15" name="文本框 14"/>
          <p:cNvSpPr txBox="1"/>
          <p:nvPr/>
        </p:nvSpPr>
        <p:spPr>
          <a:xfrm>
            <a:off x="824865" y="6141085"/>
            <a:ext cx="6096000" cy="337185"/>
          </a:xfrm>
          <a:prstGeom prst="rect">
            <a:avLst/>
          </a:prstGeom>
          <a:noFill/>
        </p:spPr>
        <p:txBody>
          <a:bodyPr wrap="square" rtlCol="0" anchor="t">
            <a:spAutoFit/>
          </a:bodyPr>
          <a:p>
            <a:r>
              <a:rPr lang="zh-CN" altLang="en-US" sz="1600">
                <a:latin typeface="华文楷体" panose="02010600040101010101" charset="-122"/>
                <a:ea typeface="华文楷体" panose="02010600040101010101" charset="-122"/>
                <a:sym typeface="+mn-ea"/>
              </a:rPr>
              <a:t>r为市场的回购利率</a:t>
            </a:r>
            <a:endParaRPr lang="zh-CN" altLang="en-US" sz="16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textbox 384"/>
          <p:cNvSpPr/>
          <p:nvPr/>
        </p:nvSpPr>
        <p:spPr>
          <a:xfrm>
            <a:off x="4723942" y="6478473"/>
            <a:ext cx="7244080" cy="22987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605"/>
              </a:lnSpc>
            </a:pPr>
            <a:r>
              <a:rPr sz="1200" kern="0" spc="0" dirty="0">
                <a:solidFill>
                  <a:srgbClr val="898989">
                    <a:alpha val="100000"/>
                  </a:srgbClr>
                </a:solidFill>
                <a:latin typeface="Times New Roman" panose="02020603050405020304"/>
                <a:ea typeface="Times New Roman" panose="02020603050405020304"/>
                <a:cs typeface="Times New Roman" panose="02020603050405020304"/>
              </a:rPr>
              <a:t>                          </a:t>
            </a:r>
            <a:r>
              <a:rPr sz="1200" kern="0" spc="-10" dirty="0">
                <a:solidFill>
                  <a:srgbClr val="898989">
                    <a:alpha val="100000"/>
                  </a:srgbClr>
                </a:solidFill>
                <a:latin typeface="Times New Roman" panose="02020603050405020304"/>
                <a:ea typeface="Times New Roman" panose="02020603050405020304"/>
                <a:cs typeface="Times New Roman" panose="02020603050405020304"/>
              </a:rPr>
              <a:t>                                                                                        </a:t>
            </a:r>
            <a:endParaRPr sz="1800" baseline="26000" dirty="0">
              <a:latin typeface="Times New Roman" panose="02020603050405020304"/>
              <a:ea typeface="Times New Roman" panose="02020603050405020304"/>
              <a:cs typeface="Times New Roman" panose="02020603050405020304"/>
            </a:endParaRPr>
          </a:p>
        </p:txBody>
      </p:sp>
      <p:sp>
        <p:nvSpPr>
          <p:cNvPr id="388" name="path 3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6" name="textbox 96"/>
          <p:cNvSpPr/>
          <p:nvPr/>
        </p:nvSpPr>
        <p:spPr>
          <a:xfrm>
            <a:off x="217805" y="296545"/>
            <a:ext cx="6091555"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b="1" dirty="0">
                <a:latin typeface="楷体" panose="02010609060101010101" charset="-122"/>
                <a:ea typeface="楷体" panose="02010609060101010101" charset="-122"/>
                <a:cs typeface="楷体" panose="02010609060101010101" charset="-122"/>
              </a:rPr>
              <a:t>原油宝事件分析</a:t>
            </a:r>
            <a:endParaRPr lang="zh-CN" altLang="en-US" sz="3900" b="1" dirty="0">
              <a:latin typeface="楷体" panose="02010609060101010101" charset="-122"/>
              <a:ea typeface="楷体" panose="02010609060101010101" charset="-122"/>
              <a:cs typeface="楷体" panose="02010609060101010101" charset="-122"/>
            </a:endParaRPr>
          </a:p>
        </p:txBody>
      </p:sp>
      <p:sp>
        <p:nvSpPr>
          <p:cNvPr id="2" name="path 388"/>
          <p:cNvSpPr/>
          <p:nvPr/>
        </p:nvSpPr>
        <p:spPr>
          <a:xfrm>
            <a:off x="0" y="64325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145" name="任意多边形: 形状 184"/>
          <p:cNvSpPr/>
          <p:nvPr>
            <p:custDataLst>
              <p:tags r:id="rId1"/>
            </p:custDataLst>
          </p:nvPr>
        </p:nvSpPr>
        <p:spPr>
          <a:xfrm>
            <a:off x="1613991" y="2411127"/>
            <a:ext cx="9291795" cy="2387338"/>
          </a:xfrm>
          <a:custGeom>
            <a:avLst/>
            <a:gdLst>
              <a:gd name="connsiteX0" fmla="*/ 0 w 17028"/>
              <a:gd name="connsiteY0" fmla="*/ 0 h 4375"/>
              <a:gd name="connsiteX1" fmla="*/ 15934 w 17028"/>
              <a:gd name="connsiteY1" fmla="*/ 0 h 4375"/>
              <a:gd name="connsiteX2" fmla="*/ 17028 w 17028"/>
              <a:gd name="connsiteY2" fmla="*/ 1094 h 4375"/>
              <a:gd name="connsiteX3" fmla="*/ 17028 w 17028"/>
              <a:gd name="connsiteY3" fmla="*/ 1094 h 4375"/>
              <a:gd name="connsiteX4" fmla="*/ 15934 w 17028"/>
              <a:gd name="connsiteY4" fmla="*/ 2187 h 4375"/>
              <a:gd name="connsiteX5" fmla="*/ 1094 w 17028"/>
              <a:gd name="connsiteY5" fmla="*/ 2187 h 4375"/>
              <a:gd name="connsiteX6" fmla="*/ 0 w 17028"/>
              <a:gd name="connsiteY6" fmla="*/ 3281 h 4375"/>
              <a:gd name="connsiteX7" fmla="*/ 0 w 17028"/>
              <a:gd name="connsiteY7" fmla="*/ 3281 h 4375"/>
              <a:gd name="connsiteX8" fmla="*/ 1094 w 17028"/>
              <a:gd name="connsiteY8" fmla="*/ 4375 h 4375"/>
              <a:gd name="connsiteX9" fmla="*/ 16972 w 17028"/>
              <a:gd name="connsiteY9" fmla="*/ 4375 h 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28" h="4375">
                <a:moveTo>
                  <a:pt x="0" y="0"/>
                </a:moveTo>
                <a:lnTo>
                  <a:pt x="15934" y="0"/>
                </a:lnTo>
                <a:cubicBezTo>
                  <a:pt x="16538" y="0"/>
                  <a:pt x="17028" y="490"/>
                  <a:pt x="17028" y="1094"/>
                </a:cubicBezTo>
                <a:lnTo>
                  <a:pt x="17028" y="1094"/>
                </a:lnTo>
                <a:cubicBezTo>
                  <a:pt x="17028" y="1698"/>
                  <a:pt x="16538" y="2187"/>
                  <a:pt x="15934" y="2187"/>
                </a:cubicBezTo>
                <a:lnTo>
                  <a:pt x="1094" y="2187"/>
                </a:lnTo>
                <a:cubicBezTo>
                  <a:pt x="490" y="2187"/>
                  <a:pt x="0" y="2677"/>
                  <a:pt x="0" y="3281"/>
                </a:cubicBezTo>
                <a:lnTo>
                  <a:pt x="0" y="3281"/>
                </a:lnTo>
                <a:cubicBezTo>
                  <a:pt x="0" y="3885"/>
                  <a:pt x="490" y="4375"/>
                  <a:pt x="1094" y="4375"/>
                </a:cubicBezTo>
                <a:lnTo>
                  <a:pt x="16972" y="4375"/>
                </a:lnTo>
              </a:path>
            </a:pathLst>
          </a:custGeom>
          <a:noFill/>
          <a:ln w="101600" cap="rnd">
            <a:gradFill>
              <a:gsLst>
                <a:gs pos="0">
                  <a:schemeClr val="accent6">
                    <a:lumMod val="20000"/>
                    <a:lumOff val="80000"/>
                    <a:alpha val="100000"/>
                  </a:schemeClr>
                </a:gs>
                <a:gs pos="88000">
                  <a:schemeClr val="accent6">
                    <a:alpha val="100000"/>
                  </a:schemeClr>
                </a:gs>
              </a:gsLst>
              <a:lin ang="618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6" name="任意多边形: 形状 253"/>
          <p:cNvSpPr/>
          <p:nvPr>
            <p:custDataLst>
              <p:tags r:id="rId2"/>
            </p:custDataLst>
          </p:nvPr>
        </p:nvSpPr>
        <p:spPr>
          <a:xfrm>
            <a:off x="1535415" y="2286713"/>
            <a:ext cx="248567" cy="248567"/>
          </a:xfrm>
          <a:custGeom>
            <a:avLst/>
            <a:gdLst>
              <a:gd name="connsiteX0" fmla="*/ 289255 w 289255"/>
              <a:gd name="connsiteY0" fmla="*/ 144628 h 289255"/>
              <a:gd name="connsiteX1" fmla="*/ 144628 w 289255"/>
              <a:gd name="connsiteY1" fmla="*/ 289255 h 289255"/>
              <a:gd name="connsiteX2" fmla="*/ 0 w 289255"/>
              <a:gd name="connsiteY2" fmla="*/ 144628 h 289255"/>
              <a:gd name="connsiteX3" fmla="*/ 144628 w 289255"/>
              <a:gd name="connsiteY3" fmla="*/ 0 h 289255"/>
              <a:gd name="connsiteX4" fmla="*/ 289255 w 289255"/>
              <a:gd name="connsiteY4" fmla="*/ 144628 h 289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255" h="289255">
                <a:moveTo>
                  <a:pt x="289255" y="144628"/>
                </a:moveTo>
                <a:cubicBezTo>
                  <a:pt x="289255" y="224503"/>
                  <a:pt x="224503" y="289255"/>
                  <a:pt x="144628" y="289255"/>
                </a:cubicBezTo>
                <a:cubicBezTo>
                  <a:pt x="64752" y="289255"/>
                  <a:pt x="0" y="224503"/>
                  <a:pt x="0" y="144628"/>
                </a:cubicBezTo>
                <a:cubicBezTo>
                  <a:pt x="0" y="64752"/>
                  <a:pt x="64752" y="0"/>
                  <a:pt x="144628" y="0"/>
                </a:cubicBezTo>
                <a:cubicBezTo>
                  <a:pt x="224503" y="0"/>
                  <a:pt x="289255" y="64752"/>
                  <a:pt x="289255" y="144628"/>
                </a:cubicBezTo>
                <a:close/>
              </a:path>
            </a:pathLst>
          </a:custGeom>
          <a:solidFill>
            <a:schemeClr val="accent6">
              <a:lumMod val="40000"/>
              <a:lumOff val="60000"/>
            </a:scheme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47" name="任意多边形: 形状 189"/>
          <p:cNvSpPr/>
          <p:nvPr>
            <p:custDataLst>
              <p:tags r:id="rId3"/>
            </p:custDataLst>
          </p:nvPr>
        </p:nvSpPr>
        <p:spPr>
          <a:xfrm>
            <a:off x="2004696"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48" name="任意多边形: 形状 189"/>
          <p:cNvSpPr/>
          <p:nvPr>
            <p:custDataLst>
              <p:tags r:id="rId4"/>
            </p:custDataLst>
          </p:nvPr>
        </p:nvSpPr>
        <p:spPr>
          <a:xfrm>
            <a:off x="2006879"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50" name="文本框 149"/>
          <p:cNvSpPr txBox="1"/>
          <p:nvPr>
            <p:custDataLst>
              <p:tags r:id="rId5"/>
            </p:custDataLst>
          </p:nvPr>
        </p:nvSpPr>
        <p:spPr>
          <a:xfrm>
            <a:off x="2015016" y="1923275"/>
            <a:ext cx="1920890" cy="1241062"/>
          </a:xfrm>
          <a:prstGeom prst="rect">
            <a:avLst/>
          </a:prstGeom>
          <a:noFill/>
        </p:spPr>
        <p:txBody>
          <a:bodyPr wrap="square" lIns="0" tIns="0" rIns="0" bIns="0" rtlCol="0" anchor="t" anchorCtr="0">
            <a:noAutofit/>
          </a:bodyPr>
          <a:lstStyle/>
          <a:p>
            <a:pPr indent="0" algn="just" fontAlgn="auto">
              <a:lnSpc>
                <a:spcPct val="110000"/>
              </a:lnSpc>
              <a:buFont typeface="Arial" panose="020B0604020202020204" pitchFamily="34" charset="0"/>
              <a:buNone/>
            </a:pPr>
            <a:r>
              <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2020.3.6</a:t>
            </a:r>
            <a:endPar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a:p>
            <a:pPr indent="0" algn="just" fontAlgn="auto">
              <a:lnSpc>
                <a:spcPct val="110000"/>
              </a:lnSpc>
              <a:buFont typeface="Arial" panose="020B0604020202020204" pitchFamily="34" charset="0"/>
              <a:buNone/>
            </a:pPr>
            <a:r>
              <a:rPr lang="en-US" alt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OPEC+</a:t>
            </a:r>
            <a:r>
              <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谈判破裂，油价单日暴跌</a:t>
            </a:r>
            <a:r>
              <a:rPr lang="en-US" alt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 30%</a:t>
            </a:r>
            <a:r>
              <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，原油宝开户</a:t>
            </a:r>
            <a:r>
              <a:rPr 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数量激增。</a:t>
            </a:r>
            <a:endParaRPr 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p:txBody>
      </p:sp>
      <p:sp useBgFill="1">
        <p:nvSpPr>
          <p:cNvPr id="151" name="任意多边形: 形状 189"/>
          <p:cNvSpPr/>
          <p:nvPr>
            <p:custDataLst>
              <p:tags r:id="rId6"/>
            </p:custDataLst>
          </p:nvPr>
        </p:nvSpPr>
        <p:spPr>
          <a:xfrm>
            <a:off x="4166671"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52" name="任意多边形: 形状 189"/>
          <p:cNvSpPr/>
          <p:nvPr>
            <p:custDataLst>
              <p:tags r:id="rId7"/>
            </p:custDataLst>
          </p:nvPr>
        </p:nvSpPr>
        <p:spPr>
          <a:xfrm>
            <a:off x="4168854"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54" name="文本框 153"/>
          <p:cNvSpPr txBox="1"/>
          <p:nvPr>
            <p:custDataLst>
              <p:tags r:id="rId8"/>
            </p:custDataLst>
          </p:nvPr>
        </p:nvSpPr>
        <p:spPr>
          <a:xfrm>
            <a:off x="4270532" y="1850129"/>
            <a:ext cx="1801542" cy="1241818"/>
          </a:xfrm>
          <a:prstGeom prst="rect">
            <a:avLst/>
          </a:prstGeom>
          <a:noFill/>
        </p:spPr>
        <p:txBody>
          <a:bodyPr wrap="square" lIns="0" tIns="0" rIns="0" bIns="0" rtlCol="0" anchor="t" anchorCtr="0">
            <a:noAutofit/>
          </a:bodyPr>
          <a:lstStyle/>
          <a:p>
            <a:pPr algn="just" fontAlgn="auto">
              <a:lnSpc>
                <a:spcPct val="110000"/>
              </a:lnSpc>
              <a:buClrTx/>
              <a:buSzTx/>
              <a:buFont typeface="Arial" panose="020B0604020202020204" pitchFamily="34" charset="0"/>
              <a:buNone/>
            </a:pPr>
            <a:r>
              <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2020.3.15</a:t>
            </a:r>
            <a:endPar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a:p>
            <a:pPr indent="0" algn="just" fontAlgn="auto">
              <a:lnSpc>
                <a:spcPct val="110000"/>
              </a:lnSpc>
              <a:buFont typeface="Arial" panose="020B0604020202020204" pitchFamily="34" charset="0"/>
              <a:buNone/>
            </a:pPr>
            <a:r>
              <a:rPr lang="en-US" alt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工行因外汇额度耗尽暂停原油做多，资金涌入中行原油宝</a:t>
            </a:r>
            <a:r>
              <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a:t>
            </a:r>
            <a:endPar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p:txBody>
      </p:sp>
      <p:sp useBgFill="1">
        <p:nvSpPr>
          <p:cNvPr id="155" name="任意多边形: 形状 189"/>
          <p:cNvSpPr/>
          <p:nvPr>
            <p:custDataLst>
              <p:tags r:id="rId9"/>
            </p:custDataLst>
          </p:nvPr>
        </p:nvSpPr>
        <p:spPr>
          <a:xfrm>
            <a:off x="6328644"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56" name="任意多边形: 形状 189"/>
          <p:cNvSpPr/>
          <p:nvPr>
            <p:custDataLst>
              <p:tags r:id="rId10"/>
            </p:custDataLst>
          </p:nvPr>
        </p:nvSpPr>
        <p:spPr>
          <a:xfrm>
            <a:off x="6330827"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58" name="文本框 157"/>
          <p:cNvSpPr txBox="1"/>
          <p:nvPr>
            <p:custDataLst>
              <p:tags r:id="rId11"/>
            </p:custDataLst>
          </p:nvPr>
        </p:nvSpPr>
        <p:spPr>
          <a:xfrm>
            <a:off x="6406700" y="1850885"/>
            <a:ext cx="1794744" cy="1241062"/>
          </a:xfrm>
          <a:prstGeom prst="rect">
            <a:avLst/>
          </a:prstGeom>
          <a:noFill/>
        </p:spPr>
        <p:txBody>
          <a:bodyPr wrap="square" lIns="0" tIns="0" rIns="0" bIns="0" rtlCol="0" anchor="t" anchorCtr="0">
            <a:noAutofit/>
          </a:bodyPr>
          <a:lstStyle/>
          <a:p>
            <a:pPr indent="0" algn="just" fontAlgn="auto">
              <a:lnSpc>
                <a:spcPct val="110000"/>
              </a:lnSpc>
              <a:buFont typeface="Arial" panose="020B0604020202020204" pitchFamily="34" charset="0"/>
              <a:buNone/>
            </a:pPr>
            <a:r>
              <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2020.4.3</a:t>
            </a:r>
            <a:endPar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a:p>
            <a:pPr indent="0" algn="just" fontAlgn="auto">
              <a:lnSpc>
                <a:spcPct val="110000"/>
              </a:lnSpc>
              <a:buFont typeface="Arial" panose="020B0604020202020204" pitchFamily="34" charset="0"/>
              <a:buNone/>
            </a:pPr>
            <a:r>
              <a:rPr lang="en-US" alt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CME 修改 IT 系统，允许原油期货负价申报和成交</a:t>
            </a:r>
            <a:r>
              <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a:t>
            </a:r>
            <a:endPar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p:txBody>
      </p:sp>
      <p:sp useBgFill="1">
        <p:nvSpPr>
          <p:cNvPr id="159" name="任意多边形: 形状 189"/>
          <p:cNvSpPr/>
          <p:nvPr>
            <p:custDataLst>
              <p:tags r:id="rId12"/>
            </p:custDataLst>
          </p:nvPr>
        </p:nvSpPr>
        <p:spPr>
          <a:xfrm>
            <a:off x="8490619"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60" name="任意多边形: 形状 189"/>
          <p:cNvSpPr/>
          <p:nvPr>
            <p:custDataLst>
              <p:tags r:id="rId13"/>
            </p:custDataLst>
          </p:nvPr>
        </p:nvSpPr>
        <p:spPr>
          <a:xfrm>
            <a:off x="8492801" y="1616075"/>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63" name="任意多边形: 形状 189"/>
          <p:cNvSpPr/>
          <p:nvPr>
            <p:custDataLst>
              <p:tags r:id="rId14"/>
            </p:custDataLst>
          </p:nvPr>
        </p:nvSpPr>
        <p:spPr>
          <a:xfrm>
            <a:off x="2004696"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64" name="任意多边形: 形状 189"/>
          <p:cNvSpPr/>
          <p:nvPr>
            <p:custDataLst>
              <p:tags r:id="rId15"/>
            </p:custDataLst>
          </p:nvPr>
        </p:nvSpPr>
        <p:spPr>
          <a:xfrm>
            <a:off x="2006879"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67" name="任意多边形: 形状 189"/>
          <p:cNvSpPr/>
          <p:nvPr>
            <p:custDataLst>
              <p:tags r:id="rId16"/>
            </p:custDataLst>
          </p:nvPr>
        </p:nvSpPr>
        <p:spPr>
          <a:xfrm>
            <a:off x="4166671"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68" name="任意多边形: 形状 189"/>
          <p:cNvSpPr/>
          <p:nvPr>
            <p:custDataLst>
              <p:tags r:id="rId17"/>
            </p:custDataLst>
          </p:nvPr>
        </p:nvSpPr>
        <p:spPr>
          <a:xfrm>
            <a:off x="4168854"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71" name="任意多边形: 形状 189"/>
          <p:cNvSpPr/>
          <p:nvPr>
            <p:custDataLst>
              <p:tags r:id="rId18"/>
            </p:custDataLst>
          </p:nvPr>
        </p:nvSpPr>
        <p:spPr>
          <a:xfrm>
            <a:off x="6328644"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72" name="任意多边形: 形状 189"/>
          <p:cNvSpPr/>
          <p:nvPr>
            <p:custDataLst>
              <p:tags r:id="rId19"/>
            </p:custDataLst>
          </p:nvPr>
        </p:nvSpPr>
        <p:spPr>
          <a:xfrm>
            <a:off x="6330827"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75" name="任意多边形: 形状 189"/>
          <p:cNvSpPr/>
          <p:nvPr>
            <p:custDataLst>
              <p:tags r:id="rId20"/>
            </p:custDataLst>
          </p:nvPr>
        </p:nvSpPr>
        <p:spPr>
          <a:xfrm>
            <a:off x="8490619"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ln w="7620" cap="flat">
            <a:solidFill>
              <a:schemeClr val="accent6">
                <a:alpha val="20000"/>
              </a:schemeClr>
            </a:solidFill>
            <a:prstDash val="solid"/>
            <a:miter/>
          </a:ln>
          <a:effectLst>
            <a:outerShdw blurRad="152400" dist="38100" dir="1200000" algn="t" rotWithShape="0">
              <a:schemeClr val="accent6">
                <a:alpha val="34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76" name="任意多边形: 形状 189"/>
          <p:cNvSpPr/>
          <p:nvPr>
            <p:custDataLst>
              <p:tags r:id="rId21"/>
            </p:custDataLst>
          </p:nvPr>
        </p:nvSpPr>
        <p:spPr>
          <a:xfrm>
            <a:off x="8492801" y="3994683"/>
            <a:ext cx="2003728" cy="1607020"/>
          </a:xfrm>
          <a:custGeom>
            <a:avLst/>
            <a:gdLst>
              <a:gd name="connsiteX0" fmla="*/ 2253768 w 2331796"/>
              <a:gd name="connsiteY0" fmla="*/ 0 h 1870252"/>
              <a:gd name="connsiteX1" fmla="*/ 78029 w 2331796"/>
              <a:gd name="connsiteY1" fmla="*/ 0 h 1870252"/>
              <a:gd name="connsiteX2" fmla="*/ 0 w 2331796"/>
              <a:gd name="connsiteY2" fmla="*/ 78029 h 1870252"/>
              <a:gd name="connsiteX3" fmla="*/ 0 w 2331796"/>
              <a:gd name="connsiteY3" fmla="*/ 1792224 h 1870252"/>
              <a:gd name="connsiteX4" fmla="*/ 78029 w 2331796"/>
              <a:gd name="connsiteY4" fmla="*/ 1870253 h 1870252"/>
              <a:gd name="connsiteX5" fmla="*/ 2253768 w 2331796"/>
              <a:gd name="connsiteY5" fmla="*/ 1870253 h 1870252"/>
              <a:gd name="connsiteX6" fmla="*/ 2331796 w 2331796"/>
              <a:gd name="connsiteY6" fmla="*/ 1792224 h 1870252"/>
              <a:gd name="connsiteX7" fmla="*/ 2331796 w 2331796"/>
              <a:gd name="connsiteY7" fmla="*/ 78029 h 1870252"/>
              <a:gd name="connsiteX8" fmla="*/ 2253768 w 2331796"/>
              <a:gd name="connsiteY8" fmla="*/ 0 h 18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1796" h="1870252">
                <a:moveTo>
                  <a:pt x="2253768" y="0"/>
                </a:moveTo>
                <a:lnTo>
                  <a:pt x="78029" y="0"/>
                </a:lnTo>
                <a:cubicBezTo>
                  <a:pt x="34900" y="0"/>
                  <a:pt x="0" y="34900"/>
                  <a:pt x="0" y="78029"/>
                </a:cubicBezTo>
                <a:lnTo>
                  <a:pt x="0" y="1792224"/>
                </a:lnTo>
                <a:cubicBezTo>
                  <a:pt x="0" y="1835353"/>
                  <a:pt x="34900" y="1870253"/>
                  <a:pt x="78029" y="1870253"/>
                </a:cubicBezTo>
                <a:lnTo>
                  <a:pt x="2253768" y="1870253"/>
                </a:lnTo>
                <a:cubicBezTo>
                  <a:pt x="2296897" y="1870253"/>
                  <a:pt x="2331796" y="1835353"/>
                  <a:pt x="2331796" y="1792224"/>
                </a:cubicBezTo>
                <a:lnTo>
                  <a:pt x="2331796" y="78029"/>
                </a:lnTo>
                <a:cubicBezTo>
                  <a:pt x="2331796" y="34976"/>
                  <a:pt x="2296821" y="0"/>
                  <a:pt x="2253768" y="0"/>
                </a:cubicBezTo>
                <a:close/>
              </a:path>
            </a:pathLst>
          </a:custGeom>
          <a:solidFill>
            <a:srgbClr val="FFFFFF">
              <a:alpha val="20000"/>
            </a:srgbClr>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79" name="任意多边形: 形状 185"/>
          <p:cNvSpPr/>
          <p:nvPr>
            <p:custDataLst>
              <p:tags r:id="rId22"/>
            </p:custDataLst>
          </p:nvPr>
        </p:nvSpPr>
        <p:spPr>
          <a:xfrm>
            <a:off x="10738263" y="4641856"/>
            <a:ext cx="218363" cy="312293"/>
          </a:xfrm>
          <a:custGeom>
            <a:avLst/>
            <a:gdLst>
              <a:gd name="connsiteX0" fmla="*/ 245592 w 254107"/>
              <a:gd name="connsiteY0" fmla="*/ 164547 h 363413"/>
              <a:gd name="connsiteX1" fmla="*/ 34671 w 254107"/>
              <a:gd name="connsiteY1" fmla="*/ 4450 h 363413"/>
              <a:gd name="connsiteX2" fmla="*/ 0 w 254107"/>
              <a:gd name="connsiteY2" fmla="*/ 21672 h 363413"/>
              <a:gd name="connsiteX3" fmla="*/ 0 w 254107"/>
              <a:gd name="connsiteY3" fmla="*/ 341788 h 363413"/>
              <a:gd name="connsiteX4" fmla="*/ 34671 w 254107"/>
              <a:gd name="connsiteY4" fmla="*/ 359009 h 363413"/>
              <a:gd name="connsiteX5" fmla="*/ 245592 w 254107"/>
              <a:gd name="connsiteY5" fmla="*/ 198913 h 363413"/>
              <a:gd name="connsiteX6" fmla="*/ 245592 w 254107"/>
              <a:gd name="connsiteY6" fmla="*/ 164547 h 36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107" h="363413">
                <a:moveTo>
                  <a:pt x="245592" y="164547"/>
                </a:moveTo>
                <a:lnTo>
                  <a:pt x="34671" y="4450"/>
                </a:lnTo>
                <a:cubicBezTo>
                  <a:pt x="20422" y="-6370"/>
                  <a:pt x="0" y="3765"/>
                  <a:pt x="0" y="21672"/>
                </a:cubicBezTo>
                <a:lnTo>
                  <a:pt x="0" y="341788"/>
                </a:lnTo>
                <a:cubicBezTo>
                  <a:pt x="0" y="359619"/>
                  <a:pt x="20422" y="369753"/>
                  <a:pt x="34671" y="359009"/>
                </a:cubicBezTo>
                <a:lnTo>
                  <a:pt x="245592" y="198913"/>
                </a:lnTo>
                <a:cubicBezTo>
                  <a:pt x="256946" y="190302"/>
                  <a:pt x="256946" y="173234"/>
                  <a:pt x="245592" y="164547"/>
                </a:cubicBezTo>
                <a:close/>
              </a:path>
            </a:pathLst>
          </a:custGeom>
          <a:solidFill>
            <a:schemeClr val="accent6"/>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80" name="文本框 179"/>
          <p:cNvSpPr txBox="1"/>
          <p:nvPr>
            <p:custDataLst>
              <p:tags r:id="rId23"/>
            </p:custDataLst>
          </p:nvPr>
        </p:nvSpPr>
        <p:spPr>
          <a:xfrm>
            <a:off x="8593455" y="1859280"/>
            <a:ext cx="1762760" cy="1228090"/>
          </a:xfrm>
          <a:prstGeom prst="rect">
            <a:avLst/>
          </a:prstGeom>
          <a:noFill/>
        </p:spPr>
        <p:txBody>
          <a:bodyPr wrap="square" lIns="0" tIns="0" rIns="0" bIns="0" rtlCol="0" anchor="t" anchorCtr="0">
            <a:noAutofit/>
          </a:bodyPr>
          <a:lstStyle/>
          <a:p>
            <a:pPr indent="0" algn="just" fontAlgn="auto">
              <a:lnSpc>
                <a:spcPct val="110000"/>
              </a:lnSpc>
              <a:buFont typeface="Arial" panose="020B0604020202020204" pitchFamily="34" charset="0"/>
              <a:buNone/>
            </a:pPr>
            <a:r>
              <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2020.4.14</a:t>
            </a:r>
            <a:endParaRPr lang="en-US" altLang="zh-CN" sz="1400" b="1">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a:p>
            <a:pPr indent="0" algn="just" fontAlgn="auto">
              <a:lnSpc>
                <a:spcPct val="110000"/>
              </a:lnSpc>
              <a:buFont typeface="Arial" panose="020B0604020202020204" pitchFamily="34" charset="0"/>
              <a:buNone/>
            </a:pPr>
            <a:r>
              <a:rPr lang="en-US" altLang="zh-CN"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CME </a:t>
            </a:r>
            <a:r>
              <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rPr>
              <a:t>宣布系统支持负价结算，中行未提示客户风险。</a:t>
            </a:r>
            <a:endParaRPr lang="zh-CN" altLang="en-US" sz="140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sym typeface="+mn-ea"/>
            </a:endParaRPr>
          </a:p>
        </p:txBody>
      </p:sp>
      <p:sp>
        <p:nvSpPr>
          <p:cNvPr id="181" name="文本框 180"/>
          <p:cNvSpPr txBox="1"/>
          <p:nvPr/>
        </p:nvSpPr>
        <p:spPr>
          <a:xfrm>
            <a:off x="2123440" y="4198620"/>
            <a:ext cx="1773555" cy="1259205"/>
          </a:xfrm>
          <a:prstGeom prst="rect">
            <a:avLst/>
          </a:prstGeom>
        </p:spPr>
        <p:txBody>
          <a:bodyPr>
            <a:noAutofit/>
          </a:bodyPr>
          <a:p>
            <a:pPr marL="0" indent="0"/>
            <a:r>
              <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2020.4.20 </a:t>
            </a:r>
            <a:r>
              <a:rPr lang="en-US" altLang="zh-CN" sz="1400" b="1" i="0" u="sng">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22点</a:t>
            </a:r>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indent="0"/>
            <a:r>
              <a:rPr lang="en-US" altLang="zh-CN"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中行原油宝停止交易，此时 WTI 5 月合约价格 11.15 美元 / 桶</a:t>
            </a: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a:t>
            </a:r>
            <a:endParaRPr lang="zh-CN" altLang="en-US"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indent="0"/>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p:txBody>
      </p:sp>
      <p:sp>
        <p:nvSpPr>
          <p:cNvPr id="182" name="文本框 181"/>
          <p:cNvSpPr txBox="1"/>
          <p:nvPr/>
        </p:nvSpPr>
        <p:spPr>
          <a:xfrm>
            <a:off x="4279265" y="4187825"/>
            <a:ext cx="1751330" cy="1341120"/>
          </a:xfrm>
          <a:prstGeom prst="rect">
            <a:avLst/>
          </a:prstGeom>
        </p:spPr>
        <p:txBody>
          <a:bodyPr>
            <a:noAutofit/>
          </a:bodyPr>
          <a:p>
            <a:pPr marL="0" indent="0"/>
            <a:r>
              <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2020.4.21 </a:t>
            </a:r>
            <a:r>
              <a:rPr lang="en-US" altLang="zh-CN" sz="1400" b="1" i="0" u="sng">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2:30</a:t>
            </a:r>
            <a:r>
              <a:rPr lang="zh-CN" altLang="en-US" sz="1400" b="1" i="0" u="sng">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点</a:t>
            </a:r>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indent="0"/>
            <a:r>
              <a:rPr lang="en-US" altLang="zh-CN"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CME 公布结算价 - 37.63 美元 / 桶，散户穿仓</a:t>
            </a: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a:t>
            </a:r>
            <a:endPar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p:txBody>
      </p:sp>
      <p:sp>
        <p:nvSpPr>
          <p:cNvPr id="183" name="文本框 182"/>
          <p:cNvSpPr txBox="1"/>
          <p:nvPr/>
        </p:nvSpPr>
        <p:spPr>
          <a:xfrm>
            <a:off x="6412865" y="4197350"/>
            <a:ext cx="1679575" cy="1252220"/>
          </a:xfrm>
          <a:prstGeom prst="rect">
            <a:avLst/>
          </a:prstGeom>
        </p:spPr>
        <p:txBody>
          <a:bodyPr>
            <a:noAutofit/>
          </a:bodyPr>
          <a:p>
            <a:pPr marL="0" indent="0"/>
            <a:r>
              <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2020.4.22</a:t>
            </a:r>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indent="0"/>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中行公告确认负价结算，</a:t>
            </a:r>
            <a:r>
              <a:rPr lang="en-US" altLang="zh-CN"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6 </a:t>
            </a: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万客户亏光</a:t>
            </a:r>
            <a:r>
              <a:rPr lang="en-US" altLang="zh-CN"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 42 </a:t>
            </a: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亿本金，倒欠</a:t>
            </a:r>
            <a:r>
              <a:rPr lang="en-US" altLang="zh-CN"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 58 </a:t>
            </a: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亿。</a:t>
            </a:r>
            <a:endPar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p:txBody>
      </p:sp>
      <p:sp>
        <p:nvSpPr>
          <p:cNvPr id="186" name="文本框 185"/>
          <p:cNvSpPr txBox="1"/>
          <p:nvPr/>
        </p:nvSpPr>
        <p:spPr>
          <a:xfrm>
            <a:off x="8589645" y="4197350"/>
            <a:ext cx="1857375" cy="1468755"/>
          </a:xfrm>
          <a:prstGeom prst="rect">
            <a:avLst/>
          </a:prstGeom>
        </p:spPr>
        <p:txBody>
          <a:bodyPr wrap="square">
            <a:noAutofit/>
          </a:bodyPr>
          <a:p>
            <a:pPr marL="0" algn="l">
              <a:buClrTx/>
              <a:buSzTx/>
              <a:buFontTx/>
            </a:pPr>
            <a:r>
              <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2021.2</a:t>
            </a:r>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algn="l">
              <a:buClrTx/>
              <a:buSzTx/>
              <a:buFontTx/>
            </a:pP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银保监会罚款后，</a:t>
            </a:r>
            <a:r>
              <a:rPr lang="en-US" altLang="zh-CN"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中行承担穿仓损失  20% 本金补偿，80% 客户和解</a:t>
            </a:r>
            <a:r>
              <a:rPr lang="zh-CN" altLang="en-US" sz="1400"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rPr>
              <a:t>。</a:t>
            </a:r>
            <a:endParaRPr lang="zh-CN" altLang="en-US"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algn="l">
              <a:buClrTx/>
              <a:buSzTx/>
              <a:buFontTx/>
            </a:pPr>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a:p>
            <a:pPr marL="0" algn="l">
              <a:buClrTx/>
              <a:buSzTx/>
              <a:buFontTx/>
            </a:pPr>
            <a:endParaRPr lang="en-US" altLang="zh-CN" sz="1400" b="1" i="0">
              <a:solidFill>
                <a:schemeClr val="tx1">
                  <a:lumMod val="85000"/>
                  <a:lumOff val="1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textbox 384"/>
          <p:cNvSpPr/>
          <p:nvPr/>
        </p:nvSpPr>
        <p:spPr>
          <a:xfrm>
            <a:off x="4723942" y="6478473"/>
            <a:ext cx="7244080" cy="22987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605"/>
              </a:lnSpc>
            </a:pPr>
            <a:r>
              <a:rPr sz="1200" kern="0" spc="0" dirty="0">
                <a:solidFill>
                  <a:srgbClr val="898989">
                    <a:alpha val="100000"/>
                  </a:srgbClr>
                </a:solidFill>
                <a:latin typeface="Times New Roman" panose="02020603050405020304"/>
                <a:ea typeface="Times New Roman" panose="02020603050405020304"/>
                <a:cs typeface="Times New Roman" panose="02020603050405020304"/>
              </a:rPr>
              <a:t>                    </a:t>
            </a:r>
            <a:r>
              <a:rPr sz="1200" kern="0" spc="-10" dirty="0">
                <a:solidFill>
                  <a:srgbClr val="898989">
                    <a:alpha val="100000"/>
                  </a:srgbClr>
                </a:solidFill>
                <a:latin typeface="Times New Roman" panose="02020603050405020304"/>
                <a:ea typeface="Times New Roman" panose="02020603050405020304"/>
                <a:cs typeface="Times New Roman" panose="02020603050405020304"/>
              </a:rPr>
              <a:t>                                                                                        </a:t>
            </a:r>
            <a:endParaRPr sz="1800" baseline="26000" dirty="0">
              <a:latin typeface="Times New Roman" panose="02020603050405020304"/>
              <a:ea typeface="Times New Roman" panose="02020603050405020304"/>
              <a:cs typeface="Times New Roman" panose="02020603050405020304"/>
            </a:endParaRPr>
          </a:p>
        </p:txBody>
      </p:sp>
      <p:sp>
        <p:nvSpPr>
          <p:cNvPr id="388" name="path 3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6" name="textbox 96"/>
          <p:cNvSpPr/>
          <p:nvPr/>
        </p:nvSpPr>
        <p:spPr>
          <a:xfrm>
            <a:off x="217805" y="296545"/>
            <a:ext cx="6091555"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b="1" dirty="0">
                <a:latin typeface="楷体" panose="02010609060101010101" charset="-122"/>
                <a:ea typeface="楷体" panose="02010609060101010101" charset="-122"/>
                <a:cs typeface="楷体" panose="02010609060101010101" charset="-122"/>
              </a:rPr>
              <a:t>原油宝事件分析</a:t>
            </a:r>
            <a:endParaRPr lang="zh-CN" altLang="en-US" sz="3900" b="1" dirty="0">
              <a:latin typeface="楷体" panose="02010609060101010101" charset="-122"/>
              <a:ea typeface="楷体" panose="02010609060101010101" charset="-122"/>
              <a:cs typeface="楷体" panose="02010609060101010101" charset="-122"/>
            </a:endParaRPr>
          </a:p>
        </p:txBody>
      </p:sp>
      <p:sp>
        <p:nvSpPr>
          <p:cNvPr id="2" name="path 388"/>
          <p:cNvSpPr/>
          <p:nvPr/>
        </p:nvSpPr>
        <p:spPr>
          <a:xfrm>
            <a:off x="0" y="64325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3" name="文本框 2"/>
          <p:cNvSpPr txBox="1"/>
          <p:nvPr/>
        </p:nvSpPr>
        <p:spPr>
          <a:xfrm>
            <a:off x="415925" y="1383030"/>
            <a:ext cx="11394440" cy="814705"/>
          </a:xfrm>
          <a:prstGeom prst="rect">
            <a:avLst/>
          </a:prstGeom>
        </p:spPr>
        <p:txBody>
          <a:bodyPr wrap="square">
            <a:noAutofit/>
          </a:bodyPr>
          <a:p>
            <a:pPr marL="0" indent="0">
              <a:lnSpc>
                <a:spcPts val="1440"/>
              </a:lnSpc>
              <a:spcBef>
                <a:spcPct val="0"/>
              </a:spcBef>
              <a:spcAft>
                <a:spcPct val="0"/>
              </a:spcAft>
            </a:pPr>
            <a:r>
              <a:rPr lang="en-US" altLang="zh-CN" b="0" i="0">
                <a:solidFill>
                  <a:srgbClr val="1F2329"/>
                </a:solidFill>
                <a:latin typeface="华文楷体" panose="02010600040101010101" charset="-122"/>
                <a:ea typeface="华文楷体" panose="02010600040101010101" charset="-122"/>
                <a:cs typeface="华文楷体" panose="02010600040101010101" charset="-122"/>
              </a:rPr>
              <a:t>1.</a:t>
            </a:r>
            <a:r>
              <a:rPr lang="zh-CN" altLang="en-US" b="0" i="0">
                <a:solidFill>
                  <a:srgbClr val="1F2329"/>
                </a:solidFill>
                <a:latin typeface="华文楷体" panose="02010600040101010101" charset="-122"/>
                <a:ea typeface="华文楷体" panose="02010600040101010101" charset="-122"/>
                <a:cs typeface="华文楷体" panose="02010600040101010101" charset="-122"/>
              </a:rPr>
              <a:t>原油宝：披着期货外衣的理财产品</a:t>
            </a:r>
            <a:r>
              <a:rPr lang="en-US" altLang="zh-CN" sz="1600" b="0" i="0">
                <a:solidFill>
                  <a:srgbClr val="1F2329"/>
                </a:solidFill>
                <a:latin typeface="ui-sans-serif"/>
                <a:ea typeface="ui-sans-serif"/>
              </a:rPr>
              <a:t>​</a:t>
            </a:r>
            <a:endParaRPr lang="en-US" altLang="zh-CN" sz="1600" b="0" i="0">
              <a:solidFill>
                <a:srgbClr val="1F2329"/>
              </a:solidFill>
              <a:latin typeface="ui-sans-serif"/>
              <a:ea typeface="ui-sans-serif"/>
            </a:endParaRPr>
          </a:p>
          <a:p>
            <a:pPr marL="0" indent="0">
              <a:spcBef>
                <a:spcPct val="0"/>
              </a:spcBef>
              <a:spcAft>
                <a:spcPct val="0"/>
              </a:spcAft>
              <a:buFont typeface="Arial" panose="020B0604020202020204"/>
              <a:buNone/>
            </a:pPr>
            <a:r>
              <a:rPr lang="en-US" altLang="zh-CN" sz="1600" b="1" i="0">
                <a:solidFill>
                  <a:srgbClr val="1F2329"/>
                </a:solidFill>
                <a:latin typeface="ui-sans-serif"/>
                <a:ea typeface="ui-sans-serif"/>
              </a:rPr>
              <a:t>  </a:t>
            </a:r>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产品属性</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：挂钩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WTI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原油期货首行合约的</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结构性理财</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，非直接期货交易。</a:t>
            </a:r>
            <a:endParaRPr lang="zh-CN" altLang="en-US" sz="1600" b="0" i="0">
              <a:solidFill>
                <a:srgbClr val="1F2329"/>
              </a:solidFill>
              <a:latin typeface="华文楷体" panose="02010600040101010101" charset="-122"/>
              <a:ea typeface="华文楷体" panose="02010600040101010101" charset="-122"/>
              <a:cs typeface="华文楷体" panose="02010600040101010101" charset="-122"/>
            </a:endParaRPr>
          </a:p>
          <a:p>
            <a:pPr marL="0" indent="0">
              <a:spcBef>
                <a:spcPct val="0"/>
              </a:spcBef>
              <a:spcAft>
                <a:spcPct val="0"/>
              </a:spcAft>
              <a:buFont typeface="Arial" panose="020B0604020202020204"/>
              <a:buNone/>
            </a:pP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其本质是中行作为做市商，与散户形成对赌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散户持仓由中行在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CME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市场镜像对冲，盈利来自价差，不涉及实物所有权。</a:t>
            </a:r>
            <a:endParaRPr lang="zh-CN" altLang="en-US" sz="1600" b="0" i="0">
              <a:solidFill>
                <a:srgbClr val="1F2329"/>
              </a:solidFill>
              <a:latin typeface="华文楷体" panose="02010600040101010101" charset="-122"/>
              <a:ea typeface="华文楷体" panose="02010600040101010101" charset="-122"/>
              <a:cs typeface="华文楷体" panose="02010600040101010101" charset="-122"/>
            </a:endParaRPr>
          </a:p>
        </p:txBody>
      </p:sp>
      <p:sp>
        <p:nvSpPr>
          <p:cNvPr id="4" name="文本框 3"/>
          <p:cNvSpPr txBox="1"/>
          <p:nvPr/>
        </p:nvSpPr>
        <p:spPr>
          <a:xfrm>
            <a:off x="398780" y="2494915"/>
            <a:ext cx="11394440" cy="3061970"/>
          </a:xfrm>
          <a:prstGeom prst="rect">
            <a:avLst/>
          </a:prstGeom>
        </p:spPr>
        <p:txBody>
          <a:bodyPr wrap="square">
            <a:noAutofit/>
          </a:bodyPr>
          <a:p>
            <a:pPr marL="0" indent="0">
              <a:lnSpc>
                <a:spcPts val="1440"/>
              </a:lnSpc>
              <a:spcBef>
                <a:spcPct val="0"/>
              </a:spcBef>
              <a:spcAft>
                <a:spcPct val="0"/>
              </a:spcAft>
            </a:pPr>
            <a:r>
              <a:rPr lang="en-US" altLang="zh-CN" sz="1800" b="0" i="0">
                <a:solidFill>
                  <a:srgbClr val="1F2329"/>
                </a:solidFill>
                <a:latin typeface="华文楷体" panose="02010600040101010101" charset="-122"/>
                <a:ea typeface="华文楷体" panose="02010600040101010101" charset="-122"/>
                <a:cs typeface="华文楷体" panose="02010600040101010101" charset="-122"/>
              </a:rPr>
              <a:t>2.事件背景：三重危机与空头利好逻辑</a:t>
            </a:r>
            <a:endParaRPr lang="en-US" altLang="zh-CN" sz="1800" b="0" i="0">
              <a:solidFill>
                <a:srgbClr val="1F2329"/>
              </a:solidFill>
              <a:latin typeface="华文楷体" panose="02010600040101010101" charset="-122"/>
              <a:ea typeface="华文楷体" panose="02010600040101010101" charset="-122"/>
              <a:cs typeface="华文楷体" panose="02010600040101010101" charset="-122"/>
            </a:endParaRPr>
          </a:p>
          <a:p>
            <a:pPr marL="0" indent="0">
              <a:lnSpc>
                <a:spcPts val="1440"/>
              </a:lnSpc>
              <a:spcBef>
                <a:spcPct val="0"/>
              </a:spcBef>
              <a:spcAft>
                <a:spcPct val="0"/>
              </a:spcAft>
            </a:pPr>
            <a:endParaRPr lang="zh-CN" altLang="en-US" sz="1600" b="0" i="0">
              <a:solidFill>
                <a:srgbClr val="1F2329"/>
              </a:solidFill>
              <a:latin typeface="华文楷体" panose="02010600040101010101" charset="-122"/>
              <a:ea typeface="华文楷体" panose="02010600040101010101" charset="-122"/>
              <a:cs typeface="华文楷体" panose="02010600040101010101" charset="-122"/>
            </a:endParaRPr>
          </a:p>
          <a:p>
            <a:pPr marL="0" indent="0">
              <a:lnSpc>
                <a:spcPts val="1440"/>
              </a:lnSpc>
              <a:spcBef>
                <a:spcPct val="0"/>
              </a:spcBef>
              <a:spcAft>
                <a:spcPct val="0"/>
              </a:spcAft>
            </a:pPr>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市场供需崩塌</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2020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年</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1-4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algn="l" fontAlgn="auto">
              <a:lnSpc>
                <a:spcPts val="2220"/>
              </a:lnSpc>
              <a:buClrTx/>
              <a:buSzTx/>
              <a:buNone/>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·需求端：疫情致全球原油需求暴跌 30%，美国炼油厂开工率降至 69%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历史低位；​</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marL="0" algn="l">
              <a:lnSpc>
                <a:spcPts val="2220"/>
              </a:lnSpc>
              <a:buClrTx/>
              <a:buSzTx/>
              <a:buNone/>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·供给端：3 月 OPEC + 谈判破裂，沙特 / 俄罗斯日均增产 1000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万桶，价格战爆发；​</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marL="0" algn="l">
              <a:lnSpc>
                <a:spcPts val="2220"/>
              </a:lnSpc>
              <a:buClrTx/>
              <a:buSzTx/>
              <a:buNone/>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·库存端：库欣地区库存 5496.5 万桶（使用率 72%），但实际可用库容已被预订一空，仓储费飙升至 5 美元 /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桶 / 月。</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marL="0" algn="l">
              <a:lnSpc>
                <a:spcPts val="2220"/>
              </a:lnSpc>
              <a:buClrTx/>
              <a:buSzTx/>
              <a:buNone/>
            </a:pP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marL="0" indent="0">
              <a:lnSpc>
                <a:spcPts val="1440"/>
              </a:lnSpc>
              <a:spcBef>
                <a:spcPct val="0"/>
              </a:spcBef>
              <a:spcAft>
                <a:spcPct val="0"/>
              </a:spcAft>
            </a:pPr>
            <a:r>
              <a:rPr lang="en-US" altLang="zh-CN" sz="1600">
                <a:latin typeface="华文楷体" panose="02010600040101010101" charset="-122"/>
                <a:ea typeface="华文楷体" panose="02010600040101010101" charset="-122"/>
                <a:cs typeface="华文楷体" panose="02010600040101010101" charset="-122"/>
                <a:sym typeface="+mn-ea"/>
              </a:rPr>
              <a:t>​</a:t>
            </a: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空头利好的核心逻辑​</a:t>
            </a:r>
            <a:endParaRPr lang="zh-CN" altLang="en-US" sz="1600" b="1"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220"/>
              </a:lnSpc>
              <a:spcBef>
                <a:spcPct val="0"/>
              </a:spcBef>
              <a:spcAft>
                <a:spcPct val="0"/>
              </a:spcAft>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交割逼仓：多头若不平仓则需接货，但不具备存储条件，被迫不计成本抛售，形成抛售</a:t>
            </a:r>
            <a:r>
              <a:rPr lang="en-US"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价跌</a:t>
            </a:r>
            <a:r>
              <a:rPr lang="en-US"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更恐慌抛售的循环；</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220"/>
              </a:lnSpc>
              <a:spcBef>
                <a:spcPct val="0"/>
              </a:spcBef>
              <a:spcAft>
                <a:spcPct val="0"/>
              </a:spcAft>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规则漏洞：</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CME 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3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日修改代码允许负价交易，</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15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日完成系统测试，给空头提供猎杀工具；</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220"/>
              </a:lnSpc>
              <a:spcBef>
                <a:spcPct val="0"/>
              </a:spcBef>
              <a:spcAft>
                <a:spcPct val="0"/>
              </a:spcAft>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对手盘暴露：中行原油宝多头持仓占</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CME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市场</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80%</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，且散户无法自主平仓，成为空头集中攻击目标。</a:t>
            </a:r>
            <a:endParaRPr lang="zh-CN" altLang="en-US" sz="1600" b="0" i="0">
              <a:solidFill>
                <a:srgbClr val="1F2329"/>
              </a:solidFill>
              <a:latin typeface="华文楷体" panose="02010600040101010101" charset="-122"/>
              <a:ea typeface="华文楷体" panose="02010600040101010101" charset="-122"/>
              <a:cs typeface="华文楷体" panose="02010600040101010101" charset="-122"/>
            </a:endParaRPr>
          </a:p>
        </p:txBody>
      </p:sp>
      <p:sp>
        <p:nvSpPr>
          <p:cNvPr id="6" name="文本框 5"/>
          <p:cNvSpPr txBox="1"/>
          <p:nvPr/>
        </p:nvSpPr>
        <p:spPr>
          <a:xfrm>
            <a:off x="11659235" y="6862445"/>
            <a:ext cx="3890010" cy="368300"/>
          </a:xfrm>
          <a:prstGeom prst="rect">
            <a:avLst/>
          </a:prstGeom>
          <a:noFill/>
        </p:spPr>
        <p:txBody>
          <a:bodyPr wrap="square" rtlCol="0">
            <a:spAutoFit/>
          </a:bodyPr>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textbox 384"/>
          <p:cNvSpPr/>
          <p:nvPr/>
        </p:nvSpPr>
        <p:spPr>
          <a:xfrm>
            <a:off x="4723942" y="6478473"/>
            <a:ext cx="7244080" cy="22987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605"/>
              </a:lnSpc>
            </a:pPr>
            <a:r>
              <a:rPr sz="1200" kern="0" spc="0" dirty="0">
                <a:solidFill>
                  <a:srgbClr val="898989">
                    <a:alpha val="100000"/>
                  </a:srgbClr>
                </a:solidFill>
                <a:latin typeface="Times New Roman" panose="02020603050405020304"/>
                <a:ea typeface="Times New Roman" panose="02020603050405020304"/>
                <a:cs typeface="Times New Roman" panose="02020603050405020304"/>
              </a:rPr>
              <a:t>                      </a:t>
            </a:r>
            <a:r>
              <a:rPr sz="1200" kern="0" spc="-10" dirty="0">
                <a:solidFill>
                  <a:srgbClr val="898989">
                    <a:alpha val="100000"/>
                  </a:srgbClr>
                </a:solidFill>
                <a:latin typeface="Times New Roman" panose="02020603050405020304"/>
                <a:ea typeface="Times New Roman" panose="02020603050405020304"/>
                <a:cs typeface="Times New Roman" panose="02020603050405020304"/>
              </a:rPr>
              <a:t>                                                                                         </a:t>
            </a:r>
            <a:endParaRPr sz="1800" baseline="26000" dirty="0">
              <a:latin typeface="Times New Roman" panose="02020603050405020304"/>
              <a:ea typeface="Times New Roman" panose="02020603050405020304"/>
              <a:cs typeface="Times New Roman" panose="02020603050405020304"/>
            </a:endParaRPr>
          </a:p>
        </p:txBody>
      </p:sp>
      <p:sp>
        <p:nvSpPr>
          <p:cNvPr id="388" name="path 3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6" name="textbox 96"/>
          <p:cNvSpPr/>
          <p:nvPr/>
        </p:nvSpPr>
        <p:spPr>
          <a:xfrm>
            <a:off x="217805" y="296545"/>
            <a:ext cx="6091555"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b="1" dirty="0">
                <a:latin typeface="楷体" panose="02010609060101010101" charset="-122"/>
                <a:ea typeface="楷体" panose="02010609060101010101" charset="-122"/>
                <a:cs typeface="楷体" panose="02010609060101010101" charset="-122"/>
              </a:rPr>
              <a:t>原油宝事件分析</a:t>
            </a:r>
            <a:endParaRPr lang="zh-CN" altLang="en-US" sz="3900" b="1" dirty="0">
              <a:latin typeface="楷体" panose="02010609060101010101" charset="-122"/>
              <a:ea typeface="楷体" panose="02010609060101010101" charset="-122"/>
              <a:cs typeface="楷体" panose="02010609060101010101" charset="-122"/>
            </a:endParaRPr>
          </a:p>
        </p:txBody>
      </p:sp>
      <p:sp>
        <p:nvSpPr>
          <p:cNvPr id="2" name="path 388"/>
          <p:cNvSpPr/>
          <p:nvPr/>
        </p:nvSpPr>
        <p:spPr>
          <a:xfrm>
            <a:off x="0" y="64325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 name="文本框 3"/>
          <p:cNvSpPr txBox="1"/>
          <p:nvPr/>
        </p:nvSpPr>
        <p:spPr>
          <a:xfrm>
            <a:off x="217805" y="1292860"/>
            <a:ext cx="11750675" cy="3014345"/>
          </a:xfrm>
          <a:prstGeom prst="rect">
            <a:avLst/>
          </a:prstGeom>
        </p:spPr>
        <p:txBody>
          <a:bodyPr wrap="square">
            <a:noAutofit/>
          </a:bodyPr>
          <a:p>
            <a:pPr indent="0" fontAlgn="auto">
              <a:lnSpc>
                <a:spcPct val="150000"/>
              </a:lnSpc>
              <a:spcBef>
                <a:spcPct val="0"/>
              </a:spcBef>
              <a:spcAft>
                <a:spcPct val="0"/>
              </a:spcAft>
            </a:pPr>
            <a:r>
              <a:rPr lang="en-US" altLang="zh-CN" b="0" i="0">
                <a:solidFill>
                  <a:srgbClr val="1F2329"/>
                </a:solidFill>
                <a:latin typeface="华文楷体" panose="02010600040101010101" charset="-122"/>
                <a:ea typeface="华文楷体" panose="02010600040101010101" charset="-122"/>
                <a:cs typeface="华文楷体" panose="02010600040101010101" charset="-122"/>
              </a:rPr>
              <a:t>3. </a:t>
            </a:r>
            <a:r>
              <a:rPr lang="zh-CN" altLang="en-US" b="0" i="0">
                <a:solidFill>
                  <a:srgbClr val="1F2329"/>
                </a:solidFill>
                <a:latin typeface="华文楷体" panose="02010600040101010101" charset="-122"/>
                <a:ea typeface="华文楷体" panose="02010600040101010101" charset="-122"/>
                <a:cs typeface="华文楷体" panose="02010600040101010101" charset="-122"/>
              </a:rPr>
              <a:t>关键机制解析</a:t>
            </a:r>
            <a:r>
              <a:rPr lang="en-US" altLang="zh-CN"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移仓换月：期货合约到期前，将近月合约平仓、开仓远月合约以延续持仓。工行、建行在</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14-15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日完成移仓（价格</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20-21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美元</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桶），中行却拖延至到期前</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1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天（</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20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22:00</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），错失流动性窗口。</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平仓与强制平仓：平仓是主动了结头寸，强制平仓是保证金不足时平。流动性枯竭。原油宝仅对空头设强平线，多头因默认油价不会为负</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未设保护，导致穿仓时无止损机制。</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实物交割</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vs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现金交割：</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·WTI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期货：到期必须实物交割（需接收原油），原油仓储饱和时多头只能抛售止损；</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原油宝：强制现金轧差（按结算价算盈亏），散户无法通过交割转嫁成本，只能被动接受负价。</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流动性枯竭：</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20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WTI 5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月合约全天交易量</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24.8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万手，负值区间仅</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1.68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万手（占</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6.8%</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），但中行持仓占市场</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80%</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141.57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万桶），集中抛售引发</a:t>
            </a:r>
            <a:r>
              <a:rPr lang="zh-CN" sz="1600" b="0" i="0">
                <a:solidFill>
                  <a:srgbClr val="1F2329"/>
                </a:solidFill>
                <a:latin typeface="华文楷体" panose="02010600040101010101" charset="-122"/>
                <a:ea typeface="华文楷体" panose="02010600040101010101" charset="-122"/>
                <a:cs typeface="华文楷体" panose="02010600040101010101" charset="-122"/>
              </a:rPr>
              <a:t>无人接盘</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，买盘绝迹导致价格失控。</a:t>
            </a:r>
            <a:endParaRPr lang="zh-CN" altLang="en-US" sz="1600" b="0" i="0">
              <a:solidFill>
                <a:srgbClr val="1F2329"/>
              </a:solidFill>
              <a:latin typeface="华文楷体" panose="02010600040101010101" charset="-122"/>
              <a:ea typeface="华文楷体" panose="02010600040101010101" charset="-122"/>
              <a:cs typeface="华文楷体" panose="02010600040101010101" charset="-122"/>
            </a:endParaRPr>
          </a:p>
        </p:txBody>
      </p:sp>
      <p:pic>
        <p:nvPicPr>
          <p:cNvPr id="5" name="图片 4"/>
          <p:cNvPicPr/>
          <p:nvPr/>
        </p:nvPicPr>
        <p:blipFill>
          <a:blip r:embed="rId1"/>
          <a:stretch>
            <a:fillRect/>
          </a:stretch>
        </p:blipFill>
        <p:spPr>
          <a:xfrm>
            <a:off x="2441575" y="4368165"/>
            <a:ext cx="2830195" cy="1748155"/>
          </a:xfrm>
          <a:prstGeom prst="rect">
            <a:avLst/>
          </a:prstGeom>
        </p:spPr>
      </p:pic>
      <p:pic>
        <p:nvPicPr>
          <p:cNvPr id="6" name="图片 5"/>
          <p:cNvPicPr>
            <a:picLocks noChangeAspect="1"/>
          </p:cNvPicPr>
          <p:nvPr/>
        </p:nvPicPr>
        <p:blipFill>
          <a:blip r:embed="rId2"/>
          <a:srcRect r="-598" b="5479"/>
          <a:stretch>
            <a:fillRect/>
          </a:stretch>
        </p:blipFill>
        <p:spPr>
          <a:xfrm>
            <a:off x="6986270" y="4119245"/>
            <a:ext cx="1616710" cy="2245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textbox 384"/>
          <p:cNvSpPr/>
          <p:nvPr/>
        </p:nvSpPr>
        <p:spPr>
          <a:xfrm>
            <a:off x="4723942" y="6478473"/>
            <a:ext cx="7244080" cy="22987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605"/>
              </a:lnSpc>
            </a:pPr>
            <a:r>
              <a:rPr sz="1200" kern="0" spc="0" dirty="0">
                <a:solidFill>
                  <a:srgbClr val="898989">
                    <a:alpha val="100000"/>
                  </a:srgbClr>
                </a:solidFill>
                <a:latin typeface="Times New Roman" panose="02020603050405020304"/>
                <a:ea typeface="Times New Roman" panose="02020603050405020304"/>
                <a:cs typeface="Times New Roman" panose="02020603050405020304"/>
              </a:rPr>
              <a:t>                      </a:t>
            </a:r>
            <a:r>
              <a:rPr sz="1200" kern="0" spc="-10" dirty="0">
                <a:solidFill>
                  <a:srgbClr val="898989">
                    <a:alpha val="100000"/>
                  </a:srgbClr>
                </a:solidFill>
                <a:latin typeface="Times New Roman" panose="02020603050405020304"/>
                <a:ea typeface="Times New Roman" panose="02020603050405020304"/>
                <a:cs typeface="Times New Roman" panose="02020603050405020304"/>
              </a:rPr>
              <a:t>                                                                                     </a:t>
            </a:r>
            <a:endParaRPr sz="1800" baseline="26000" dirty="0">
              <a:latin typeface="Times New Roman" panose="02020603050405020304"/>
              <a:ea typeface="Times New Roman" panose="02020603050405020304"/>
              <a:cs typeface="Times New Roman" panose="02020603050405020304"/>
            </a:endParaRPr>
          </a:p>
        </p:txBody>
      </p:sp>
      <p:sp>
        <p:nvSpPr>
          <p:cNvPr id="388" name="path 38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96" name="textbox 96"/>
          <p:cNvSpPr/>
          <p:nvPr/>
        </p:nvSpPr>
        <p:spPr>
          <a:xfrm>
            <a:off x="217805" y="296545"/>
            <a:ext cx="6091555" cy="53657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b="1" dirty="0">
                <a:latin typeface="楷体" panose="02010609060101010101" charset="-122"/>
                <a:ea typeface="楷体" panose="02010609060101010101" charset="-122"/>
                <a:cs typeface="楷体" panose="02010609060101010101" charset="-122"/>
              </a:rPr>
              <a:t>原油宝事件分析</a:t>
            </a:r>
            <a:endParaRPr lang="zh-CN" altLang="en-US" sz="3900" b="1" dirty="0">
              <a:latin typeface="楷体" panose="02010609060101010101" charset="-122"/>
              <a:ea typeface="楷体" panose="02010609060101010101" charset="-122"/>
              <a:cs typeface="楷体" panose="02010609060101010101" charset="-122"/>
            </a:endParaRPr>
          </a:p>
        </p:txBody>
      </p:sp>
      <p:sp>
        <p:nvSpPr>
          <p:cNvPr id="2" name="path 388"/>
          <p:cNvSpPr/>
          <p:nvPr/>
        </p:nvSpPr>
        <p:spPr>
          <a:xfrm>
            <a:off x="0" y="64325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3" name="文本框 2"/>
          <p:cNvSpPr txBox="1"/>
          <p:nvPr/>
        </p:nvSpPr>
        <p:spPr>
          <a:xfrm>
            <a:off x="568960" y="1360170"/>
            <a:ext cx="11398885" cy="4441190"/>
          </a:xfrm>
          <a:prstGeom prst="rect">
            <a:avLst/>
          </a:prstGeom>
        </p:spPr>
        <p:txBody>
          <a:bodyPr wrap="square">
            <a:spAutoFit/>
          </a:bodyPr>
          <a:p>
            <a:pPr indent="0" fontAlgn="auto">
              <a:lnSpc>
                <a:spcPts val="2120"/>
              </a:lnSpc>
              <a:spcBef>
                <a:spcPct val="0"/>
              </a:spcBef>
              <a:spcAft>
                <a:spcPct val="0"/>
              </a:spcAft>
            </a:pPr>
            <a:r>
              <a:rPr lang="en-US" altLang="zh-CN" b="0" i="0">
                <a:solidFill>
                  <a:srgbClr val="1F2329"/>
                </a:solidFill>
                <a:latin typeface="华文楷体" panose="02010600040101010101" charset="-122"/>
                <a:ea typeface="华文楷体" panose="02010600040101010101" charset="-122"/>
                <a:cs typeface="华文楷体" panose="02010600040101010101" charset="-122"/>
              </a:rPr>
              <a:t>4.</a:t>
            </a:r>
            <a:r>
              <a:rPr lang="zh-CN" altLang="en-US" b="0" i="0">
                <a:solidFill>
                  <a:srgbClr val="1F2329"/>
                </a:solidFill>
                <a:latin typeface="华文楷体" panose="02010600040101010101" charset="-122"/>
                <a:ea typeface="华文楷体" panose="02010600040101010101" charset="-122"/>
                <a:cs typeface="华文楷体" panose="02010600040101010101" charset="-122"/>
              </a:rPr>
              <a:t>机制漏洞与责任链条</a:t>
            </a:r>
            <a:r>
              <a:rPr lang="en-US" altLang="zh-CN"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b="0" i="0">
                <a:solidFill>
                  <a:srgbClr val="1F2329"/>
                </a:solidFill>
                <a:latin typeface="华文楷体" panose="02010600040101010101" charset="-122"/>
                <a:ea typeface="华文楷体" panose="02010600040101010101" charset="-122"/>
                <a:cs typeface="华文楷体" panose="02010600040101010101" charset="-122"/>
              </a:rPr>
              <a:t>分析</a:t>
            </a:r>
            <a:endParaRPr lang="en-US" altLang="zh-CN"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CME</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：规则失控的始作俑者</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漏洞 </a:t>
            </a:r>
            <a:r>
              <a:rPr lang="en-US" altLang="zh-CN" sz="1600" b="1" i="0">
                <a:solidFill>
                  <a:srgbClr val="1F2329"/>
                </a:solidFill>
                <a:latin typeface="华文楷体" panose="02010600040101010101" charset="-122"/>
                <a:ea typeface="华文楷体" panose="02010600040101010101" charset="-122"/>
                <a:cs typeface="华文楷体" panose="02010600040101010101" charset="-122"/>
              </a:rPr>
              <a:t>1</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：负价规则</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3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日改代码、</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15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日宣布支持负价，未给市场足够适应期，且未提示 “少量交易可决定结算价” 风险；</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漏洞 </a:t>
            </a:r>
            <a:r>
              <a:rPr lang="en-US" altLang="zh-CN" sz="1600" b="1" i="0">
                <a:solidFill>
                  <a:srgbClr val="1F2329"/>
                </a:solidFill>
                <a:latin typeface="华文楷体" panose="02010600040101010101" charset="-122"/>
                <a:ea typeface="华文楷体" panose="02010600040101010101" charset="-122"/>
                <a:cs typeface="华文楷体" panose="02010600040101010101" charset="-122"/>
              </a:rPr>
              <a:t>2</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：结算价生成机制</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20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日仅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4250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手交易（占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1.7%</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）在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- 30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美元以下成交，却被用作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7.7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万手合约的结算价，沦为空头操纵工具；</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负价格后熔断机制失效；</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漏洞 </a:t>
            </a:r>
            <a:r>
              <a:rPr lang="en-US" altLang="zh-CN" sz="1600" b="1" i="0">
                <a:solidFill>
                  <a:srgbClr val="1F2329"/>
                </a:solidFill>
                <a:latin typeface="华文楷体" panose="02010600040101010101" charset="-122"/>
                <a:ea typeface="华文楷体" panose="02010600040101010101" charset="-122"/>
                <a:cs typeface="华文楷体" panose="02010600040101010101" charset="-122"/>
              </a:rPr>
              <a:t>3</a:t>
            </a: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：流动性管理缺失</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：未对到期合约设置 “最低交易量门槛”，允许在流动性枯竭时生成极端结算价。</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中行：产品设计与风控的全面失效​</a:t>
            </a:r>
            <a:r>
              <a:rPr lang="en-US" altLang="zh-CN" sz="1600" b="0" i="0">
                <a:solidFill>
                  <a:srgbClr val="1F2329"/>
                </a:solidFill>
                <a:latin typeface="ui-sans-serif"/>
                <a:ea typeface="ui-sans-serif"/>
              </a:rPr>
              <a:t>​</a:t>
            </a:r>
            <a:endParaRPr lang="en-US" altLang="zh-CN" sz="1600" b="0" i="0">
              <a:solidFill>
                <a:srgbClr val="1F2329"/>
              </a:solidFill>
              <a:latin typeface="ui-sans-serif"/>
              <a:ea typeface="ui-sans-serif"/>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移仓时间滞后</a:t>
            </a:r>
            <a:r>
              <a:rPr lang="zh-CN" altLang="en-US" sz="1600" b="0" i="0">
                <a:solidFill>
                  <a:srgbClr val="1F2329"/>
                </a:solidFill>
                <a:latin typeface="ui-sans-serif"/>
                <a:ea typeface="ui-sans-serif"/>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比工行晚一周，错失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20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美元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桶的平仓窗口，最终被迫以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- 37.63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美元结算，移仓成本达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58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美元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桶；</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交易时间差</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22:00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停止交易，早于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CME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次日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2:30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的结算价生成，散户无法在价格暴跌时操作；</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风控崩塌</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：未做负价压力测试，未对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141.57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万桶持仓设置限额，违反单一合约持仓不超过市场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5%</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的隐性风控原则；</a:t>
            </a:r>
            <a:r>
              <a:rPr lang="en-US" altLang="zh-CN" sz="1600" b="0" i="0">
                <a:solidFill>
                  <a:srgbClr val="1F2329"/>
                </a:solidFill>
                <a:latin typeface="ui-sans-serif"/>
                <a:ea typeface="ui-sans-serif"/>
              </a:rPr>
              <a:t>​</a:t>
            </a:r>
            <a:endParaRPr lang="en-US" altLang="zh-CN" sz="1600" b="0" i="0">
              <a:solidFill>
                <a:srgbClr val="1F2329"/>
              </a:solidFill>
              <a:latin typeface="ui-sans-serif"/>
              <a:ea typeface="ui-sans-serif"/>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销售误导</a:t>
            </a:r>
            <a:r>
              <a:rPr lang="zh-CN" altLang="en-US" sz="1600" b="0" i="0">
                <a:solidFill>
                  <a:srgbClr val="1F2329"/>
                </a:solidFill>
                <a:latin typeface="ui-sans-serif"/>
                <a:ea typeface="ui-sans-serif"/>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3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27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日江西分行发文</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原油比水还便宜，中行带你去交易</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，暗示低风险套利，未提负价可能。</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None/>
            </a:pP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pPr>
            <a:r>
              <a:rPr sz="16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监管层（银保监会、央行）：事后补救与规则完善</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介入过程</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4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30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日调查</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→12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月罚款 </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5050 </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万元，认定中行 “产品管理不规范、风控不审慎”；</a:t>
            </a:r>
            <a:r>
              <a:rPr lang="en-US" altLang="zh-CN" sz="1600" b="0" i="0">
                <a:solidFill>
                  <a:srgbClr val="1F2329"/>
                </a:solidFill>
                <a:latin typeface="华文楷体" panose="02010600040101010101" charset="-122"/>
                <a:ea typeface="华文楷体" panose="02010600040101010101" charset="-122"/>
                <a:cs typeface="华文楷体" panose="02010600040101010101" charset="-122"/>
              </a:rPr>
              <a:t>​</a:t>
            </a:r>
            <a:endParaRPr lang="en-US" altLang="zh-CN" sz="1600" b="0" i="0">
              <a:solidFill>
                <a:srgbClr val="1F2329"/>
              </a:solidFill>
              <a:latin typeface="华文楷体" panose="02010600040101010101" charset="-122"/>
              <a:ea typeface="华文楷体" panose="02010600040101010101" charset="-122"/>
              <a:cs typeface="华文楷体" panose="02010600040101010101" charset="-122"/>
            </a:endParaRPr>
          </a:p>
          <a:p>
            <a:pPr indent="0" fontAlgn="auto">
              <a:lnSpc>
                <a:spcPts val="2120"/>
              </a:lnSpc>
              <a:spcBef>
                <a:spcPct val="0"/>
              </a:spcBef>
              <a:spcAft>
                <a:spcPct val="0"/>
              </a:spcAft>
              <a:buFont typeface="Arial" panose="020B0604020202020204"/>
              <a:buChar char="•"/>
            </a:pPr>
            <a:r>
              <a:rPr lang="zh-CN" altLang="en-US" sz="1600" b="1" i="0">
                <a:solidFill>
                  <a:srgbClr val="1F2329"/>
                </a:solidFill>
                <a:latin typeface="华文楷体" panose="02010600040101010101" charset="-122"/>
                <a:ea typeface="华文楷体" panose="02010600040101010101" charset="-122"/>
                <a:cs typeface="华文楷体" panose="02010600040101010101" charset="-122"/>
              </a:rPr>
              <a:t>制度修补</a:t>
            </a:r>
            <a:r>
              <a:rPr lang="zh-CN" altLang="en-US" sz="1600" b="0" i="0">
                <a:solidFill>
                  <a:srgbClr val="1F2329"/>
                </a:solidFill>
                <a:latin typeface="华文楷体" panose="02010600040101010101" charset="-122"/>
                <a:ea typeface="华文楷体" panose="02010600040101010101" charset="-122"/>
                <a:cs typeface="华文楷体" panose="02010600040101010101" charset="-122"/>
              </a:rPr>
              <a:t>：要求银行对挂钩衍生品的产品实施 “穿透式监管”，强制披露移仓成本与极端风险。</a:t>
            </a:r>
            <a:endParaRPr lang="zh-CN" altLang="en-US" sz="1600" b="0" i="0">
              <a:solidFill>
                <a:srgbClr val="1F2329"/>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textbox 416"/>
          <p:cNvSpPr/>
          <p:nvPr/>
        </p:nvSpPr>
        <p:spPr>
          <a:xfrm>
            <a:off x="217702" y="270946"/>
            <a:ext cx="2035810" cy="533400"/>
          </a:xfrm>
          <a:prstGeom prst="rect">
            <a:avLst/>
          </a:prstGeom>
          <a:noFill/>
          <a:ln w="0" cap="flat">
            <a:noFill/>
            <a:prstDash val="solid"/>
            <a:miter lim="0"/>
          </a:ln>
        </p:spPr>
        <p:txBody>
          <a:bodyPr vert="horz" wrap="square" lIns="0" tIns="0" rIns="0" bIns="0"/>
          <a:lstStyle/>
          <a:p>
            <a:pPr algn="l" rtl="0" eaLnBrk="0">
              <a:lnSpc>
                <a:spcPct val="99000"/>
              </a:lnSpc>
            </a:pPr>
            <a:r>
              <a:rPr sz="3900" b="1" kern="0" spc="30" dirty="0">
                <a:solidFill>
                  <a:schemeClr val="tx1">
                    <a:alpha val="100000"/>
                  </a:schemeClr>
                </a:solidFill>
                <a:latin typeface="楷体" panose="02010609060101010101" charset="-122"/>
                <a:ea typeface="楷体" panose="02010609060101010101" charset="-122"/>
                <a:cs typeface="楷体" panose="02010609060101010101" charset="-122"/>
              </a:rPr>
              <a:t>讨论点</a:t>
            </a:r>
            <a:endParaRPr sz="3900" b="1" kern="0" spc="30" dirty="0">
              <a:solidFill>
                <a:schemeClr val="tx1">
                  <a:alpha val="100000"/>
                </a:schemeClr>
              </a:solidFill>
              <a:latin typeface="楷体" panose="02010609060101010101" charset="-122"/>
              <a:ea typeface="楷体" panose="02010609060101010101" charset="-122"/>
              <a:cs typeface="楷体" panose="02010609060101010101" charset="-122"/>
            </a:endParaRPr>
          </a:p>
        </p:txBody>
      </p:sp>
      <p:sp>
        <p:nvSpPr>
          <p:cNvPr id="418" name="path 41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20" name="path 420"/>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2" name="文本框 1"/>
          <p:cNvSpPr txBox="1"/>
          <p:nvPr/>
        </p:nvSpPr>
        <p:spPr>
          <a:xfrm>
            <a:off x="1351915" y="2707640"/>
            <a:ext cx="9488170" cy="1014730"/>
          </a:xfrm>
          <a:prstGeom prst="rect">
            <a:avLst/>
          </a:prstGeom>
        </p:spPr>
        <p:txBody>
          <a:bodyPr wrap="square">
            <a:spAutoFit/>
          </a:bodyPr>
          <a:p>
            <a:r>
              <a:rPr lang="zh-CN" altLang="en-US" sz="3000">
                <a:latin typeface="华文楷体" panose="02010600040101010101" charset="-122"/>
                <a:ea typeface="华文楷体" panose="02010600040101010101" charset="-122"/>
              </a:rPr>
              <a:t>为何专业的金融衍生工具通过银行渠道</a:t>
            </a:r>
            <a:r>
              <a:rPr lang="en-US" altLang="zh-CN" sz="3000">
                <a:latin typeface="华文楷体" panose="02010600040101010101" charset="-122"/>
                <a:ea typeface="华文楷体" panose="02010600040101010101" charset="-122"/>
              </a:rPr>
              <a:t>“</a:t>
            </a:r>
            <a:r>
              <a:rPr lang="zh-CN" altLang="en-US" sz="3000">
                <a:latin typeface="华文楷体" panose="02010600040101010101" charset="-122"/>
                <a:ea typeface="华文楷体" panose="02010600040101010101" charset="-122"/>
              </a:rPr>
              <a:t>零售化</a:t>
            </a:r>
            <a:r>
              <a:rPr lang="en-US" altLang="zh-CN" sz="3000">
                <a:latin typeface="华文楷体" panose="02010600040101010101" charset="-122"/>
                <a:ea typeface="华文楷体" panose="02010600040101010101" charset="-122"/>
              </a:rPr>
              <a:t>”</a:t>
            </a:r>
            <a:r>
              <a:rPr lang="zh-CN" altLang="en-US" sz="3000">
                <a:latin typeface="华文楷体" panose="02010600040101010101" charset="-122"/>
                <a:ea typeface="华文楷体" panose="02010600040101010101" charset="-122"/>
              </a:rPr>
              <a:t>后，会产生如此严重的风险传导？</a:t>
            </a:r>
            <a:endParaRPr lang="zh-CN" altLang="en-US" sz="3000">
              <a:latin typeface="华文楷体" panose="02010600040101010101" charset="-122"/>
              <a:ea typeface="华文楷体" panose="0201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textbox 426"/>
          <p:cNvSpPr/>
          <p:nvPr/>
        </p:nvSpPr>
        <p:spPr>
          <a:xfrm>
            <a:off x="217702" y="270946"/>
            <a:ext cx="2035810" cy="533400"/>
          </a:xfrm>
          <a:prstGeom prst="rect">
            <a:avLst/>
          </a:prstGeom>
          <a:noFill/>
          <a:ln w="0" cap="flat">
            <a:noFill/>
            <a:prstDash val="solid"/>
            <a:miter lim="0"/>
          </a:ln>
        </p:spPr>
        <p:txBody>
          <a:bodyPr vert="horz" wrap="square" lIns="0" tIns="0" rIns="0" bIns="0">
            <a:scene3d>
              <a:camera prst="orthographicFront"/>
              <a:lightRig rig="threePt" dir="t"/>
            </a:scene3d>
          </a:bodyPr>
          <a:lstStyle/>
          <a:p>
            <a:pPr algn="l" rtl="0" eaLnBrk="0">
              <a:lnSpc>
                <a:spcPct val="99000"/>
              </a:lnSpc>
            </a:pPr>
            <a:r>
              <a:rPr sz="3900" b="1" kern="0" spc="3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rPr>
              <a:t>讨论点</a:t>
            </a:r>
            <a:endParaRPr sz="3900" b="1" kern="0" spc="3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endParaRPr>
          </a:p>
        </p:txBody>
      </p:sp>
      <p:sp>
        <p:nvSpPr>
          <p:cNvPr id="428" name="path 428"/>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30" name="path 430"/>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32" name="textbox 432"/>
          <p:cNvSpPr/>
          <p:nvPr/>
        </p:nvSpPr>
        <p:spPr>
          <a:xfrm>
            <a:off x="11807621" y="6478473"/>
            <a:ext cx="160020" cy="1644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6000"/>
              </a:lnSpc>
            </a:pPr>
            <a:endParaRPr sz="1200" dirty="0">
              <a:latin typeface="Times New Roman" panose="02020603050405020304"/>
              <a:ea typeface="Times New Roman" panose="02020603050405020304"/>
              <a:cs typeface="Times New Roman" panose="02020603050405020304"/>
            </a:endParaRPr>
          </a:p>
        </p:txBody>
      </p:sp>
      <p:sp>
        <p:nvSpPr>
          <p:cNvPr id="2" name="文本框 1"/>
          <p:cNvSpPr txBox="1"/>
          <p:nvPr/>
        </p:nvSpPr>
        <p:spPr>
          <a:xfrm>
            <a:off x="3556000" y="3260408"/>
            <a:ext cx="5080000" cy="337185"/>
          </a:xfrm>
          <a:prstGeom prst="rect">
            <a:avLst/>
          </a:prstGeom>
        </p:spPr>
        <p:txBody>
          <a:bodyPr>
            <a:spAutoFit/>
          </a:bodyPr>
          <a:p>
            <a:endParaRPr lang="zh-CN" altLang="en-US" sz="1600"/>
          </a:p>
        </p:txBody>
      </p:sp>
      <p:sp>
        <p:nvSpPr>
          <p:cNvPr id="3" name="文本框 2"/>
          <p:cNvSpPr txBox="1"/>
          <p:nvPr/>
        </p:nvSpPr>
        <p:spPr>
          <a:xfrm>
            <a:off x="607060" y="1285240"/>
            <a:ext cx="10977880" cy="4590415"/>
          </a:xfrm>
          <a:prstGeom prst="rect">
            <a:avLst/>
          </a:prstGeom>
        </p:spPr>
        <p:txBody>
          <a:bodyPr wrap="square">
            <a:spAutoFit/>
          </a:bodyPr>
          <a:p>
            <a:pPr indent="0" fontAlgn="auto">
              <a:lnSpc>
                <a:spcPts val="2320"/>
              </a:lnSpc>
              <a:spcAft>
                <a:spcPct val="60000"/>
              </a:spcAft>
            </a:pPr>
            <a:r>
              <a:rPr sz="19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900" b="1">
                <a:latin typeface="华文楷体" panose="02010600040101010101" charset="-122"/>
                <a:ea typeface="华文楷体" panose="02010600040101010101" charset="-122"/>
              </a:rPr>
              <a:t>产品设计层面的制度漏洞</a:t>
            </a:r>
            <a:r>
              <a:rPr lang="zh-CN" altLang="en-US" sz="1900" b="1"/>
              <a:t> </a:t>
            </a:r>
            <a:endParaRPr lang="zh-CN" altLang="en-US" sz="1900" b="1"/>
          </a:p>
          <a:p>
            <a:pPr indent="0" fontAlgn="auto">
              <a:lnSpc>
                <a:spcPts val="232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风险转移</a:t>
            </a:r>
            <a:r>
              <a:rPr lang="en-US" altLang="zh-CN" sz="1600">
                <a:latin typeface="华文楷体" panose="02010600040101010101" charset="-122"/>
                <a:ea typeface="华文楷体" panose="02010600040101010101" charset="-122"/>
                <a:cs typeface="华文楷体" panose="02010600040101010101" charset="-122"/>
              </a:rPr>
              <a:t>机制</a:t>
            </a:r>
            <a:r>
              <a:rPr lang="zh-CN" altLang="en-US" sz="1600">
                <a:latin typeface="华文楷体" panose="02010600040101010101" charset="-122"/>
                <a:ea typeface="华文楷体" panose="02010600040101010101" charset="-122"/>
                <a:cs typeface="华文楷体" panose="02010600040101010101" charset="-122"/>
              </a:rPr>
              <a:t>的失效</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a:t>
            </a:r>
            <a:r>
              <a:rPr lang="en-US" altLang="zh-CN" sz="1600">
                <a:latin typeface="华文楷体" panose="02010600040101010101" charset="-122"/>
                <a:ea typeface="华文楷体" panose="02010600040101010101" charset="-122"/>
                <a:cs typeface="华文楷体" panose="02010600040101010101" charset="-122"/>
              </a:rPr>
              <a:t>原油</a:t>
            </a:r>
            <a:r>
              <a:rPr lang="zh-CN" altLang="en-US" sz="1600">
                <a:latin typeface="华文楷体" panose="02010600040101010101" charset="-122"/>
                <a:ea typeface="华文楷体" panose="02010600040101010101" charset="-122"/>
                <a:cs typeface="华文楷体" panose="02010600040101010101" charset="-122"/>
              </a:rPr>
              <a:t>宝本质上是中国银行作为做市商，将国际期货市场的极端风险通过镜像对冲模式直接转移给国内散户投资者</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32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适当性管理的形式化</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：银行在销售过程中过度强调“低门槛”“易操作”，而弱化了期货衍生品的高风险属性</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320"/>
              </a:lnSpc>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流动性安排的缺失</a:t>
            </a:r>
            <a:r>
              <a:rPr lang="en-US" altLang="zh-CN" sz="1600">
                <a:latin typeface="华文楷体" panose="02010600040101010101" charset="-122"/>
                <a:ea typeface="华文楷体" panose="02010600040101010101" charset="-122"/>
                <a:cs typeface="华文楷体" panose="02010600040101010101" charset="-122"/>
              </a:rPr>
              <a:t>​</a:t>
            </a:r>
            <a:r>
              <a:rPr lang="zh-CN" altLang="en-US" sz="1600">
                <a:latin typeface="华文楷体" panose="02010600040101010101" charset="-122"/>
                <a:ea typeface="华文楷体" panose="02010600040101010101" charset="-122"/>
                <a:cs typeface="华文楷体" panose="02010600040101010101" charset="-122"/>
              </a:rPr>
              <a:t>：产品终止交易时间（</a:t>
            </a:r>
            <a:r>
              <a:rPr lang="en-US" altLang="zh-CN" sz="1600">
                <a:latin typeface="华文楷体" panose="02010600040101010101" charset="-122"/>
                <a:ea typeface="华文楷体" panose="02010600040101010101" charset="-122"/>
                <a:cs typeface="华文楷体" panose="02010600040101010101" charset="-122"/>
              </a:rPr>
              <a:t>22:00</a:t>
            </a:r>
            <a:r>
              <a:rPr lang="zh-CN" altLang="en-US" sz="1600">
                <a:latin typeface="华文楷体" panose="02010600040101010101" charset="-122"/>
                <a:ea typeface="华文楷体" panose="02010600040101010101" charset="-122"/>
                <a:cs typeface="华文楷体" panose="02010600040101010101" charset="-122"/>
              </a:rPr>
              <a:t>）与</a:t>
            </a:r>
            <a:r>
              <a:rPr lang="en-US" altLang="zh-CN" sz="1600">
                <a:latin typeface="华文楷体" panose="02010600040101010101" charset="-122"/>
                <a:ea typeface="华文楷体" panose="02010600040101010101" charset="-122"/>
                <a:cs typeface="华文楷体" panose="02010600040101010101" charset="-122"/>
              </a:rPr>
              <a:t>CME</a:t>
            </a:r>
            <a:r>
              <a:rPr lang="zh-CN" altLang="en-US" sz="1600">
                <a:latin typeface="华文楷体" panose="02010600040101010101" charset="-122"/>
                <a:ea typeface="华文楷体" panose="02010600040101010101" charset="-122"/>
                <a:cs typeface="华文楷体" panose="02010600040101010101" charset="-122"/>
              </a:rPr>
              <a:t>结算时间（次日</a:t>
            </a:r>
            <a:r>
              <a:rPr lang="en-US" altLang="zh-CN" sz="1600">
                <a:latin typeface="华文楷体" panose="02010600040101010101" charset="-122"/>
                <a:ea typeface="华文楷体" panose="02010600040101010101" charset="-122"/>
                <a:cs typeface="华文楷体" panose="02010600040101010101" charset="-122"/>
              </a:rPr>
              <a:t>2:30</a:t>
            </a:r>
            <a:r>
              <a:rPr lang="zh-CN" altLang="en-US" sz="1600">
                <a:latin typeface="华文楷体" panose="02010600040101010101" charset="-122"/>
                <a:ea typeface="华文楷体" panose="02010600040101010101" charset="-122"/>
                <a:cs typeface="华文楷体" panose="02010600040101010101" charset="-122"/>
              </a:rPr>
              <a:t>）存在关键空窗期，投资者风险暴露失控</a:t>
            </a:r>
            <a:endParaRPr lang="zh-CN" altLang="en-US" sz="1600">
              <a:latin typeface="华文楷体" panose="02010600040101010101" charset="-122"/>
              <a:ea typeface="华文楷体" panose="02010600040101010101" charset="-122"/>
              <a:cs typeface="华文楷体" panose="02010600040101010101" charset="-122"/>
            </a:endParaRPr>
          </a:p>
          <a:p>
            <a:pPr indent="0" fontAlgn="auto">
              <a:lnSpc>
                <a:spcPts val="2320"/>
              </a:lnSpc>
              <a:spcAft>
                <a:spcPct val="60000"/>
              </a:spcAft>
            </a:pPr>
            <a:r>
              <a:rPr sz="19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900" b="1">
                <a:latin typeface="华文楷体" panose="02010600040101010101" charset="-122"/>
                <a:ea typeface="华文楷体" panose="02010600040101010101" charset="-122"/>
              </a:rPr>
              <a:t>投资者认知的严重偏差 </a:t>
            </a:r>
            <a:endParaRPr lang="zh-CN" altLang="en-US" sz="1900" b="1"/>
          </a:p>
          <a:p>
            <a:pPr indent="0" algn="l" fontAlgn="auto">
              <a:lnSpc>
                <a:spcPts val="2320"/>
              </a:lnSpc>
              <a:buClrTx/>
              <a:buSzTx/>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​​“银行理财=保本”的惯性思维​：普通投资者将结构性理财产品等同于传统银行理财，风险意识不足</a:t>
            </a:r>
            <a:endParaRPr lang="en-US" altLang="zh-CN" sz="1600">
              <a:latin typeface="华文楷体" panose="02010600040101010101" charset="-122"/>
              <a:ea typeface="华文楷体" panose="02010600040101010101" charset="-122"/>
              <a:cs typeface="华文楷体" panose="02010600040101010101" charset="-122"/>
            </a:endParaRPr>
          </a:p>
          <a:p>
            <a:pPr indent="0" algn="l" fontAlgn="auto">
              <a:lnSpc>
                <a:spcPts val="2320"/>
              </a:lnSpc>
              <a:buClrTx/>
              <a:buSzTx/>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​对期货杠杆机制的误解​：多数投资者仅理解“做多赚钱”，未认知“负油价”可能性及穿仓风险</a:t>
            </a:r>
            <a:endParaRPr lang="en-US" altLang="zh-CN" sz="1600">
              <a:latin typeface="华文楷体" panose="02010600040101010101" charset="-122"/>
              <a:ea typeface="华文楷体" panose="02010600040101010101" charset="-122"/>
              <a:cs typeface="华文楷体" panose="02010600040101010101" charset="-122"/>
            </a:endParaRPr>
          </a:p>
          <a:p>
            <a:pPr indent="0" algn="l" fontAlgn="auto">
              <a:lnSpc>
                <a:spcPts val="2320"/>
              </a:lnSpc>
              <a:buClrTx/>
              <a:buSzTx/>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​移仓换月成本的黑箱化​：投资者对展期成本、contango结构的影响缺乏基本认知</a:t>
            </a:r>
            <a:endParaRPr lang="en-US" altLang="zh-CN" sz="1600">
              <a:latin typeface="华文楷体" panose="02010600040101010101" charset="-122"/>
              <a:ea typeface="华文楷体" panose="02010600040101010101" charset="-122"/>
              <a:cs typeface="华文楷体" panose="02010600040101010101" charset="-122"/>
            </a:endParaRPr>
          </a:p>
          <a:p>
            <a:pPr indent="0" fontAlgn="auto">
              <a:lnSpc>
                <a:spcPts val="2320"/>
              </a:lnSpc>
              <a:spcAft>
                <a:spcPct val="60000"/>
              </a:spcAft>
            </a:pPr>
            <a:r>
              <a:rPr sz="1900"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sz="1900" b="1">
                <a:latin typeface="华文楷体" panose="02010600040101010101" charset="-122"/>
                <a:ea typeface="华文楷体" panose="02010600040101010101" charset="-122"/>
              </a:rPr>
              <a:t>监管套利与跨市场风险隔离失效 </a:t>
            </a:r>
            <a:endParaRPr lang="zh-CN" altLang="en-US" sz="1900" b="1">
              <a:latin typeface="华文楷体" panose="02010600040101010101" charset="-122"/>
              <a:ea typeface="华文楷体" panose="02010600040101010101" charset="-122"/>
            </a:endParaRPr>
          </a:p>
          <a:p>
            <a:pPr indent="0" algn="l" fontAlgn="auto">
              <a:lnSpc>
                <a:spcPts val="2320"/>
              </a:lnSpc>
              <a:buClrTx/>
              <a:buSzTx/>
              <a:buFont typeface="Arial" panose="020B0604020202020204"/>
              <a:buChar char="•"/>
            </a:pPr>
            <a:r>
              <a:rPr lang="en-US" altLang="zh-CN" sz="1600"/>
              <a:t>​</a:t>
            </a:r>
            <a:r>
              <a:rPr lang="en-US" altLang="zh-CN" sz="1600">
                <a:latin typeface="华文楷体" panose="02010600040101010101" charset="-122"/>
                <a:ea typeface="华文楷体" panose="02010600040101010101" charset="-122"/>
                <a:cs typeface="华文楷体" panose="02010600040101010101" charset="-122"/>
              </a:rPr>
              <a:t>银保监会</a:t>
            </a:r>
            <a:r>
              <a:rPr lang="zh-CN" altLang="en-US" sz="1600">
                <a:latin typeface="华文楷体" panose="02010600040101010101" charset="-122"/>
                <a:ea typeface="华文楷体" panose="02010600040101010101" charset="-122"/>
                <a:cs typeface="华文楷体" panose="02010600040101010101" charset="-122"/>
              </a:rPr>
              <a:t>、</a:t>
            </a:r>
            <a:r>
              <a:rPr lang="en-US" altLang="zh-CN" sz="1600">
                <a:latin typeface="华文楷体" panose="02010600040101010101" charset="-122"/>
                <a:ea typeface="华文楷体" panose="02010600040101010101" charset="-122"/>
                <a:cs typeface="华文楷体" panose="02010600040101010101" charset="-122"/>
              </a:rPr>
              <a:t>证监会的监管鸿沟​：银行理财产品设计避开证监会对期货交易的严格监管</a:t>
            </a:r>
            <a:endParaRPr lang="en-US" altLang="zh-CN" sz="1600">
              <a:latin typeface="华文楷体" panose="02010600040101010101" charset="-122"/>
              <a:ea typeface="华文楷体" panose="02010600040101010101" charset="-122"/>
              <a:cs typeface="华文楷体" panose="02010600040101010101" charset="-122"/>
            </a:endParaRPr>
          </a:p>
          <a:p>
            <a:pPr indent="0" algn="l" fontAlgn="auto">
              <a:lnSpc>
                <a:spcPts val="2320"/>
              </a:lnSpc>
              <a:buClrTx/>
              <a:buSzTx/>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​跨境风险传导的监管盲区​：国内投资者通过银行渠道间接参与境外期货市场，风险监控存在时滞</a:t>
            </a:r>
            <a:endParaRPr lang="en-US" altLang="zh-CN" sz="1600">
              <a:latin typeface="华文楷体" panose="02010600040101010101" charset="-122"/>
              <a:ea typeface="华文楷体" panose="02010600040101010101" charset="-122"/>
              <a:cs typeface="华文楷体" panose="02010600040101010101" charset="-122"/>
            </a:endParaRPr>
          </a:p>
          <a:p>
            <a:pPr indent="0" algn="l" fontAlgn="auto">
              <a:lnSpc>
                <a:spcPts val="2320"/>
              </a:lnSpc>
              <a:buClrTx/>
              <a:buSzTx/>
              <a:buFont typeface="Arial" panose="020B0604020202020204"/>
              <a:buChar char="•"/>
            </a:pPr>
            <a:r>
              <a:rPr lang="en-US" altLang="zh-CN" sz="1600">
                <a:latin typeface="华文楷体" panose="02010600040101010101" charset="-122"/>
                <a:ea typeface="华文楷体" panose="02010600040101010101" charset="-122"/>
                <a:cs typeface="华文楷体" panose="02010600040101010101" charset="-122"/>
              </a:rPr>
              <a:t>​压力测试与极端情景模拟的缺失​：产品设计未考虑“负油价”等黑天鹅事件</a:t>
            </a:r>
            <a:endParaRPr lang="en-US" altLang="zh-CN" sz="1600">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textbox 438"/>
          <p:cNvSpPr/>
          <p:nvPr/>
        </p:nvSpPr>
        <p:spPr>
          <a:xfrm>
            <a:off x="353695" y="266065"/>
            <a:ext cx="5162550" cy="534670"/>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dirty="0">
                <a:latin typeface="楷体" panose="02010609060101010101" charset="-122"/>
                <a:ea typeface="楷体" panose="02010609060101010101" charset="-122"/>
                <a:cs typeface="楷体" panose="02010609060101010101" charset="-122"/>
              </a:rPr>
              <a:t>衍生品全景</a:t>
            </a:r>
            <a:endParaRPr lang="zh-CN" altLang="en-US" sz="3900" dirty="0">
              <a:latin typeface="楷体" panose="02010609060101010101" charset="-122"/>
              <a:ea typeface="楷体" panose="02010609060101010101" charset="-122"/>
              <a:cs typeface="楷体" panose="02010609060101010101" charset="-122"/>
            </a:endParaRPr>
          </a:p>
        </p:txBody>
      </p:sp>
      <p:sp>
        <p:nvSpPr>
          <p:cNvPr id="444" name="path 444"/>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46" name="path 446"/>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56" name="textbox 456"/>
          <p:cNvSpPr/>
          <p:nvPr/>
        </p:nvSpPr>
        <p:spPr>
          <a:xfrm>
            <a:off x="11807621" y="6478473"/>
            <a:ext cx="160020" cy="164464"/>
          </a:xfrm>
          <a:prstGeom prst="rect">
            <a:avLst/>
          </a:prstGeom>
          <a:noFill/>
          <a:ln w="0" cap="flat">
            <a:noFill/>
            <a:prstDash val="solid"/>
            <a:miter lim="0"/>
          </a:ln>
        </p:spPr>
        <p:txBody>
          <a:bodyPr vert="horz" wrap="square" lIns="0" tIns="0" rIns="0" bIns="0"/>
          <a:lstStyle/>
          <a:p>
            <a:pPr algn="l" rtl="0" eaLnBrk="0">
              <a:lnSpc>
                <a:spcPct val="80000"/>
              </a:lnSpc>
            </a:pPr>
            <a:endParaRPr sz="1200" dirty="0">
              <a:latin typeface="Times New Roman" panose="02020603050405020304"/>
              <a:ea typeface="Times New Roman" panose="02020603050405020304"/>
              <a:cs typeface="Times New Roman" panose="02020603050405020304"/>
            </a:endParaRPr>
          </a:p>
        </p:txBody>
      </p:sp>
      <p:graphicFrame>
        <p:nvGraphicFramePr>
          <p:cNvPr id="3" name="表格 2"/>
          <p:cNvGraphicFramePr/>
          <p:nvPr>
            <p:custDataLst>
              <p:tags r:id="rId1"/>
            </p:custDataLst>
          </p:nvPr>
        </p:nvGraphicFramePr>
        <p:xfrm>
          <a:off x="354330" y="1179830"/>
          <a:ext cx="11130280" cy="4806950"/>
        </p:xfrm>
        <a:graphic>
          <a:graphicData uri="http://schemas.openxmlformats.org/drawingml/2006/table">
            <a:tbl>
              <a:tblPr/>
              <a:tblGrid>
                <a:gridCol w="1527175"/>
                <a:gridCol w="3861435"/>
                <a:gridCol w="1880235"/>
                <a:gridCol w="3861435"/>
              </a:tblGrid>
              <a:tr h="430530">
                <a:tc>
                  <a:txBody>
                    <a:bodyPr/>
                    <a:p>
                      <a:pPr algn="ctr" fontAlgn="ctr"/>
                      <a:r>
                        <a:rPr lang="zh-CN" altLang="en-US" sz="1600" b="1" i="0">
                          <a:solidFill>
                            <a:srgbClr val="FFFFFF"/>
                          </a:solidFill>
                          <a:latin typeface="华文楷体" panose="02010600040101010101" charset="-122"/>
                          <a:ea typeface="华文楷体" panose="02010600040101010101" charset="-122"/>
                        </a:rPr>
                        <a:t>衍生品类型</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c>
                  <a:txBody>
                    <a:bodyPr/>
                    <a:p>
                      <a:pPr algn="ctr" fontAlgn="ctr"/>
                      <a:r>
                        <a:rPr lang="zh-CN" altLang="en-US" sz="1600" b="1" i="0">
                          <a:solidFill>
                            <a:srgbClr val="FFFFFF"/>
                          </a:solidFill>
                          <a:latin typeface="华文楷体" panose="02010600040101010101" charset="-122"/>
                          <a:ea typeface="华文楷体" panose="02010600040101010101" charset="-122"/>
                        </a:rPr>
                        <a:t>定义</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c>
                  <a:txBody>
                    <a:bodyPr/>
                    <a:p>
                      <a:pPr algn="ctr" fontAlgn="ctr"/>
                      <a:r>
                        <a:rPr lang="zh-CN" altLang="en-US" sz="1600" b="1" i="0">
                          <a:solidFill>
                            <a:srgbClr val="FFFFFF"/>
                          </a:solidFill>
                          <a:latin typeface="华文楷体" panose="02010600040101010101" charset="-122"/>
                          <a:ea typeface="华文楷体" panose="02010600040101010101" charset="-122"/>
                        </a:rPr>
                        <a:t>交易场所</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c>
                  <a:txBody>
                    <a:bodyPr/>
                    <a:p>
                      <a:pPr algn="ctr" fontAlgn="ctr"/>
                      <a:r>
                        <a:rPr lang="zh-CN" altLang="en-US" sz="1600" b="1" i="0">
                          <a:solidFill>
                            <a:srgbClr val="FFFFFF"/>
                          </a:solidFill>
                          <a:latin typeface="华文楷体" panose="02010600040101010101" charset="-122"/>
                          <a:ea typeface="华文楷体" panose="02010600040101010101" charset="-122"/>
                        </a:rPr>
                        <a:t>关键特点</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r>
              <a:tr h="860425">
                <a:tc>
                  <a:txBody>
                    <a:bodyPr/>
                    <a:p>
                      <a:pPr algn="ctr" fontAlgn="ctr"/>
                      <a:r>
                        <a:rPr lang="zh-CN" altLang="en-US" sz="1600" b="1" i="0">
                          <a:solidFill>
                            <a:srgbClr val="000000"/>
                          </a:solidFill>
                          <a:latin typeface="华文楷体" panose="02010600040101010101" charset="-122"/>
                          <a:ea typeface="华文楷体" panose="02010600040101010101" charset="-122"/>
                        </a:rPr>
                        <a:t>远期合约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交易双方私下签订协议，约定未来某一时间以特定价格交易资产</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cs typeface="华文楷体" panose="02010600040101010101" charset="-122"/>
                        </a:rPr>
                        <a:t>场外（</a:t>
                      </a:r>
                      <a:r>
                        <a:rPr lang="en-US" altLang="zh-CN" sz="1600" b="0" i="0">
                          <a:solidFill>
                            <a:srgbClr val="000000"/>
                          </a:solidFill>
                          <a:latin typeface="华文楷体" panose="02010600040101010101" charset="-122"/>
                          <a:ea typeface="华文楷体" panose="02010600040101010101" charset="-122"/>
                          <a:cs typeface="华文楷体" panose="02010600040101010101" charset="-122"/>
                        </a:rPr>
                        <a:t>OTC</a:t>
                      </a:r>
                      <a:r>
                        <a:rPr lang="zh-CN" altLang="en-US" sz="1600" b="0" i="0">
                          <a:solidFill>
                            <a:srgbClr val="000000"/>
                          </a:solidFill>
                          <a:latin typeface="华文楷体" panose="02010600040101010101" charset="-122"/>
                          <a:ea typeface="华文楷体" panose="02010600040101010101" charset="-122"/>
                          <a:cs typeface="华文楷体" panose="02010600040101010101" charset="-122"/>
                        </a:rPr>
                        <a:t>）</a:t>
                      </a:r>
                      <a:endParaRPr lang="zh-CN" altLang="en-US" sz="1600" b="0" i="0">
                        <a:solidFill>
                          <a:srgbClr val="000000"/>
                        </a:solidFill>
                        <a:latin typeface="华文楷体" panose="02010600040101010101" charset="-122"/>
                        <a:ea typeface="华文楷体" panose="02010600040101010101" charset="-122"/>
                        <a:cs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定制化；无每日结算；违约风险大；流动性差</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r>
              <a:tr h="860425">
                <a:tc>
                  <a:txBody>
                    <a:bodyPr/>
                    <a:p>
                      <a:pPr algn="ctr" fontAlgn="ctr"/>
                      <a:r>
                        <a:rPr lang="zh-CN" altLang="en-US" sz="1600" b="1" i="0">
                          <a:solidFill>
                            <a:srgbClr val="000000"/>
                          </a:solidFill>
                          <a:latin typeface="华文楷体" panose="02010600040101010101" charset="-122"/>
                          <a:ea typeface="华文楷体" panose="02010600040101010101" charset="-122"/>
                        </a:rPr>
                        <a:t>期货合约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标准化合约，交易所交易，约定未来以特定价格交易资产</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场内（交易所）</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标准化；保证金制度；每日结算（盯市）；高杠杆；流动性强</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r>
              <a:tr h="861695">
                <a:tc>
                  <a:txBody>
                    <a:bodyPr/>
                    <a:p>
                      <a:pPr algn="ctr" fontAlgn="ctr"/>
                      <a:r>
                        <a:rPr lang="zh-CN" altLang="en-US" sz="1600" b="1" i="0">
                          <a:solidFill>
                            <a:srgbClr val="000000"/>
                          </a:solidFill>
                          <a:latin typeface="华文楷体" panose="02010600040101010101" charset="-122"/>
                          <a:ea typeface="华文楷体" panose="02010600040101010101" charset="-122"/>
                        </a:rPr>
                        <a:t>期权合约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cs typeface="华文楷体" panose="02010600040101010101" charset="-122"/>
                        </a:rPr>
                        <a:t>赋予持有者买 </a:t>
                      </a:r>
                      <a:r>
                        <a:rPr lang="en-US" altLang="zh-CN" sz="1600" b="0" i="0">
                          <a:solidFill>
                            <a:srgbClr val="000000"/>
                          </a:solidFill>
                          <a:latin typeface="华文楷体" panose="02010600040101010101" charset="-122"/>
                          <a:ea typeface="华文楷体" panose="02010600040101010101" charset="-122"/>
                          <a:cs typeface="华文楷体" panose="02010600040101010101" charset="-122"/>
                        </a:rPr>
                        <a:t>/ </a:t>
                      </a:r>
                      <a:r>
                        <a:rPr lang="zh-CN" altLang="en-US" sz="1600" b="0" i="0">
                          <a:solidFill>
                            <a:srgbClr val="000000"/>
                          </a:solidFill>
                          <a:latin typeface="华文楷体" panose="02010600040101010101" charset="-122"/>
                          <a:ea typeface="华文楷体" panose="02010600040101010101" charset="-122"/>
                          <a:cs typeface="华文楷体" panose="02010600040101010101" charset="-122"/>
                        </a:rPr>
                        <a:t>卖资产的权利（无义务）买方支付期权费</a:t>
                      </a:r>
                      <a:endParaRPr lang="zh-CN" altLang="en-US" sz="1600" b="0" i="0">
                        <a:solidFill>
                          <a:srgbClr val="000000"/>
                        </a:solidFill>
                        <a:latin typeface="华文楷体" panose="02010600040101010101" charset="-122"/>
                        <a:ea typeface="华文楷体" panose="02010600040101010101" charset="-122"/>
                        <a:cs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场内和场外</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风险不对称；支付期权费；策略灵活；体现波动性</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r>
              <a:tr h="860425">
                <a:tc>
                  <a:txBody>
                    <a:bodyPr/>
                    <a:p>
                      <a:pPr algn="ctr" fontAlgn="ctr"/>
                      <a:r>
                        <a:rPr lang="zh-CN" altLang="en-US" sz="1600" b="1" i="0">
                          <a:solidFill>
                            <a:srgbClr val="000000"/>
                          </a:solidFill>
                          <a:latin typeface="华文楷体" panose="02010600040101010101" charset="-122"/>
                          <a:ea typeface="华文楷体" panose="02010600040101010101" charset="-122"/>
                        </a:rPr>
                        <a:t>互换合约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双方同意交换一系列现金流的协议（如利率互换、货币互换）</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场外</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多个远期组合；定制化；管理多期风险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r>
              <a:tr h="933450">
                <a:tc>
                  <a:txBody>
                    <a:bodyPr/>
                    <a:p>
                      <a:pPr algn="ctr" fontAlgn="ctr"/>
                      <a:r>
                        <a:rPr lang="zh-CN" altLang="en-US" sz="1600" b="1" i="0">
                          <a:solidFill>
                            <a:srgbClr val="000000"/>
                          </a:solidFill>
                          <a:latin typeface="华文楷体" panose="02010600040101010101" charset="-122"/>
                          <a:ea typeface="华文楷体" panose="02010600040101010101" charset="-122"/>
                        </a:rPr>
                        <a:t>信用衍生品</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cs typeface="华文楷体" panose="02010600040101010101" charset="-122"/>
                        </a:rPr>
                        <a:t>转移信用风险的合约（如信用违约互换 </a:t>
                      </a:r>
                      <a:r>
                        <a:rPr lang="en-US" altLang="zh-CN" sz="1600" b="0" i="0">
                          <a:solidFill>
                            <a:srgbClr val="000000"/>
                          </a:solidFill>
                          <a:latin typeface="华文楷体" panose="02010600040101010101" charset="-122"/>
                          <a:ea typeface="华文楷体" panose="02010600040101010101" charset="-122"/>
                          <a:cs typeface="华文楷体" panose="02010600040101010101" charset="-122"/>
                        </a:rPr>
                        <a:t>CDS</a:t>
                      </a:r>
                      <a:r>
                        <a:rPr lang="zh-CN" altLang="en-US" sz="1600" b="0" i="0">
                          <a:solidFill>
                            <a:srgbClr val="000000"/>
                          </a:solidFill>
                          <a:latin typeface="华文楷体" panose="02010600040101010101" charset="-122"/>
                          <a:ea typeface="华文楷体" panose="02010600040101010101" charset="-122"/>
                          <a:cs typeface="华文楷体" panose="02010600040101010101" charset="-122"/>
                        </a:rPr>
                        <a:t>），买方付保费，卖方违约时赔付</a:t>
                      </a:r>
                      <a:endParaRPr lang="zh-CN" altLang="en-US" sz="1600" b="0" i="0">
                        <a:solidFill>
                          <a:srgbClr val="000000"/>
                        </a:solidFill>
                        <a:latin typeface="华文楷体" panose="02010600040101010101" charset="-122"/>
                        <a:ea typeface="华文楷体" panose="02010600040101010101" charset="-122"/>
                        <a:cs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场外</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c>
                  <a:txBody>
                    <a:bodyPr/>
                    <a:p>
                      <a:pPr algn="l" fontAlgn="ctr"/>
                      <a:r>
                        <a:rPr lang="zh-CN" altLang="en-US" sz="1600" b="0" i="0">
                          <a:solidFill>
                            <a:srgbClr val="000000"/>
                          </a:solidFill>
                          <a:latin typeface="华文楷体" panose="02010600040101010101" charset="-122"/>
                          <a:ea typeface="华文楷体" panose="02010600040101010101" charset="-122"/>
                        </a:rPr>
                        <a:t>提供信用保护；基于信用事件</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textbox 438"/>
          <p:cNvSpPr/>
          <p:nvPr/>
        </p:nvSpPr>
        <p:spPr>
          <a:xfrm>
            <a:off x="353695" y="266065"/>
            <a:ext cx="5162550" cy="534670"/>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dirty="0">
                <a:latin typeface="楷体" panose="02010609060101010101" charset="-122"/>
                <a:ea typeface="楷体" panose="02010609060101010101" charset="-122"/>
                <a:cs typeface="楷体" panose="02010609060101010101" charset="-122"/>
              </a:rPr>
              <a:t>衍生品全景</a:t>
            </a:r>
            <a:endParaRPr lang="zh-CN" altLang="en-US" sz="3900" dirty="0">
              <a:latin typeface="楷体" panose="02010609060101010101" charset="-122"/>
              <a:ea typeface="楷体" panose="02010609060101010101" charset="-122"/>
              <a:cs typeface="楷体" panose="02010609060101010101" charset="-122"/>
            </a:endParaRPr>
          </a:p>
        </p:txBody>
      </p:sp>
      <p:sp>
        <p:nvSpPr>
          <p:cNvPr id="444" name="path 444"/>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46" name="path 446"/>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56" name="textbox 456"/>
          <p:cNvSpPr/>
          <p:nvPr/>
        </p:nvSpPr>
        <p:spPr>
          <a:xfrm>
            <a:off x="11807621" y="6478473"/>
            <a:ext cx="160020" cy="1644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6000"/>
              </a:lnSpc>
            </a:pPr>
            <a:endParaRPr sz="1200" dirty="0">
              <a:latin typeface="Times New Roman" panose="02020603050405020304"/>
              <a:ea typeface="Times New Roman" panose="02020603050405020304"/>
              <a:cs typeface="Times New Roman" panose="02020603050405020304"/>
            </a:endParaRPr>
          </a:p>
        </p:txBody>
      </p:sp>
      <p:graphicFrame>
        <p:nvGraphicFramePr>
          <p:cNvPr id="2" name="表格 1"/>
          <p:cNvGraphicFramePr/>
          <p:nvPr>
            <p:custDataLst>
              <p:tags r:id="rId1"/>
            </p:custDataLst>
          </p:nvPr>
        </p:nvGraphicFramePr>
        <p:xfrm>
          <a:off x="446405" y="1189355"/>
          <a:ext cx="11110595" cy="5124450"/>
        </p:xfrm>
        <a:graphic>
          <a:graphicData uri="http://schemas.openxmlformats.org/drawingml/2006/table">
            <a:tbl>
              <a:tblPr/>
              <a:tblGrid>
                <a:gridCol w="1572260"/>
                <a:gridCol w="2895600"/>
                <a:gridCol w="3138805"/>
                <a:gridCol w="3503930"/>
              </a:tblGrid>
              <a:tr h="854075">
                <a:tc>
                  <a:txBody>
                    <a:bodyPr/>
                    <a:p>
                      <a:pPr algn="ctr" fontAlgn="ctr"/>
                      <a:r>
                        <a:rPr lang="zh-CN" altLang="en-US" sz="1600" b="1" i="0">
                          <a:solidFill>
                            <a:srgbClr val="FFFFFF"/>
                          </a:solidFill>
                          <a:latin typeface="华文楷体" panose="02010600040101010101" charset="-122"/>
                          <a:ea typeface="华文楷体" panose="02010600040101010101" charset="-122"/>
                        </a:rPr>
                        <a:t>衍生品类型</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c>
                  <a:txBody>
                    <a:bodyPr/>
                    <a:p>
                      <a:pPr algn="ctr" fontAlgn="ctr"/>
                      <a:r>
                        <a:rPr lang="zh-CN" altLang="en-US" sz="1600" b="1" i="0">
                          <a:solidFill>
                            <a:srgbClr val="FFFFFF"/>
                          </a:solidFill>
                          <a:latin typeface="华文楷体" panose="02010600040101010101" charset="-122"/>
                          <a:ea typeface="华文楷体" panose="02010600040101010101" charset="-122"/>
                        </a:rPr>
                        <a:t>主要风险</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c>
                  <a:txBody>
                    <a:bodyPr/>
                    <a:p>
                      <a:pPr algn="ctr" fontAlgn="ctr"/>
                      <a:r>
                        <a:rPr lang="zh-CN" altLang="en-US" sz="1600" b="1" i="0">
                          <a:solidFill>
                            <a:srgbClr val="FFFFFF"/>
                          </a:solidFill>
                          <a:latin typeface="华文楷体" panose="02010600040101010101" charset="-122"/>
                          <a:ea typeface="华文楷体" panose="02010600040101010101" charset="-122"/>
                        </a:rPr>
                        <a:t>主要用途</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c>
                  <a:txBody>
                    <a:bodyPr/>
                    <a:p>
                      <a:pPr algn="ctr" fontAlgn="ctr"/>
                      <a:r>
                        <a:rPr lang="en-US" altLang="zh-CN" sz="1600" b="1" i="0">
                          <a:solidFill>
                            <a:srgbClr val="FFFFFF"/>
                          </a:solidFill>
                          <a:latin typeface="华文楷体" panose="02010600040101010101" charset="-122"/>
                          <a:ea typeface="华文楷体" panose="02010600040101010101" charset="-122"/>
                        </a:rPr>
                        <a:t> </a:t>
                      </a:r>
                      <a:r>
                        <a:rPr lang="zh-CN" altLang="en-US" sz="1600" b="1" i="0">
                          <a:solidFill>
                            <a:srgbClr val="FFFFFF"/>
                          </a:solidFill>
                          <a:latin typeface="华文楷体" panose="02010600040101010101" charset="-122"/>
                          <a:ea typeface="华文楷体" panose="02010600040101010101" charset="-122"/>
                        </a:rPr>
                        <a:t>案例</a:t>
                      </a:r>
                      <a:endParaRPr lang="zh-CN" altLang="en-US" sz="1600" b="1" i="0">
                        <a:solidFill>
                          <a:srgbClr val="FFFFFF"/>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75BD42"/>
                    </a:solidFill>
                  </a:tcPr>
                </a:tc>
              </a:tr>
              <a:tr h="854075">
                <a:tc>
                  <a:txBody>
                    <a:bodyPr/>
                    <a:p>
                      <a:pPr algn="ctr" fontAlgn="ctr"/>
                      <a:r>
                        <a:rPr lang="zh-CN" altLang="en-US" sz="1600" b="1" i="0">
                          <a:solidFill>
                            <a:srgbClr val="000000"/>
                          </a:solidFill>
                          <a:latin typeface="华文楷体" panose="02010600040101010101" charset="-122"/>
                          <a:ea typeface="华文楷体" panose="02010600040101010101" charset="-122"/>
                        </a:rPr>
                        <a:t>远期合约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信用风险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锁定价格；风险管理</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600" b="0" i="0">
                          <a:solidFill>
                            <a:srgbClr val="000000"/>
                          </a:solidFill>
                          <a:latin typeface="华文楷体" panose="02010600040101010101" charset="-122"/>
                          <a:ea typeface="华文楷体" panose="02010600040101010101" charset="-122"/>
                        </a:rPr>
                        <a:t>2016 </a:t>
                      </a:r>
                      <a:r>
                        <a:rPr lang="zh-CN" altLang="en-US" sz="1600" b="0" i="0">
                          <a:solidFill>
                            <a:srgbClr val="000000"/>
                          </a:solidFill>
                          <a:latin typeface="华文楷体" panose="02010600040101010101" charset="-122"/>
                          <a:ea typeface="华文楷体" panose="02010600040101010101" charset="-122"/>
                        </a:rPr>
                        <a:t>年进口企业用外汇远期管理汇率风险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r>
              <a:tr h="854075">
                <a:tc>
                  <a:txBody>
                    <a:bodyPr/>
                    <a:p>
                      <a:pPr algn="ctr" fontAlgn="ctr"/>
                      <a:r>
                        <a:rPr lang="zh-CN" altLang="en-US" sz="1600" b="1" i="0">
                          <a:solidFill>
                            <a:srgbClr val="000000"/>
                          </a:solidFill>
                          <a:latin typeface="华文楷体" panose="02010600040101010101" charset="-122"/>
                          <a:ea typeface="华文楷体" panose="02010600040101010101" charset="-122"/>
                        </a:rPr>
                        <a:t>期货合约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市场风险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套期保值；投机；价格发现</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en-US" altLang="zh-CN" sz="1600" b="0" i="0">
                          <a:solidFill>
                            <a:srgbClr val="000000"/>
                          </a:solidFill>
                          <a:latin typeface="华文楷体" panose="02010600040101010101" charset="-122"/>
                          <a:ea typeface="华文楷体" panose="02010600040101010101" charset="-122"/>
                        </a:rPr>
                        <a:t>2008 </a:t>
                      </a:r>
                      <a:r>
                        <a:rPr lang="zh-CN" altLang="en-US" sz="1600" b="0" i="0">
                          <a:solidFill>
                            <a:srgbClr val="000000"/>
                          </a:solidFill>
                          <a:latin typeface="华文楷体" panose="02010600040101010101" charset="-122"/>
                          <a:ea typeface="华文楷体" panose="02010600040101010101" charset="-122"/>
                        </a:rPr>
                        <a:t>年法国兴业银行巨亏案</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r>
              <a:tr h="854075">
                <a:tc>
                  <a:txBody>
                    <a:bodyPr/>
                    <a:p>
                      <a:pPr algn="ctr" fontAlgn="ctr"/>
                      <a:r>
                        <a:rPr lang="zh-CN" altLang="en-US" sz="1600" b="1" i="0">
                          <a:solidFill>
                            <a:srgbClr val="000000"/>
                          </a:solidFill>
                          <a:latin typeface="华文楷体" panose="02010600040101010101" charset="-122"/>
                          <a:ea typeface="华文楷体" panose="02010600040101010101" charset="-122"/>
                        </a:rPr>
                        <a:t>期权合约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买方风险有限，卖方风险大</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保险式风险管理；投机</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600" b="0" i="0">
                          <a:solidFill>
                            <a:srgbClr val="000000"/>
                          </a:solidFill>
                          <a:latin typeface="华文楷体" panose="02010600040101010101" charset="-122"/>
                          <a:ea typeface="华文楷体" panose="02010600040101010101" charset="-122"/>
                        </a:rPr>
                        <a:t>1637 </a:t>
                      </a:r>
                      <a:r>
                        <a:rPr lang="zh-CN" altLang="en-US" sz="1600" b="0" i="0">
                          <a:solidFill>
                            <a:srgbClr val="000000"/>
                          </a:solidFill>
                          <a:latin typeface="华文楷体" panose="02010600040101010101" charset="-122"/>
                          <a:ea typeface="华文楷体" panose="02010600040101010101" charset="-122"/>
                        </a:rPr>
                        <a:t>年荷兰郁金香风波（早期期权）</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FFFFF"/>
                    </a:solidFill>
                  </a:tcPr>
                </a:tc>
              </a:tr>
              <a:tr h="854075">
                <a:tc>
                  <a:txBody>
                    <a:bodyPr/>
                    <a:p>
                      <a:pPr algn="ctr" fontAlgn="ctr"/>
                      <a:r>
                        <a:rPr lang="zh-CN" altLang="en-US" sz="1600" b="1" i="0">
                          <a:solidFill>
                            <a:srgbClr val="000000"/>
                          </a:solidFill>
                          <a:latin typeface="华文楷体" panose="02010600040101010101" charset="-122"/>
                          <a:ea typeface="华文楷体" panose="02010600040101010101" charset="-122"/>
                        </a:rPr>
                        <a:t>互换合约</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信用风险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改变风险性质（如利率风险）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c>
                  <a:txBody>
                    <a:bodyPr/>
                    <a:p>
                      <a:pPr algn="ctr" fontAlgn="ctr"/>
                      <a:r>
                        <a:rPr lang="en-US" altLang="zh-CN" sz="1600" b="0" i="0">
                          <a:solidFill>
                            <a:srgbClr val="000000"/>
                          </a:solidFill>
                          <a:latin typeface="华文楷体" panose="02010600040101010101" charset="-122"/>
                          <a:ea typeface="华文楷体" panose="02010600040101010101" charset="-122"/>
                        </a:rPr>
                        <a:t>LIBOR “</a:t>
                      </a:r>
                      <a:r>
                        <a:rPr lang="zh-CN" altLang="en-US" sz="1600" b="0" i="0">
                          <a:solidFill>
                            <a:srgbClr val="000000"/>
                          </a:solidFill>
                          <a:latin typeface="华文楷体" panose="02010600040101010101" charset="-122"/>
                          <a:ea typeface="华文楷体" panose="02010600040101010101" charset="-122"/>
                        </a:rPr>
                        <a:t>操纵丑闻</a:t>
                      </a:r>
                      <a:r>
                        <a:rPr lang="en-US" altLang="zh-CN" sz="1600" b="0" i="0">
                          <a:solidFill>
                            <a:srgbClr val="000000"/>
                          </a:solidFill>
                          <a:latin typeface="华文楷体" panose="02010600040101010101" charset="-122"/>
                          <a:ea typeface="华文楷体" panose="02010600040101010101" charset="-122"/>
                        </a:rPr>
                        <a:t>” </a:t>
                      </a:r>
                      <a:endParaRPr lang="en-US" altLang="zh-CN"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a:noFill/>
                    </a:lnB>
                    <a:solidFill>
                      <a:srgbClr val="F1F9EC"/>
                    </a:solidFill>
                  </a:tcPr>
                </a:tc>
              </a:tr>
              <a:tr h="854075">
                <a:tc>
                  <a:txBody>
                    <a:bodyPr/>
                    <a:p>
                      <a:pPr algn="ctr" fontAlgn="ctr"/>
                      <a:r>
                        <a:rPr lang="zh-CN" altLang="en-US" sz="1600" b="1" i="0">
                          <a:solidFill>
                            <a:srgbClr val="000000"/>
                          </a:solidFill>
                          <a:latin typeface="华文楷体" panose="02010600040101010101" charset="-122"/>
                          <a:ea typeface="华文楷体" panose="02010600040101010101" charset="-122"/>
                        </a:rPr>
                        <a:t>信用衍生品</a:t>
                      </a:r>
                      <a:endParaRPr lang="zh-CN" altLang="en-US" sz="1600" b="1"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信用事件风险</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c>
                  <a:txBody>
                    <a:bodyPr/>
                    <a:p>
                      <a:pPr algn="ctr" fontAlgn="ctr"/>
                      <a:r>
                        <a:rPr lang="zh-CN" altLang="en-US" sz="1600" b="0" i="0">
                          <a:solidFill>
                            <a:srgbClr val="000000"/>
                          </a:solidFill>
                          <a:latin typeface="华文楷体" panose="02010600040101010101" charset="-122"/>
                          <a:ea typeface="华文楷体" panose="02010600040101010101" charset="-122"/>
                        </a:rPr>
                        <a:t>信用风险管理</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c>
                  <a:txBody>
                    <a:bodyPr/>
                    <a:p>
                      <a:pPr algn="ctr" fontAlgn="ctr"/>
                      <a:r>
                        <a:rPr lang="en-US" altLang="zh-CN" sz="1600" b="0" i="0">
                          <a:solidFill>
                            <a:srgbClr val="000000"/>
                          </a:solidFill>
                          <a:latin typeface="华文楷体" panose="02010600040101010101" charset="-122"/>
                          <a:ea typeface="华文楷体" panose="02010600040101010101" charset="-122"/>
                        </a:rPr>
                        <a:t>2008</a:t>
                      </a:r>
                      <a:r>
                        <a:rPr lang="zh-CN" altLang="en-US" sz="1600" b="0" i="0">
                          <a:solidFill>
                            <a:srgbClr val="000000"/>
                          </a:solidFill>
                          <a:latin typeface="华文楷体" panose="02010600040101010101" charset="-122"/>
                          <a:ea typeface="华文楷体" panose="02010600040101010101" charset="-122"/>
                        </a:rPr>
                        <a:t>年次贷危机</a:t>
                      </a:r>
                      <a:endParaRPr lang="zh-CN" altLang="en-US" sz="1600" b="0" i="0">
                        <a:solidFill>
                          <a:srgbClr val="000000"/>
                        </a:solidFill>
                        <a:latin typeface="华文楷体" panose="02010600040101010101" charset="-122"/>
                        <a:ea typeface="华文楷体" panose="02010600040101010101" charset="-122"/>
                      </a:endParaRPr>
                    </a:p>
                  </a:txBody>
                  <a:tcPr marL="7937" marR="7937" marT="7937" marB="0" anchor="ctr" anchorCtr="0">
                    <a:lnL>
                      <a:noFill/>
                    </a:lnL>
                    <a:lnR>
                      <a:noFill/>
                    </a:lnR>
                    <a:lnT>
                      <a:noFill/>
                    </a:lnT>
                    <a:lnB w="6350" cap="flat" cmpd="sng">
                      <a:solidFill>
                        <a:srgbClr val="75BD42"/>
                      </a:solidFill>
                      <a:prstDash val="soli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textbox 462"/>
          <p:cNvSpPr/>
          <p:nvPr/>
        </p:nvSpPr>
        <p:spPr>
          <a:xfrm>
            <a:off x="209550" y="271145"/>
            <a:ext cx="6462395" cy="534670"/>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dirty="0">
                <a:latin typeface="楷体" panose="02010609060101010101" charset="-122"/>
                <a:ea typeface="楷体" panose="02010609060101010101" charset="-122"/>
                <a:cs typeface="楷体" panose="02010609060101010101" charset="-122"/>
              </a:rPr>
              <a:t>学术视野下的期货市场研究</a:t>
            </a:r>
            <a:endParaRPr lang="zh-CN" altLang="en-US" sz="3900" dirty="0">
              <a:latin typeface="楷体" panose="02010609060101010101" charset="-122"/>
              <a:ea typeface="楷体" panose="02010609060101010101" charset="-122"/>
              <a:cs typeface="楷体" panose="02010609060101010101" charset="-122"/>
            </a:endParaRPr>
          </a:p>
        </p:txBody>
      </p:sp>
      <p:sp>
        <p:nvSpPr>
          <p:cNvPr id="470" name="path 470"/>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72" name="path 472"/>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88" name="textbox 488"/>
          <p:cNvSpPr/>
          <p:nvPr/>
        </p:nvSpPr>
        <p:spPr>
          <a:xfrm>
            <a:off x="11807621" y="6478473"/>
            <a:ext cx="160020" cy="1644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6000"/>
              </a:lnSpc>
            </a:pPr>
            <a:endParaRPr sz="1200" dirty="0">
              <a:latin typeface="Times New Roman" panose="02020603050405020304"/>
              <a:ea typeface="Times New Roman" panose="02020603050405020304"/>
              <a:cs typeface="Times New Roman" panose="02020603050405020304"/>
            </a:endParaRPr>
          </a:p>
        </p:txBody>
      </p:sp>
      <p:sp>
        <p:nvSpPr>
          <p:cNvPr id="2" name="文本框 1"/>
          <p:cNvSpPr txBox="1"/>
          <p:nvPr/>
        </p:nvSpPr>
        <p:spPr>
          <a:xfrm>
            <a:off x="542290" y="1187450"/>
            <a:ext cx="11489055" cy="2693670"/>
          </a:xfrm>
          <a:prstGeom prst="rect">
            <a:avLst/>
          </a:prstGeom>
        </p:spPr>
        <p:txBody>
          <a:bodyPr wrap="square">
            <a:noAutofit/>
          </a:bodyPr>
          <a:p>
            <a:pPr indent="0" algn="just" fontAlgn="auto">
              <a:spcAft>
                <a:spcPts val="0"/>
              </a:spcAft>
            </a:pPr>
            <a:r>
              <a:rPr lang="en-US" altLang="zh-CN" sz="2000" b="1">
                <a:latin typeface="华文楷体" panose="02010600040101010101" charset="-122"/>
                <a:ea typeface="华文楷体" panose="02010600040101010101" charset="-122"/>
                <a:cs typeface="华文楷体" panose="02010600040101010101" charset="-122"/>
              </a:rPr>
              <a:t>1.</a:t>
            </a:r>
            <a:r>
              <a:rPr lang="zh-CN" altLang="en-US" sz="2000" b="1">
                <a:latin typeface="华文楷体" panose="02010600040101010101" charset="-122"/>
                <a:ea typeface="华文楷体" panose="02010600040101010101" charset="-122"/>
                <a:cs typeface="华文楷体" panose="02010600040101010101" charset="-122"/>
              </a:rPr>
              <a:t>价格发现功能：期货市场的信息主导角色 </a:t>
            </a:r>
            <a:endParaRPr lang="zh-CN" altLang="en-US" sz="2000" b="1">
              <a:latin typeface="华文楷体" panose="02010600040101010101" charset="-122"/>
              <a:ea typeface="华文楷体" panose="02010600040101010101" charset="-122"/>
              <a:cs typeface="华文楷体" panose="02010600040101010101" charset="-122"/>
            </a:endParaRPr>
          </a:p>
          <a:p>
            <a:pPr algn="just"/>
            <a:r>
              <a:rPr lang="zh-CN" altLang="en-US">
                <a:latin typeface="华文楷体" panose="02010600040101010101" charset="-122"/>
                <a:ea typeface="华文楷体" panose="02010600040101010101" charset="-122"/>
                <a:cs typeface="华文楷体" panose="02010600040101010101" charset="-122"/>
              </a:rPr>
              <a:t>多数研究采用</a:t>
            </a:r>
            <a:r>
              <a:rPr lang="en-US" altLang="zh-CN">
                <a:latin typeface="华文楷体" panose="02010600040101010101" charset="-122"/>
                <a:ea typeface="华文楷体" panose="02010600040101010101" charset="-122"/>
                <a:cs typeface="华文楷体" panose="02010600040101010101" charset="-122"/>
              </a:rPr>
              <a:t>Hasbrouck</a:t>
            </a:r>
            <a:r>
              <a:rPr lang="zh-CN" altLang="en-US">
                <a:latin typeface="华文楷体" panose="02010600040101010101" charset="-122"/>
                <a:ea typeface="华文楷体" panose="02010600040101010101" charset="-122"/>
                <a:cs typeface="华文楷体" panose="02010600040101010101" charset="-122"/>
              </a:rPr>
              <a:t>信息份额（</a:t>
            </a:r>
            <a:r>
              <a:rPr lang="en-US" altLang="zh-CN">
                <a:latin typeface="华文楷体" panose="02010600040101010101" charset="-122"/>
                <a:ea typeface="华文楷体" panose="02010600040101010101" charset="-122"/>
                <a:cs typeface="华文楷体" panose="02010600040101010101" charset="-122"/>
              </a:rPr>
              <a:t>IS</a:t>
            </a:r>
            <a:r>
              <a:rPr lang="zh-CN" altLang="en-US">
                <a:latin typeface="华文楷体" panose="02010600040101010101" charset="-122"/>
                <a:ea typeface="华文楷体" panose="02010600040101010101" charset="-122"/>
                <a:cs typeface="华文楷体" panose="02010600040101010101" charset="-122"/>
              </a:rPr>
              <a:t>）方法和协整检验分析期现价格关系：</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lnSpc>
                <a:spcPct val="150000"/>
              </a:lnSpc>
              <a:buFont typeface="Arial" panose="020B0604020202020204"/>
              <a:buNone/>
            </a:pP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股指期货市场</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：沪深</a:t>
            </a:r>
            <a:r>
              <a:rPr lang="en-US" altLang="zh-CN">
                <a:latin typeface="华文楷体" panose="02010600040101010101" charset="-122"/>
                <a:ea typeface="华文楷体" panose="02010600040101010101" charset="-122"/>
                <a:cs typeface="华文楷体" panose="02010600040101010101" charset="-122"/>
              </a:rPr>
              <a:t>300</a:t>
            </a:r>
            <a:r>
              <a:rPr lang="zh-CN" altLang="en-US">
                <a:latin typeface="华文楷体" panose="02010600040101010101" charset="-122"/>
                <a:ea typeface="华文楷体" panose="02010600040101010101" charset="-122"/>
                <a:cs typeface="华文楷体" panose="02010600040101010101" charset="-122"/>
              </a:rPr>
              <a:t>股指期货在价格发现中居主导地位，其信息份额平均达</a:t>
            </a:r>
            <a:r>
              <a:rPr lang="en-US" altLang="zh-CN">
                <a:latin typeface="华文楷体" panose="02010600040101010101" charset="-122"/>
                <a:ea typeface="华文楷体" panose="02010600040101010101" charset="-122"/>
                <a:cs typeface="华文楷体" panose="02010600040101010101" charset="-122"/>
              </a:rPr>
              <a:t>67.9%</a:t>
            </a:r>
            <a:r>
              <a:rPr lang="zh-CN" altLang="en-US">
                <a:latin typeface="华文楷体" panose="02010600040101010101" charset="-122"/>
                <a:ea typeface="华文楷体" panose="02010600040101010101" charset="-122"/>
                <a:cs typeface="华文楷体" panose="02010600040101010101" charset="-122"/>
              </a:rPr>
              <a:t>，且随时间增强。期货市场相对现货市场的活跃度（交易量比率）和隔夜信息冲击显著提升其价格发现能力，而投机性因素和投资者情绪的影响不显著。</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lnSpc>
                <a:spcPct val="150000"/>
              </a:lnSpc>
              <a:buFont typeface="Arial" panose="020B0604020202020204"/>
              <a:buNone/>
            </a:pP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商品期货市场</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：大连商品交易所（</a:t>
            </a:r>
            <a:r>
              <a:rPr lang="en-US" altLang="zh-CN">
                <a:latin typeface="华文楷体" panose="02010600040101010101" charset="-122"/>
                <a:ea typeface="华文楷体" panose="02010600040101010101" charset="-122"/>
                <a:cs typeface="华文楷体" panose="02010600040101010101" charset="-122"/>
              </a:rPr>
              <a:t>DCE</a:t>
            </a:r>
            <a:r>
              <a:rPr lang="zh-CN" altLang="en-US">
                <a:latin typeface="华文楷体" panose="02010600040101010101" charset="-122"/>
                <a:ea typeface="华文楷体" panose="02010600040101010101" charset="-122"/>
                <a:cs typeface="华文楷体" panose="02010600040101010101" charset="-122"/>
              </a:rPr>
              <a:t>）大豆期货与芝加哥商品交易所（</a:t>
            </a:r>
            <a:r>
              <a:rPr lang="en-US" altLang="zh-CN">
                <a:latin typeface="华文楷体" panose="02010600040101010101" charset="-122"/>
                <a:ea typeface="华文楷体" panose="02010600040101010101" charset="-122"/>
                <a:cs typeface="华文楷体" panose="02010600040101010101" charset="-122"/>
              </a:rPr>
              <a:t>CBOT</a:t>
            </a:r>
            <a:r>
              <a:rPr lang="zh-CN" altLang="en-US">
                <a:latin typeface="华文楷体" panose="02010600040101010101" charset="-122"/>
                <a:ea typeface="华文楷体" panose="02010600040101010101" charset="-122"/>
                <a:cs typeface="华文楷体" panose="02010600040101010101" charset="-122"/>
              </a:rPr>
              <a:t>）大豆期货及国产现货价格存在长期协整关系，国内期货市场在长期价格发现中发挥主导作用，尤其对指数股（沪深</a:t>
            </a:r>
            <a:r>
              <a:rPr lang="en-US" altLang="zh-CN">
                <a:latin typeface="华文楷体" panose="02010600040101010101" charset="-122"/>
                <a:ea typeface="华文楷体" panose="02010600040101010101" charset="-122"/>
                <a:cs typeface="华文楷体" panose="02010600040101010101" charset="-122"/>
              </a:rPr>
              <a:t>300</a:t>
            </a:r>
            <a:r>
              <a:rPr lang="zh-CN" altLang="en-US">
                <a:latin typeface="华文楷体" panose="02010600040101010101" charset="-122"/>
                <a:ea typeface="华文楷体" panose="02010600040101010101" charset="-122"/>
                <a:cs typeface="华文楷体" panose="02010600040101010101" charset="-122"/>
              </a:rPr>
              <a:t>成分股）的影响显著。</a:t>
            </a:r>
            <a:endParaRPr lang="zh-CN" altLang="en-US">
              <a:latin typeface="华文楷体" panose="02010600040101010101" charset="-122"/>
              <a:ea typeface="华文楷体" panose="02010600040101010101" charset="-122"/>
              <a:cs typeface="华文楷体" panose="02010600040101010101" charset="-122"/>
            </a:endParaRPr>
          </a:p>
        </p:txBody>
      </p:sp>
      <p:pic>
        <p:nvPicPr>
          <p:cNvPr id="3" name="图片 2"/>
          <p:cNvPicPr>
            <a:picLocks noChangeAspect="1"/>
          </p:cNvPicPr>
          <p:nvPr/>
        </p:nvPicPr>
        <p:blipFill>
          <a:blip r:embed="rId1"/>
          <a:stretch>
            <a:fillRect/>
          </a:stretch>
        </p:blipFill>
        <p:spPr>
          <a:xfrm>
            <a:off x="3512185" y="3982720"/>
            <a:ext cx="5549900" cy="22644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textbox 462"/>
          <p:cNvSpPr/>
          <p:nvPr/>
        </p:nvSpPr>
        <p:spPr>
          <a:xfrm>
            <a:off x="209550" y="271145"/>
            <a:ext cx="6462395" cy="534670"/>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dirty="0">
                <a:latin typeface="楷体" panose="02010609060101010101" charset="-122"/>
                <a:ea typeface="楷体" panose="02010609060101010101" charset="-122"/>
                <a:cs typeface="楷体" panose="02010609060101010101" charset="-122"/>
              </a:rPr>
              <a:t>学术视野下的期货市场研究</a:t>
            </a:r>
            <a:endParaRPr lang="zh-CN" altLang="en-US" sz="3900" dirty="0">
              <a:latin typeface="楷体" panose="02010609060101010101" charset="-122"/>
              <a:ea typeface="楷体" panose="02010609060101010101" charset="-122"/>
              <a:cs typeface="楷体" panose="02010609060101010101" charset="-122"/>
            </a:endParaRPr>
          </a:p>
        </p:txBody>
      </p:sp>
      <p:sp>
        <p:nvSpPr>
          <p:cNvPr id="470" name="path 470"/>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72" name="path 472"/>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2" name="文本框 1"/>
          <p:cNvSpPr txBox="1"/>
          <p:nvPr/>
        </p:nvSpPr>
        <p:spPr>
          <a:xfrm>
            <a:off x="542290" y="1136650"/>
            <a:ext cx="11489055" cy="2837815"/>
          </a:xfrm>
          <a:prstGeom prst="rect">
            <a:avLst/>
          </a:prstGeom>
        </p:spPr>
        <p:txBody>
          <a:bodyPr wrap="square">
            <a:noAutofit/>
          </a:bodyPr>
          <a:p>
            <a:pPr indent="0" algn="just" fontAlgn="auto">
              <a:lnSpc>
                <a:spcPct val="100000"/>
              </a:lnSpc>
              <a:spcAft>
                <a:spcPts val="0"/>
              </a:spcAft>
            </a:pPr>
            <a:r>
              <a:rPr lang="zh-CN" altLang="en-US" sz="2000" b="1">
                <a:latin typeface="华文楷体" panose="02010600040101010101" charset="-122"/>
                <a:ea typeface="华文楷体" panose="02010600040101010101" charset="-122"/>
                <a:cs typeface="华文楷体" panose="02010600040101010101" charset="-122"/>
              </a:rPr>
              <a:t>2. 波动溢出与信息传导：市场间的风险传递</a:t>
            </a:r>
            <a:endParaRPr lang="zh-CN" altLang="en-US" sz="2000" b="1">
              <a:latin typeface="华文楷体" panose="02010600040101010101" charset="-122"/>
              <a:ea typeface="华文楷体" panose="02010600040101010101" charset="-122"/>
              <a:cs typeface="华文楷体" panose="02010600040101010101" charset="-122"/>
            </a:endParaRPr>
          </a:p>
          <a:p>
            <a:pPr indent="0" algn="just" fontAlgn="auto">
              <a:lnSpc>
                <a:spcPct val="100000"/>
              </a:lnSpc>
              <a:spcAft>
                <a:spcPts val="0"/>
              </a:spcAft>
            </a:pPr>
            <a:r>
              <a:rPr lang="zh-CN" altLang="en-US">
                <a:latin typeface="华文楷体" panose="02010600040101010101" charset="-122"/>
                <a:ea typeface="华文楷体" panose="02010600040101010101" charset="-122"/>
                <a:cs typeface="华文楷体" panose="02010600040101010101" charset="-122"/>
              </a:rPr>
              <a:t>波动溢出效应反映市场间信息流动和风险传染。研究普遍使用高频数据</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（如</a:t>
            </a:r>
            <a:r>
              <a:rPr lang="en-US" altLang="zh-CN">
                <a:latin typeface="华文楷体" panose="02010600040101010101" charset="-122"/>
                <a:ea typeface="华文楷体" panose="02010600040101010101" charset="-122"/>
                <a:cs typeface="华文楷体" panose="02010600040101010101" charset="-122"/>
              </a:rPr>
              <a:t>5</a:t>
            </a:r>
            <a:r>
              <a:rPr lang="zh-CN" altLang="en-US">
                <a:latin typeface="华文楷体" panose="02010600040101010101" charset="-122"/>
                <a:ea typeface="华文楷体" panose="02010600040101010101" charset="-122"/>
                <a:cs typeface="华文楷体" panose="02010600040101010101" charset="-122"/>
              </a:rPr>
              <a:t>分钟或</a:t>
            </a:r>
            <a:r>
              <a:rPr lang="en-US" altLang="zh-CN">
                <a:latin typeface="华文楷体" panose="02010600040101010101" charset="-122"/>
                <a:ea typeface="华文楷体" panose="02010600040101010101" charset="-122"/>
                <a:cs typeface="华文楷体" panose="02010600040101010101" charset="-122"/>
              </a:rPr>
              <a:t>6</a:t>
            </a:r>
            <a:r>
              <a:rPr lang="zh-CN" altLang="en-US">
                <a:latin typeface="华文楷体" panose="02010600040101010101" charset="-122"/>
                <a:ea typeface="华文楷体" panose="02010600040101010101" charset="-122"/>
                <a:cs typeface="华文楷体" panose="02010600040101010101" charset="-122"/>
              </a:rPr>
              <a:t>秒间隔）、</a:t>
            </a:r>
            <a:r>
              <a:rPr lang="en-US" altLang="zh-CN">
                <a:latin typeface="华文楷体" panose="02010600040101010101" charset="-122"/>
                <a:ea typeface="华文楷体" panose="02010600040101010101" charset="-122"/>
                <a:cs typeface="华文楷体" panose="02010600040101010101" charset="-122"/>
              </a:rPr>
              <a:t>GARCH</a:t>
            </a:r>
            <a:r>
              <a:rPr lang="zh-CN" altLang="en-US">
                <a:latin typeface="华文楷体" panose="02010600040101010101" charset="-122"/>
                <a:ea typeface="华文楷体" panose="02010600040101010101" charset="-122"/>
                <a:cs typeface="华文楷体" panose="02010600040101010101" charset="-122"/>
              </a:rPr>
              <a:t>类模型和格兰杰因果检验</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lnSpc>
                <a:spcPct val="100000"/>
              </a:lnSpc>
              <a:spcAft>
                <a:spcPts val="0"/>
              </a:spcAft>
            </a:pPr>
            <a:r>
              <a:rPr lang="en-US" altLang="zh-CN">
                <a:latin typeface="华文楷体" panose="02010600040101010101" charset="-122"/>
                <a:ea typeface="华文楷体" panose="02010600040101010101" charset="-122"/>
                <a:cs typeface="华文楷体" panose="02010600040101010101" charset="-122"/>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股指期货与现货市场</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：存在双向波动溢出，但期货市场对现货市场的溢出更强。跳跃成分的溢出具有非对称性：现货市场的跳跃（尤其正向跳跃）会传导至期货市场，但期货市场的负向跳跃不影响现货。</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lnSpc>
                <a:spcPct val="100000"/>
              </a:lnSpc>
              <a:spcAft>
                <a:spcPts val="0"/>
              </a:spcAft>
            </a:pPr>
            <a:r>
              <a:rPr lang="en-US" altLang="zh-CN">
                <a:latin typeface="华文楷体" panose="02010600040101010101" charset="-122"/>
                <a:ea typeface="华文楷体" panose="02010600040101010101" charset="-122"/>
                <a:cs typeface="华文楷体" panose="02010600040101010101" charset="-122"/>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商品期货与股票市场</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：中国商品期货（如铜、燃料油）与国际股票市场（如</a:t>
            </a:r>
            <a:r>
              <a:rPr lang="en-US" altLang="zh-CN">
                <a:latin typeface="华文楷体" panose="02010600040101010101" charset="-122"/>
                <a:ea typeface="华文楷体" panose="02010600040101010101" charset="-122"/>
                <a:cs typeface="华文楷体" panose="02010600040101010101" charset="-122"/>
              </a:rPr>
              <a:t>S&amp;P500</a:t>
            </a:r>
            <a:r>
              <a:rPr lang="zh-CN" altLang="en-US">
                <a:latin typeface="华文楷体" panose="02010600040101010101" charset="-122"/>
                <a:ea typeface="华文楷体" panose="02010600040101010101" charset="-122"/>
                <a:cs typeface="华文楷体" panose="02010600040101010101" charset="-122"/>
              </a:rPr>
              <a:t>、新兴市场股指）存在显著收益和波动溢出，总溢出指数在危机期间（如</a:t>
            </a:r>
            <a:r>
              <a:rPr lang="en-US" altLang="zh-CN">
                <a:latin typeface="华文楷体" panose="02010600040101010101" charset="-122"/>
                <a:ea typeface="华文楷体" panose="02010600040101010101" charset="-122"/>
                <a:cs typeface="华文楷体" panose="02010600040101010101" charset="-122"/>
              </a:rPr>
              <a:t>2008</a:t>
            </a:r>
            <a:r>
              <a:rPr lang="zh-CN" altLang="en-US">
                <a:latin typeface="华文楷体" panose="02010600040101010101" charset="-122"/>
                <a:ea typeface="华文楷体" panose="02010600040101010101" charset="-122"/>
                <a:cs typeface="华文楷体" panose="02010600040101010101" charset="-122"/>
              </a:rPr>
              <a:t>年金融危机、</a:t>
            </a:r>
            <a:r>
              <a:rPr lang="en-US" altLang="zh-CN">
                <a:latin typeface="华文楷体" panose="02010600040101010101" charset="-122"/>
                <a:ea typeface="华文楷体" panose="02010600040101010101" charset="-122"/>
                <a:cs typeface="华文楷体" panose="02010600040101010101" charset="-122"/>
              </a:rPr>
              <a:t>2010</a:t>
            </a:r>
            <a:r>
              <a:rPr lang="zh-CN" altLang="en-US">
                <a:latin typeface="华文楷体" panose="02010600040101010101" charset="-122"/>
                <a:ea typeface="华文楷体" panose="02010600040101010101" charset="-122"/>
                <a:cs typeface="华文楷体" panose="02010600040101010101" charset="-122"/>
              </a:rPr>
              <a:t>年欧债危机）显著上升。能源和金属期货的溢出效应强于农产品期货。</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lnSpc>
                <a:spcPct val="100000"/>
              </a:lnSpc>
              <a:spcAft>
                <a:spcPts val="0"/>
              </a:spcAft>
            </a:pPr>
            <a:r>
              <a:rPr lang="en-US" altLang="zh-CN">
                <a:latin typeface="华文楷体" panose="02010600040101010101" charset="-122"/>
                <a:ea typeface="华文楷体" panose="02010600040101010101" charset="-122"/>
                <a:cs typeface="华文楷体" panose="02010600040101010101" charset="-122"/>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原油期货市场</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：上海原油期货（</a:t>
            </a:r>
            <a:r>
              <a:rPr lang="en-US" altLang="zh-CN">
                <a:latin typeface="华文楷体" panose="02010600040101010101" charset="-122"/>
                <a:ea typeface="华文楷体" panose="02010600040101010101" charset="-122"/>
                <a:cs typeface="华文楷体" panose="02010600040101010101" charset="-122"/>
              </a:rPr>
              <a:t>INE</a:t>
            </a:r>
            <a:r>
              <a:rPr lang="zh-CN" altLang="en-US">
                <a:latin typeface="华文楷体" panose="02010600040101010101" charset="-122"/>
                <a:ea typeface="华文楷体" panose="02010600040101010101" charset="-122"/>
                <a:cs typeface="华文楷体" panose="02010600040101010101" charset="-122"/>
              </a:rPr>
              <a:t>）与国际基准原油（</a:t>
            </a:r>
            <a:r>
              <a:rPr lang="en-US" altLang="zh-CN">
                <a:latin typeface="华文楷体" panose="02010600040101010101" charset="-122"/>
                <a:ea typeface="华文楷体" panose="02010600040101010101" charset="-122"/>
                <a:cs typeface="华文楷体" panose="02010600040101010101" charset="-122"/>
              </a:rPr>
              <a:t>WTI</a:t>
            </a:r>
            <a:r>
              <a:rPr lang="zh-CN" altLang="en-US">
                <a:latin typeface="华文楷体" panose="02010600040101010101" charset="-122"/>
                <a:ea typeface="华文楷体" panose="02010600040101010101" charset="-122"/>
                <a:cs typeface="华文楷体" panose="02010600040101010101" charset="-122"/>
              </a:rPr>
              <a:t>、</a:t>
            </a:r>
            <a:r>
              <a:rPr lang="en-US" altLang="zh-CN">
                <a:latin typeface="华文楷体" panose="02010600040101010101" charset="-122"/>
                <a:ea typeface="华文楷体" panose="02010600040101010101" charset="-122"/>
                <a:cs typeface="华文楷体" panose="02010600040101010101" charset="-122"/>
              </a:rPr>
              <a:t>Brent</a:t>
            </a:r>
            <a:r>
              <a:rPr lang="zh-CN" altLang="en-US">
                <a:latin typeface="华文楷体" panose="02010600040101010101" charset="-122"/>
                <a:ea typeface="华文楷体" panose="02010600040101010101" charset="-122"/>
                <a:cs typeface="华文楷体" panose="02010600040101010101" charset="-122"/>
              </a:rPr>
              <a:t>）的波动溢出密切，总溢出指数达</a:t>
            </a:r>
            <a:r>
              <a:rPr lang="en-US" altLang="zh-CN">
                <a:latin typeface="华文楷体" panose="02010600040101010101" charset="-122"/>
                <a:ea typeface="华文楷体" panose="02010600040101010101" charset="-122"/>
                <a:cs typeface="华文楷体" panose="02010600040101010101" charset="-122"/>
              </a:rPr>
              <a:t>25-40%</a:t>
            </a:r>
            <a:r>
              <a:rPr lang="zh-CN" altLang="en-US">
                <a:latin typeface="华文楷体" panose="02010600040101010101" charset="-122"/>
                <a:ea typeface="华文楷体" panose="02010600040101010101" charset="-122"/>
                <a:cs typeface="华文楷体" panose="02010600040101010101" charset="-122"/>
              </a:rPr>
              <a:t>，但</a:t>
            </a:r>
            <a:r>
              <a:rPr lang="en-US" altLang="zh-CN">
                <a:latin typeface="华文楷体" panose="02010600040101010101" charset="-122"/>
                <a:ea typeface="华文楷体" panose="02010600040101010101" charset="-122"/>
                <a:cs typeface="华文楷体" panose="02010600040101010101" charset="-122"/>
              </a:rPr>
              <a:t>INE</a:t>
            </a:r>
            <a:r>
              <a:rPr lang="zh-CN" altLang="en-US">
                <a:latin typeface="华文楷体" panose="02010600040101010101" charset="-122"/>
                <a:ea typeface="华文楷体" panose="02010600040101010101" charset="-122"/>
                <a:cs typeface="华文楷体" panose="02010600040101010101" charset="-122"/>
              </a:rPr>
              <a:t>与国内股票、汇率市场关联较弱。</a:t>
            </a:r>
            <a:r>
              <a:rPr lang="en-US" altLang="zh-CN">
                <a:latin typeface="华文楷体" panose="02010600040101010101" charset="-122"/>
                <a:ea typeface="华文楷体" panose="02010600040101010101" charset="-122"/>
                <a:cs typeface="华文楷体" panose="02010600040101010101" charset="-122"/>
              </a:rPr>
              <a:t>INE</a:t>
            </a:r>
            <a:r>
              <a:rPr lang="zh-CN" altLang="en-US">
                <a:latin typeface="华文楷体" panose="02010600040101010101" charset="-122"/>
                <a:ea typeface="华文楷体" panose="02010600040101010101" charset="-122"/>
                <a:cs typeface="华文楷体" panose="02010600040101010101" charset="-122"/>
              </a:rPr>
              <a:t>在系统中多为信息接收方，受国际油价冲击显著。</a:t>
            </a:r>
            <a:endParaRPr lang="zh-CN" altLang="en-US">
              <a:latin typeface="华文楷体" panose="02010600040101010101" charset="-122"/>
              <a:ea typeface="华文楷体" panose="02010600040101010101" charset="-122"/>
              <a:cs typeface="华文楷体" panose="02010600040101010101" charset="-122"/>
            </a:endParaRPr>
          </a:p>
        </p:txBody>
      </p:sp>
      <p:pic>
        <p:nvPicPr>
          <p:cNvPr id="4" name="图片 3"/>
          <p:cNvPicPr>
            <a:picLocks noChangeAspect="1"/>
          </p:cNvPicPr>
          <p:nvPr/>
        </p:nvPicPr>
        <p:blipFill>
          <a:blip r:embed="rId1"/>
          <a:stretch>
            <a:fillRect/>
          </a:stretch>
        </p:blipFill>
        <p:spPr>
          <a:xfrm>
            <a:off x="2837815" y="4192905"/>
            <a:ext cx="5608320" cy="19450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textbox 462"/>
          <p:cNvSpPr/>
          <p:nvPr/>
        </p:nvSpPr>
        <p:spPr>
          <a:xfrm>
            <a:off x="209550" y="271145"/>
            <a:ext cx="6462395" cy="534670"/>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a:ea typeface="Arial" panose="020B0604020202020204"/>
              <a:cs typeface="Arial" panose="020B0604020202020204"/>
            </a:endParaRPr>
          </a:p>
          <a:p>
            <a:pPr marL="12700" algn="l" rtl="0" eaLnBrk="0">
              <a:lnSpc>
                <a:spcPct val="86000"/>
              </a:lnSpc>
            </a:pPr>
            <a:r>
              <a:rPr lang="zh-CN" altLang="en-US" sz="3900" dirty="0">
                <a:latin typeface="楷体" panose="02010609060101010101" charset="-122"/>
                <a:ea typeface="楷体" panose="02010609060101010101" charset="-122"/>
                <a:cs typeface="楷体" panose="02010609060101010101" charset="-122"/>
              </a:rPr>
              <a:t>学术视野下的期货市场研究</a:t>
            </a:r>
            <a:endParaRPr lang="zh-CN" altLang="en-US" sz="3900" dirty="0">
              <a:latin typeface="楷体" panose="02010609060101010101" charset="-122"/>
              <a:ea typeface="楷体" panose="02010609060101010101" charset="-122"/>
              <a:cs typeface="楷体" panose="02010609060101010101" charset="-122"/>
            </a:endParaRPr>
          </a:p>
        </p:txBody>
      </p:sp>
      <p:sp>
        <p:nvSpPr>
          <p:cNvPr id="470" name="path 470"/>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472" name="path 472"/>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2" name="文本框 1"/>
          <p:cNvSpPr txBox="1"/>
          <p:nvPr/>
        </p:nvSpPr>
        <p:spPr>
          <a:xfrm>
            <a:off x="478790" y="1320165"/>
            <a:ext cx="11489055" cy="2519045"/>
          </a:xfrm>
          <a:prstGeom prst="rect">
            <a:avLst/>
          </a:prstGeom>
        </p:spPr>
        <p:txBody>
          <a:bodyPr wrap="square">
            <a:noAutofit/>
          </a:bodyPr>
          <a:p>
            <a:pPr indent="0" algn="just" fontAlgn="auto">
              <a:spcAft>
                <a:spcPts val="0"/>
              </a:spcAft>
            </a:pPr>
            <a:r>
              <a:rPr lang="en-US" altLang="zh-CN" sz="2000" b="1">
                <a:latin typeface="华文楷体" panose="02010600040101010101" charset="-122"/>
                <a:ea typeface="华文楷体" panose="02010600040101010101" charset="-122"/>
                <a:cs typeface="华文楷体" panose="02010600040101010101" charset="-122"/>
              </a:rPr>
              <a:t>3. </a:t>
            </a:r>
            <a:r>
              <a:rPr lang="zh-CN" altLang="en-US" sz="2000" b="1">
                <a:latin typeface="华文楷体" panose="02010600040101010101" charset="-122"/>
                <a:ea typeface="华文楷体" panose="02010600040101010101" charset="-122"/>
                <a:cs typeface="华文楷体" panose="02010600040101010101" charset="-122"/>
              </a:rPr>
              <a:t>市场效率：无偏估计与定价机制</a:t>
            </a:r>
            <a:endParaRPr lang="zh-CN" altLang="en-US" sz="2000" b="1">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zh-CN" altLang="en-US">
                <a:latin typeface="华文楷体" panose="02010600040101010101" charset="-122"/>
                <a:ea typeface="华文楷体" panose="02010600040101010101" charset="-122"/>
                <a:cs typeface="华文楷体" panose="02010600040101010101" charset="-122"/>
              </a:rPr>
              <a:t>期货市场效率包括定价效率</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（是否满足无套利条件）和信息效率</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（价格对信息的反应速度）：</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en-US" altLang="zh-CN">
                <a:latin typeface="华文楷体" panose="02010600040101010101" charset="-122"/>
                <a:ea typeface="华文楷体" panose="02010600040101010101" charset="-122"/>
                <a:cs typeface="华文楷体" panose="02010600040101010101" charset="-122"/>
              </a:rPr>
              <a:t>​</a:t>
            </a:r>
            <a:r>
              <a:rPr lang="en-US" altLang="zh-CN">
                <a:latin typeface="华文楷体" panose="02010600040101010101" charset="-122"/>
                <a:ea typeface="华文楷体" panose="02010600040101010101" charset="-122"/>
                <a:cs typeface="华文楷体" panose="02010600040101010101" charset="-122"/>
                <a:sym typeface="+mn-ea"/>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无偏估计问题</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：期货价格通常不是未来现货价格的无偏估计。只有当投资者风险中性或资产系统性风险为零时，才满足无偏性。因此，用无偏性检验市场效率存在误区。</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en-US" altLang="zh-CN">
                <a:latin typeface="华文楷体" panose="02010600040101010101" charset="-122"/>
                <a:ea typeface="华文楷体" panose="02010600040101010101" charset="-122"/>
                <a:cs typeface="华文楷体" panose="02010600040101010101" charset="-122"/>
              </a:rPr>
              <a:t>​</a:t>
            </a:r>
            <a:r>
              <a:rPr lang="en-US" altLang="zh-CN">
                <a:latin typeface="华文楷体" panose="02010600040101010101" charset="-122"/>
                <a:ea typeface="华文楷体" panose="02010600040101010101" charset="-122"/>
                <a:cs typeface="华文楷体" panose="02010600040101010101" charset="-122"/>
                <a:sym typeface="+mn-ea"/>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定价效率检验</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：通过期货与现货价格的协整关系判断。沪深</a:t>
            </a:r>
            <a:r>
              <a:rPr lang="en-US" altLang="zh-CN">
                <a:latin typeface="华文楷体" panose="02010600040101010101" charset="-122"/>
                <a:ea typeface="华文楷体" panose="02010600040101010101" charset="-122"/>
                <a:cs typeface="华文楷体" panose="02010600040101010101" charset="-122"/>
              </a:rPr>
              <a:t>300</a:t>
            </a:r>
            <a:r>
              <a:rPr lang="zh-CN" altLang="en-US">
                <a:latin typeface="华文楷体" panose="02010600040101010101" charset="-122"/>
                <a:ea typeface="华文楷体" panose="02010600040101010101" charset="-122"/>
                <a:cs typeface="华文楷体" panose="02010600040101010101" charset="-122"/>
              </a:rPr>
              <a:t>股指期货与现货价格存在协整关系，表明定价有效。</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en-US" altLang="zh-CN">
                <a:latin typeface="华文楷体" panose="02010600040101010101" charset="-122"/>
                <a:ea typeface="华文楷体" panose="02010600040101010101" charset="-122"/>
                <a:cs typeface="华文楷体" panose="02010600040101010101" charset="-122"/>
              </a:rPr>
              <a:t>​</a:t>
            </a:r>
            <a:r>
              <a:rPr lang="en-US" altLang="zh-CN">
                <a:latin typeface="华文楷体" panose="02010600040101010101" charset="-122"/>
                <a:ea typeface="华文楷体" panose="02010600040101010101" charset="-122"/>
                <a:cs typeface="华文楷体" panose="02010600040101010101" charset="-122"/>
                <a:sym typeface="+mn-ea"/>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信息效率检验</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：需通过收益率残差序列的鞅性质检验（如广义谱方法），而非无偏回归。实证显示</a:t>
            </a:r>
            <a:r>
              <a:rPr lang="en-US" altLang="zh-CN">
                <a:latin typeface="华文楷体" panose="02010600040101010101" charset="-122"/>
                <a:ea typeface="华文楷体" panose="02010600040101010101" charset="-122"/>
                <a:cs typeface="华文楷体" panose="02010600040101010101" charset="-122"/>
              </a:rPr>
              <a:t>S&amp;P500</a:t>
            </a:r>
            <a:r>
              <a:rPr lang="zh-CN" altLang="en-US">
                <a:latin typeface="华文楷体" panose="02010600040101010101" charset="-122"/>
                <a:ea typeface="华文楷体" panose="02010600040101010101" charset="-122"/>
                <a:cs typeface="华文楷体" panose="02010600040101010101" charset="-122"/>
              </a:rPr>
              <a:t>期现货市场均未达到弱式有效。</a:t>
            </a:r>
            <a:endParaRPr lang="zh-CN" altLang="en-US">
              <a:latin typeface="华文楷体" panose="02010600040101010101" charset="-122"/>
              <a:ea typeface="华文楷体" panose="02010600040101010101" charset="-122"/>
              <a:cs typeface="华文楷体" panose="02010600040101010101" charset="-122"/>
            </a:endParaRPr>
          </a:p>
        </p:txBody>
      </p:sp>
      <p:sp>
        <p:nvSpPr>
          <p:cNvPr id="5" name="文本框 4"/>
          <p:cNvSpPr txBox="1"/>
          <p:nvPr/>
        </p:nvSpPr>
        <p:spPr>
          <a:xfrm>
            <a:off x="478790" y="4028440"/>
            <a:ext cx="11489055" cy="2138045"/>
          </a:xfrm>
          <a:prstGeom prst="rect">
            <a:avLst/>
          </a:prstGeom>
        </p:spPr>
        <p:txBody>
          <a:bodyPr wrap="square">
            <a:noAutofit/>
          </a:bodyPr>
          <a:p>
            <a:pPr indent="0" algn="just" fontAlgn="auto">
              <a:spcAft>
                <a:spcPts val="0"/>
              </a:spcAft>
            </a:pPr>
            <a:r>
              <a:rPr lang="en-US" altLang="zh-CN" sz="2000" b="1">
                <a:latin typeface="华文楷体" panose="02010600040101010101" charset="-122"/>
                <a:ea typeface="华文楷体" panose="02010600040101010101" charset="-122"/>
                <a:cs typeface="华文楷体" panose="02010600040101010101" charset="-122"/>
              </a:rPr>
              <a:t>4. </a:t>
            </a:r>
            <a:r>
              <a:rPr lang="zh-CN" altLang="en-US" sz="2000" b="1">
                <a:latin typeface="华文楷体" panose="02010600040101010101" charset="-122"/>
                <a:ea typeface="华文楷体" panose="02010600040101010101" charset="-122"/>
                <a:cs typeface="华文楷体" panose="02010600040101010101" charset="-122"/>
              </a:rPr>
              <a:t>金融化现象：商品期货与金融市场的融合</a:t>
            </a:r>
            <a:endParaRPr lang="zh-CN" altLang="en-US" sz="2000" b="1">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zh-CN" altLang="en-US">
                <a:latin typeface="华文楷体" panose="02010600040101010101" charset="-122"/>
                <a:ea typeface="华文楷体" panose="02010600040101010101" charset="-122"/>
                <a:cs typeface="华文楷体" panose="02010600040101010101" charset="-122"/>
              </a:rPr>
              <a:t>金融化指商品价格受金融因素（如投机资本、市场情绪）驱动而非单纯供需：</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en-US" altLang="zh-CN">
                <a:latin typeface="华文楷体" panose="02010600040101010101" charset="-122"/>
                <a:ea typeface="华文楷体" panose="02010600040101010101" charset="-122"/>
                <a:cs typeface="华文楷体" panose="02010600040101010101" charset="-122"/>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中国商品期货金融化</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：证据显著。国际股票市场对中国商品期货（如铜、燃料油）存在净溢出效应，总溢出指数在危机期间达</a:t>
            </a:r>
            <a:r>
              <a:rPr lang="en-US" altLang="zh-CN">
                <a:latin typeface="华文楷体" panose="02010600040101010101" charset="-122"/>
                <a:ea typeface="华文楷体" panose="02010600040101010101" charset="-122"/>
                <a:cs typeface="华文楷体" panose="02010600040101010101" charset="-122"/>
              </a:rPr>
              <a:t>40-50%</a:t>
            </a:r>
            <a:r>
              <a:rPr lang="zh-CN" altLang="en-US">
                <a:latin typeface="华文楷体" panose="02010600040101010101" charset="-122"/>
                <a:ea typeface="华文楷体" panose="02010600040101010101" charset="-122"/>
                <a:cs typeface="华文楷体" panose="02010600040101010101" charset="-122"/>
              </a:rPr>
              <a:t>。但中国市场的金融化程度低于国际市场（如</a:t>
            </a:r>
            <a:r>
              <a:rPr lang="en-US" altLang="zh-CN">
                <a:latin typeface="华文楷体" panose="02010600040101010101" charset="-122"/>
                <a:ea typeface="华文楷体" panose="02010600040101010101" charset="-122"/>
                <a:cs typeface="华文楷体" panose="02010600040101010101" charset="-122"/>
              </a:rPr>
              <a:t>CBOT</a:t>
            </a:r>
            <a:r>
              <a:rPr lang="zh-CN" altLang="en-US">
                <a:latin typeface="华文楷体" panose="02010600040101010101" charset="-122"/>
                <a:ea typeface="华文楷体" panose="02010600040101010101" charset="-122"/>
                <a:cs typeface="华文楷体" panose="02010600040101010101" charset="-122"/>
              </a:rPr>
              <a:t>期货）。</a:t>
            </a:r>
            <a:endParaRPr lang="zh-CN" altLang="en-US">
              <a:latin typeface="华文楷体" panose="02010600040101010101" charset="-122"/>
              <a:ea typeface="华文楷体" panose="02010600040101010101" charset="-122"/>
              <a:cs typeface="华文楷体" panose="02010600040101010101" charset="-122"/>
            </a:endParaRPr>
          </a:p>
          <a:p>
            <a:pPr indent="0" algn="just" fontAlgn="auto">
              <a:spcAft>
                <a:spcPts val="0"/>
              </a:spcAft>
            </a:pPr>
            <a:r>
              <a:rPr lang="en-US" altLang="zh-CN">
                <a:latin typeface="华文楷体" panose="02010600040101010101" charset="-122"/>
                <a:ea typeface="华文楷体" panose="02010600040101010101" charset="-122"/>
                <a:cs typeface="华文楷体" panose="02010600040101010101" charset="-122"/>
              </a:rPr>
              <a:t>​</a:t>
            </a:r>
            <a:r>
              <a:rPr kern="0" spc="90" dirty="0">
                <a:solidFill>
                  <a:srgbClr val="000000">
                    <a:alpha val="100000"/>
                  </a:srgbClr>
                </a:solidFill>
                <a:latin typeface="Wingdings" panose="05000000000000000000"/>
                <a:ea typeface="Wingdings" panose="05000000000000000000"/>
                <a:cs typeface="Wingdings" panose="05000000000000000000"/>
                <a:sym typeface="+mn-ea"/>
              </a:rPr>
              <a:t>n</a:t>
            </a:r>
            <a:r>
              <a:rPr lang="zh-CN" altLang="en-US">
                <a:latin typeface="华文楷体" panose="02010600040101010101" charset="-122"/>
                <a:ea typeface="华文楷体" panose="02010600040101010101" charset="-122"/>
                <a:cs typeface="华文楷体" panose="02010600040101010101" charset="-122"/>
              </a:rPr>
              <a:t>投机与套期保值行为</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：投机交易（以成交量</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持仓量衡量）短期内可能降低价格发现功能，但长期影响不显著。下调交易手续费虽增加成交量，却可能吸引噪声交易，削弱价格发现。</a:t>
            </a:r>
            <a:endParaRPr lang="zh-CN" altLang="en-US">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textbox 510"/>
          <p:cNvSpPr/>
          <p:nvPr/>
        </p:nvSpPr>
        <p:spPr>
          <a:xfrm>
            <a:off x="314325" y="1553845"/>
            <a:ext cx="10850245" cy="3956050"/>
          </a:xfrm>
          <a:prstGeom prst="rect">
            <a:avLst/>
          </a:prstGeom>
          <a:noFill/>
          <a:ln w="0" cap="flat">
            <a:noFill/>
            <a:prstDash val="solid"/>
            <a:miter lim="0"/>
          </a:ln>
        </p:spPr>
        <p:txBody>
          <a:bodyPr vert="horz" wrap="square" lIns="0" tIns="0" rIns="0" bIns="0"/>
          <a:lstStyle/>
          <a:p>
            <a:pPr algn="l" rtl="0" eaLnBrk="0">
              <a:lnSpc>
                <a:spcPct val="28000"/>
              </a:lnSpc>
            </a:pPr>
            <a:endParaRPr sz="100" dirty="0">
              <a:latin typeface="Arial" panose="020B0604020202020204"/>
              <a:ea typeface="Arial" panose="020B0604020202020204"/>
              <a:cs typeface="Arial" panose="020B0604020202020204"/>
            </a:endParaRPr>
          </a:p>
          <a:p>
            <a:pPr marL="299720" indent="-273685" algn="l" rtl="0" eaLnBrk="0">
              <a:lnSpc>
                <a:spcPct val="96000"/>
              </a:lnSpc>
            </a:pPr>
            <a:r>
              <a:rPr sz="1500" kern="0" spc="40" dirty="0">
                <a:solidFill>
                  <a:srgbClr val="000000">
                    <a:alpha val="100000"/>
                  </a:srgbClr>
                </a:solidFill>
                <a:latin typeface="Wingdings" panose="05000000000000000000"/>
                <a:ea typeface="Wingdings" panose="05000000000000000000"/>
                <a:cs typeface="Wingdings" panose="05000000000000000000"/>
              </a:rPr>
              <a:t>n</a:t>
            </a:r>
            <a:r>
              <a:rPr sz="1500" kern="0" spc="-380" dirty="0">
                <a:solidFill>
                  <a:srgbClr val="000000">
                    <a:alpha val="100000"/>
                  </a:srgbClr>
                </a:solidFill>
                <a:latin typeface="Wingdings" panose="05000000000000000000"/>
                <a:ea typeface="Wingdings" panose="05000000000000000000"/>
                <a:cs typeface="Wingdings" panose="05000000000000000000"/>
              </a:rPr>
              <a:t> </a:t>
            </a:r>
            <a:r>
              <a:rPr lang="en-US" altLang="zh-CN" sz="1500" dirty="0">
                <a:latin typeface="华文楷体" panose="02010600040101010101" charset="-122"/>
                <a:ea typeface="华文楷体" panose="02010600040101010101" charset="-122"/>
                <a:cs typeface="华文楷体" panose="02010600040101010101" charset="-122"/>
              </a:rPr>
              <a:t>[1]</a:t>
            </a:r>
            <a:r>
              <a:rPr lang="zh-CN" altLang="en-US" sz="1500" dirty="0">
                <a:latin typeface="华文楷体" panose="02010600040101010101" charset="-122"/>
                <a:ea typeface="华文楷体" panose="02010600040101010101" charset="-122"/>
                <a:cs typeface="华文楷体" panose="02010600040101010101" charset="-122"/>
              </a:rPr>
              <a:t>华仁海</a:t>
            </a:r>
            <a:r>
              <a:rPr lang="en-US" altLang="zh-CN" sz="1500" dirty="0">
                <a:latin typeface="华文楷体" panose="02010600040101010101" charset="-122"/>
                <a:ea typeface="华文楷体" panose="02010600040101010101" charset="-122"/>
                <a:cs typeface="华文楷体" panose="02010600040101010101" charset="-122"/>
              </a:rPr>
              <a:t>,</a:t>
            </a:r>
            <a:r>
              <a:rPr lang="zh-CN" altLang="en-US" sz="1500" dirty="0">
                <a:latin typeface="华文楷体" panose="02010600040101010101" charset="-122"/>
                <a:ea typeface="华文楷体" panose="02010600040101010101" charset="-122"/>
                <a:cs typeface="华文楷体" panose="02010600040101010101" charset="-122"/>
              </a:rPr>
              <a:t>刘庆富</a:t>
            </a:r>
            <a:r>
              <a:rPr lang="en-US" altLang="zh-CN" sz="1500" dirty="0">
                <a:latin typeface="华文楷体" panose="02010600040101010101" charset="-122"/>
                <a:ea typeface="华文楷体" panose="02010600040101010101" charset="-122"/>
                <a:cs typeface="华文楷体" panose="02010600040101010101" charset="-122"/>
              </a:rPr>
              <a:t>.</a:t>
            </a:r>
            <a:r>
              <a:rPr lang="zh-CN" altLang="en-US" sz="1500" dirty="0">
                <a:latin typeface="华文楷体" panose="02010600040101010101" charset="-122"/>
                <a:ea typeface="华文楷体" panose="02010600040101010101" charset="-122"/>
                <a:cs typeface="华文楷体" panose="02010600040101010101" charset="-122"/>
              </a:rPr>
              <a:t>股指期货与股指现货市场间的价格发现能力探究</a:t>
            </a:r>
            <a:r>
              <a:rPr lang="en-US" altLang="zh-CN" sz="1500" dirty="0">
                <a:latin typeface="华文楷体" panose="02010600040101010101" charset="-122"/>
                <a:ea typeface="华文楷体" panose="02010600040101010101" charset="-122"/>
                <a:cs typeface="华文楷体" panose="02010600040101010101" charset="-122"/>
              </a:rPr>
              <a:t>[J].</a:t>
            </a:r>
            <a:r>
              <a:rPr lang="zh-CN" altLang="en-US" sz="1500" dirty="0">
                <a:latin typeface="华文楷体" panose="02010600040101010101" charset="-122"/>
                <a:ea typeface="华文楷体" panose="02010600040101010101" charset="-122"/>
                <a:cs typeface="华文楷体" panose="02010600040101010101" charset="-122"/>
              </a:rPr>
              <a:t>数量经济技术经济研究</a:t>
            </a:r>
            <a:r>
              <a:rPr lang="en-US" altLang="zh-CN" sz="1500" dirty="0">
                <a:latin typeface="华文楷体" panose="02010600040101010101" charset="-122"/>
                <a:ea typeface="华文楷体" panose="02010600040101010101" charset="-122"/>
                <a:cs typeface="华文楷体" panose="02010600040101010101" charset="-122"/>
              </a:rPr>
              <a:t>,2010,27(10):90-100.DOI:10.13653/j.cnki.jqte.2010.10.012.</a:t>
            </a:r>
            <a:endParaRPr sz="1000" dirty="0">
              <a:latin typeface="Arial" panose="020B0604020202020204"/>
              <a:ea typeface="Arial" panose="020B0604020202020204"/>
              <a:cs typeface="Arial" panose="020B0604020202020204"/>
            </a:endParaRPr>
          </a:p>
          <a:p>
            <a:pPr marL="299720" indent="-273685" algn="l" rtl="0" eaLnBrk="0">
              <a:lnSpc>
                <a:spcPct val="96000"/>
              </a:lnSpc>
              <a:buClrTx/>
              <a:buSzTx/>
              <a:buFontTx/>
            </a:pPr>
            <a:r>
              <a:rPr sz="1500" kern="0" spc="40" dirty="0">
                <a:solidFill>
                  <a:srgbClr val="000000">
                    <a:alpha val="100000"/>
                  </a:srgbClr>
                </a:solidFill>
                <a:latin typeface="Wingdings" panose="05000000000000000000"/>
                <a:ea typeface="Wingdings" panose="05000000000000000000"/>
                <a:cs typeface="Wingdings" panose="05000000000000000000"/>
                <a:sym typeface="+mn-ea"/>
              </a:rPr>
              <a:t>n</a:t>
            </a:r>
            <a:r>
              <a:rPr lang="en-US" altLang="zh-CN" sz="1500" dirty="0">
                <a:latin typeface="华文楷体" panose="02010600040101010101" charset="-122"/>
                <a:ea typeface="华文楷体" panose="02010600040101010101" charset="-122"/>
                <a:cs typeface="华文楷体" panose="02010600040101010101" charset="-122"/>
                <a:sym typeface="+mn-ea"/>
              </a:rPr>
              <a:t>  </a:t>
            </a:r>
            <a:r>
              <a:rPr lang="en-US" altLang="zh-CN" sz="1500" dirty="0">
                <a:latin typeface="华文楷体" panose="02010600040101010101" charset="-122"/>
                <a:ea typeface="华文楷体" panose="02010600040101010101" charset="-122"/>
                <a:cs typeface="华文楷体" panose="02010600040101010101" charset="-122"/>
              </a:rPr>
              <a:t>[1]夏天,程细玉.国内外期货价格与国产现货价格动态关系的研究——基于DCE和CBOT大豆期货市场与国产大豆市场的实证分析[J].金融研究,2006,(02):110-117.DOI:CNKI:SUN:JRYJ.0.2006-02-012.</a:t>
            </a:r>
            <a:endParaRPr lang="en-US" altLang="zh-CN" sz="1500" dirty="0">
              <a:latin typeface="华文楷体" panose="02010600040101010101" charset="-122"/>
              <a:ea typeface="华文楷体" panose="02010600040101010101" charset="-122"/>
              <a:cs typeface="华文楷体" panose="02010600040101010101" charset="-122"/>
            </a:endParaRPr>
          </a:p>
          <a:p>
            <a:pPr marL="299720" indent="-273685" algn="l" defTabSz="914400" rtl="0" eaLnBrk="0">
              <a:lnSpc>
                <a:spcPct val="96000"/>
              </a:lnSpc>
              <a:buClrTx/>
              <a:buSzTx/>
              <a:buFontTx/>
            </a:pPr>
            <a:r>
              <a:rPr sz="1500" kern="0" spc="40" dirty="0">
                <a:solidFill>
                  <a:srgbClr val="000000">
                    <a:alpha val="100000"/>
                  </a:srgbClr>
                </a:solidFill>
                <a:latin typeface="Wingdings" panose="05000000000000000000"/>
                <a:ea typeface="Wingdings" panose="05000000000000000000"/>
                <a:cs typeface="Wingdings" panose="05000000000000000000"/>
                <a:sym typeface="+mn-ea"/>
              </a:rPr>
              <a:t>n</a:t>
            </a:r>
            <a:r>
              <a:rPr lang="en-US" sz="1000" kern="0" spc="40" dirty="0">
                <a:solidFill>
                  <a:srgbClr val="000000">
                    <a:alpha val="100000"/>
                  </a:srgbClr>
                </a:solidFill>
                <a:latin typeface="Wingdings" panose="05000000000000000000"/>
                <a:ea typeface="Wingdings" panose="05000000000000000000"/>
                <a:cs typeface="Wingdings" panose="05000000000000000000"/>
                <a:sym typeface="+mn-ea"/>
              </a:rPr>
              <a:t> </a:t>
            </a:r>
            <a:r>
              <a:rPr lang="en-US" altLang="zh-CN" sz="1500" dirty="0">
                <a:latin typeface="华文楷体" panose="02010600040101010101" charset="-122"/>
                <a:ea typeface="华文楷体" panose="02010600040101010101" charset="-122"/>
                <a:cs typeface="华文楷体" panose="02010600040101010101" charset="-122"/>
              </a:rPr>
              <a:t>[1]左浩苗,刘振涛,曾海为.基于高频数据的股指期货与现货市场波动溢出和信息传导研究[J].金融研究,2012,(04):140-154.DOI:CNKI:SUN:JRYJ.0.2012-04-013.</a:t>
            </a:r>
            <a:endParaRPr lang="en-US" altLang="zh-CN" sz="1500" dirty="0">
              <a:latin typeface="华文楷体" panose="02010600040101010101" charset="-122"/>
              <a:ea typeface="华文楷体" panose="02010600040101010101" charset="-122"/>
              <a:cs typeface="华文楷体" panose="02010600040101010101" charset="-122"/>
            </a:endParaRPr>
          </a:p>
          <a:p>
            <a:pPr marL="299720" indent="-273685" algn="l" defTabSz="914400" rtl="0" eaLnBrk="0">
              <a:lnSpc>
                <a:spcPct val="96000"/>
              </a:lnSpc>
              <a:buClrTx/>
              <a:buSzTx/>
              <a:buFontTx/>
            </a:pPr>
            <a:r>
              <a:rPr sz="1500" kern="0" spc="40" dirty="0">
                <a:solidFill>
                  <a:srgbClr val="000000">
                    <a:alpha val="100000"/>
                  </a:srgbClr>
                </a:solidFill>
                <a:latin typeface="Wingdings" panose="05000000000000000000"/>
                <a:ea typeface="Wingdings" panose="05000000000000000000"/>
                <a:cs typeface="Wingdings" panose="05000000000000000000"/>
                <a:sym typeface="+mn-ea"/>
              </a:rPr>
              <a:t>n</a:t>
            </a:r>
            <a:r>
              <a:rPr lang="en-US" sz="1500" kern="0" spc="40" dirty="0">
                <a:solidFill>
                  <a:srgbClr val="000000">
                    <a:alpha val="100000"/>
                  </a:srgbClr>
                </a:solidFill>
                <a:latin typeface="Wingdings" panose="05000000000000000000"/>
                <a:ea typeface="Wingdings" panose="05000000000000000000"/>
                <a:cs typeface="Wingdings" panose="05000000000000000000"/>
                <a:sym typeface="+mn-ea"/>
              </a:rPr>
              <a:t> </a:t>
            </a:r>
            <a:r>
              <a:rPr lang="en-US" altLang="zh-CN" sz="1500" dirty="0">
                <a:latin typeface="华文楷体" panose="02010600040101010101" charset="-122"/>
                <a:ea typeface="华文楷体" panose="02010600040101010101" charset="-122"/>
                <a:cs typeface="华文楷体" panose="02010600040101010101" charset="-122"/>
              </a:rPr>
              <a:t>[1]陶利斌,潘婉彬,黄筠哲.沪深300股指期货价格发现能力的变化及其决定因素[J].</a:t>
            </a:r>
            <a:r>
              <a:rPr lang="en-US" altLang="zh-CN" sz="1500" dirty="0">
                <a:latin typeface="华文楷体" panose="02010600040101010101" charset="-122"/>
                <a:ea typeface="华文楷体" panose="02010600040101010101" charset="-122"/>
                <a:cs typeface="华文楷体" panose="02010600040101010101" charset="-122"/>
              </a:rPr>
              <a:t>金融研究,2014,(04):128-142.DOI:CNKI:SUN:JRYJ.0.2014-04-009.</a:t>
            </a:r>
            <a:endParaRPr lang="en-US" altLang="zh-CN" sz="1500" dirty="0">
              <a:latin typeface="华文楷体" panose="02010600040101010101" charset="-122"/>
              <a:ea typeface="华文楷体" panose="02010600040101010101" charset="-122"/>
              <a:cs typeface="华文楷体" panose="02010600040101010101" charset="-122"/>
            </a:endParaRPr>
          </a:p>
          <a:p>
            <a:pPr marL="299720" indent="-273685" algn="l" defTabSz="914400" rtl="0" eaLnBrk="0">
              <a:lnSpc>
                <a:spcPct val="96000"/>
              </a:lnSpc>
              <a:buClrTx/>
              <a:buSzTx/>
              <a:buFontTx/>
            </a:pPr>
            <a:r>
              <a:rPr sz="1500" kern="0" spc="40" dirty="0">
                <a:solidFill>
                  <a:srgbClr val="000000">
                    <a:alpha val="100000"/>
                  </a:srgbClr>
                </a:solidFill>
                <a:latin typeface="Wingdings" panose="05000000000000000000"/>
                <a:ea typeface="Wingdings" panose="05000000000000000000"/>
                <a:cs typeface="Wingdings" panose="05000000000000000000"/>
                <a:sym typeface="+mn-ea"/>
              </a:rPr>
              <a:t>n</a:t>
            </a:r>
            <a:r>
              <a:rPr lang="en-US" sz="1500" kern="0" spc="40" dirty="0">
                <a:solidFill>
                  <a:srgbClr val="000000">
                    <a:alpha val="100000"/>
                  </a:srgbClr>
                </a:solidFill>
                <a:latin typeface="Wingdings" panose="05000000000000000000"/>
                <a:ea typeface="Wingdings" panose="05000000000000000000"/>
                <a:cs typeface="Wingdings" panose="05000000000000000000"/>
                <a:sym typeface="+mn-ea"/>
              </a:rPr>
              <a:t> </a:t>
            </a:r>
            <a:r>
              <a:rPr lang="en-US" altLang="zh-CN" sz="1500" dirty="0">
                <a:latin typeface="华文楷体" panose="02010600040101010101" charset="-122"/>
                <a:ea typeface="华文楷体" panose="02010600040101010101" charset="-122"/>
                <a:cs typeface="华文楷体" panose="02010600040101010101" charset="-122"/>
              </a:rPr>
              <a:t>[1]付胜华,檀向球.股指期货套期保值研究及其实证分析[J].</a:t>
            </a:r>
            <a:r>
              <a:rPr lang="en-US" altLang="zh-CN" sz="1500" dirty="0">
                <a:latin typeface="华文楷体" panose="02010600040101010101" charset="-122"/>
                <a:ea typeface="华文楷体" panose="02010600040101010101" charset="-122"/>
                <a:cs typeface="华文楷体" panose="02010600040101010101" charset="-122"/>
              </a:rPr>
              <a:t>金融研究,2009,(04):113-119.DOI:CNKI:SUN:JRYJ.0.2009-04-011.</a:t>
            </a:r>
            <a:endParaRPr lang="en-US" altLang="zh-CN" sz="1500" dirty="0">
              <a:latin typeface="华文楷体" panose="02010600040101010101" charset="-122"/>
              <a:ea typeface="华文楷体" panose="02010600040101010101" charset="-122"/>
              <a:cs typeface="华文楷体" panose="02010600040101010101" charset="-122"/>
            </a:endParaRPr>
          </a:p>
          <a:p>
            <a:pPr marL="299720" indent="-273685" algn="l" defTabSz="914400" rtl="0" eaLnBrk="0">
              <a:lnSpc>
                <a:spcPct val="96000"/>
              </a:lnSpc>
              <a:buClrTx/>
              <a:buSzTx/>
              <a:buFontTx/>
            </a:pPr>
            <a:r>
              <a:rPr sz="1500" kern="0" spc="40" dirty="0">
                <a:solidFill>
                  <a:srgbClr val="000000">
                    <a:alpha val="100000"/>
                  </a:srgbClr>
                </a:solidFill>
                <a:latin typeface="Wingdings" panose="05000000000000000000"/>
                <a:ea typeface="Wingdings" panose="05000000000000000000"/>
                <a:cs typeface="Wingdings" panose="05000000000000000000"/>
                <a:sym typeface="+mn-ea"/>
              </a:rPr>
              <a:t>n</a:t>
            </a:r>
            <a:r>
              <a:rPr lang="en-US" sz="1500" kern="0" spc="40" dirty="0">
                <a:solidFill>
                  <a:srgbClr val="000000">
                    <a:alpha val="100000"/>
                  </a:srgbClr>
                </a:solidFill>
                <a:latin typeface="Wingdings" panose="05000000000000000000"/>
                <a:ea typeface="Wingdings" panose="05000000000000000000"/>
                <a:cs typeface="Wingdings" panose="05000000000000000000"/>
                <a:sym typeface="+mn-ea"/>
              </a:rPr>
              <a:t> </a:t>
            </a:r>
            <a:r>
              <a:rPr lang="en-US" altLang="zh-CN" sz="1500" dirty="0">
                <a:latin typeface="华文楷体" panose="02010600040101010101" charset="-122"/>
                <a:ea typeface="华文楷体" panose="02010600040101010101" charset="-122"/>
                <a:cs typeface="华文楷体" panose="02010600040101010101" charset="-122"/>
              </a:rPr>
              <a:t>[1]仇中群,程希骏.基于协整的股指期货跨期套利策略模型[J].系统工程,2008,26(12):26-29.DOI:CNKI:SUN:GCXT.0.2008-12-006.</a:t>
            </a:r>
            <a:endParaRPr lang="en-US" altLang="zh-CN" sz="1500" dirty="0">
              <a:latin typeface="华文楷体" panose="02010600040101010101" charset="-122"/>
              <a:ea typeface="华文楷体" panose="02010600040101010101" charset="-122"/>
              <a:cs typeface="华文楷体" panose="02010600040101010101" charset="-122"/>
            </a:endParaRPr>
          </a:p>
          <a:p>
            <a:pPr marL="299720" indent="-273685" algn="l" defTabSz="914400" rtl="0" eaLnBrk="0">
              <a:lnSpc>
                <a:spcPct val="96000"/>
              </a:lnSpc>
              <a:buClrTx/>
              <a:buSzTx/>
              <a:buFontTx/>
            </a:pPr>
            <a:r>
              <a:rPr sz="1500" kern="0" spc="40" dirty="0">
                <a:solidFill>
                  <a:srgbClr val="000000">
                    <a:alpha val="100000"/>
                  </a:srgbClr>
                </a:solidFill>
                <a:latin typeface="Wingdings" panose="05000000000000000000"/>
                <a:ea typeface="Wingdings" panose="05000000000000000000"/>
                <a:cs typeface="Wingdings" panose="05000000000000000000"/>
                <a:sym typeface="+mn-ea"/>
              </a:rPr>
              <a:t>n</a:t>
            </a:r>
            <a:r>
              <a:rPr lang="en-US" sz="1500" kern="0" spc="40" dirty="0">
                <a:solidFill>
                  <a:srgbClr val="000000">
                    <a:alpha val="100000"/>
                  </a:srgbClr>
                </a:solidFill>
                <a:latin typeface="Wingdings" panose="05000000000000000000"/>
                <a:ea typeface="Wingdings" panose="05000000000000000000"/>
                <a:cs typeface="Wingdings" panose="05000000000000000000"/>
                <a:sym typeface="+mn-ea"/>
              </a:rPr>
              <a:t> </a:t>
            </a:r>
            <a:r>
              <a:rPr lang="en-US" altLang="zh-CN" sz="1500" dirty="0">
                <a:latin typeface="华文楷体" panose="02010600040101010101" charset="-122"/>
                <a:ea typeface="华文楷体" panose="02010600040101010101" charset="-122"/>
                <a:cs typeface="华文楷体" panose="02010600040101010101" charset="-122"/>
              </a:rPr>
              <a:t>[1]</a:t>
            </a:r>
            <a:r>
              <a:rPr lang="zh-CN" altLang="en-US" sz="1500" dirty="0">
                <a:latin typeface="华文楷体" panose="02010600040101010101" charset="-122"/>
                <a:ea typeface="华文楷体" panose="02010600040101010101" charset="-122"/>
                <a:cs typeface="华文楷体" panose="02010600040101010101" charset="-122"/>
              </a:rPr>
              <a:t>尹力博</a:t>
            </a:r>
            <a:r>
              <a:rPr lang="en-US" altLang="zh-CN" sz="1500" dirty="0">
                <a:latin typeface="华文楷体" panose="02010600040101010101" charset="-122"/>
                <a:ea typeface="华文楷体" panose="02010600040101010101" charset="-122"/>
                <a:cs typeface="华文楷体" panose="02010600040101010101" charset="-122"/>
              </a:rPr>
              <a:t>,</a:t>
            </a:r>
            <a:r>
              <a:rPr lang="zh-CN" altLang="en-US" sz="1500" dirty="0">
                <a:latin typeface="华文楷体" panose="02010600040101010101" charset="-122"/>
                <a:ea typeface="华文楷体" panose="02010600040101010101" charset="-122"/>
                <a:cs typeface="华文楷体" panose="02010600040101010101" charset="-122"/>
              </a:rPr>
              <a:t>柳依依</a:t>
            </a:r>
            <a:r>
              <a:rPr lang="en-US" altLang="zh-CN" sz="1500" dirty="0">
                <a:latin typeface="华文楷体" panose="02010600040101010101" charset="-122"/>
                <a:ea typeface="华文楷体" panose="02010600040101010101" charset="-122"/>
                <a:cs typeface="华文楷体" panose="02010600040101010101" charset="-122"/>
              </a:rPr>
              <a:t>.</a:t>
            </a:r>
            <a:r>
              <a:rPr lang="zh-CN" altLang="en-US" sz="1500" dirty="0">
                <a:latin typeface="华文楷体" panose="02010600040101010101" charset="-122"/>
                <a:ea typeface="华文楷体" panose="02010600040101010101" charset="-122"/>
                <a:cs typeface="华文楷体" panose="02010600040101010101" charset="-122"/>
              </a:rPr>
              <a:t>中国商品期货金融化了吗</a:t>
            </a:r>
            <a:r>
              <a:rPr lang="en-US" altLang="zh-CN" sz="1500" dirty="0">
                <a:latin typeface="华文楷体" panose="02010600040101010101" charset="-122"/>
                <a:ea typeface="华文楷体" panose="02010600040101010101" charset="-122"/>
                <a:cs typeface="华文楷体" panose="02010600040101010101" charset="-122"/>
              </a:rPr>
              <a:t>?——</a:t>
            </a:r>
            <a:r>
              <a:rPr lang="zh-CN" altLang="en-US" sz="1500" dirty="0">
                <a:latin typeface="华文楷体" panose="02010600040101010101" charset="-122"/>
                <a:ea typeface="华文楷体" panose="02010600040101010101" charset="-122"/>
                <a:cs typeface="华文楷体" panose="02010600040101010101" charset="-122"/>
              </a:rPr>
              <a:t>来自国际股票市场的证据</a:t>
            </a:r>
            <a:r>
              <a:rPr lang="en-US" altLang="zh-CN" sz="1500" dirty="0">
                <a:latin typeface="华文楷体" panose="02010600040101010101" charset="-122"/>
                <a:ea typeface="华文楷体" panose="02010600040101010101" charset="-122"/>
                <a:cs typeface="华文楷体" panose="02010600040101010101" charset="-122"/>
              </a:rPr>
              <a:t>[J].</a:t>
            </a:r>
            <a:r>
              <a:rPr lang="zh-CN" altLang="en-US" sz="1500" dirty="0">
                <a:latin typeface="华文楷体" panose="02010600040101010101" charset="-122"/>
                <a:ea typeface="华文楷体" panose="02010600040101010101" charset="-122"/>
                <a:cs typeface="华文楷体" panose="02010600040101010101" charset="-122"/>
              </a:rPr>
              <a:t>金融研究</a:t>
            </a:r>
            <a:r>
              <a:rPr lang="en-US" altLang="zh-CN" sz="1500" dirty="0">
                <a:latin typeface="华文楷体" panose="02010600040101010101" charset="-122"/>
                <a:ea typeface="华文楷体" panose="02010600040101010101" charset="-122"/>
                <a:cs typeface="华文楷体" panose="02010600040101010101" charset="-122"/>
              </a:rPr>
              <a:t>,2016,(03):189-206.DOI:CNKI:SUN:JRYJ.0.2016-03-013.</a:t>
            </a:r>
            <a:endParaRPr lang="en-US" altLang="zh-CN" sz="1500" dirty="0">
              <a:latin typeface="华文楷体" panose="02010600040101010101" charset="-122"/>
              <a:ea typeface="华文楷体" panose="02010600040101010101" charset="-122"/>
              <a:cs typeface="华文楷体" panose="02010600040101010101" charset="-122"/>
            </a:endParaRPr>
          </a:p>
          <a:p>
            <a:pPr marL="299720" indent="-273685" algn="l" defTabSz="914400" rtl="0" eaLnBrk="0">
              <a:lnSpc>
                <a:spcPct val="96000"/>
              </a:lnSpc>
              <a:buClrTx/>
              <a:buSzTx/>
              <a:buFontTx/>
            </a:pPr>
            <a:endParaRPr lang="en-US" altLang="zh-CN" sz="1500" dirty="0">
              <a:latin typeface="华文楷体" panose="02010600040101010101" charset="-122"/>
              <a:ea typeface="华文楷体" panose="02010600040101010101" charset="-122"/>
              <a:cs typeface="华文楷体" panose="02010600040101010101" charset="-122"/>
            </a:endParaRPr>
          </a:p>
          <a:p>
            <a:pPr marL="12700" algn="l" rtl="0" eaLnBrk="0">
              <a:lnSpc>
                <a:spcPct val="89000"/>
              </a:lnSpc>
              <a:spcBef>
                <a:spcPts val="450"/>
              </a:spcBef>
            </a:pPr>
            <a:r>
              <a:rPr sz="1500" kern="0" spc="60" dirty="0">
                <a:solidFill>
                  <a:srgbClr val="000000">
                    <a:alpha val="100000"/>
                  </a:srgbClr>
                </a:solidFill>
                <a:latin typeface="Times New Roman" panose="02020603050405020304"/>
                <a:ea typeface="Times New Roman" panose="02020603050405020304"/>
                <a:cs typeface="Times New Roman" panose="02020603050405020304"/>
                <a:sym typeface="+mn-ea"/>
              </a:rPr>
              <a:t>B</a:t>
            </a:r>
            <a:r>
              <a:rPr sz="1500" kern="0" spc="60" dirty="0">
                <a:solidFill>
                  <a:srgbClr val="000000">
                    <a:alpha val="100000"/>
                  </a:srgbClr>
                </a:solidFill>
                <a:latin typeface="楷体" panose="02010609060101010101" charset="-122"/>
                <a:ea typeface="楷体" panose="02010609060101010101" charset="-122"/>
                <a:cs typeface="楷体" panose="02010609060101010101" charset="-122"/>
                <a:sym typeface="+mn-ea"/>
              </a:rPr>
              <a:t>站</a:t>
            </a:r>
            <a:endParaRPr sz="1500" dirty="0">
              <a:latin typeface="楷体" panose="02010609060101010101" charset="-122"/>
              <a:ea typeface="楷体" panose="02010609060101010101" charset="-122"/>
              <a:cs typeface="楷体" panose="02010609060101010101" charset="-122"/>
            </a:endParaRPr>
          </a:p>
          <a:p>
            <a:pPr marL="26035" algn="l" rtl="0" eaLnBrk="0">
              <a:lnSpc>
                <a:spcPct val="95000"/>
              </a:lnSpc>
              <a:spcBef>
                <a:spcPts val="330"/>
              </a:spcBef>
            </a:pPr>
            <a:r>
              <a:rPr sz="1500" kern="0" spc="70" dirty="0">
                <a:solidFill>
                  <a:srgbClr val="000000">
                    <a:alpha val="100000"/>
                  </a:srgbClr>
                </a:solidFill>
                <a:latin typeface="Wingdings" panose="05000000000000000000"/>
                <a:ea typeface="Wingdings" panose="05000000000000000000"/>
                <a:cs typeface="Wingdings" panose="05000000000000000000"/>
                <a:sym typeface="+mn-ea"/>
              </a:rPr>
              <a:t>n</a:t>
            </a:r>
            <a:r>
              <a:rPr sz="1500" kern="0" spc="-240" dirty="0">
                <a:solidFill>
                  <a:srgbClr val="000000">
                    <a:alpha val="100000"/>
                  </a:srgbClr>
                </a:solidFill>
                <a:latin typeface="Wingdings" panose="05000000000000000000"/>
                <a:ea typeface="Wingdings" panose="05000000000000000000"/>
                <a:cs typeface="Wingdings" panose="05000000000000000000"/>
                <a:sym typeface="+mn-ea"/>
              </a:rPr>
              <a:t> </a:t>
            </a:r>
            <a:r>
              <a:rPr sz="1500" kern="0" spc="70" dirty="0">
                <a:solidFill>
                  <a:srgbClr val="000000">
                    <a:alpha val="100000"/>
                  </a:srgbClr>
                </a:solidFill>
                <a:latin typeface="楷体" panose="02010609060101010101" charset="-122"/>
                <a:ea typeface="楷体" panose="02010609060101010101" charset="-122"/>
                <a:cs typeface="楷体" panose="02010609060101010101" charset="-122"/>
                <a:sym typeface="+mn-ea"/>
              </a:rPr>
              <a:t>小</a:t>
            </a:r>
            <a:r>
              <a:rPr sz="1500" kern="0" dirty="0">
                <a:solidFill>
                  <a:srgbClr val="000000">
                    <a:alpha val="100000"/>
                  </a:srgbClr>
                </a:solidFill>
                <a:latin typeface="Times New Roman" panose="02020603050405020304"/>
                <a:ea typeface="Times New Roman" panose="02020603050405020304"/>
                <a:cs typeface="Times New Roman" panose="02020603050405020304"/>
                <a:sym typeface="+mn-ea"/>
              </a:rPr>
              <a:t>lin</a:t>
            </a:r>
            <a:r>
              <a:rPr sz="1500" kern="0" spc="70" dirty="0">
                <a:solidFill>
                  <a:srgbClr val="000000">
                    <a:alpha val="100000"/>
                  </a:srgbClr>
                </a:solidFill>
                <a:latin typeface="楷体" panose="02010609060101010101" charset="-122"/>
                <a:ea typeface="楷体" panose="02010609060101010101" charset="-122"/>
                <a:cs typeface="楷体" panose="02010609060101010101" charset="-122"/>
                <a:sym typeface="+mn-ea"/>
              </a:rPr>
              <a:t>说</a:t>
            </a:r>
            <a:r>
              <a:rPr sz="1500" kern="0" spc="-260" dirty="0">
                <a:solidFill>
                  <a:srgbClr val="000000">
                    <a:alpha val="100000"/>
                  </a:srgbClr>
                </a:solidFill>
                <a:latin typeface="楷体" panose="02010609060101010101" charset="-122"/>
                <a:ea typeface="楷体" panose="02010609060101010101" charset="-122"/>
                <a:cs typeface="楷体" panose="02010609060101010101" charset="-122"/>
                <a:sym typeface="+mn-ea"/>
              </a:rPr>
              <a:t> </a:t>
            </a:r>
            <a:r>
              <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sym typeface="+mn-ea"/>
              </a:rPr>
              <a:t>什么是金融赌场？</a:t>
            </a:r>
            <a:endPar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sym typeface="+mn-ea"/>
              <a:hlinkClick r:id="rId1">
                <a:extLst>
                  <a:ext uri="{DAF060AB-1E55-43B9-8AAB-6FB025537F2F}">
                    <wpsdc:hlinkClr xmlns:wpsdc="http://www.wps.cn/officeDocument/2017/drawingmlCustomData" val="5F5F5F"/>
                    <wpsdc:folHlinkClr xmlns:wpsdc="http://www.wps.cn/officeDocument/2017/drawingmlCustomData" val="5F5F5F"/>
                    <wpsdc:hlinkUnderline xmlns:wpsdc="http://www.wps.cn/officeDocument/2017/drawingmlCustomData" val="0"/>
                  </a:ext>
                </a:extLst>
              </a:hlinkClick>
            </a:endParaRPr>
          </a:p>
          <a:p>
            <a:pPr marL="26035" algn="l" rtl="0" eaLnBrk="0">
              <a:lnSpc>
                <a:spcPct val="95000"/>
              </a:lnSpc>
              <a:spcBef>
                <a:spcPts val="330"/>
              </a:spcBef>
            </a:pPr>
            <a:r>
              <a:rPr sz="1500" kern="0" spc="70" dirty="0">
                <a:solidFill>
                  <a:srgbClr val="000000">
                    <a:alpha val="100000"/>
                  </a:srgbClr>
                </a:solidFill>
                <a:latin typeface="Wingdings" panose="05000000000000000000"/>
                <a:ea typeface="Wingdings" panose="05000000000000000000"/>
                <a:cs typeface="Wingdings" panose="05000000000000000000"/>
                <a:sym typeface="+mn-ea"/>
              </a:rPr>
              <a:t>n</a:t>
            </a:r>
            <a:r>
              <a:rPr sz="1500" kern="0" spc="-240" dirty="0">
                <a:solidFill>
                  <a:srgbClr val="000000">
                    <a:alpha val="100000"/>
                  </a:srgbClr>
                </a:solidFill>
                <a:latin typeface="Wingdings" panose="05000000000000000000"/>
                <a:ea typeface="Wingdings" panose="05000000000000000000"/>
                <a:cs typeface="Wingdings" panose="05000000000000000000"/>
                <a:sym typeface="+mn-ea"/>
              </a:rPr>
              <a:t> </a:t>
            </a:r>
            <a:r>
              <a:rPr sz="1500" kern="0" spc="70" dirty="0">
                <a:solidFill>
                  <a:srgbClr val="000000">
                    <a:alpha val="100000"/>
                  </a:srgbClr>
                </a:solidFill>
                <a:latin typeface="楷体" panose="02010609060101010101" charset="-122"/>
                <a:ea typeface="楷体" panose="02010609060101010101" charset="-122"/>
                <a:cs typeface="楷体" panose="02010609060101010101" charset="-122"/>
                <a:sym typeface="+mn-ea"/>
              </a:rPr>
              <a:t>小</a:t>
            </a:r>
            <a:r>
              <a:rPr sz="1500" kern="0" dirty="0">
                <a:solidFill>
                  <a:srgbClr val="000000">
                    <a:alpha val="100000"/>
                  </a:srgbClr>
                </a:solidFill>
                <a:latin typeface="Times New Roman" panose="02020603050405020304"/>
                <a:ea typeface="Times New Roman" panose="02020603050405020304"/>
                <a:cs typeface="Times New Roman" panose="02020603050405020304"/>
                <a:sym typeface="+mn-ea"/>
              </a:rPr>
              <a:t>lin</a:t>
            </a:r>
            <a:r>
              <a:rPr sz="1500" kern="0" spc="70" dirty="0">
                <a:solidFill>
                  <a:srgbClr val="000000">
                    <a:alpha val="100000"/>
                  </a:srgbClr>
                </a:solidFill>
                <a:latin typeface="楷体" panose="02010609060101010101" charset="-122"/>
                <a:ea typeface="楷体" panose="02010609060101010101" charset="-122"/>
                <a:cs typeface="楷体" panose="02010609060101010101" charset="-122"/>
                <a:sym typeface="+mn-ea"/>
              </a:rPr>
              <a:t>说</a:t>
            </a:r>
            <a:r>
              <a:rPr sz="1500" kern="0" spc="-260" dirty="0">
                <a:solidFill>
                  <a:srgbClr val="000000">
                    <a:alpha val="100000"/>
                  </a:srgbClr>
                </a:solidFill>
                <a:latin typeface="楷体" panose="02010609060101010101" charset="-122"/>
                <a:ea typeface="楷体" panose="02010609060101010101" charset="-122"/>
                <a:cs typeface="楷体" panose="02010609060101010101" charset="-122"/>
                <a:sym typeface="+mn-ea"/>
              </a:rPr>
              <a:t> </a:t>
            </a:r>
            <a:r>
              <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sym typeface="+mn-ea"/>
              </a:rPr>
              <a:t>期货为什么总是能拉爆股市、债市？</a:t>
            </a:r>
            <a:endPar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hlinkClick r:id="rId1">
                <a:extLst>
                  <a:ext uri="{DAF060AB-1E55-43B9-8AAB-6FB025537F2F}">
                    <wpsdc:hlinkClr xmlns:wpsdc="http://www.wps.cn/officeDocument/2017/drawingmlCustomData" val="5F5F5F"/>
                    <wpsdc:folHlinkClr xmlns:wpsdc="http://www.wps.cn/officeDocument/2017/drawingmlCustomData" val="5F5F5F"/>
                    <wpsdc:hlinkUnderline xmlns:wpsdc="http://www.wps.cn/officeDocument/2017/drawingmlCustomData" val="0"/>
                  </a:ext>
                </a:extLst>
              </a:hlinkClick>
            </a:endParaRPr>
          </a:p>
          <a:p>
            <a:pPr marL="299720" indent="-273685" algn="l" defTabSz="914400" rtl="0" eaLnBrk="0">
              <a:lnSpc>
                <a:spcPct val="96000"/>
              </a:lnSpc>
              <a:buClrTx/>
              <a:buSzTx/>
              <a:buFontTx/>
            </a:pPr>
            <a:r>
              <a:rPr sz="1500" kern="0" spc="70" dirty="0">
                <a:solidFill>
                  <a:srgbClr val="000000">
                    <a:alpha val="100000"/>
                  </a:srgbClr>
                </a:solidFill>
                <a:latin typeface="Wingdings" panose="05000000000000000000"/>
                <a:ea typeface="Wingdings" panose="05000000000000000000"/>
                <a:cs typeface="Wingdings" panose="05000000000000000000"/>
                <a:sym typeface="+mn-ea"/>
              </a:rPr>
              <a:t>n</a:t>
            </a:r>
            <a:r>
              <a:rPr sz="1500" kern="0" spc="-240" dirty="0">
                <a:solidFill>
                  <a:srgbClr val="000000">
                    <a:alpha val="100000"/>
                  </a:srgbClr>
                </a:solidFill>
                <a:latin typeface="Wingdings" panose="05000000000000000000"/>
                <a:ea typeface="Wingdings" panose="05000000000000000000"/>
                <a:cs typeface="Wingdings" panose="05000000000000000000"/>
                <a:sym typeface="+mn-ea"/>
              </a:rPr>
              <a:t> </a:t>
            </a:r>
            <a:r>
              <a:rPr sz="1500" kern="0" spc="70" dirty="0">
                <a:solidFill>
                  <a:srgbClr val="000000">
                    <a:alpha val="100000"/>
                  </a:srgbClr>
                </a:solidFill>
                <a:latin typeface="楷体" panose="02010609060101010101" charset="-122"/>
                <a:ea typeface="楷体" panose="02010609060101010101" charset="-122"/>
                <a:cs typeface="楷体" panose="02010609060101010101" charset="-122"/>
                <a:sym typeface="+mn-ea"/>
              </a:rPr>
              <a:t>柳行长</a:t>
            </a:r>
            <a:r>
              <a:rPr sz="1500" kern="0" spc="-260" dirty="0">
                <a:solidFill>
                  <a:srgbClr val="000000">
                    <a:alpha val="100000"/>
                  </a:srgbClr>
                </a:solidFill>
                <a:latin typeface="楷体" panose="02010609060101010101" charset="-122"/>
                <a:ea typeface="楷体" panose="02010609060101010101" charset="-122"/>
                <a:cs typeface="楷体" panose="02010609060101010101" charset="-122"/>
                <a:sym typeface="+mn-ea"/>
              </a:rPr>
              <a:t> </a:t>
            </a:r>
            <a:r>
              <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sym typeface="+mn-ea"/>
              </a:rPr>
              <a:t>原油宝事件原理</a:t>
            </a:r>
            <a:endPar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hlinkClick r:id="rId1">
                <a:extLst>
                  <a:ext uri="{DAF060AB-1E55-43B9-8AAB-6FB025537F2F}">
                    <wpsdc:hlinkClr xmlns:wpsdc="http://www.wps.cn/officeDocument/2017/drawingmlCustomData" val="5F5F5F"/>
                    <wpsdc:folHlinkClr xmlns:wpsdc="http://www.wps.cn/officeDocument/2017/drawingmlCustomData" val="5F5F5F"/>
                    <wpsdc:hlinkUnderline xmlns:wpsdc="http://www.wps.cn/officeDocument/2017/drawingmlCustomData" val="0"/>
                  </a:ext>
                </a:extLst>
              </a:hlinkClick>
            </a:endParaRPr>
          </a:p>
          <a:p>
            <a:pPr marL="299720" indent="-273685" algn="l" defTabSz="914400" rtl="0" eaLnBrk="0">
              <a:lnSpc>
                <a:spcPct val="96000"/>
              </a:lnSpc>
              <a:buClrTx/>
              <a:buSzTx/>
              <a:buFontTx/>
            </a:pPr>
            <a:endParaRPr lang="en-US" altLang="zh-CN" sz="1500" dirty="0">
              <a:latin typeface="华文楷体" panose="02010600040101010101" charset="-122"/>
              <a:ea typeface="华文楷体" panose="02010600040101010101" charset="-122"/>
              <a:cs typeface="华文楷体" panose="02010600040101010101" charset="-122"/>
            </a:endParaRPr>
          </a:p>
          <a:p>
            <a:pPr algn="l" rtl="0" eaLnBrk="0">
              <a:lnSpc>
                <a:spcPct val="165000"/>
              </a:lnSpc>
            </a:pPr>
            <a:endParaRPr sz="1000" dirty="0">
              <a:latin typeface="Arial" panose="020B0604020202020204"/>
              <a:ea typeface="Arial" panose="020B0604020202020204"/>
              <a:cs typeface="Arial" panose="020B0604020202020204"/>
            </a:endParaRPr>
          </a:p>
          <a:p>
            <a:pPr algn="l" rtl="0" eaLnBrk="0">
              <a:lnSpc>
                <a:spcPct val="165000"/>
              </a:lnSpc>
            </a:pPr>
            <a:endParaRPr sz="1000" dirty="0">
              <a:latin typeface="Arial" panose="020B0604020202020204"/>
              <a:ea typeface="Arial" panose="020B0604020202020204"/>
              <a:cs typeface="Arial" panose="020B0604020202020204"/>
            </a:endParaRPr>
          </a:p>
          <a:p>
            <a:pPr algn="l" rtl="0" eaLnBrk="0">
              <a:lnSpc>
                <a:spcPct val="165000"/>
              </a:lnSpc>
            </a:pPr>
            <a:endParaRPr sz="1000" dirty="0">
              <a:latin typeface="Arial" panose="020B0604020202020204"/>
              <a:ea typeface="Arial" panose="020B0604020202020204"/>
              <a:cs typeface="Arial" panose="020B0604020202020204"/>
            </a:endParaRPr>
          </a:p>
          <a:p>
            <a:pPr algn="l" rtl="0" eaLnBrk="0">
              <a:lnSpc>
                <a:spcPct val="165000"/>
              </a:lnSpc>
            </a:pPr>
            <a:endParaRPr sz="1000" dirty="0">
              <a:latin typeface="Arial" panose="020B0604020202020204"/>
              <a:ea typeface="Arial" panose="020B0604020202020204"/>
              <a:cs typeface="Arial" panose="020B0604020202020204"/>
            </a:endParaRPr>
          </a:p>
          <a:p>
            <a:pPr algn="l" rtl="0" eaLnBrk="0">
              <a:lnSpc>
                <a:spcPct val="165000"/>
              </a:lnSpc>
            </a:pPr>
            <a:endParaRPr sz="1000" dirty="0">
              <a:latin typeface="Arial" panose="020B0604020202020204"/>
              <a:ea typeface="Arial" panose="020B0604020202020204"/>
              <a:cs typeface="Arial" panose="020B0604020202020204"/>
            </a:endParaRPr>
          </a:p>
          <a:p>
            <a:pPr algn="l" rtl="0" eaLnBrk="0">
              <a:lnSpc>
                <a:spcPct val="165000"/>
              </a:lnSpc>
            </a:pPr>
            <a:endParaRPr sz="1000" dirty="0">
              <a:latin typeface="Arial" panose="020B0604020202020204"/>
              <a:ea typeface="Arial" panose="020B0604020202020204"/>
              <a:cs typeface="Arial" panose="020B0604020202020204"/>
            </a:endParaRPr>
          </a:p>
          <a:p>
            <a:pPr marL="12700" algn="l" rtl="0" eaLnBrk="0">
              <a:lnSpc>
                <a:spcPct val="89000"/>
              </a:lnSpc>
              <a:spcBef>
                <a:spcPts val="450"/>
              </a:spcBef>
            </a:pPr>
            <a:endParaRPr lang="zh-CN" sz="1500" u="sng" kern="0" spc="70" dirty="0">
              <a:solidFill>
                <a:srgbClr val="5F5F5F">
                  <a:alpha val="100000"/>
                </a:srgbClr>
              </a:solidFill>
              <a:latin typeface="楷体" panose="02010609060101010101" charset="-122"/>
              <a:ea typeface="楷体" panose="02010609060101010101" charset="-122"/>
              <a:cs typeface="楷体" panose="02010609060101010101" charset="-122"/>
              <a:hlinkClick r:id="rId1">
                <a:extLst>
                  <a:ext uri="{DAF060AB-1E55-43B9-8AAB-6FB025537F2F}">
                    <wpsdc:hlinkClr xmlns:wpsdc="http://www.wps.cn/officeDocument/2017/drawingmlCustomData" val="5F5F5F"/>
                    <wpsdc:folHlinkClr xmlns:wpsdc="http://www.wps.cn/officeDocument/2017/drawingmlCustomData" val="5F5F5F"/>
                    <wpsdc:hlinkUnderline xmlns:wpsdc="http://www.wps.cn/officeDocument/2017/drawingmlCustomData" val="0"/>
                  </a:ext>
                </a:extLst>
              </a:hlinkClick>
            </a:endParaRPr>
          </a:p>
        </p:txBody>
      </p:sp>
      <p:sp>
        <p:nvSpPr>
          <p:cNvPr id="512" name="textbox 512"/>
          <p:cNvSpPr/>
          <p:nvPr/>
        </p:nvSpPr>
        <p:spPr>
          <a:xfrm>
            <a:off x="207553" y="270946"/>
            <a:ext cx="2045970" cy="540384"/>
          </a:xfrm>
          <a:prstGeom prst="rect">
            <a:avLst/>
          </a:prstGeom>
          <a:noFill/>
          <a:ln w="0" cap="flat">
            <a:noFill/>
            <a:prstDash val="solid"/>
            <a:miter lim="0"/>
          </a:ln>
        </p:spPr>
        <p:txBody>
          <a:bodyPr vert="horz" wrap="square" lIns="0" tIns="0" rIns="0" bIns="0">
            <a:scene3d>
              <a:camera prst="orthographicFront"/>
              <a:lightRig rig="threePt" dir="t"/>
            </a:scene3d>
          </a:bodyPr>
          <a:lstStyle/>
          <a:p>
            <a:pPr algn="l" rtl="0" eaLnBrk="0">
              <a:lnSpc>
                <a:spcPct val="68000"/>
              </a:lnSpc>
            </a:pPr>
            <a:endParaRPr sz="100" dirty="0">
              <a:latin typeface="Arial" panose="020B0604020202020204"/>
              <a:ea typeface="Arial" panose="020B0604020202020204"/>
              <a:cs typeface="Arial" panose="020B0604020202020204"/>
            </a:endParaRPr>
          </a:p>
          <a:p>
            <a:pPr marL="12700" algn="l" rtl="0" eaLnBrk="0">
              <a:lnSpc>
                <a:spcPct val="87000"/>
              </a:lnSpc>
            </a:pPr>
            <a:r>
              <a:rPr sz="3900" b="1" kern="0" spc="5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rPr>
              <a:t>参考资料</a:t>
            </a:r>
            <a:endParaRPr sz="3900" b="1" kern="0" spc="5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endParaRPr>
          </a:p>
        </p:txBody>
      </p:sp>
      <p:sp>
        <p:nvSpPr>
          <p:cNvPr id="514" name="path 514"/>
          <p:cNvSpPr/>
          <p:nvPr/>
        </p:nvSpPr>
        <p:spPr>
          <a:xfrm>
            <a:off x="0" y="104013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516" name="path 516"/>
          <p:cNvSpPr/>
          <p:nvPr/>
        </p:nvSpPr>
        <p:spPr>
          <a:xfrm>
            <a:off x="0" y="635635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
        <p:nvSpPr>
          <p:cNvPr id="518" name="textbox 518"/>
          <p:cNvSpPr/>
          <p:nvPr/>
        </p:nvSpPr>
        <p:spPr>
          <a:xfrm>
            <a:off x="11807621" y="6478473"/>
            <a:ext cx="160020" cy="1644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76000"/>
              </a:lnSpc>
            </a:pPr>
            <a:endParaRPr sz="12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textbox 520"/>
          <p:cNvSpPr/>
          <p:nvPr/>
        </p:nvSpPr>
        <p:spPr>
          <a:xfrm>
            <a:off x="4195578" y="2628257"/>
            <a:ext cx="3719829" cy="2776220"/>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a:ea typeface="Arial" panose="020B0604020202020204"/>
              <a:cs typeface="Arial" panose="020B0604020202020204"/>
            </a:endParaRPr>
          </a:p>
          <a:p>
            <a:pPr marL="12700" algn="l" rtl="0" eaLnBrk="0">
              <a:lnSpc>
                <a:spcPct val="85000"/>
              </a:lnSpc>
            </a:pPr>
            <a:r>
              <a:rPr sz="5900" kern="0" spc="-53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rPr>
              <a:t>谢谢大家！</a:t>
            </a:r>
            <a:endParaRPr sz="5900" dirty="0">
              <a:solidFill>
                <a:schemeClr val="tx1"/>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680085" algn="l" rtl="0" eaLnBrk="0">
              <a:lnSpc>
                <a:spcPct val="83000"/>
              </a:lnSpc>
              <a:spcBef>
                <a:spcPts val="725"/>
              </a:spcBef>
            </a:pPr>
            <a:r>
              <a:rPr sz="2400" kern="0" spc="-130" dirty="0">
                <a:solidFill>
                  <a:srgbClr val="000000">
                    <a:alpha val="100000"/>
                  </a:srgbClr>
                </a:solidFill>
                <a:latin typeface="楷体" panose="02010609060101010101" charset="-122"/>
                <a:ea typeface="楷体" panose="02010609060101010101" charset="-122"/>
                <a:cs typeface="楷体" panose="02010609060101010101" charset="-122"/>
              </a:rPr>
              <a:t>《金融方舟》编辑部</a:t>
            </a:r>
            <a:endParaRPr sz="2400" dirty="0">
              <a:latin typeface="楷体" panose="02010609060101010101" charset="-122"/>
              <a:ea typeface="楷体" panose="02010609060101010101" charset="-122"/>
              <a:cs typeface="楷体" panose="02010609060101010101" charset="-122"/>
            </a:endParaRPr>
          </a:p>
          <a:p>
            <a:pPr marL="1475740" algn="l" rtl="0" eaLnBrk="0">
              <a:lnSpc>
                <a:spcPts val="3590"/>
              </a:lnSpc>
            </a:pPr>
            <a:r>
              <a:rPr lang="zh-CN" sz="2400" kern="0" spc="-60" dirty="0">
                <a:solidFill>
                  <a:srgbClr val="000000">
                    <a:alpha val="100000"/>
                  </a:srgbClr>
                </a:solidFill>
                <a:latin typeface="楷体" panose="02010609060101010101" charset="-122"/>
                <a:ea typeface="楷体" panose="02010609060101010101" charset="-122"/>
                <a:cs typeface="楷体" panose="02010609060101010101" charset="-122"/>
              </a:rPr>
              <a:t>邓湘雯</a:t>
            </a:r>
            <a:endParaRPr sz="2400" dirty="0">
              <a:latin typeface="楷体" panose="02010609060101010101" charset="-122"/>
              <a:ea typeface="楷体" panose="02010609060101010101" charset="-122"/>
              <a:cs typeface="楷体" panose="02010609060101010101" charset="-122"/>
            </a:endParaRPr>
          </a:p>
          <a:p>
            <a:pPr algn="l" rtl="0" eaLnBrk="0">
              <a:lnSpc>
                <a:spcPct val="109000"/>
              </a:lnSpc>
            </a:pPr>
            <a:endParaRPr sz="900" dirty="0">
              <a:latin typeface="Arial" panose="020B0604020202020204"/>
              <a:ea typeface="Arial" panose="020B0604020202020204"/>
              <a:cs typeface="Arial" panose="020B0604020202020204"/>
            </a:endParaRPr>
          </a:p>
          <a:p>
            <a:pPr marL="840105" algn="l" rtl="0" eaLnBrk="0">
              <a:lnSpc>
                <a:spcPct val="90000"/>
              </a:lnSpc>
              <a:spcBef>
                <a:spcPts val="0"/>
              </a:spcBef>
            </a:pPr>
            <a:r>
              <a:rPr sz="2400" kern="0" spc="-10" dirty="0">
                <a:solidFill>
                  <a:srgbClr val="000000">
                    <a:alpha val="100000"/>
                  </a:srgbClr>
                </a:solidFill>
                <a:latin typeface="Times New Roman" panose="02020603050405020304"/>
                <a:ea typeface="Times New Roman" panose="02020603050405020304"/>
                <a:cs typeface="Times New Roman" panose="02020603050405020304"/>
              </a:rPr>
              <a:t>2025</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年</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10</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月</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a:t>
            </a:r>
            <a:r>
              <a:rPr lang="en-US" sz="2400" kern="0" spc="-10" dirty="0">
                <a:solidFill>
                  <a:srgbClr val="000000">
                    <a:alpha val="100000"/>
                  </a:srgbClr>
                </a:solidFill>
                <a:latin typeface="Times New Roman" panose="02020603050405020304"/>
                <a:ea typeface="Times New Roman" panose="02020603050405020304"/>
                <a:cs typeface="Times New Roman" panose="02020603050405020304"/>
              </a:rPr>
              <a:t>9</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日</a:t>
            </a:r>
            <a:endParaRPr sz="2400" dirty="0">
              <a:latin typeface="楷体" panose="02010609060101010101" charset="-122"/>
              <a:ea typeface="楷体" panose="02010609060101010101" charset="-122"/>
              <a:cs typeface="楷体" panose="02010609060101010101" charset="-122"/>
            </a:endParaRPr>
          </a:p>
        </p:txBody>
      </p:sp>
      <p:sp>
        <p:nvSpPr>
          <p:cNvPr id="522" name="rect 522"/>
          <p:cNvSpPr/>
          <p:nvPr/>
        </p:nvSpPr>
        <p:spPr>
          <a:xfrm>
            <a:off x="0" y="0"/>
            <a:ext cx="12192000" cy="357759"/>
          </a:xfrm>
          <a:prstGeom prst="rect">
            <a:avLst/>
          </a:prstGeom>
          <a:solidFill>
            <a:schemeClr val="accent6"/>
          </a:solidFill>
          <a:ln w="0" cap="flat">
            <a:noFill/>
            <a:prstDash val="solid"/>
            <a:miter lim="0"/>
          </a:ln>
        </p:spPr>
        <p:txBody>
          <a:bodyPr rtlCol="0"/>
          <a:lstStyle/>
          <a:p>
            <a:pPr algn="ctr"/>
            <a:endParaRPr lang="zh-CN" altLang="en-US"/>
          </a:p>
        </p:txBody>
      </p:sp>
      <p:pic>
        <p:nvPicPr>
          <p:cNvPr id="524" name="picture 524"/>
          <p:cNvPicPr>
            <a:picLocks noChangeAspect="1"/>
          </p:cNvPicPr>
          <p:nvPr/>
        </p:nvPicPr>
        <p:blipFill>
          <a:blip r:embed="rId1"/>
          <a:stretch>
            <a:fillRect/>
          </a:stretch>
        </p:blipFill>
        <p:spPr>
          <a:xfrm rot="21600000">
            <a:off x="28721" y="366363"/>
            <a:ext cx="3962265" cy="729085"/>
          </a:xfrm>
          <a:prstGeom prst="rect">
            <a:avLst/>
          </a:prstGeom>
        </p:spPr>
      </p:pic>
      <p:sp>
        <p:nvSpPr>
          <p:cNvPr id="506" name="path 506"/>
          <p:cNvSpPr/>
          <p:nvPr/>
        </p:nvSpPr>
        <p:spPr>
          <a:xfrm>
            <a:off x="-40640" y="6812281"/>
            <a:ext cx="12192000" cy="45718"/>
          </a:xfrm>
          <a:custGeom>
            <a:avLst/>
            <a:gdLst/>
            <a:ahLst/>
            <a:cxnLst/>
            <a:rect l="0" t="0" r="0" b="0"/>
            <a:pathLst>
              <a:path w="19200" h="71">
                <a:moveTo>
                  <a:pt x="0" y="71"/>
                </a:moveTo>
                <a:lnTo>
                  <a:pt x="19200" y="71"/>
                </a:lnTo>
                <a:lnTo>
                  <a:pt x="19200" y="0"/>
                </a:lnTo>
                <a:lnTo>
                  <a:pt x="0" y="0"/>
                </a:lnTo>
                <a:lnTo>
                  <a:pt x="0" y="71"/>
                </a:lnTo>
                <a:close/>
              </a:path>
            </a:pathLst>
          </a:custGeom>
          <a:solidFill>
            <a:schemeClr val="accent6"/>
          </a:solidFill>
          <a:ln w="0" cap="flat">
            <a:noFill/>
            <a:prstDash val="solid"/>
            <a:miter lim="0"/>
          </a:ln>
        </p:spPr>
        <p:txBody>
          <a:bodyPr rtlCol="0"/>
          <a:lstStyle/>
          <a:p>
            <a:pPr algn="ctr"/>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i*1_1"/>
  <p:tag name="KSO_WM_TEMPLATE_CATEGORY" val="diagram"/>
  <p:tag name="KSO_WM_TEMPLATE_INDEX" val="20235236"/>
  <p:tag name="KSO_WM_UNIT_LAYERLEVEL" val="1_1"/>
  <p:tag name="KSO_WM_TAG_VERSION" val="3.0"/>
  <p:tag name="KSO_WM_UNIT_TYPE" val="m_i"/>
  <p:tag name="KSO_WM_UNIT_INDEX" val="1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gradient&quot;:[{&quot;brightness&quot;:0.800000011920929,&quot;colorType&quot;:1,&quot;foreColorIndex&quot;:5,&quot;pos&quot;:0,&quot;transparency&quot;:0},{&quot;brightness&quot;:0,&quot;colorType&quot;:1,&quot;foreColorIndex&quot;:5,&quot;pos&quot;:0.8799999952316284,&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i*1_2"/>
  <p:tag name="KSO_WM_TEMPLATE_CATEGORY" val="diagram"/>
  <p:tag name="KSO_WM_TEMPLATE_INDEX" val="20235236"/>
  <p:tag name="KSO_WM_UNIT_LAYERLEVEL" val="1_1"/>
  <p:tag name="KSO_WM_TAG_VERSION" val="3.0"/>
  <p:tag name="KSO_WM_UNIT_TYPE" val="m_i"/>
  <p:tag name="KSO_WM_UNIT_INDEX" val="1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DIAGRAM_USE_COLOR_VALUE" val="{&quot;color_scheme&quot;:1,&quot;color_type&quot;:1,&quot;theme_color_indexes&quot;:[10,10,10,10,10,10]}"/>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1_1"/>
  <p:tag name="KSO_WM_TEMPLATE_CATEGORY" val="diagram"/>
  <p:tag name="KSO_WM_TEMPLATE_INDEX" val="20235236"/>
  <p:tag name="KSO_WM_UNIT_LAYERLEVEL" val="1_1_1"/>
  <p:tag name="KSO_WM_TAG_VERSION" val="3.0"/>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1_2"/>
  <p:tag name="KSO_WM_TEMPLATE_CATEGORY" val="diagram"/>
  <p:tag name="KSO_WM_TEMPLATE_INDEX" val="20235236"/>
  <p:tag name="KSO_WM_UNIT_LAYERLEVEL" val="1_1_1"/>
  <p:tag name="KSO_WM_TAG_VERSION" val="3.0"/>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f*1_1_1"/>
  <p:tag name="KSO_WM_TEMPLATE_CATEGORY" val="diagram"/>
  <p:tag name="KSO_WM_TEMPLATE_INDEX" val="20235236"/>
  <p:tag name="KSO_WM_UNIT_LAYERLEVEL" val="1_1_1"/>
  <p:tag name="KSO_WM_TAG_VERSION" val="3.0"/>
  <p:tag name="KSO_WM_UNIT_SUBTYPE" val="a"/>
  <p:tag name="KSO_WM_UNIT_TEXT_LAYER_COUNT" val="1"/>
  <p:tag name="KSO_WM_UNIT_NOCLEAR" val="0"/>
  <p:tag name="KSO_WM_UNIT_VALUE" val="36"/>
  <p:tag name="KSO_WM_UNIT_TYPE" val="m_h_f"/>
  <p:tag name="KSO_WM_UNIT_INDEX" val="1_1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正文内容&#10;单击此处输入项正文"/>
  <p:tag name="KSO_WM_UNIT_TEXT_FILL_FORE_SCHEMECOLOR_INDEX" val="1"/>
  <p:tag name="KSO_WM_UNIT_TEXT_FILL_TYPE" val="1"/>
  <p:tag name="KSO_WM_UNIT_TEXT_TYPE" val="1"/>
  <p:tag name="KSO_WM_DIAGRAM_USE_COLOR_VALUE" val="{&quot;color_scheme&quot;:1,&quot;color_type&quot;:1,&quot;theme_color_indexes&quot;:[10,10,10,10,10,10]}"/>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2_1"/>
  <p:tag name="KSO_WM_TEMPLATE_CATEGORY" val="diagram"/>
  <p:tag name="KSO_WM_TEMPLATE_INDEX" val="20235236"/>
  <p:tag name="KSO_WM_UNIT_LAYERLEVEL" val="1_1_1"/>
  <p:tag name="KSO_WM_TAG_VERSION" val="3.0"/>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2_2"/>
  <p:tag name="KSO_WM_TEMPLATE_CATEGORY" val="diagram"/>
  <p:tag name="KSO_WM_TEMPLATE_INDEX" val="20235236"/>
  <p:tag name="KSO_WM_UNIT_LAYERLEVEL" val="1_1_1"/>
  <p:tag name="KSO_WM_TAG_VERSION" val="3.0"/>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f*1_2_1"/>
  <p:tag name="KSO_WM_TEMPLATE_CATEGORY" val="diagram"/>
  <p:tag name="KSO_WM_TEMPLATE_INDEX" val="20235236"/>
  <p:tag name="KSO_WM_UNIT_LAYERLEVEL" val="1_1_1"/>
  <p:tag name="KSO_WM_TAG_VERSION" val="3.0"/>
  <p:tag name="KSO_WM_UNIT_SUBTYPE" val="a"/>
  <p:tag name="KSO_WM_UNIT_TEXT_LAYER_COUNT" val="1"/>
  <p:tag name="KSO_WM_UNIT_NOCLEAR" val="0"/>
  <p:tag name="KSO_WM_UNIT_TYPE" val="m_h_f"/>
  <p:tag name="KSO_WM_UNIT_INDEX" val="1_2_1"/>
  <p:tag name="KSO_WM_DIAGRAM_GROUP_CODE" val="m1-1"/>
  <p:tag name="KSO_WM_DIAGRAM_VERSION" val="3"/>
  <p:tag name="KSO_WM_DIAGRAM_COLOR_TRICK" val="1"/>
  <p:tag name="KSO_WM_DIAGRAM_COLOR_TEXT_CAN_REMOVE" val="n"/>
  <p:tag name="KSO_WM_UNIT_VALUE" val="36"/>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正文&#10;单击此处输入项正文"/>
  <p:tag name="KSO_WM_UNIT_TEXT_FILL_FORE_SCHEMECOLOR_INDEX" val="1"/>
  <p:tag name="KSO_WM_UNIT_TEXT_FILL_TYPE" val="1"/>
  <p:tag name="KSO_WM_UNIT_TEXT_TYPE" val="1"/>
  <p:tag name="KSO_WM_DIAGRAM_USE_COLOR_VALUE" val="{&quot;color_scheme&quot;:1,&quot;color_type&quot;:1,&quot;theme_color_indexes&quot;:[10,10,10,10,10,10]}"/>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3_1"/>
  <p:tag name="KSO_WM_TEMPLATE_CATEGORY" val="diagram"/>
  <p:tag name="KSO_WM_TEMPLATE_INDEX" val="20235236"/>
  <p:tag name="KSO_WM_UNIT_LAYERLEVEL" val="1_1_1"/>
  <p:tag name="KSO_WM_TAG_VERSION" val="3.0"/>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3_2"/>
  <p:tag name="KSO_WM_TEMPLATE_CATEGORY" val="diagram"/>
  <p:tag name="KSO_WM_TEMPLATE_INDEX" val="20235236"/>
  <p:tag name="KSO_WM_UNIT_LAYERLEVEL" val="1_1_1"/>
  <p:tag name="KSO_WM_TAG_VERSION" val="3.0"/>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f*1_3_1"/>
  <p:tag name="KSO_WM_TEMPLATE_CATEGORY" val="diagram"/>
  <p:tag name="KSO_WM_TEMPLATE_INDEX" val="20235236"/>
  <p:tag name="KSO_WM_UNIT_LAYERLEVEL" val="1_1_1"/>
  <p:tag name="KSO_WM_TAG_VERSION" val="3.0"/>
  <p:tag name="KSO_WM_UNIT_SUBTYPE" val="a"/>
  <p:tag name="KSO_WM_UNIT_TEXT_LAYER_COUNT" val="1"/>
  <p:tag name="KSO_WM_UNIT_NOCLEAR" val="0"/>
  <p:tag name="KSO_WM_UNIT_TYPE" val="m_h_f"/>
  <p:tag name="KSO_WM_UNIT_INDEX" val="1_3_1"/>
  <p:tag name="KSO_WM_DIAGRAM_GROUP_CODE" val="m1-1"/>
  <p:tag name="KSO_WM_DIAGRAM_VERSION" val="3"/>
  <p:tag name="KSO_WM_DIAGRAM_COLOR_TRICK" val="1"/>
  <p:tag name="KSO_WM_DIAGRAM_COLOR_TEXT_CAN_REMOVE" val="n"/>
  <p:tag name="KSO_WM_UNIT_VALUE" val="36"/>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输入正文内容&#10;单击此处输入项正文内容"/>
  <p:tag name="KSO_WM_UNIT_TEXT_FILL_FORE_SCHEMECOLOR_INDEX" val="1"/>
  <p:tag name="KSO_WM_UNIT_TEXT_FILL_TYPE" val="1"/>
  <p:tag name="KSO_WM_UNIT_TEXT_TYPE" val="1"/>
  <p:tag name="KSO_WM_DIAGRAM_USE_COLOR_VALUE" val="{&quot;color_scheme&quot;:1,&quot;color_type&quot;:1,&quot;theme_color_indexes&quot;:[10,10,10,10,10,10]}"/>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4_1"/>
  <p:tag name="KSO_WM_TEMPLATE_CATEGORY" val="diagram"/>
  <p:tag name="KSO_WM_TEMPLATE_INDEX" val="20235236"/>
  <p:tag name="KSO_WM_UNIT_LAYERLEVEL" val="1_1_1"/>
  <p:tag name="KSO_WM_TAG_VERSION" val="3.0"/>
  <p:tag name="KSO_WM_UNIT_TYPE" val="m_h_i"/>
  <p:tag name="KSO_WM_UNIT_INDEX" val="1_4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4_2"/>
  <p:tag name="KSO_WM_TEMPLATE_CATEGORY" val="diagram"/>
  <p:tag name="KSO_WM_TEMPLATE_INDEX" val="20235236"/>
  <p:tag name="KSO_WM_UNIT_LAYERLEVEL" val="1_1_1"/>
  <p:tag name="KSO_WM_TAG_VERSION" val="3.0"/>
  <p:tag name="KSO_WM_UNIT_TYPE" val="m_h_i"/>
  <p:tag name="KSO_WM_UNIT_INDEX" val="1_4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5_1"/>
  <p:tag name="KSO_WM_TEMPLATE_CATEGORY" val="diagram"/>
  <p:tag name="KSO_WM_TEMPLATE_INDEX" val="20235236"/>
  <p:tag name="KSO_WM_UNIT_LAYERLEVEL" val="1_1_1"/>
  <p:tag name="KSO_WM_TAG_VERSION" val="3.0"/>
  <p:tag name="KSO_WM_UNIT_TYPE" val="m_h_i"/>
  <p:tag name="KSO_WM_UNIT_INDEX" val="1_5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5_2"/>
  <p:tag name="KSO_WM_TEMPLATE_CATEGORY" val="diagram"/>
  <p:tag name="KSO_WM_TEMPLATE_INDEX" val="20235236"/>
  <p:tag name="KSO_WM_UNIT_LAYERLEVEL" val="1_1_1"/>
  <p:tag name="KSO_WM_TAG_VERSION" val="3.0"/>
  <p:tag name="KSO_WM_UNIT_TYPE" val="m_h_i"/>
  <p:tag name="KSO_WM_UNIT_INDEX" val="1_5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6_1"/>
  <p:tag name="KSO_WM_TEMPLATE_CATEGORY" val="diagram"/>
  <p:tag name="KSO_WM_TEMPLATE_INDEX" val="20235236"/>
  <p:tag name="KSO_WM_UNIT_LAYERLEVEL" val="1_1_1"/>
  <p:tag name="KSO_WM_TAG_VERSION" val="3.0"/>
  <p:tag name="KSO_WM_UNIT_TYPE" val="m_h_i"/>
  <p:tag name="KSO_WM_UNIT_INDEX" val="1_6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6_2"/>
  <p:tag name="KSO_WM_TEMPLATE_CATEGORY" val="diagram"/>
  <p:tag name="KSO_WM_TEMPLATE_INDEX" val="20235236"/>
  <p:tag name="KSO_WM_UNIT_LAYERLEVEL" val="1_1_1"/>
  <p:tag name="KSO_WM_TAG_VERSION" val="3.0"/>
  <p:tag name="KSO_WM_UNIT_TYPE" val="m_h_i"/>
  <p:tag name="KSO_WM_UNIT_INDEX" val="1_6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7_1"/>
  <p:tag name="KSO_WM_TEMPLATE_CATEGORY" val="diagram"/>
  <p:tag name="KSO_WM_TEMPLATE_INDEX" val="20235236"/>
  <p:tag name="KSO_WM_UNIT_LAYERLEVEL" val="1_1_1"/>
  <p:tag name="KSO_WM_TAG_VERSION" val="3.0"/>
  <p:tag name="KSO_WM_UNIT_TYPE" val="m_h_i"/>
  <p:tag name="KSO_WM_UNIT_INDEX" val="1_7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7_2"/>
  <p:tag name="KSO_WM_TEMPLATE_CATEGORY" val="diagram"/>
  <p:tag name="KSO_WM_TEMPLATE_INDEX" val="20235236"/>
  <p:tag name="KSO_WM_UNIT_LAYERLEVEL" val="1_1_1"/>
  <p:tag name="KSO_WM_TAG_VERSION" val="3.0"/>
  <p:tag name="KSO_WM_UNIT_TYPE" val="m_h_i"/>
  <p:tag name="KSO_WM_UNIT_INDEX" val="1_7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8_1"/>
  <p:tag name="KSO_WM_TEMPLATE_CATEGORY" val="diagram"/>
  <p:tag name="KSO_WM_TEMPLATE_INDEX" val="20235236"/>
  <p:tag name="KSO_WM_UNIT_LAYERLEVEL" val="1_1_1"/>
  <p:tag name="KSO_WM_TAG_VERSION" val="3.0"/>
  <p:tag name="KSO_WM_UNIT_TYPE" val="m_h_i"/>
  <p:tag name="KSO_WM_UNIT_INDEX" val="1_8_1"/>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type&quot;:0},&quot;glow&quot;:{&quot;colorType&quot;:0},&quot;line&quot;:{&quot;solidLine&quot;:{&quot;brightness&quot;:0,&quot;colorType&quot;:1,&quot;foreColorIndex&quot;:5,&quot;transparency&quot;:0.800000011920929},&quot;type&quot;:1},&quot;shadow&quot;:{&quot;brightness&quot;:0,&quot;colorType&quot;:1,&quot;foreColorIndex&quot;:5,&quot;transparency&quot;:0.6600000262260437},&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10,10,10,10,10,10]}"/>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i*1_8_2"/>
  <p:tag name="KSO_WM_TEMPLATE_CATEGORY" val="diagram"/>
  <p:tag name="KSO_WM_TEMPLATE_INDEX" val="20235236"/>
  <p:tag name="KSO_WM_UNIT_LAYERLEVEL" val="1_1_1"/>
  <p:tag name="KSO_WM_TAG_VERSION" val="3.0"/>
  <p:tag name="KSO_WM_UNIT_TYPE" val="m_h_i"/>
  <p:tag name="KSO_WM_UNIT_INDEX" val="1_8_2"/>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10,10,10,10,10,10]}"/>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i*1_3"/>
  <p:tag name="KSO_WM_TEMPLATE_CATEGORY" val="diagram"/>
  <p:tag name="KSO_WM_TEMPLATE_INDEX" val="20235236"/>
  <p:tag name="KSO_WM_UNIT_LAYERLEVEL" val="1_1"/>
  <p:tag name="KSO_WM_TAG_VERSION" val="3.0"/>
  <p:tag name="KSO_WM_UNIT_TYPE" val="m_i"/>
  <p:tag name="KSO_WM_UNIT_INDEX" val="1_3"/>
  <p:tag name="KSO_WM_DIAGRAM_GROUP_CODE" val="m1-1"/>
  <p:tag name="KSO_WM_DIAGRAM_VERSION" val="3"/>
  <p:tag name="KSO_WM_DIAGRAM_COLOR_TRICK" val="1"/>
  <p:tag name="KSO_WM_DIAGRAM_COLOR_TEXT_CAN_REMOVE" val="n"/>
  <p:tag name="KSO_WM_DIAGRAM_MAX_ITEMCNT" val="8"/>
  <p:tag name="KSO_WM_DIAGRAM_MIN_ITEMCNT" val="4"/>
  <p:tag name="KSO_WM_DIAGRAM_VIRTUALLY_FRAME" val="{&quot;height&quot;:313.82897637795287,&quot;left&quot;:-7.063433837890625,&quot;top&quot;:127.25,&quot;width&quot;:987.148945648914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10,10,10,10,10,10]}"/>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36_5*m_h_f*1_3_1"/>
  <p:tag name="KSO_WM_TEMPLATE_CATEGORY" val="diagram"/>
  <p:tag name="KSO_WM_TEMPLATE_INDEX" val="20235236"/>
  <p:tag name="KSO_WM_UNIT_LAYERLEVEL" val="1_1_1"/>
  <p:tag name="KSO_WM_TAG_VERSION" val="3.0"/>
  <p:tag name="KSO_WM_UNIT_SUBTYPE" val="a"/>
  <p:tag name="KSO_WM_UNIT_TEXT_LAYER_COUNT" val="1"/>
  <p:tag name="KSO_WM_UNIT_NOCLEAR" val="0"/>
  <p:tag name="KSO_WM_UNIT_TYPE" val="m_h_f"/>
  <p:tag name="KSO_WM_UNIT_INDEX" val="1_3_1"/>
  <p:tag name="KSO_WM_DIAGRAM_GROUP_CODE" val="m1-1"/>
  <p:tag name="KSO_WM_DIAGRAM_VERSION" val="3"/>
  <p:tag name="KSO_WM_DIAGRAM_COLOR_TRICK" val="1"/>
  <p:tag name="KSO_WM_DIAGRAM_COLOR_TEXT_CAN_REMOVE" val="n"/>
  <p:tag name="KSO_WM_UNIT_VALUE" val="36"/>
  <p:tag name="KSO_WM_DIAGRAM_MAX_ITEMCNT" val="8"/>
  <p:tag name="KSO_WM_DIAGRAM_MIN_ITEMCNT" val="4"/>
  <p:tag name="KSO_WM_DIAGRAM_VIRTUALLY_FRAME" val="{&quot;height&quot;:263.82897637795276,&quot;left&quot;:32.036566162109374,&quot;top&quot;:155.4,&quot;width&quot;:886.24894564891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正文内容&#10;单击此处输入项正文内容"/>
  <p:tag name="KSO_WM_UNIT_TEXT_FILL_FORE_SCHEMECOLOR_INDEX" val="1"/>
  <p:tag name="KSO_WM_UNIT_TEXT_FILL_TYPE" val="1"/>
  <p:tag name="KSO_WM_UNIT_TEXT_TYPE" val="1"/>
  <p:tag name="KSO_WM_DIAGRAM_USE_COLOR_VALUE" val="{&quot;color_scheme&quot;:1,&quot;color_type&quot;:1,&quot;theme_color_indexes&quot;:[10,10,10,10,10,10]}"/>
</p:tagLst>
</file>

<file path=ppt/tags/tag27.xml><?xml version="1.0" encoding="utf-8"?>
<p:tagLst xmlns:p="http://schemas.openxmlformats.org/presentationml/2006/main">
  <p:tag name="TABLE_ENDDRAG_ORIGIN_RECT" val="876*378"/>
  <p:tag name="TABLE_ENDDRAG_RECT" val="27*92*876*378"/>
</p:tagLst>
</file>

<file path=ppt/tags/tag28.xml><?xml version="1.0" encoding="utf-8"?>
<p:tagLst xmlns:p="http://schemas.openxmlformats.org/presentationml/2006/main">
  <p:tag name="TABLE_ENDDRAG_ORIGIN_RECT" val="830*386"/>
  <p:tag name="TABLE_ENDDRAG_RECT" val="81*104*830*386"/>
</p:tagLst>
</file>

<file path=ppt/tags/tag29.xml><?xml version="1.0" encoding="utf-8"?>
<p:tagLst xmlns:p="http://schemas.openxmlformats.org/presentationml/2006/main">
  <p:tag name="resource_record_key" val="{&quot;70&quot;:[3327938,3402718]}"/>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7293</Words>
  <Application>WPS 演示</Application>
  <PresentationFormat/>
  <Paragraphs>390</Paragraphs>
  <Slides>20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宋体</vt:lpstr>
      <vt:lpstr>Wingdings</vt:lpstr>
      <vt:lpstr>Arial</vt:lpstr>
      <vt:lpstr>楷体</vt:lpstr>
      <vt:lpstr>Times New Roman</vt:lpstr>
      <vt:lpstr>华文楷体</vt:lpstr>
      <vt:lpstr>Wingdings</vt:lpstr>
      <vt:lpstr>ui-sans-serif</vt:lpstr>
      <vt:lpstr>ksdb</vt:lpstr>
      <vt:lpstr>微软雅黑</vt:lpstr>
      <vt:lpstr>Arial Unicode MS</vt:lpstr>
      <vt:lpstr>Calibri</vt:lpstr>
      <vt:lpstr>Microsoft Sans Serif</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Rocalight</cp:lastModifiedBy>
  <cp:revision>12</cp:revision>
  <dcterms:created xsi:type="dcterms:W3CDTF">2025-10-16T00:16:00Z</dcterms:created>
  <dcterms:modified xsi:type="dcterms:W3CDTF">2025-10-19T03:27:30Z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2025-10-17T08:14:40Z</vt:filetime>
  </property>
  <property fmtid="{D5CDD505-2E9C-101B-9397-08002B2CF9AE}" pid="4" name="ICV">
    <vt:lpwstr>3147E09D1A0B450AAA092CE758EDBF0C_12</vt:lpwstr>
  </property>
  <property fmtid="{D5CDD505-2E9C-101B-9397-08002B2CF9AE}" pid="5" name="KSOProductBuildVer">
    <vt:lpwstr>2052-12.1.0.23125</vt:lpwstr>
  </property>
</Properties>
</file>