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2"/>
  </p:sldMasterIdLst>
  <p:notesMasterIdLst>
    <p:notesMasterId r:id="rId25"/>
  </p:notesMasterIdLst>
  <p:handoutMasterIdLst>
    <p:handoutMasterId r:id="rId26"/>
  </p:handoutMasterIdLst>
  <p:sldIdLst>
    <p:sldId id="417" r:id="rId3"/>
    <p:sldId id="1300" r:id="rId4"/>
    <p:sldId id="1317" r:id="rId5"/>
    <p:sldId id="1115" r:id="rId6"/>
    <p:sldId id="1287" r:id="rId7"/>
    <p:sldId id="1304" r:id="rId8"/>
    <p:sldId id="1290" r:id="rId9"/>
    <p:sldId id="1301" r:id="rId10"/>
    <p:sldId id="1285" r:id="rId11"/>
    <p:sldId id="1314" r:id="rId12"/>
    <p:sldId id="1316" r:id="rId13"/>
    <p:sldId id="1298" r:id="rId14"/>
    <p:sldId id="1296" r:id="rId15"/>
    <p:sldId id="1305" r:id="rId16"/>
    <p:sldId id="1283" r:id="rId17"/>
    <p:sldId id="1309" r:id="rId18"/>
    <p:sldId id="1308" r:id="rId19"/>
    <p:sldId id="1315" r:id="rId20"/>
    <p:sldId id="1302" r:id="rId21"/>
    <p:sldId id="1312" r:id="rId22"/>
    <p:sldId id="1303" r:id="rId23"/>
    <p:sldId id="1275" r:id="rId24"/>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婧宜" initials="张" lastIdx="18" clrIdx="0"/>
  <p:cmAuthor id="2" name="teacher" initials="t" lastIdx="3" clrIdx="1"/>
  <p:cmAuthor id="3" name="兰欣 马" initials="兰马" lastIdx="85" clrIdx="2"/>
  <p:cmAuthor id="4" name="张国泰" initials="张国泰" lastIdx="18" clrIdx="3">
    <p:extLst>
      <p:ext uri="{19B8F6BF-5375-455C-9EA6-DF929625EA0E}">
        <p15:presenceInfo xmlns:p15="http://schemas.microsoft.com/office/powerpoint/2012/main" userId="张国泰"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A62B00"/>
    <a:srgbClr val="FFB3B3"/>
    <a:srgbClr val="FBE5D6"/>
    <a:srgbClr val="C10404"/>
    <a:srgbClr val="9D310C"/>
    <a:srgbClr val="000000"/>
    <a:srgbClr val="FFFFFF"/>
    <a:srgbClr val="C0504D"/>
    <a:srgbClr val="BC3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8" autoAdjust="0"/>
    <p:restoredTop sz="88911" autoAdjust="0"/>
  </p:normalViewPr>
  <p:slideViewPr>
    <p:cSldViewPr snapToGrid="0">
      <p:cViewPr varScale="1">
        <p:scale>
          <a:sx n="85" d="100"/>
          <a:sy n="85" d="100"/>
        </p:scale>
        <p:origin x="451" y="53"/>
      </p:cViewPr>
      <p:guideLst/>
    </p:cSldViewPr>
  </p:slideViewPr>
  <p:outlineViewPr>
    <p:cViewPr>
      <p:scale>
        <a:sx n="33" d="100"/>
        <a:sy n="33" d="100"/>
      </p:scale>
      <p:origin x="0" y="-5970"/>
    </p:cViewPr>
  </p:outlineViewPr>
  <p:notesTextViewPr>
    <p:cViewPr>
      <p:scale>
        <a:sx n="150" d="100"/>
        <a:sy n="150" d="100"/>
      </p:scale>
      <p:origin x="0" y="0"/>
    </p:cViewPr>
  </p:notesTextViewPr>
  <p:sorterViewPr>
    <p:cViewPr>
      <p:scale>
        <a:sx n="81" d="100"/>
        <a:sy n="81" d="100"/>
      </p:scale>
      <p:origin x="0" y="0"/>
    </p:cViewPr>
  </p:sorterViewPr>
  <p:notesViewPr>
    <p:cSldViewPr snapToGrid="0">
      <p:cViewPr varScale="1">
        <p:scale>
          <a:sx n="77" d="100"/>
          <a:sy n="77" d="100"/>
        </p:scale>
        <p:origin x="3096"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ayne\Desktop\&#26032;&#20852;&#22269;&#23478;&#40644;&#37329;&#20928;&#20080;&#21334;&#37327;&#20998;&#26512;_2021-2025_&#20013;&#25991;&#29256;.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'新兴国家黄金净买卖量分析_2021-2025_中文版'!$B$1</c:f>
              <c:strCache>
                <c:ptCount val="1"/>
                <c:pt idx="0">
                  <c:v>央行净买卖量</c:v>
                </c:pt>
              </c:strCache>
            </c:strRef>
          </c:tx>
          <c:spPr>
            <a:solidFill>
              <a:srgbClr val="C00000"/>
            </a:solidFill>
            <a:ln>
              <a:noFill/>
            </a:ln>
            <a:effectLst/>
          </c:spPr>
          <c:invertIfNegative val="0"/>
          <c:cat>
            <c:strRef>
              <c:f>'新兴国家黄金净买卖量分析_2021-2025_中文版'!$A$2:$A$25</c:f>
              <c:strCache>
                <c:ptCount val="24"/>
                <c:pt idx="0">
                  <c:v>中国大陆</c:v>
                </c:pt>
                <c:pt idx="1">
                  <c:v>土耳其</c:v>
                </c:pt>
                <c:pt idx="2">
                  <c:v>印度</c:v>
                </c:pt>
                <c:pt idx="3">
                  <c:v>巴西</c:v>
                </c:pt>
                <c:pt idx="4">
                  <c:v>泰国</c:v>
                </c:pt>
                <c:pt idx="5">
                  <c:v>匈牙利</c:v>
                </c:pt>
                <c:pt idx="6">
                  <c:v>新加坡</c:v>
                </c:pt>
                <c:pt idx="7">
                  <c:v>利比亚</c:v>
                </c:pt>
                <c:pt idx="8">
                  <c:v>加纳</c:v>
                </c:pt>
                <c:pt idx="9">
                  <c:v>柬埔寨</c:v>
                </c:pt>
                <c:pt idx="10">
                  <c:v>印度尼西亚</c:v>
                </c:pt>
                <c:pt idx="11">
                  <c:v>危地马拉</c:v>
                </c:pt>
                <c:pt idx="12">
                  <c:v>保加利亚</c:v>
                </c:pt>
                <c:pt idx="13">
                  <c:v>南非</c:v>
                </c:pt>
                <c:pt idx="14">
                  <c:v>巴基斯坦</c:v>
                </c:pt>
                <c:pt idx="15">
                  <c:v>墨西哥</c:v>
                </c:pt>
                <c:pt idx="16">
                  <c:v>尼日利亚</c:v>
                </c:pt>
                <c:pt idx="17">
                  <c:v>摩洛哥</c:v>
                </c:pt>
                <c:pt idx="18">
                  <c:v>肯尼亚</c:v>
                </c:pt>
                <c:pt idx="19">
                  <c:v>秘鲁</c:v>
                </c:pt>
                <c:pt idx="20">
                  <c:v>乌拉圭</c:v>
                </c:pt>
                <c:pt idx="21">
                  <c:v>罗马尼亚</c:v>
                </c:pt>
                <c:pt idx="22">
                  <c:v>厄瓜多尔</c:v>
                </c:pt>
                <c:pt idx="23">
                  <c:v>斯里兰卡</c:v>
                </c:pt>
              </c:strCache>
            </c:strRef>
          </c:cat>
          <c:val>
            <c:numRef>
              <c:f>'新兴国家黄金净买卖量分析_2021-2025_中文版'!$B$2:$B$25</c:f>
              <c:numCache>
                <c:formatCode>General</c:formatCode>
                <c:ptCount val="24"/>
                <c:pt idx="0">
                  <c:v>357.99819600000001</c:v>
                </c:pt>
                <c:pt idx="1">
                  <c:v>218.59998859999999</c:v>
                </c:pt>
                <c:pt idx="2">
                  <c:v>203.73689830000001</c:v>
                </c:pt>
                <c:pt idx="3">
                  <c:v>105.08223580000001</c:v>
                </c:pt>
                <c:pt idx="4">
                  <c:v>80.557369910000006</c:v>
                </c:pt>
                <c:pt idx="5">
                  <c:v>78.504556620000002</c:v>
                </c:pt>
                <c:pt idx="6">
                  <c:v>66.15657367</c:v>
                </c:pt>
                <c:pt idx="7">
                  <c:v>30.014618519999999</c:v>
                </c:pt>
                <c:pt idx="8">
                  <c:v>29.299991909999999</c:v>
                </c:pt>
                <c:pt idx="9">
                  <c:v>8.9602123729999992</c:v>
                </c:pt>
                <c:pt idx="10">
                  <c:v>6.9676181149999996</c:v>
                </c:pt>
                <c:pt idx="11">
                  <c:v>6.1273366300000003</c:v>
                </c:pt>
                <c:pt idx="12">
                  <c:v>2.0963578119999999</c:v>
                </c:pt>
                <c:pt idx="13">
                  <c:v>0.15551615799999999</c:v>
                </c:pt>
                <c:pt idx="14">
                  <c:v>0.12973896300000001</c:v>
                </c:pt>
                <c:pt idx="15">
                  <c:v>6.1999464999999997E-2</c:v>
                </c:pt>
                <c:pt idx="16">
                  <c:v>5.9595596000000001E-2</c:v>
                </c:pt>
                <c:pt idx="17">
                  <c:v>1.428571E-3</c:v>
                </c:pt>
                <c:pt idx="18">
                  <c:v>-1.2279560000000001E-3</c:v>
                </c:pt>
                <c:pt idx="19">
                  <c:v>-1.4077320000000001E-3</c:v>
                </c:pt>
                <c:pt idx="20">
                  <c:v>-2.4605769999999998E-3</c:v>
                </c:pt>
                <c:pt idx="21">
                  <c:v>-1.8661938999999999E-2</c:v>
                </c:pt>
                <c:pt idx="22">
                  <c:v>-4.9850257530000004</c:v>
                </c:pt>
                <c:pt idx="23">
                  <c:v>-6.2296684400000002</c:v>
                </c:pt>
              </c:numCache>
            </c:numRef>
          </c:val>
          <c:extLst>
            <c:ext xmlns:c16="http://schemas.microsoft.com/office/drawing/2014/chart" uri="{C3380CC4-5D6E-409C-BE32-E72D297353CC}">
              <c16:uniqueId val="{00000000-995E-4003-B75F-95B26AA5BE68}"/>
            </c:ext>
          </c:extLst>
        </c:ser>
        <c:dLbls>
          <c:showLegendKey val="0"/>
          <c:showVal val="0"/>
          <c:showCatName val="0"/>
          <c:showSerName val="0"/>
          <c:showPercent val="0"/>
          <c:showBubbleSize val="0"/>
        </c:dLbls>
        <c:gapWidth val="50"/>
        <c:overlap val="-25"/>
        <c:axId val="1739723424"/>
        <c:axId val="1739730624"/>
      </c:barChart>
      <c:catAx>
        <c:axId val="1739723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9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1739730624"/>
        <c:crosses val="autoZero"/>
        <c:auto val="0"/>
        <c:lblAlgn val="ctr"/>
        <c:lblOffset val="100"/>
        <c:noMultiLvlLbl val="0"/>
      </c:catAx>
      <c:valAx>
        <c:axId val="17397306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739723424"/>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9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legendEntry>
      <c:layout>
        <c:manualLayout>
          <c:xMode val="edge"/>
          <c:yMode val="edge"/>
          <c:x val="0.28666829547872685"/>
          <c:y val="3.7289734638444975E-2"/>
          <c:w val="0.20530033528723576"/>
          <c:h val="0.1091480319651009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2026-04-21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3B9C3C-9D89-4038-B18B-1E39839F6181}" type="datetimeFigureOut">
              <a:rPr lang="zh-CN" altLang="en-US" smtClean="0"/>
              <a:t>2026-04-21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E8ECB2-E28C-4FFB-A5EE-B6FD6344E82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信任危机与货币体系重构</a:t>
            </a:r>
          </a:p>
        </p:txBody>
      </p:sp>
      <p:sp>
        <p:nvSpPr>
          <p:cNvPr id="4" name="灯片编号占位符 3"/>
          <p:cNvSpPr>
            <a:spLocks noGrp="1"/>
          </p:cNvSpPr>
          <p:nvPr>
            <p:ph type="sldNum" sz="quarter" idx="5"/>
          </p:nvPr>
        </p:nvSpPr>
        <p:spPr/>
        <p:txBody>
          <a:bodyPr/>
          <a:lstStyle/>
          <a:p>
            <a:fld id="{36E8ECB2-E28C-4FFB-A5EE-B6FD6344E82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918CF-5DBC-4055-7DE8-81B60F482B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F4FF9B-7A75-FDCC-3C8A-950E3F1318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617AD7-4C5D-4F0F-739B-8900474A13C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5D43188-8B25-5F08-D354-3656B756B235}"/>
              </a:ext>
            </a:extLst>
          </p:cNvPr>
          <p:cNvSpPr>
            <a:spLocks noGrp="1"/>
          </p:cNvSpPr>
          <p:nvPr>
            <p:ph type="sldNum" sz="quarter" idx="5"/>
          </p:nvPr>
        </p:nvSpPr>
        <p:spPr/>
        <p:txBody>
          <a:bodyPr/>
          <a:lstStyle/>
          <a:p>
            <a:fld id="{36E8ECB2-E28C-4FFB-A5EE-B6FD6344E828}" type="slidenum">
              <a:rPr lang="zh-CN" altLang="en-US" smtClean="0"/>
              <a:t>2</a:t>
            </a:fld>
            <a:endParaRPr lang="zh-CN" altLang="en-US"/>
          </a:p>
        </p:txBody>
      </p:sp>
    </p:spTree>
    <p:extLst>
      <p:ext uri="{BB962C8B-B14F-4D97-AF65-F5344CB8AC3E}">
        <p14:creationId xmlns:p14="http://schemas.microsoft.com/office/powerpoint/2010/main" val="3056256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42E29-75CE-0E84-97A2-BDFEFCD2BB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ABDD8B-0F87-E693-BADE-C8D9B8901E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2A65F6A-A850-1A7B-EB1B-E3BCA29C56D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5922B6-71FB-0394-BD8D-DC14F56CC0D0}"/>
              </a:ext>
            </a:extLst>
          </p:cNvPr>
          <p:cNvSpPr>
            <a:spLocks noGrp="1"/>
          </p:cNvSpPr>
          <p:nvPr>
            <p:ph type="sldNum" sz="quarter" idx="5"/>
          </p:nvPr>
        </p:nvSpPr>
        <p:spPr/>
        <p:txBody>
          <a:bodyPr/>
          <a:lstStyle/>
          <a:p>
            <a:fld id="{36E8ECB2-E28C-4FFB-A5EE-B6FD6344E828}" type="slidenum">
              <a:rPr lang="zh-CN" altLang="en-US" smtClean="0"/>
              <a:t>3</a:t>
            </a:fld>
            <a:endParaRPr lang="zh-CN" altLang="en-US"/>
          </a:p>
        </p:txBody>
      </p:sp>
    </p:spTree>
    <p:extLst>
      <p:ext uri="{BB962C8B-B14F-4D97-AF65-F5344CB8AC3E}">
        <p14:creationId xmlns:p14="http://schemas.microsoft.com/office/powerpoint/2010/main" val="4114230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36E8ECB2-E28C-4FFB-A5EE-B6FD6344E828}"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FF599-BA52-6499-2CAA-F6EF7CD57D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5305F8-9957-C21E-DBA1-49D1370E9C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2494FE-9970-7D99-1364-8492215D45C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C73965-D3F7-1A0C-BC70-31EB6136F31E}"/>
              </a:ext>
            </a:extLst>
          </p:cNvPr>
          <p:cNvSpPr>
            <a:spLocks noGrp="1"/>
          </p:cNvSpPr>
          <p:nvPr>
            <p:ph type="sldNum" sz="quarter" idx="5"/>
          </p:nvPr>
        </p:nvSpPr>
        <p:spPr/>
        <p:txBody>
          <a:bodyPr/>
          <a:lstStyle/>
          <a:p>
            <a:fld id="{36E8ECB2-E28C-4FFB-A5EE-B6FD6344E828}" type="slidenum">
              <a:rPr lang="zh-CN" altLang="en-US" smtClean="0"/>
              <a:t>5</a:t>
            </a:fld>
            <a:endParaRPr lang="zh-CN" altLang="en-US"/>
          </a:p>
        </p:txBody>
      </p:sp>
    </p:spTree>
    <p:extLst>
      <p:ext uri="{BB962C8B-B14F-4D97-AF65-F5344CB8AC3E}">
        <p14:creationId xmlns:p14="http://schemas.microsoft.com/office/powerpoint/2010/main" val="1063962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52283-CEAF-21A4-E3F1-F3EA82522C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CDC049-B118-0CB5-9853-F2A08D4DBA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FBC0EE-1E20-E094-8F88-538D06C1C8D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5BA6DDC-9694-C5D1-0747-756DF57B0856}"/>
              </a:ext>
            </a:extLst>
          </p:cNvPr>
          <p:cNvSpPr>
            <a:spLocks noGrp="1"/>
          </p:cNvSpPr>
          <p:nvPr>
            <p:ph type="sldNum" sz="quarter" idx="5"/>
          </p:nvPr>
        </p:nvSpPr>
        <p:spPr/>
        <p:txBody>
          <a:bodyPr/>
          <a:lstStyle/>
          <a:p>
            <a:fld id="{36E8ECB2-E28C-4FFB-A5EE-B6FD6344E828}" type="slidenum">
              <a:rPr lang="zh-CN" altLang="en-US" smtClean="0"/>
              <a:t>6</a:t>
            </a:fld>
            <a:endParaRPr lang="zh-CN" altLang="en-US"/>
          </a:p>
        </p:txBody>
      </p:sp>
    </p:spTree>
    <p:extLst>
      <p:ext uri="{BB962C8B-B14F-4D97-AF65-F5344CB8AC3E}">
        <p14:creationId xmlns:p14="http://schemas.microsoft.com/office/powerpoint/2010/main" val="2988465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53284-C77B-A4E8-BEBB-A3EEC6A1A3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92C618-DE9A-7C59-0304-E4D3C0CD93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CE48C6-F49F-2CB7-043D-84A88856FE7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9B85199-A8FD-30B8-D57A-F801126F15EE}"/>
              </a:ext>
            </a:extLst>
          </p:cNvPr>
          <p:cNvSpPr>
            <a:spLocks noGrp="1"/>
          </p:cNvSpPr>
          <p:nvPr>
            <p:ph type="sldNum" sz="quarter" idx="5"/>
          </p:nvPr>
        </p:nvSpPr>
        <p:spPr/>
        <p:txBody>
          <a:bodyPr/>
          <a:lstStyle/>
          <a:p>
            <a:fld id="{36E8ECB2-E28C-4FFB-A5EE-B6FD6344E828}" type="slidenum">
              <a:rPr lang="zh-CN" altLang="en-US" smtClean="0"/>
              <a:t>7</a:t>
            </a:fld>
            <a:endParaRPr lang="zh-CN" altLang="en-US"/>
          </a:p>
        </p:txBody>
      </p:sp>
    </p:spTree>
    <p:extLst>
      <p:ext uri="{BB962C8B-B14F-4D97-AF65-F5344CB8AC3E}">
        <p14:creationId xmlns:p14="http://schemas.microsoft.com/office/powerpoint/2010/main" val="3862228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A044E-DD4B-70C8-FEB4-48761481AD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FE7D5F-D639-E301-06CA-7D9533A656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6F1033-932B-2198-9284-67DB2FA216B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BDE4692-2A53-055F-D71F-4B9D7A0B8E96}"/>
              </a:ext>
            </a:extLst>
          </p:cNvPr>
          <p:cNvSpPr>
            <a:spLocks noGrp="1"/>
          </p:cNvSpPr>
          <p:nvPr>
            <p:ph type="sldNum" sz="quarter" idx="5"/>
          </p:nvPr>
        </p:nvSpPr>
        <p:spPr/>
        <p:txBody>
          <a:bodyPr/>
          <a:lstStyle/>
          <a:p>
            <a:fld id="{36E8ECB2-E28C-4FFB-A5EE-B6FD6344E828}" type="slidenum">
              <a:rPr lang="zh-CN" altLang="en-US" smtClean="0"/>
              <a:t>8</a:t>
            </a:fld>
            <a:endParaRPr lang="zh-CN" altLang="en-US"/>
          </a:p>
        </p:txBody>
      </p:sp>
    </p:spTree>
    <p:extLst>
      <p:ext uri="{BB962C8B-B14F-4D97-AF65-F5344CB8AC3E}">
        <p14:creationId xmlns:p14="http://schemas.microsoft.com/office/powerpoint/2010/main" val="4254378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05577-365F-E936-217D-758064ED41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5DFA1E-99D4-1477-32A3-46F116F89D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276202-CCC0-1248-5354-872D38AC881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a:extLst>
              <a:ext uri="{FF2B5EF4-FFF2-40B4-BE49-F238E27FC236}">
                <a16:creationId xmlns:a16="http://schemas.microsoft.com/office/drawing/2014/main" id="{75A0D914-0EBD-875A-718B-85268F5E567B}"/>
              </a:ext>
            </a:extLst>
          </p:cNvPr>
          <p:cNvSpPr>
            <a:spLocks noGrp="1"/>
          </p:cNvSpPr>
          <p:nvPr>
            <p:ph type="sldNum" sz="quarter" idx="5"/>
          </p:nvPr>
        </p:nvSpPr>
        <p:spPr/>
        <p:txBody>
          <a:bodyPr/>
          <a:lstStyle/>
          <a:p>
            <a:fld id="{36E8ECB2-E28C-4FFB-A5EE-B6FD6344E828}" type="slidenum">
              <a:rPr lang="zh-CN" altLang="en-US" smtClean="0"/>
              <a:t>9</a:t>
            </a:fld>
            <a:endParaRPr lang="zh-CN" altLang="en-US"/>
          </a:p>
        </p:txBody>
      </p:sp>
    </p:spTree>
    <p:extLst>
      <p:ext uri="{BB962C8B-B14F-4D97-AF65-F5344CB8AC3E}">
        <p14:creationId xmlns:p14="http://schemas.microsoft.com/office/powerpoint/2010/main" val="2171206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1092-3355-8436-A7C8-744591AE59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DDCAEE-1D9E-4BE9-EBC1-3D2E34F531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0ACFB9-8BFC-FEB2-9B05-B716F2DAE71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9149C4F-D5C4-000E-879E-25065191351D}"/>
              </a:ext>
            </a:extLst>
          </p:cNvPr>
          <p:cNvSpPr>
            <a:spLocks noGrp="1"/>
          </p:cNvSpPr>
          <p:nvPr>
            <p:ph type="sldNum" sz="quarter" idx="5"/>
          </p:nvPr>
        </p:nvSpPr>
        <p:spPr/>
        <p:txBody>
          <a:bodyPr/>
          <a:lstStyle/>
          <a:p>
            <a:fld id="{36E8ECB2-E28C-4FFB-A5EE-B6FD6344E828}" type="slidenum">
              <a:rPr lang="zh-CN" altLang="en-US" smtClean="0"/>
              <a:t>10</a:t>
            </a:fld>
            <a:endParaRPr lang="zh-CN" altLang="en-US"/>
          </a:p>
        </p:txBody>
      </p:sp>
    </p:spTree>
    <p:extLst>
      <p:ext uri="{BB962C8B-B14F-4D97-AF65-F5344CB8AC3E}">
        <p14:creationId xmlns:p14="http://schemas.microsoft.com/office/powerpoint/2010/main" val="724941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718EA-F0B7-7B29-3AB6-75CBAC75A0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80B6CE-4EA1-6465-EC1B-D1C2B63C8B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E001D4-71FD-A4DD-3EC4-F654300407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2F01856-B4BB-0532-00A3-5B405D323FF7}"/>
              </a:ext>
            </a:extLst>
          </p:cNvPr>
          <p:cNvSpPr>
            <a:spLocks noGrp="1"/>
          </p:cNvSpPr>
          <p:nvPr>
            <p:ph type="sldNum" sz="quarter" idx="5"/>
          </p:nvPr>
        </p:nvSpPr>
        <p:spPr/>
        <p:txBody>
          <a:bodyPr/>
          <a:lstStyle/>
          <a:p>
            <a:fld id="{36E8ECB2-E28C-4FFB-A5EE-B6FD6344E828}" type="slidenum">
              <a:rPr lang="zh-CN" altLang="en-US" smtClean="0"/>
              <a:t>11</a:t>
            </a:fld>
            <a:endParaRPr lang="zh-CN" altLang="en-US"/>
          </a:p>
        </p:txBody>
      </p:sp>
    </p:spTree>
    <p:extLst>
      <p:ext uri="{BB962C8B-B14F-4D97-AF65-F5344CB8AC3E}">
        <p14:creationId xmlns:p14="http://schemas.microsoft.com/office/powerpoint/2010/main" val="1136972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EA4D2-5152-8D32-8B94-C7C27F78AB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079DE2-AB9D-F08D-5F80-70F8490EA3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9AA57F-1049-79DB-2E2A-80F254DED9B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014B029-92BC-83A7-62B7-06BA555FC85D}"/>
              </a:ext>
            </a:extLst>
          </p:cNvPr>
          <p:cNvSpPr>
            <a:spLocks noGrp="1"/>
          </p:cNvSpPr>
          <p:nvPr>
            <p:ph type="sldNum" sz="quarter" idx="5"/>
          </p:nvPr>
        </p:nvSpPr>
        <p:spPr/>
        <p:txBody>
          <a:bodyPr/>
          <a:lstStyle/>
          <a:p>
            <a:fld id="{36E8ECB2-E28C-4FFB-A5EE-B6FD6344E828}" type="slidenum">
              <a:rPr lang="zh-CN" altLang="en-US" smtClean="0"/>
              <a:t>12</a:t>
            </a:fld>
            <a:endParaRPr lang="zh-CN" altLang="en-US"/>
          </a:p>
        </p:txBody>
      </p:sp>
    </p:spTree>
    <p:extLst>
      <p:ext uri="{BB962C8B-B14F-4D97-AF65-F5344CB8AC3E}">
        <p14:creationId xmlns:p14="http://schemas.microsoft.com/office/powerpoint/2010/main" val="4310501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D0B39-4353-0B40-89F6-3D98851026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07B6BE-FE4A-0BEC-82C2-6D9E60929F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E59E4C-242B-262C-56AF-63C2AF388E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AB7F063-CFC6-3CC3-DB40-D85F9F6E0F12}"/>
              </a:ext>
            </a:extLst>
          </p:cNvPr>
          <p:cNvSpPr>
            <a:spLocks noGrp="1"/>
          </p:cNvSpPr>
          <p:nvPr>
            <p:ph type="sldNum" sz="quarter" idx="5"/>
          </p:nvPr>
        </p:nvSpPr>
        <p:spPr/>
        <p:txBody>
          <a:bodyPr/>
          <a:lstStyle/>
          <a:p>
            <a:fld id="{36E8ECB2-E28C-4FFB-A5EE-B6FD6344E828}" type="slidenum">
              <a:rPr lang="zh-CN" altLang="en-US" smtClean="0"/>
              <a:t>13</a:t>
            </a:fld>
            <a:endParaRPr lang="zh-CN" altLang="en-US"/>
          </a:p>
        </p:txBody>
      </p:sp>
    </p:spTree>
    <p:extLst>
      <p:ext uri="{BB962C8B-B14F-4D97-AF65-F5344CB8AC3E}">
        <p14:creationId xmlns:p14="http://schemas.microsoft.com/office/powerpoint/2010/main" val="2842643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29975-7FBB-7841-84ED-F186CE1FD3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B6D74A-9AEA-0391-7552-66C947F587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85AE92-48E5-6F3C-F894-FB43D48F3DA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D71DA58-7730-0397-61E3-7F5ED555EEA1}"/>
              </a:ext>
            </a:extLst>
          </p:cNvPr>
          <p:cNvSpPr>
            <a:spLocks noGrp="1"/>
          </p:cNvSpPr>
          <p:nvPr>
            <p:ph type="sldNum" sz="quarter" idx="5"/>
          </p:nvPr>
        </p:nvSpPr>
        <p:spPr/>
        <p:txBody>
          <a:bodyPr/>
          <a:lstStyle/>
          <a:p>
            <a:fld id="{36E8ECB2-E28C-4FFB-A5EE-B6FD6344E828}" type="slidenum">
              <a:rPr lang="zh-CN" altLang="en-US" smtClean="0"/>
              <a:t>14</a:t>
            </a:fld>
            <a:endParaRPr lang="zh-CN" altLang="en-US"/>
          </a:p>
        </p:txBody>
      </p:sp>
    </p:spTree>
    <p:extLst>
      <p:ext uri="{BB962C8B-B14F-4D97-AF65-F5344CB8AC3E}">
        <p14:creationId xmlns:p14="http://schemas.microsoft.com/office/powerpoint/2010/main" val="3401711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807B0-ABA3-4744-38D8-C651E798C0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B06FA3-9CEF-919E-CF5C-ABEA17E4F3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90FEDC-FF8F-5C8D-9228-CA4E19A18B6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284C3A-18A1-1B1B-19BC-518B38D0F920}"/>
              </a:ext>
            </a:extLst>
          </p:cNvPr>
          <p:cNvSpPr>
            <a:spLocks noGrp="1"/>
          </p:cNvSpPr>
          <p:nvPr>
            <p:ph type="sldNum" sz="quarter" idx="5"/>
          </p:nvPr>
        </p:nvSpPr>
        <p:spPr/>
        <p:txBody>
          <a:bodyPr/>
          <a:lstStyle/>
          <a:p>
            <a:fld id="{36E8ECB2-E28C-4FFB-A5EE-B6FD6344E828}" type="slidenum">
              <a:rPr lang="zh-CN" altLang="en-US" smtClean="0"/>
              <a:t>15</a:t>
            </a:fld>
            <a:endParaRPr lang="zh-CN" altLang="en-US"/>
          </a:p>
        </p:txBody>
      </p:sp>
    </p:spTree>
    <p:extLst>
      <p:ext uri="{BB962C8B-B14F-4D97-AF65-F5344CB8AC3E}">
        <p14:creationId xmlns:p14="http://schemas.microsoft.com/office/powerpoint/2010/main" val="3373544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DF408-BAB8-88C5-AA6F-981C0A7A3E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7BCFF6-56A4-5834-CEB9-762D202208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ECABC1-98AC-3E3E-77AD-56AD65B8C89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BC848E9-9DD5-938D-E447-94DC81E787CB}"/>
              </a:ext>
            </a:extLst>
          </p:cNvPr>
          <p:cNvSpPr>
            <a:spLocks noGrp="1"/>
          </p:cNvSpPr>
          <p:nvPr>
            <p:ph type="sldNum" sz="quarter" idx="5"/>
          </p:nvPr>
        </p:nvSpPr>
        <p:spPr/>
        <p:txBody>
          <a:bodyPr/>
          <a:lstStyle/>
          <a:p>
            <a:fld id="{36E8ECB2-E28C-4FFB-A5EE-B6FD6344E828}" type="slidenum">
              <a:rPr lang="zh-CN" altLang="en-US" smtClean="0"/>
              <a:t>16</a:t>
            </a:fld>
            <a:endParaRPr lang="zh-CN" altLang="en-US"/>
          </a:p>
        </p:txBody>
      </p:sp>
    </p:spTree>
    <p:extLst>
      <p:ext uri="{BB962C8B-B14F-4D97-AF65-F5344CB8AC3E}">
        <p14:creationId xmlns:p14="http://schemas.microsoft.com/office/powerpoint/2010/main" val="29581027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8D7F-BB57-86B1-78B8-E702B288F6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5F7716-31CD-1653-111C-AF047EA168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3840E0-A0BC-9202-3C6A-9A99C7D794A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38D65F0-EDC5-5000-262B-B4A3905C2369}"/>
              </a:ext>
            </a:extLst>
          </p:cNvPr>
          <p:cNvSpPr>
            <a:spLocks noGrp="1"/>
          </p:cNvSpPr>
          <p:nvPr>
            <p:ph type="sldNum" sz="quarter" idx="5"/>
          </p:nvPr>
        </p:nvSpPr>
        <p:spPr/>
        <p:txBody>
          <a:bodyPr/>
          <a:lstStyle/>
          <a:p>
            <a:fld id="{36E8ECB2-E28C-4FFB-A5EE-B6FD6344E828}" type="slidenum">
              <a:rPr lang="zh-CN" altLang="en-US" smtClean="0"/>
              <a:t>17</a:t>
            </a:fld>
            <a:endParaRPr lang="zh-CN" altLang="en-US"/>
          </a:p>
        </p:txBody>
      </p:sp>
    </p:spTree>
    <p:extLst>
      <p:ext uri="{BB962C8B-B14F-4D97-AF65-F5344CB8AC3E}">
        <p14:creationId xmlns:p14="http://schemas.microsoft.com/office/powerpoint/2010/main" val="1446829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FEBC-B222-536A-CC28-558118B02A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50D26E-5DAD-BD9B-9BB4-DB4ED8710A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6CEC93-530F-4EB7-14DE-479A8066942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3B5F6BC-9F8D-A712-4A71-12156CD50DF8}"/>
              </a:ext>
            </a:extLst>
          </p:cNvPr>
          <p:cNvSpPr>
            <a:spLocks noGrp="1"/>
          </p:cNvSpPr>
          <p:nvPr>
            <p:ph type="sldNum" sz="quarter" idx="5"/>
          </p:nvPr>
        </p:nvSpPr>
        <p:spPr/>
        <p:txBody>
          <a:bodyPr/>
          <a:lstStyle/>
          <a:p>
            <a:fld id="{36E8ECB2-E28C-4FFB-A5EE-B6FD6344E828}" type="slidenum">
              <a:rPr lang="zh-CN" altLang="en-US" smtClean="0"/>
              <a:t>18</a:t>
            </a:fld>
            <a:endParaRPr lang="zh-CN" altLang="en-US"/>
          </a:p>
        </p:txBody>
      </p:sp>
    </p:spTree>
    <p:extLst>
      <p:ext uri="{BB962C8B-B14F-4D97-AF65-F5344CB8AC3E}">
        <p14:creationId xmlns:p14="http://schemas.microsoft.com/office/powerpoint/2010/main" val="3342130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7AF81-62A8-6A47-786E-981D09590A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6DFED5-CF8C-EF8C-5BD7-3FE82AF4E3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EAEA3C-7CE2-7215-A204-F4568EAF4FB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E976FD1-D5A5-3DFB-7BFF-C5D0D5E905FE}"/>
              </a:ext>
            </a:extLst>
          </p:cNvPr>
          <p:cNvSpPr>
            <a:spLocks noGrp="1"/>
          </p:cNvSpPr>
          <p:nvPr>
            <p:ph type="sldNum" sz="quarter" idx="5"/>
          </p:nvPr>
        </p:nvSpPr>
        <p:spPr/>
        <p:txBody>
          <a:bodyPr/>
          <a:lstStyle/>
          <a:p>
            <a:fld id="{36E8ECB2-E28C-4FFB-A5EE-B6FD6344E828}" type="slidenum">
              <a:rPr lang="zh-CN" altLang="en-US" smtClean="0"/>
              <a:t>19</a:t>
            </a:fld>
            <a:endParaRPr lang="zh-CN" altLang="en-US"/>
          </a:p>
        </p:txBody>
      </p:sp>
    </p:spTree>
    <p:extLst>
      <p:ext uri="{BB962C8B-B14F-4D97-AF65-F5344CB8AC3E}">
        <p14:creationId xmlns:p14="http://schemas.microsoft.com/office/powerpoint/2010/main" val="25148674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50B66-602B-9024-2AFE-884183F794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F17BB2-F0F6-82B8-FEE2-E83013CEE9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AC3CCC9-FF76-AA05-D148-FE6D94AB71A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3B2D84E-C6FC-CDA7-60EC-E1AEDDD43668}"/>
              </a:ext>
            </a:extLst>
          </p:cNvPr>
          <p:cNvSpPr>
            <a:spLocks noGrp="1"/>
          </p:cNvSpPr>
          <p:nvPr>
            <p:ph type="sldNum" sz="quarter" idx="5"/>
          </p:nvPr>
        </p:nvSpPr>
        <p:spPr/>
        <p:txBody>
          <a:bodyPr/>
          <a:lstStyle/>
          <a:p>
            <a:fld id="{36E8ECB2-E28C-4FFB-A5EE-B6FD6344E828}" type="slidenum">
              <a:rPr lang="zh-CN" altLang="en-US" smtClean="0"/>
              <a:t>20</a:t>
            </a:fld>
            <a:endParaRPr lang="zh-CN" altLang="en-US"/>
          </a:p>
        </p:txBody>
      </p:sp>
    </p:spTree>
    <p:extLst>
      <p:ext uri="{BB962C8B-B14F-4D97-AF65-F5344CB8AC3E}">
        <p14:creationId xmlns:p14="http://schemas.microsoft.com/office/powerpoint/2010/main" val="2587315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9FC8E-FE72-99BF-977C-5BC6FF4CE3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578F6F-F2AE-D00B-5DAE-12D1FC7241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34EB8C3-2D71-9D8D-51F2-841228DE729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5CFEF22-5759-A614-FBD5-CF3BE7EEDD9C}"/>
              </a:ext>
            </a:extLst>
          </p:cNvPr>
          <p:cNvSpPr>
            <a:spLocks noGrp="1"/>
          </p:cNvSpPr>
          <p:nvPr>
            <p:ph type="sldNum" sz="quarter" idx="5"/>
          </p:nvPr>
        </p:nvSpPr>
        <p:spPr/>
        <p:txBody>
          <a:bodyPr/>
          <a:lstStyle/>
          <a:p>
            <a:fld id="{36E8ECB2-E28C-4FFB-A5EE-B6FD6344E828}" type="slidenum">
              <a:rPr lang="zh-CN" altLang="en-US" smtClean="0"/>
              <a:t>21</a:t>
            </a:fld>
            <a:endParaRPr lang="zh-CN" altLang="en-US"/>
          </a:p>
        </p:txBody>
      </p:sp>
    </p:spTree>
    <p:extLst>
      <p:ext uri="{BB962C8B-B14F-4D97-AF65-F5344CB8AC3E}">
        <p14:creationId xmlns:p14="http://schemas.microsoft.com/office/powerpoint/2010/main" val="40493999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93C85-07F2-B5BA-70F8-4F5D78ED2C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537637-B1AB-E996-32D9-7EAE4570C1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A39B14-20C8-205D-672C-DD255BEBF58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74DCD59-EE7F-1BC0-B794-70CCF9BCB138}"/>
              </a:ext>
            </a:extLst>
          </p:cNvPr>
          <p:cNvSpPr>
            <a:spLocks noGrp="1"/>
          </p:cNvSpPr>
          <p:nvPr>
            <p:ph type="sldNum" sz="quarter" idx="5"/>
          </p:nvPr>
        </p:nvSpPr>
        <p:spPr/>
        <p:txBody>
          <a:bodyPr/>
          <a:lstStyle/>
          <a:p>
            <a:fld id="{36E8ECB2-E28C-4FFB-A5EE-B6FD6344E828}" type="slidenum">
              <a:rPr lang="zh-CN" altLang="en-US" smtClean="0"/>
              <a:t>22</a:t>
            </a:fld>
            <a:endParaRPr lang="zh-CN" altLang="en-US"/>
          </a:p>
        </p:txBody>
      </p:sp>
    </p:spTree>
    <p:extLst>
      <p:ext uri="{BB962C8B-B14F-4D97-AF65-F5344CB8AC3E}">
        <p14:creationId xmlns:p14="http://schemas.microsoft.com/office/powerpoint/2010/main" val="2849221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B458761-A072-4962-BCF3-56436F9324F4}" type="datetime1">
              <a:rPr lang="zh-CN" altLang="en-US" smtClean="0"/>
              <a:t>2026-04-21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4DBADDF-54FA-4207-9D44-DE36D7AE55A6}" type="datetime1">
              <a:rPr lang="zh-CN" altLang="en-US" smtClean="0"/>
              <a:t>2026-04-21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C6AD953-7B2C-40AC-8558-3E686434E328}" type="datetime1">
              <a:rPr lang="zh-CN" altLang="en-US" smtClean="0"/>
              <a:t>2026-04-21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355E3E5-CFE9-449D-9E2D-8B4A4C75AE02}" type="datetime1">
              <a:rPr lang="zh-CN" altLang="en-US" smtClean="0"/>
              <a:t>2026-04-21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A83AEC8-856A-450C-95C7-6095A6BCB4A0}" type="datetime1">
              <a:rPr lang="zh-CN" altLang="en-US" smtClean="0"/>
              <a:t>2026-04-21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58DA5B7-02E2-49EC-9C24-BB1FD7B66337}" type="datetime1">
              <a:rPr lang="zh-CN" altLang="en-US" smtClean="0"/>
              <a:t>2026-04-21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EF23C43-5D77-42F7-AA18-44381F85AF51}" type="datetime1">
              <a:rPr lang="zh-CN" altLang="en-US" smtClean="0"/>
              <a:t>2026-04-21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B6AC0BA-B401-4DCD-8953-3B81916DC4F7}" type="datetime1">
              <a:rPr lang="zh-CN" altLang="en-US" smtClean="0"/>
              <a:t>2026-04-21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72CDCEF-6C76-4A38-81C5-7CC3FB026B9D}" type="datetime1">
              <a:rPr lang="zh-CN" altLang="en-US" smtClean="0"/>
              <a:t>2026-04-21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5202B50-E708-4781-98B6-70F9BC4434B9}" type="datetime1">
              <a:rPr lang="zh-CN" altLang="en-US" smtClean="0"/>
              <a:t>2026-04-21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0351223-E552-4DC1-B48E-96D3B41C1C7F}" type="datetime1">
              <a:rPr lang="zh-CN" altLang="en-US" smtClean="0"/>
              <a:t>2026-04-21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EB1E39-14EE-405C-B1D8-764466B1962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4_仅标题">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8D867A-87BD-4707-811D-DE111EE31324}" type="datetime1">
              <a:rPr lang="zh-CN" altLang="en-US" smtClean="0"/>
              <a:t>2026-04-21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EB1E39-14EE-405C-B1D8-764466B1962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oleObject" Target="../embeddings/oleObject1.bin"/><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639560"/>
            <a:ext cx="12192000" cy="218440"/>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pic>
        <p:nvPicPr>
          <p:cNvPr id="27" name="图片 26"/>
          <p:cNvPicPr>
            <a:picLocks noChangeAspect="1"/>
          </p:cNvPicPr>
          <p:nvPr/>
        </p:nvPicPr>
        <p:blipFill>
          <a:blip r:embed="rId3"/>
          <a:stretch>
            <a:fillRect/>
          </a:stretch>
        </p:blipFill>
        <p:spPr>
          <a:xfrm>
            <a:off x="1196400" y="394879"/>
            <a:ext cx="3272213" cy="780845"/>
          </a:xfrm>
          <a:prstGeom prst="rect">
            <a:avLst/>
          </a:prstGeom>
        </p:spPr>
      </p:pic>
      <p:sp>
        <p:nvSpPr>
          <p:cNvPr id="3" name="副标题 2"/>
          <p:cNvSpPr>
            <a:spLocks noGrp="1"/>
          </p:cNvSpPr>
          <p:nvPr>
            <p:ph type="subTitle" idx="1"/>
          </p:nvPr>
        </p:nvSpPr>
        <p:spPr>
          <a:xfrm>
            <a:off x="0" y="4068000"/>
            <a:ext cx="12191998" cy="1749409"/>
          </a:xfrm>
        </p:spPr>
        <p:txBody>
          <a:bodyPr anchor="ctr" anchorCtr="0">
            <a:normAutofit lnSpcReduction="10000"/>
          </a:bodyPr>
          <a:lstStyle/>
          <a:p>
            <a:pPr marL="0" indent="0" algn="ctr">
              <a:buNone/>
            </a:pPr>
            <a:r>
              <a:rPr lang="zh-CN" altLang="en-US" sz="2400" dirty="0">
                <a:solidFill>
                  <a:schemeClr val="tx1"/>
                </a:solidFill>
                <a:latin typeface="Times New Roman" panose="02020603050405020304" pitchFamily="18" charset="0"/>
                <a:cs typeface="Times New Roman" panose="02020603050405020304" pitchFamily="18" charset="0"/>
                <a:sym typeface="+mn-ea"/>
              </a:rPr>
              <a:t>中国金融学院《金融方舟》编辑部</a:t>
            </a:r>
          </a:p>
          <a:p>
            <a:pPr marL="0" indent="0" algn="ctr">
              <a:buNone/>
            </a:pPr>
            <a:r>
              <a:rPr lang="zh-CN" altLang="en-US" sz="2400" dirty="0">
                <a:solidFill>
                  <a:schemeClr val="tx1"/>
                </a:solidFill>
                <a:latin typeface="Times New Roman" panose="02020603050405020304" pitchFamily="18" charset="0"/>
                <a:cs typeface="Times New Roman" panose="02020603050405020304" pitchFamily="18" charset="0"/>
                <a:sym typeface="+mn-ea"/>
              </a:rPr>
              <a:t>外部研讨会</a:t>
            </a:r>
            <a:endParaRPr lang="en-US" altLang="zh-CN" sz="2400" dirty="0">
              <a:solidFill>
                <a:schemeClr val="tx1"/>
              </a:solidFill>
              <a:latin typeface="Times New Roman" panose="02020603050405020304" pitchFamily="18" charset="0"/>
              <a:cs typeface="Times New Roman" panose="02020603050405020304" pitchFamily="18" charset="0"/>
              <a:sym typeface="+mn-ea"/>
            </a:endParaRPr>
          </a:p>
          <a:p>
            <a:pPr marL="0" indent="0" algn="ctr">
              <a:buNone/>
            </a:pPr>
            <a:r>
              <a:rPr lang="zh-CN" altLang="en-US" sz="2400" dirty="0">
                <a:latin typeface="Times New Roman" panose="02020603050405020304" pitchFamily="18" charset="0"/>
                <a:cs typeface="Times New Roman" panose="02020603050405020304" pitchFamily="18" charset="0"/>
                <a:sym typeface="+mn-ea"/>
              </a:rPr>
              <a:t>邓湘雯 董默涵</a:t>
            </a:r>
            <a:endParaRPr lang="en-US" altLang="zh-CN" sz="2400" dirty="0">
              <a:latin typeface="Times New Roman" panose="02020603050405020304" pitchFamily="18" charset="0"/>
              <a:cs typeface="Times New Roman" panose="02020603050405020304" pitchFamily="18" charset="0"/>
              <a:sym typeface="+mn-ea"/>
            </a:endParaRPr>
          </a:p>
          <a:p>
            <a:pPr marL="0" indent="0" algn="ctr">
              <a:buNone/>
            </a:pPr>
            <a:r>
              <a:rPr lang="en-US" altLang="zh-CN" sz="2400" dirty="0">
                <a:latin typeface="Times New Roman" panose="02020603050405020304" pitchFamily="18" charset="0"/>
                <a:cs typeface="Times New Roman" panose="02020603050405020304" pitchFamily="18" charset="0"/>
                <a:sym typeface="+mn-ea"/>
              </a:rPr>
              <a:t>2025</a:t>
            </a:r>
            <a:r>
              <a:rPr lang="zh-CN" altLang="en-US" sz="2400" dirty="0">
                <a:latin typeface="Times New Roman" panose="02020603050405020304" pitchFamily="18" charset="0"/>
                <a:cs typeface="Times New Roman" panose="02020603050405020304" pitchFamily="18" charset="0"/>
                <a:sym typeface="+mn-ea"/>
              </a:rPr>
              <a:t>年</a:t>
            </a:r>
            <a:r>
              <a:rPr lang="en-US" altLang="zh-CN" sz="2400" dirty="0">
                <a:latin typeface="Times New Roman" panose="02020603050405020304" pitchFamily="18" charset="0"/>
                <a:cs typeface="Times New Roman" panose="02020603050405020304" pitchFamily="18" charset="0"/>
                <a:sym typeface="+mn-ea"/>
              </a:rPr>
              <a:t>12</a:t>
            </a:r>
            <a:r>
              <a:rPr lang="zh-CN" altLang="en-US" sz="2400" dirty="0">
                <a:latin typeface="Times New Roman" panose="02020603050405020304" pitchFamily="18" charset="0"/>
                <a:cs typeface="Times New Roman" panose="02020603050405020304" pitchFamily="18" charset="0"/>
                <a:sym typeface="+mn-ea"/>
              </a:rPr>
              <a:t>月</a:t>
            </a:r>
            <a:r>
              <a:rPr lang="en-US" altLang="zh-CN" sz="2400" dirty="0">
                <a:latin typeface="Times New Roman" panose="02020603050405020304" pitchFamily="18" charset="0"/>
                <a:cs typeface="Times New Roman" panose="02020603050405020304" pitchFamily="18" charset="0"/>
                <a:sym typeface="+mn-ea"/>
              </a:rPr>
              <a:t>18</a:t>
            </a:r>
            <a:r>
              <a:rPr lang="zh-CN" altLang="en-US" sz="2400" dirty="0">
                <a:latin typeface="Times New Roman" panose="02020603050405020304" pitchFamily="18" charset="0"/>
                <a:cs typeface="Times New Roman" panose="02020603050405020304" pitchFamily="18" charset="0"/>
                <a:sym typeface="+mn-ea"/>
              </a:rPr>
              <a:t>日</a:t>
            </a:r>
            <a:endParaRPr lang="en-US" altLang="zh-CN" sz="2400" dirty="0">
              <a:latin typeface="Times New Roman" panose="02020603050405020304" pitchFamily="18" charset="0"/>
              <a:cs typeface="Times New Roman" panose="02020603050405020304" pitchFamily="18" charset="0"/>
              <a:sym typeface="+mn-ea"/>
            </a:endParaRPr>
          </a:p>
        </p:txBody>
      </p:sp>
      <p:pic>
        <p:nvPicPr>
          <p:cNvPr id="11" name="图片 10"/>
          <p:cNvPicPr>
            <a:picLocks noChangeAspect="1"/>
          </p:cNvPicPr>
          <p:nvPr/>
        </p:nvPicPr>
        <p:blipFill>
          <a:blip r:embed="rId4"/>
          <a:stretch>
            <a:fillRect/>
          </a:stretch>
        </p:blipFill>
        <p:spPr>
          <a:xfrm>
            <a:off x="276691" y="398940"/>
            <a:ext cx="778386" cy="780845"/>
          </a:xfrm>
          <a:prstGeom prst="rect">
            <a:avLst/>
          </a:prstGeom>
        </p:spPr>
      </p:pic>
      <p:sp>
        <p:nvSpPr>
          <p:cNvPr id="14" name="矩形 13"/>
          <p:cNvSpPr/>
          <p:nvPr/>
        </p:nvSpPr>
        <p:spPr>
          <a:xfrm>
            <a:off x="0" y="0"/>
            <a:ext cx="12192000" cy="262255"/>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标题 1">
            <a:extLst>
              <a:ext uri="{FF2B5EF4-FFF2-40B4-BE49-F238E27FC236}">
                <a16:creationId xmlns:a16="http://schemas.microsoft.com/office/drawing/2014/main" id="{37EE05A8-DE12-939F-E0CD-A632BB44629E}"/>
              </a:ext>
            </a:extLst>
          </p:cNvPr>
          <p:cNvSpPr txBox="1">
            <a:spLocks noGrp="1"/>
          </p:cNvSpPr>
          <p:nvPr>
            <p:ph type="title" idx="4294967295"/>
          </p:nvPr>
        </p:nvSpPr>
        <p:spPr>
          <a:xfrm>
            <a:off x="-1" y="2088000"/>
            <a:ext cx="12191999" cy="23876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4800" b="1" i="0" u="none" strike="noStrike" kern="1200" cap="none" spc="0" normalizeH="0" baseline="0" noProof="0" dirty="0">
                <a:ln>
                  <a:noFill/>
                </a:ln>
                <a:solidFill>
                  <a:srgbClr val="731E00"/>
                </a:solidFill>
                <a:effectLst>
                  <a:outerShdw blurRad="38100" dist="19050" dir="2700000" algn="tl" rotWithShape="0">
                    <a:schemeClr val="dk1">
                      <a:alpha val="40000"/>
                    </a:schemeClr>
                  </a:outerShdw>
                </a:effectLst>
                <a:uLnTx/>
                <a:uFillTx/>
                <a:latin typeface="+mj-lt"/>
                <a:ea typeface="+mj-ea"/>
                <a:cs typeface="+mj-cs"/>
              </a:rPr>
              <a:t>能源与全球信用体系变局</a:t>
            </a:r>
            <a:br>
              <a:rPr kumimoji="0" lang="en-US" altLang="zh-CN" sz="4400" b="1" i="0" u="none" strike="noStrike" kern="1200" cap="none" spc="0" normalizeH="0" baseline="0" noProof="0" dirty="0">
                <a:ln>
                  <a:noFill/>
                </a:ln>
                <a:solidFill>
                  <a:srgbClr val="731E00"/>
                </a:solidFill>
                <a:effectLst>
                  <a:outerShdw blurRad="38100" dist="19050" dir="2700000" algn="tl" rotWithShape="0">
                    <a:schemeClr val="dk1">
                      <a:alpha val="40000"/>
                    </a:schemeClr>
                  </a:outerShdw>
                </a:effectLst>
                <a:uLnTx/>
                <a:uFillTx/>
                <a:latin typeface="+mj-lt"/>
                <a:ea typeface="+mj-ea"/>
                <a:cs typeface="+mj-cs"/>
              </a:rPr>
            </a:br>
            <a:r>
              <a:rPr kumimoji="0" lang="en-US" altLang="zh-CN" sz="2400" b="1" i="0" u="none" strike="noStrike" kern="1200" cap="none" spc="0" normalizeH="0" baseline="0" noProof="0" dirty="0">
                <a:ln>
                  <a:noFill/>
                </a:ln>
                <a:solidFill>
                  <a:srgbClr val="731E00"/>
                </a:solidFill>
                <a:effectLst>
                  <a:outerShdw blurRad="38100" dist="19050" dir="2700000" algn="tl" rotWithShape="0">
                    <a:schemeClr val="dk1">
                      <a:alpha val="40000"/>
                    </a:schemeClr>
                  </a:outerShdw>
                </a:effectLst>
                <a:uLnTx/>
                <a:uFillTx/>
                <a:latin typeface="+mj-lt"/>
                <a:ea typeface="+mj-ea"/>
                <a:cs typeface="+mj-cs"/>
              </a:rPr>
              <a:t>——</a:t>
            </a:r>
            <a:r>
              <a:rPr kumimoji="0" lang="zh-CN" altLang="en-US" sz="2400" b="1" i="0" u="none" strike="noStrike" kern="1200" cap="none" spc="0" normalizeH="0" baseline="0" noProof="0" dirty="0">
                <a:ln>
                  <a:noFill/>
                </a:ln>
                <a:solidFill>
                  <a:srgbClr val="731E00"/>
                </a:solidFill>
                <a:effectLst>
                  <a:outerShdw blurRad="38100" dist="19050" dir="2700000" algn="tl" rotWithShape="0">
                    <a:schemeClr val="dk1">
                      <a:alpha val="40000"/>
                    </a:schemeClr>
                  </a:outerShdw>
                </a:effectLst>
                <a:uLnTx/>
                <a:uFillTx/>
                <a:latin typeface="+mj-lt"/>
                <a:ea typeface="+mj-ea"/>
                <a:cs typeface="+mj-cs"/>
              </a:rPr>
              <a:t>基于</a:t>
            </a:r>
            <a:r>
              <a:rPr lang="zh-CN" altLang="en-US" sz="2400" b="1" dirty="0">
                <a:solidFill>
                  <a:srgbClr val="731E00"/>
                </a:solidFill>
                <a:effectLst>
                  <a:outerShdw blurRad="38100" dist="19050" dir="2700000" algn="tl" rotWithShape="0">
                    <a:schemeClr val="dk1">
                      <a:alpha val="40000"/>
                    </a:schemeClr>
                  </a:outerShdw>
                </a:effectLst>
              </a:rPr>
              <a:t>美以伊地缘冲突</a:t>
            </a:r>
            <a:r>
              <a:rPr kumimoji="0" lang="zh-CN" altLang="en-US" sz="2400" b="1" i="0" u="none" strike="noStrike" kern="1200" cap="none" spc="0" normalizeH="0" baseline="0" noProof="0" dirty="0">
                <a:ln>
                  <a:noFill/>
                </a:ln>
                <a:solidFill>
                  <a:srgbClr val="731E00"/>
                </a:solidFill>
                <a:effectLst>
                  <a:outerShdw blurRad="38100" dist="19050" dir="2700000" algn="tl" rotWithShape="0">
                    <a:schemeClr val="dk1">
                      <a:alpha val="40000"/>
                    </a:schemeClr>
                  </a:outerShdw>
                </a:effectLst>
                <a:uLnTx/>
                <a:uFillTx/>
                <a:latin typeface="+mj-lt"/>
                <a:ea typeface="+mj-ea"/>
                <a:cs typeface="+mj-cs"/>
              </a:rPr>
              <a:t>与石油美元体系变革</a:t>
            </a:r>
            <a:endParaRPr kumimoji="0" lang="en-US" altLang="zh-CN" sz="2400" b="1" i="0" u="none" strike="noStrike" kern="1200" cap="none" spc="0" normalizeH="0" baseline="0" noProof="0" dirty="0">
              <a:ln>
                <a:noFill/>
              </a:ln>
              <a:solidFill>
                <a:srgbClr val="731E00"/>
              </a:solidFill>
              <a:effectLst>
                <a:outerShdw blurRad="38100" dist="19050" dir="2700000" algn="tl" rotWithShape="0">
                  <a:schemeClr val="dk1">
                    <a:alpha val="40000"/>
                  </a:schemeClr>
                </a:outerShdw>
              </a:effectLst>
              <a:uLnTx/>
              <a:uFillTx/>
              <a:latin typeface="+mj-lt"/>
              <a:ea typeface="+mj-ea"/>
              <a:cs typeface="+mj-cs"/>
            </a:endParaRP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2400" b="0" i="0" u="none" strike="noStrike" kern="1200" cap="none" spc="0" normalizeH="0" baseline="0" noProof="0" dirty="0">
              <a:ln>
                <a:noFill/>
              </a:ln>
              <a:solidFill>
                <a:srgbClr val="731E00"/>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E0FCB-3690-81A7-16AB-002747CE960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6B0AC7D-EF3F-7029-98E8-8E24C0A21AFD}"/>
              </a:ext>
            </a:extLst>
          </p:cNvPr>
          <p:cNvSpPr txBox="1">
            <a:spLocks noGrp="1"/>
          </p:cNvSpPr>
          <p:nvPr>
            <p:ph type="title" idx="4294967295"/>
          </p:nvPr>
        </p:nvSpPr>
        <p:spPr>
          <a:xfrm>
            <a:off x="0" y="0"/>
            <a:ext cx="3027814"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ts val="2400"/>
              </a:lnSpc>
              <a:spcBef>
                <a:spcPct val="0"/>
              </a:spcBef>
              <a:spcAft>
                <a:spcPts val="0"/>
              </a:spcAft>
              <a:buClrTx/>
              <a:buSzTx/>
              <a:buFontTx/>
              <a:buNone/>
              <a:tabLst/>
              <a:defRPr/>
            </a:pPr>
            <a:r>
              <a:rPr kumimoji="0" lang="zh-CN" altLang="en-US" sz="3600" b="1" i="0" u="none" strike="noStrike" kern="1200" cap="none" spc="0" normalizeH="0" baseline="0" noProof="0">
                <a:ln>
                  <a:noFill/>
                </a:ln>
                <a:solidFill>
                  <a:schemeClr val="tx1"/>
                </a:solidFill>
                <a:effectLst/>
                <a:uLnTx/>
                <a:uFillTx/>
                <a:latin typeface="楷体" panose="02010609060101010101" charset="-122"/>
                <a:ea typeface="楷体" panose="02010609060101010101" charset="-122"/>
                <a:cs typeface="Times New Roman" panose="02020603050405020304" pitchFamily="18" charset="0"/>
              </a:rPr>
              <a:t>  </a:t>
            </a:r>
            <a:r>
              <a:rPr kumimoji="0" lang="zh-CN" altLang="en-US" sz="3600" b="1" i="0" u="none" strike="noStrike" kern="1200" cap="none" spc="0" normalizeH="0" baseline="0" noProof="0">
                <a:ln>
                  <a:noFill/>
                </a:ln>
                <a:solidFill>
                  <a:srgbClr val="731E00"/>
                </a:solidFill>
                <a:effectLst>
                  <a:outerShdw blurRad="38100" dist="19050" dir="2700000" algn="tl" rotWithShape="0">
                    <a:schemeClr val="dk1">
                      <a:alpha val="40000"/>
                    </a:schemeClr>
                  </a:outerShdw>
                </a:effectLst>
                <a:uLnTx/>
                <a:uFillTx/>
                <a:latin typeface="Times New Roman" panose="02020603050405020304" pitchFamily="18" charset="0"/>
                <a:ea typeface="KaiTi" panose="02010609060101010101" pitchFamily="49" charset="-122"/>
                <a:cs typeface="+mj-cs"/>
              </a:rPr>
              <a:t>引言</a:t>
            </a:r>
            <a:endParaRPr kumimoji="0" lang="zh-CN" altLang="en-US" sz="3600" b="1" i="0" u="none" strike="noStrike" kern="1200" cap="none" spc="0" normalizeH="0" baseline="0" noProof="0">
              <a:ln>
                <a:noFill/>
              </a:ln>
              <a:solidFill>
                <a:schemeClr val="tx1"/>
              </a:solidFill>
              <a:effectLst/>
              <a:uLnTx/>
              <a:uFillTx/>
              <a:latin typeface="楷体" panose="02010609060101010101" charset="-122"/>
              <a:ea typeface="楷体" panose="02010609060101010101" charset="-122"/>
              <a:cs typeface="Times New Roman" panose="02020603050405020304" pitchFamily="18" charset="0"/>
            </a:endParaRPr>
          </a:p>
        </p:txBody>
      </p:sp>
      <p:sp>
        <p:nvSpPr>
          <p:cNvPr id="18" name="矩形 17">
            <a:extLst>
              <a:ext uri="{FF2B5EF4-FFF2-40B4-BE49-F238E27FC236}">
                <a16:creationId xmlns:a16="http://schemas.microsoft.com/office/drawing/2014/main" id="{8738D41E-7DEB-D2C7-0697-10710212E4E5}"/>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E119E9C1-C467-A181-3C9A-ECC3948705AA}"/>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9B13AB84-20AA-F1BB-BB0B-CE53CD12FF37}"/>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CA03A6B6-E914-304B-1E13-7CE600F34991}"/>
              </a:ext>
            </a:extLst>
          </p:cNvPr>
          <p:cNvSpPr>
            <a:spLocks noGrp="1"/>
          </p:cNvSpPr>
          <p:nvPr>
            <p:ph type="sldNum" sz="quarter" idx="12"/>
          </p:nvPr>
        </p:nvSpPr>
        <p:spPr/>
        <p:txBody>
          <a:bodyPr/>
          <a:lstStyle/>
          <a:p>
            <a:fld id="{BAEB1E39-14EE-405C-B1D8-764466B19623}" type="slidenum">
              <a:rPr lang="zh-CN" altLang="en-US" smtClean="0"/>
              <a:t>2</a:t>
            </a:fld>
            <a:endParaRPr lang="zh-CN" altLang="en-US"/>
          </a:p>
        </p:txBody>
      </p:sp>
      <p:sp>
        <p:nvSpPr>
          <p:cNvPr id="3" name="文本框 2">
            <a:extLst>
              <a:ext uri="{FF2B5EF4-FFF2-40B4-BE49-F238E27FC236}">
                <a16:creationId xmlns:a16="http://schemas.microsoft.com/office/drawing/2014/main" id="{9379BE60-4B83-51C9-397E-4CB85F579892}"/>
              </a:ext>
            </a:extLst>
          </p:cNvPr>
          <p:cNvSpPr txBox="1"/>
          <p:nvPr/>
        </p:nvSpPr>
        <p:spPr>
          <a:xfrm>
            <a:off x="182058" y="1181076"/>
            <a:ext cx="11827884" cy="3727239"/>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altLang="zh-CN" sz="2000" dirty="0"/>
              <a:t>2</a:t>
            </a:r>
            <a:r>
              <a:rPr lang="zh-CN" altLang="en-US" sz="2000" dirty="0"/>
              <a:t>月</a:t>
            </a:r>
            <a:r>
              <a:rPr lang="en-US" altLang="zh-CN" sz="2000" dirty="0"/>
              <a:t>28</a:t>
            </a:r>
            <a:r>
              <a:rPr lang="zh-CN" altLang="en-US" sz="2000" dirty="0"/>
              <a:t>日，美以打击伊朗，伊朗封锁霍尔木兹海峡并击沉违规油轮。</a:t>
            </a:r>
          </a:p>
          <a:p>
            <a:pPr marL="342900" indent="-342900">
              <a:lnSpc>
                <a:spcPct val="150000"/>
              </a:lnSpc>
              <a:buFont typeface="Wingdings" panose="05000000000000000000" pitchFamily="2" charset="2"/>
              <a:buChar char="Ø"/>
            </a:pPr>
            <a:r>
              <a:rPr lang="en-US" altLang="zh-CN" sz="2000" dirty="0"/>
              <a:t>3</a:t>
            </a:r>
            <a:r>
              <a:rPr lang="zh-CN" altLang="en-US" sz="2000" dirty="0"/>
              <a:t>月</a:t>
            </a:r>
            <a:r>
              <a:rPr lang="en-US" altLang="zh-CN" sz="2000" dirty="0"/>
              <a:t>2</a:t>
            </a:r>
            <a:r>
              <a:rPr lang="zh-CN" altLang="en-US" sz="2000" dirty="0"/>
              <a:t>日，局势升级，国际油价大涨。</a:t>
            </a:r>
            <a:r>
              <a:rPr lang="en-US" altLang="zh-CN" sz="2000" dirty="0"/>
              <a:t>3 </a:t>
            </a:r>
            <a:r>
              <a:rPr lang="zh-CN" altLang="en-US" sz="2000" dirty="0"/>
              <a:t>月 </a:t>
            </a:r>
            <a:r>
              <a:rPr lang="en-US" altLang="zh-CN" sz="2000" dirty="0"/>
              <a:t>8 </a:t>
            </a:r>
            <a:r>
              <a:rPr lang="zh-CN" altLang="en-US" sz="2000" dirty="0"/>
              <a:t>日，原油期货价格破 </a:t>
            </a:r>
            <a:r>
              <a:rPr lang="en-US" altLang="zh-CN" sz="2000" dirty="0"/>
              <a:t>100 </a:t>
            </a:r>
            <a:r>
              <a:rPr lang="zh-CN" altLang="en-US" sz="2000" dirty="0"/>
              <a:t>美元 </a:t>
            </a:r>
            <a:r>
              <a:rPr lang="en-US" altLang="zh-CN" sz="2000" dirty="0"/>
              <a:t>/ </a:t>
            </a:r>
            <a:r>
              <a:rPr lang="zh-CN" altLang="en-US" sz="2000" dirty="0"/>
              <a:t>桶。</a:t>
            </a:r>
          </a:p>
          <a:p>
            <a:pPr marL="342900" indent="-342900">
              <a:lnSpc>
                <a:spcPct val="150000"/>
              </a:lnSpc>
              <a:buFont typeface="Wingdings" panose="05000000000000000000" pitchFamily="2" charset="2"/>
              <a:buChar char="Ø"/>
            </a:pPr>
            <a:r>
              <a:rPr lang="en-US" altLang="zh-CN" sz="2000" dirty="0"/>
              <a:t>3</a:t>
            </a:r>
            <a:r>
              <a:rPr lang="zh-CN" altLang="en-US" sz="2000" dirty="0"/>
              <a:t>月</a:t>
            </a:r>
            <a:r>
              <a:rPr lang="en-US" altLang="zh-CN" sz="2000" dirty="0"/>
              <a:t>12</a:t>
            </a:r>
            <a:r>
              <a:rPr lang="zh-CN" altLang="en-US" sz="2000" dirty="0"/>
              <a:t>日，伊朗宣布继续封锁海峡、不放弃复仇。</a:t>
            </a:r>
          </a:p>
          <a:p>
            <a:pPr marL="342900" indent="-342900">
              <a:lnSpc>
                <a:spcPct val="150000"/>
              </a:lnSpc>
              <a:buFont typeface="Wingdings" panose="05000000000000000000" pitchFamily="2" charset="2"/>
              <a:buChar char="Ø"/>
            </a:pPr>
            <a:r>
              <a:rPr lang="en-US" altLang="zh-CN" sz="2000" dirty="0"/>
              <a:t>4</a:t>
            </a:r>
            <a:r>
              <a:rPr lang="zh-CN" altLang="en-US" sz="2000" dirty="0"/>
              <a:t>月</a:t>
            </a:r>
            <a:r>
              <a:rPr lang="en-US" altLang="zh-CN" sz="2000" dirty="0"/>
              <a:t>7</a:t>
            </a:r>
            <a:r>
              <a:rPr lang="zh-CN" altLang="en-US" sz="2000" dirty="0"/>
              <a:t>日，特朗普暂停对伊袭击两周，要求伊朗全面开放海峡。</a:t>
            </a:r>
          </a:p>
          <a:p>
            <a:pPr marL="342900" indent="-342900">
              <a:lnSpc>
                <a:spcPct val="150000"/>
              </a:lnSpc>
              <a:buFont typeface="Wingdings" panose="05000000000000000000" pitchFamily="2" charset="2"/>
              <a:buChar char="Ø"/>
            </a:pPr>
            <a:r>
              <a:rPr lang="en-US" altLang="zh-CN" sz="2000" dirty="0"/>
              <a:t>4 </a:t>
            </a:r>
            <a:r>
              <a:rPr lang="zh-CN" altLang="en-US" sz="2000" dirty="0"/>
              <a:t>月 </a:t>
            </a:r>
            <a:r>
              <a:rPr lang="en-US" altLang="zh-CN" sz="2000" dirty="0"/>
              <a:t>8 </a:t>
            </a:r>
            <a:r>
              <a:rPr lang="zh-CN" altLang="en-US" sz="2000" dirty="0"/>
              <a:t>日，伊朗接受巴基斯坦停火提议。次日，因以袭击黎巴嫩，再度关闭海峡。</a:t>
            </a:r>
          </a:p>
          <a:p>
            <a:pPr marL="342900" indent="-342900">
              <a:lnSpc>
                <a:spcPct val="150000"/>
              </a:lnSpc>
              <a:buFont typeface="Wingdings" panose="05000000000000000000" pitchFamily="2" charset="2"/>
              <a:buChar char="Ø"/>
            </a:pPr>
            <a:r>
              <a:rPr lang="en-US" altLang="zh-CN" sz="2000" dirty="0"/>
              <a:t>4 </a:t>
            </a:r>
            <a:r>
              <a:rPr lang="zh-CN" altLang="en-US" sz="2000" dirty="0"/>
              <a:t>月 </a:t>
            </a:r>
            <a:r>
              <a:rPr lang="en-US" altLang="zh-CN" sz="2000" dirty="0"/>
              <a:t>12 </a:t>
            </a:r>
            <a:r>
              <a:rPr lang="zh-CN" altLang="en-US" sz="2000" dirty="0"/>
              <a:t>日，美伊谈判破裂，特朗普下令封锁海峡船只。当日，美方称美军开始阻截霍尔木兹海峡船只。</a:t>
            </a:r>
            <a:endParaRPr lang="en-US" altLang="zh-CN" sz="2000" dirty="0"/>
          </a:p>
          <a:p>
            <a:pPr marL="342900" indent="-342900">
              <a:lnSpc>
                <a:spcPct val="150000"/>
              </a:lnSpc>
              <a:buFont typeface="Wingdings" panose="05000000000000000000" pitchFamily="2" charset="2"/>
              <a:buChar char="Ø"/>
            </a:pPr>
            <a:r>
              <a:rPr lang="en-US" altLang="zh-CN" sz="2000" dirty="0"/>
              <a:t>4</a:t>
            </a:r>
            <a:r>
              <a:rPr lang="zh-CN" altLang="en-US" sz="2000" dirty="0"/>
              <a:t>月</a:t>
            </a:r>
            <a:r>
              <a:rPr lang="en-US" altLang="zh-CN" sz="2000" dirty="0"/>
              <a:t>17</a:t>
            </a:r>
            <a:r>
              <a:rPr lang="zh-CN" altLang="en-US" sz="2000" dirty="0"/>
              <a:t>日，伊朗宣布霍尔木兹海峡“完全开放”，特朗普确认并表示美伊大部分谈判内容已经完成。</a:t>
            </a:r>
          </a:p>
          <a:p>
            <a:pPr marL="342900" indent="-342900">
              <a:lnSpc>
                <a:spcPct val="150000"/>
              </a:lnSpc>
              <a:buFont typeface="Wingdings" panose="05000000000000000000" pitchFamily="2" charset="2"/>
              <a:buChar char="Ø"/>
            </a:pPr>
            <a:r>
              <a:rPr lang="en-US" altLang="zh-CN" sz="2000" dirty="0"/>
              <a:t>4</a:t>
            </a:r>
            <a:r>
              <a:rPr lang="zh-CN" altLang="en-US" sz="2000" dirty="0"/>
              <a:t>月</a:t>
            </a:r>
            <a:r>
              <a:rPr lang="en-US" altLang="zh-CN" sz="2000" dirty="0"/>
              <a:t>19</a:t>
            </a:r>
            <a:r>
              <a:rPr lang="zh-CN" altLang="en-US" sz="2000" dirty="0"/>
              <a:t>日，伊朗态度反转，宣布恢复控制这一全球能源运输要道。</a:t>
            </a:r>
          </a:p>
        </p:txBody>
      </p:sp>
      <p:sp>
        <p:nvSpPr>
          <p:cNvPr id="2" name="页脚占位符 10">
            <a:extLst>
              <a:ext uri="{FF2B5EF4-FFF2-40B4-BE49-F238E27FC236}">
                <a16:creationId xmlns:a16="http://schemas.microsoft.com/office/drawing/2014/main" id="{9AEF7C8D-9558-1B12-D3DC-E16DF4F58BB0}"/>
              </a:ext>
            </a:extLst>
          </p:cNvPr>
          <p:cNvSpPr>
            <a:spLocks noGrp="1"/>
          </p:cNvSpPr>
          <p:nvPr>
            <p:ph type="ftr" sz="quarter" idx="11"/>
          </p:nvPr>
        </p:nvSpPr>
        <p:spPr>
          <a:xfrm>
            <a:off x="3997959" y="6393180"/>
            <a:ext cx="4520609" cy="365125"/>
          </a:xfrm>
        </p:spPr>
        <p:txBody>
          <a:bodyPr/>
          <a:lstStyle/>
          <a:p>
            <a:r>
              <a:rPr lang="zh-CN" altLang="en-US" dirty="0"/>
              <a:t>资料来源：人民日报，新华社</a:t>
            </a:r>
          </a:p>
        </p:txBody>
      </p:sp>
    </p:spTree>
    <p:extLst>
      <p:ext uri="{BB962C8B-B14F-4D97-AF65-F5344CB8AC3E}">
        <p14:creationId xmlns:p14="http://schemas.microsoft.com/office/powerpoint/2010/main" val="374797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1456-7D8B-8FA7-7AB1-B68AA1AC530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04D6758-5FD8-6122-CEE1-B35CF3775981}"/>
              </a:ext>
            </a:extLst>
          </p:cNvPr>
          <p:cNvSpPr txBox="1">
            <a:spLocks noGrp="1"/>
          </p:cNvSpPr>
          <p:nvPr>
            <p:ph type="title" idx="4294967295"/>
          </p:nvPr>
        </p:nvSpPr>
        <p:spPr>
          <a:xfrm>
            <a:off x="0" y="0"/>
            <a:ext cx="3027814"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ts val="2400"/>
              </a:lnSpc>
              <a:spcBef>
                <a:spcPct val="0"/>
              </a:spcBef>
              <a:spcAft>
                <a:spcPts val="0"/>
              </a:spcAft>
              <a:buClrTx/>
              <a:buSzTx/>
              <a:buFontTx/>
              <a:buNone/>
              <a:tabLst/>
              <a:defRPr/>
            </a:pPr>
            <a:r>
              <a:rPr kumimoji="0" lang="zh-CN" altLang="en-US" sz="3600" b="1" i="0" u="none" strike="noStrike" kern="1200" cap="none" spc="0" normalizeH="0" baseline="0" noProof="0">
                <a:ln>
                  <a:noFill/>
                </a:ln>
                <a:solidFill>
                  <a:schemeClr val="tx1"/>
                </a:solidFill>
                <a:effectLst/>
                <a:uLnTx/>
                <a:uFillTx/>
                <a:latin typeface="楷体" panose="02010609060101010101" charset="-122"/>
                <a:ea typeface="楷体" panose="02010609060101010101" charset="-122"/>
                <a:cs typeface="Times New Roman" panose="02020603050405020304" pitchFamily="18" charset="0"/>
              </a:rPr>
              <a:t>  </a:t>
            </a:r>
            <a:r>
              <a:rPr kumimoji="0" lang="zh-CN" altLang="en-US" sz="3600" b="1" i="0" u="none" strike="noStrike" kern="1200" cap="none" spc="0" normalizeH="0" baseline="0" noProof="0">
                <a:ln>
                  <a:noFill/>
                </a:ln>
                <a:solidFill>
                  <a:srgbClr val="731E00"/>
                </a:solidFill>
                <a:effectLst>
                  <a:outerShdw blurRad="38100" dist="19050" dir="2700000" algn="tl" rotWithShape="0">
                    <a:schemeClr val="dk1">
                      <a:alpha val="40000"/>
                    </a:schemeClr>
                  </a:outerShdw>
                </a:effectLst>
                <a:uLnTx/>
                <a:uFillTx/>
                <a:latin typeface="Times New Roman" panose="02020603050405020304" pitchFamily="18" charset="0"/>
                <a:ea typeface="KaiTi" panose="02010609060101010101" pitchFamily="49" charset="-122"/>
                <a:cs typeface="+mj-cs"/>
              </a:rPr>
              <a:t>引言</a:t>
            </a:r>
            <a:endParaRPr kumimoji="0" lang="zh-CN" altLang="en-US" sz="3600" b="1" i="0" u="none" strike="noStrike" kern="1200" cap="none" spc="0" normalizeH="0" baseline="0" noProof="0">
              <a:ln>
                <a:noFill/>
              </a:ln>
              <a:solidFill>
                <a:schemeClr val="tx1"/>
              </a:solidFill>
              <a:effectLst/>
              <a:uLnTx/>
              <a:uFillTx/>
              <a:latin typeface="楷体" panose="02010609060101010101" charset="-122"/>
              <a:ea typeface="楷体" panose="02010609060101010101" charset="-122"/>
              <a:cs typeface="Times New Roman" panose="02020603050405020304" pitchFamily="18" charset="0"/>
            </a:endParaRPr>
          </a:p>
        </p:txBody>
      </p:sp>
      <p:sp>
        <p:nvSpPr>
          <p:cNvPr id="18" name="矩形 17">
            <a:extLst>
              <a:ext uri="{FF2B5EF4-FFF2-40B4-BE49-F238E27FC236}">
                <a16:creationId xmlns:a16="http://schemas.microsoft.com/office/drawing/2014/main" id="{B3C16C59-B251-4A14-29EC-0A979F4BCBC9}"/>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4D9902A0-2601-F5C5-604A-6FE03011A4B7}"/>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6DDB1FFE-A1F8-2333-96FE-7BB979A0DDC5}"/>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86F0CA49-1818-2EDE-EF83-23D0DB22329D}"/>
              </a:ext>
            </a:extLst>
          </p:cNvPr>
          <p:cNvSpPr>
            <a:spLocks noGrp="1"/>
          </p:cNvSpPr>
          <p:nvPr>
            <p:ph type="sldNum" sz="quarter" idx="12"/>
          </p:nvPr>
        </p:nvSpPr>
        <p:spPr/>
        <p:txBody>
          <a:bodyPr/>
          <a:lstStyle/>
          <a:p>
            <a:fld id="{BAEB1E39-14EE-405C-B1D8-764466B19623}" type="slidenum">
              <a:rPr lang="zh-CN" altLang="en-US" smtClean="0"/>
              <a:t>3</a:t>
            </a:fld>
            <a:endParaRPr lang="zh-CN" altLang="en-US"/>
          </a:p>
        </p:txBody>
      </p:sp>
      <p:sp>
        <p:nvSpPr>
          <p:cNvPr id="3" name="文本框 2">
            <a:extLst>
              <a:ext uri="{FF2B5EF4-FFF2-40B4-BE49-F238E27FC236}">
                <a16:creationId xmlns:a16="http://schemas.microsoft.com/office/drawing/2014/main" id="{CCD23378-A0D7-C358-FEE8-ADA4895D337C}"/>
              </a:ext>
            </a:extLst>
          </p:cNvPr>
          <p:cNvSpPr txBox="1"/>
          <p:nvPr/>
        </p:nvSpPr>
        <p:spPr>
          <a:xfrm>
            <a:off x="430306" y="1796213"/>
            <a:ext cx="11331388" cy="3265574"/>
          </a:xfrm>
          <a:prstGeom prst="rect">
            <a:avLst/>
          </a:prstGeom>
          <a:noFill/>
        </p:spPr>
        <p:txBody>
          <a:bodyPr wrap="square">
            <a:spAutoFit/>
          </a:bodyPr>
          <a:lstStyle/>
          <a:p>
            <a:pPr algn="just">
              <a:lnSpc>
                <a:spcPct val="150000"/>
              </a:lnSpc>
              <a:buNone/>
            </a:pPr>
            <a:r>
              <a:rPr lang="en-US" altLang="zh-CN" sz="2000" dirty="0"/>
              <a:t>2026 </a:t>
            </a:r>
            <a:r>
              <a:rPr lang="zh-CN" altLang="en-US" sz="2000" dirty="0"/>
              <a:t>年美以伊冲突反复搅动霍尔木兹海峡，全球原油贸易大动脉数次阻断，油价剧烈波动、金融市场震荡、通胀预期升温。这场危机不仅是能源供给的冲击，更是对现有体系的拷问：</a:t>
            </a:r>
            <a:endParaRPr lang="en-US" altLang="zh-CN" sz="2000" dirty="0"/>
          </a:p>
          <a:p>
            <a:pPr algn="just">
              <a:lnSpc>
                <a:spcPct val="150000"/>
              </a:lnSpc>
              <a:buNone/>
            </a:pPr>
            <a:r>
              <a:rPr lang="zh-CN" altLang="en-US" sz="2000" dirty="0"/>
              <a:t>地缘政治如何重塑石油定价逻辑，全球经济与金融市场将走向何方？</a:t>
            </a:r>
          </a:p>
          <a:p>
            <a:pPr algn="just">
              <a:lnSpc>
                <a:spcPct val="150000"/>
              </a:lnSpc>
            </a:pPr>
            <a:r>
              <a:rPr lang="zh-CN" altLang="en-US" sz="2000" dirty="0"/>
              <a:t>危机中美元强势虹吸，石油美元体系是稳固依旧，还是走向松动？</a:t>
            </a:r>
          </a:p>
          <a:p>
            <a:pPr algn="just">
              <a:lnSpc>
                <a:spcPct val="150000"/>
              </a:lnSpc>
            </a:pPr>
            <a:r>
              <a:rPr lang="zh-CN" altLang="en-US" sz="2000" dirty="0"/>
              <a:t>单一货币锚退场后，全球金融与能源秩序将迎来怎样的重构？</a:t>
            </a:r>
          </a:p>
          <a:p>
            <a:pPr algn="just">
              <a:lnSpc>
                <a:spcPct val="150000"/>
              </a:lnSpc>
              <a:buNone/>
            </a:pPr>
            <a:r>
              <a:rPr lang="zh-CN" altLang="en-US" sz="2000" dirty="0"/>
              <a:t>本次汇报从石油定价机制→地缘冲击下的资产与经济→石油美元体系变迁，拆解这场能源与信用体系的双重变局。</a:t>
            </a:r>
          </a:p>
        </p:txBody>
      </p:sp>
    </p:spTree>
    <p:extLst>
      <p:ext uri="{BB962C8B-B14F-4D97-AF65-F5344CB8AC3E}">
        <p14:creationId xmlns:p14="http://schemas.microsoft.com/office/powerpoint/2010/main" val="2478647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grpSp>
        <p:nvGrpSpPr>
          <p:cNvPr id="2" name="组合 1"/>
          <p:cNvGrpSpPr/>
          <p:nvPr>
            <p:custDataLst>
              <p:tags r:id="rId1"/>
            </p:custDataLst>
          </p:nvPr>
        </p:nvGrpSpPr>
        <p:grpSpPr>
          <a:xfrm>
            <a:off x="4110623" y="2267135"/>
            <a:ext cx="4647904" cy="2822045"/>
            <a:chOff x="1137" y="2276"/>
            <a:chExt cx="6264" cy="4892"/>
          </a:xfrm>
        </p:grpSpPr>
        <p:sp>
          <p:nvSpPr>
            <p:cNvPr id="5" name="矩形 4"/>
            <p:cNvSpPr/>
            <p:nvPr>
              <p:custDataLst>
                <p:tags r:id="rId3"/>
              </p:custDataLst>
            </p:nvPr>
          </p:nvSpPr>
          <p:spPr>
            <a:xfrm>
              <a:off x="1137" y="2293"/>
              <a:ext cx="688" cy="645"/>
            </a:xfrm>
            <a:prstGeom prst="rect">
              <a:avLst/>
            </a:prstGeom>
            <a:solidFill>
              <a:srgbClr val="A62B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pitchFamily="18" charset="0"/>
                  <a:cs typeface="Times New Roman" panose="02020603050405020304" pitchFamily="18" charset="0"/>
                </a:rPr>
                <a:t>1</a:t>
              </a:r>
              <a:endParaRPr lang="zh-CN" altLang="en-US" sz="2000" b="1">
                <a:latin typeface="Times New Roman" panose="02020603050405020304" pitchFamily="18" charset="0"/>
                <a:cs typeface="Times New Roman" panose="02020603050405020304" pitchFamily="18" charset="0"/>
              </a:endParaRPr>
            </a:p>
          </p:txBody>
        </p:sp>
        <p:sp>
          <p:nvSpPr>
            <p:cNvPr id="6" name="矩形 5"/>
            <p:cNvSpPr/>
            <p:nvPr>
              <p:custDataLst>
                <p:tags r:id="rId4"/>
              </p:custDataLst>
            </p:nvPr>
          </p:nvSpPr>
          <p:spPr>
            <a:xfrm>
              <a:off x="2112" y="2276"/>
              <a:ext cx="5289" cy="747"/>
            </a:xfrm>
            <a:prstGeom prst="rect">
              <a:avLst/>
            </a:prstGeom>
          </p:spPr>
          <p:txBody>
            <a:bodyPr wrap="square">
              <a:spAutoFit/>
            </a:bodyPr>
            <a:lstStyle/>
            <a:p>
              <a:r>
                <a:rPr lang="zh-CN" altLang="en-US" sz="2200" b="1" dirty="0">
                  <a:latin typeface="Times New Roman" panose="02020603050405020304" pitchFamily="18" charset="0"/>
                  <a:cs typeface="Times New Roman" panose="02020603050405020304" pitchFamily="18" charset="0"/>
                </a:rPr>
                <a:t>地缘冲突下的石油定价</a:t>
              </a:r>
              <a:endParaRPr lang="en-US" altLang="zh-CN" sz="2200" b="1" dirty="0">
                <a:latin typeface="Times New Roman" panose="02020603050405020304" pitchFamily="18" charset="0"/>
                <a:cs typeface="Times New Roman" panose="02020603050405020304" pitchFamily="18" charset="0"/>
              </a:endParaRPr>
            </a:p>
          </p:txBody>
        </p:sp>
        <p:sp>
          <p:nvSpPr>
            <p:cNvPr id="14" name="矩形 13"/>
            <p:cNvSpPr/>
            <p:nvPr>
              <p:custDataLst>
                <p:tags r:id="rId5"/>
              </p:custDataLst>
            </p:nvPr>
          </p:nvSpPr>
          <p:spPr>
            <a:xfrm>
              <a:off x="1145" y="3698"/>
              <a:ext cx="688" cy="6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pitchFamily="18" charset="0"/>
                  <a:cs typeface="Times New Roman" panose="02020603050405020304" pitchFamily="18" charset="0"/>
                </a:rPr>
                <a:t>2</a:t>
              </a:r>
              <a:endParaRPr lang="zh-CN" altLang="en-US" sz="2000" b="1">
                <a:latin typeface="Times New Roman" panose="02020603050405020304" pitchFamily="18" charset="0"/>
                <a:cs typeface="Times New Roman" panose="02020603050405020304" pitchFamily="18" charset="0"/>
              </a:endParaRPr>
            </a:p>
          </p:txBody>
        </p:sp>
        <p:sp>
          <p:nvSpPr>
            <p:cNvPr id="15" name="矩形 14"/>
            <p:cNvSpPr/>
            <p:nvPr>
              <p:custDataLst>
                <p:tags r:id="rId6"/>
              </p:custDataLst>
            </p:nvPr>
          </p:nvSpPr>
          <p:spPr>
            <a:xfrm>
              <a:off x="1137" y="5104"/>
              <a:ext cx="688" cy="6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pitchFamily="18" charset="0"/>
                  <a:cs typeface="Times New Roman" panose="02020603050405020304" pitchFamily="18" charset="0"/>
                </a:rPr>
                <a:t>3</a:t>
              </a:r>
              <a:endParaRPr lang="zh-CN" altLang="en-US" sz="2000" b="1">
                <a:latin typeface="Times New Roman" panose="02020603050405020304" pitchFamily="18" charset="0"/>
                <a:cs typeface="Times New Roman" panose="02020603050405020304" pitchFamily="18" charset="0"/>
              </a:endParaRPr>
            </a:p>
          </p:txBody>
        </p:sp>
        <p:sp>
          <p:nvSpPr>
            <p:cNvPr id="16" name="矩形 15"/>
            <p:cNvSpPr/>
            <p:nvPr>
              <p:custDataLst>
                <p:tags r:id="rId7"/>
              </p:custDataLst>
            </p:nvPr>
          </p:nvSpPr>
          <p:spPr>
            <a:xfrm>
              <a:off x="1137" y="6523"/>
              <a:ext cx="688" cy="6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pitchFamily="18" charset="0"/>
                  <a:cs typeface="Times New Roman" panose="02020603050405020304" pitchFamily="18" charset="0"/>
                </a:rPr>
                <a:t>4</a:t>
              </a:r>
              <a:endParaRPr lang="zh-CN" altLang="en-US" sz="2000" b="1">
                <a:latin typeface="Times New Roman" panose="02020603050405020304" pitchFamily="18" charset="0"/>
                <a:cs typeface="Times New Roman" panose="02020603050405020304" pitchFamily="18" charset="0"/>
              </a:endParaRPr>
            </a:p>
          </p:txBody>
        </p:sp>
      </p:grpSp>
      <p:sp>
        <p:nvSpPr>
          <p:cNvPr id="23" name="日期占位符 22">
            <a:extLst>
              <a:ext uri="{FF2B5EF4-FFF2-40B4-BE49-F238E27FC236}">
                <a16:creationId xmlns:a16="http://schemas.microsoft.com/office/drawing/2014/main" id="{8FA04F38-4465-CEDB-1CC4-BA352B6468A1}"/>
              </a:ext>
            </a:extLst>
          </p:cNvPr>
          <p:cNvSpPr>
            <a:spLocks noGrp="1"/>
          </p:cNvSpPr>
          <p:nvPr>
            <p:ph type="dt" sz="half" idx="10"/>
          </p:nvPr>
        </p:nvSpPr>
        <p:spPr/>
        <p:txBody>
          <a:bodyPr/>
          <a:lstStyle/>
          <a:p>
            <a:fld id="{7EE0FA00-9E9F-421C-A6E0-0A7EF3827B71}" type="datetime1">
              <a:rPr lang="zh-CN" altLang="en-US" smtClean="0"/>
              <a:t>2026-04-21</a:t>
            </a:fld>
            <a:endParaRPr lang="zh-CN" altLang="en-US"/>
          </a:p>
        </p:txBody>
      </p:sp>
      <p:sp>
        <p:nvSpPr>
          <p:cNvPr id="25" name="灯片编号占位符 24">
            <a:extLst>
              <a:ext uri="{FF2B5EF4-FFF2-40B4-BE49-F238E27FC236}">
                <a16:creationId xmlns:a16="http://schemas.microsoft.com/office/drawing/2014/main" id="{5C8DD5FD-4D5C-8C0D-92F1-72219EABB87C}"/>
              </a:ext>
            </a:extLst>
          </p:cNvPr>
          <p:cNvSpPr>
            <a:spLocks noGrp="1"/>
          </p:cNvSpPr>
          <p:nvPr>
            <p:ph type="sldNum" sz="quarter" idx="12"/>
          </p:nvPr>
        </p:nvSpPr>
        <p:spPr/>
        <p:txBody>
          <a:bodyPr/>
          <a:lstStyle/>
          <a:p>
            <a:fld id="{BAEB1E39-14EE-405C-B1D8-764466B19623}" type="slidenum">
              <a:rPr lang="zh-CN" altLang="en-US" smtClean="0"/>
              <a:t>4</a:t>
            </a:fld>
            <a:endParaRPr lang="zh-CN" altLang="en-US"/>
          </a:p>
        </p:txBody>
      </p:sp>
      <p:sp>
        <p:nvSpPr>
          <p:cNvPr id="26" name="Title 1">
            <a:extLst>
              <a:ext uri="{FF2B5EF4-FFF2-40B4-BE49-F238E27FC236}">
                <a16:creationId xmlns:a16="http://schemas.microsoft.com/office/drawing/2014/main" id="{E2563FA9-F8CA-7A52-8FE5-305C5E583A29}"/>
              </a:ext>
            </a:extLst>
          </p:cNvPr>
          <p:cNvSpPr txBox="1"/>
          <p:nvPr/>
        </p:nvSpPr>
        <p:spPr>
          <a:xfrm>
            <a:off x="0" y="0"/>
            <a:ext cx="3027814" cy="109852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pPr>
            <a:r>
              <a:rPr lang="zh-CN" altLang="en-US" sz="3600" b="1" kern="1200" spc="0">
                <a:latin typeface="楷体" panose="02010609060101010101" charset="-122"/>
                <a:ea typeface="楷体" panose="02010609060101010101" charset="-122"/>
                <a:cs typeface="Times New Roman" panose="02020603050405020304" pitchFamily="18" charset="0"/>
              </a:rPr>
              <a:t>  </a:t>
            </a:r>
            <a:r>
              <a:rPr lang="zh-CN" altLang="en-US" sz="3600" b="1" kern="120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mj-cs"/>
              </a:rPr>
              <a:t>目录</a:t>
            </a:r>
            <a:endParaRPr lang="zh-CN" altLang="en-US" sz="3600" b="1" kern="1200" spc="0">
              <a:latin typeface="楷体" panose="02010609060101010101" charset="-122"/>
              <a:ea typeface="楷体" panose="02010609060101010101" charset="-122"/>
              <a:cs typeface="Times New Roman" panose="02020603050405020304" pitchFamily="18" charset="0"/>
            </a:endParaRPr>
          </a:p>
        </p:txBody>
      </p:sp>
      <p:sp>
        <p:nvSpPr>
          <p:cNvPr id="10" name="标题 9">
            <a:extLst>
              <a:ext uri="{FF2B5EF4-FFF2-40B4-BE49-F238E27FC236}">
                <a16:creationId xmlns:a16="http://schemas.microsoft.com/office/drawing/2014/main" id="{AAC04272-C327-EC78-869C-F5EBC576C7FC}"/>
              </a:ext>
            </a:extLst>
          </p:cNvPr>
          <p:cNvSpPr>
            <a:spLocks noGrp="1"/>
          </p:cNvSpPr>
          <p:nvPr>
            <p:ph type="title"/>
          </p:nvPr>
        </p:nvSpPr>
        <p:spPr>
          <a:xfrm>
            <a:off x="838200" y="-496693"/>
            <a:ext cx="3433549" cy="496693"/>
          </a:xfrm>
        </p:spPr>
        <p:txBody>
          <a:bodyPr vert="horz" lIns="91440" tIns="45720" rIns="91440" bIns="45720" rtlCol="0" anchor="b">
            <a:normAutofit/>
          </a:bodyPr>
          <a:lstStyle/>
          <a:p>
            <a:r>
              <a:rPr lang="en-US" altLang="zh-CN" sz="2400">
                <a:solidFill>
                  <a:srgbClr val="FBE5D6"/>
                </a:solidFill>
              </a:rPr>
              <a:t>1.</a:t>
            </a:r>
            <a:r>
              <a:rPr lang="zh-CN" altLang="en-US" sz="2400">
                <a:solidFill>
                  <a:srgbClr val="FBE5D6"/>
                </a:solidFill>
              </a:rPr>
              <a:t>作为替代的稳定币</a:t>
            </a:r>
          </a:p>
        </p:txBody>
      </p:sp>
      <p:sp>
        <p:nvSpPr>
          <p:cNvPr id="3" name="矩形 2">
            <a:extLst>
              <a:ext uri="{FF2B5EF4-FFF2-40B4-BE49-F238E27FC236}">
                <a16:creationId xmlns:a16="http://schemas.microsoft.com/office/drawing/2014/main" id="{EC781EF0-2B29-B6B5-C0FC-CAF3F61ED0F5}"/>
              </a:ext>
            </a:extLst>
          </p:cNvPr>
          <p:cNvSpPr/>
          <p:nvPr>
            <p:custDataLst>
              <p:tags r:id="rId2"/>
            </p:custDataLst>
          </p:nvPr>
        </p:nvSpPr>
        <p:spPr>
          <a:xfrm>
            <a:off x="4834076" y="3083982"/>
            <a:ext cx="4847806" cy="430887"/>
          </a:xfrm>
          <a:prstGeom prst="rect">
            <a:avLst/>
          </a:prstGeom>
        </p:spPr>
        <p:txBody>
          <a:bodyPr wrap="square">
            <a:spAutoFit/>
          </a:bodyPr>
          <a:lstStyle/>
          <a:p>
            <a:r>
              <a:rPr lang="zh-CN" altLang="en-US" sz="2200" b="1" dirty="0">
                <a:solidFill>
                  <a:schemeClr val="accent2">
                    <a:lumMod val="20000"/>
                    <a:lumOff val="80000"/>
                  </a:schemeClr>
                </a:solidFill>
                <a:latin typeface="Times New Roman" panose="02020603050405020304" pitchFamily="18" charset="0"/>
                <a:cs typeface="Times New Roman" panose="02020603050405020304" pitchFamily="18" charset="0"/>
              </a:rPr>
              <a:t>地缘冲突下的全球经济与资产走势</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2EEF9-0C1E-E26E-7148-571F4A7A507B}"/>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E32B52D3-B614-74F8-B9DB-0745905D28F8}"/>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25B36EC3-BC88-29CB-6A2A-60E2C570B345}"/>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83D5E477-019B-9EB2-E98A-E98F87B041B4}"/>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716F867E-4D27-3E7D-60B0-54B5821BA99F}"/>
              </a:ext>
            </a:extLst>
          </p:cNvPr>
          <p:cNvSpPr>
            <a:spLocks noGrp="1"/>
          </p:cNvSpPr>
          <p:nvPr>
            <p:ph type="sldNum" sz="quarter" idx="12"/>
          </p:nvPr>
        </p:nvSpPr>
        <p:spPr/>
        <p:txBody>
          <a:bodyPr/>
          <a:lstStyle/>
          <a:p>
            <a:fld id="{BAEB1E39-14EE-405C-B1D8-764466B19623}" type="slidenum">
              <a:rPr lang="zh-CN" altLang="en-US" smtClean="0"/>
              <a:t>5</a:t>
            </a:fld>
            <a:endParaRPr lang="zh-CN" altLang="en-US" dirty="0"/>
          </a:p>
        </p:txBody>
      </p:sp>
      <p:sp>
        <p:nvSpPr>
          <p:cNvPr id="2" name="Title 1">
            <a:extLst>
              <a:ext uri="{FF2B5EF4-FFF2-40B4-BE49-F238E27FC236}">
                <a16:creationId xmlns:a16="http://schemas.microsoft.com/office/drawing/2014/main" id="{4E976248-08C9-1A06-9E32-80E24E353D2A}"/>
              </a:ext>
            </a:extLst>
          </p:cNvPr>
          <p:cNvSpPr txBox="1">
            <a:spLocks/>
          </p:cNvSpPr>
          <p:nvPr/>
        </p:nvSpPr>
        <p:spPr>
          <a:xfrm>
            <a:off x="-307190" y="35356"/>
            <a:ext cx="3397624"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石油定价机制</a:t>
            </a:r>
            <a:endParaRPr lang="zh-CN" altLang="en-US" sz="3600" b="1" dirty="0">
              <a:latin typeface="楷体" panose="02010609060101010101" charset="-122"/>
              <a:ea typeface="楷体" panose="02010609060101010101" charset="-122"/>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94CFD058-B83E-31B4-F302-8EC32DDA550F}"/>
              </a:ext>
            </a:extLst>
          </p:cNvPr>
          <p:cNvGraphicFramePr>
            <a:graphicFrameLocks noGrp="1"/>
          </p:cNvGraphicFramePr>
          <p:nvPr>
            <p:extLst>
              <p:ext uri="{D42A27DB-BD31-4B8C-83A1-F6EECF244321}">
                <p14:modId xmlns:p14="http://schemas.microsoft.com/office/powerpoint/2010/main" val="3674320530"/>
              </p:ext>
            </p:extLst>
          </p:nvPr>
        </p:nvGraphicFramePr>
        <p:xfrm>
          <a:off x="699888" y="3473670"/>
          <a:ext cx="5037441" cy="2871117"/>
        </p:xfrm>
        <a:graphic>
          <a:graphicData uri="http://schemas.openxmlformats.org/drawingml/2006/table">
            <a:tbl>
              <a:tblPr/>
              <a:tblGrid>
                <a:gridCol w="1341006">
                  <a:extLst>
                    <a:ext uri="{9D8B030D-6E8A-4147-A177-3AD203B41FA5}">
                      <a16:colId xmlns:a16="http://schemas.microsoft.com/office/drawing/2014/main" val="3373131435"/>
                    </a:ext>
                  </a:extLst>
                </a:gridCol>
                <a:gridCol w="1494732">
                  <a:extLst>
                    <a:ext uri="{9D8B030D-6E8A-4147-A177-3AD203B41FA5}">
                      <a16:colId xmlns:a16="http://schemas.microsoft.com/office/drawing/2014/main" val="153077918"/>
                    </a:ext>
                  </a:extLst>
                </a:gridCol>
                <a:gridCol w="2201703">
                  <a:extLst>
                    <a:ext uri="{9D8B030D-6E8A-4147-A177-3AD203B41FA5}">
                      <a16:colId xmlns:a16="http://schemas.microsoft.com/office/drawing/2014/main" val="3402497722"/>
                    </a:ext>
                  </a:extLst>
                </a:gridCol>
              </a:tblGrid>
              <a:tr h="287496">
                <a:tc>
                  <a:txBody>
                    <a:bodyPr/>
                    <a:lstStyle/>
                    <a:p>
                      <a:pPr algn="ctr">
                        <a:buNone/>
                      </a:pPr>
                      <a:r>
                        <a:rPr lang="zh-CN" altLang="en-US" sz="1800" b="1" kern="1200" dirty="0">
                          <a:solidFill>
                            <a:schemeClr val="lt1"/>
                          </a:solidFill>
                          <a:latin typeface="+mn-lt"/>
                          <a:ea typeface="+mn-ea"/>
                          <a:cs typeface="+mn-cs"/>
                        </a:rPr>
                        <a:t>基准油价</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A62B00"/>
                    </a:solidFill>
                  </a:tcPr>
                </a:tc>
                <a:tc>
                  <a:txBody>
                    <a:bodyPr/>
                    <a:lstStyle/>
                    <a:p>
                      <a:pPr marL="0" algn="ctr" defTabSz="914400" rtl="0" eaLnBrk="1" latinLnBrk="0" hangingPunct="1">
                        <a:buNone/>
                      </a:pPr>
                      <a:r>
                        <a:rPr lang="zh-CN" altLang="en-US" sz="1800" b="1" kern="1200" dirty="0">
                          <a:solidFill>
                            <a:schemeClr val="lt1"/>
                          </a:solidFill>
                          <a:latin typeface="+mn-lt"/>
                          <a:ea typeface="+mn-ea"/>
                          <a:cs typeface="+mn-cs"/>
                        </a:rPr>
                        <a:t>主导区域</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A62B00"/>
                    </a:solidFill>
                  </a:tcPr>
                </a:tc>
                <a:tc>
                  <a:txBody>
                    <a:bodyPr/>
                    <a:lstStyle/>
                    <a:p>
                      <a:pPr marL="0" algn="ctr" defTabSz="914400" rtl="0" eaLnBrk="1" latinLnBrk="0" hangingPunct="1">
                        <a:buNone/>
                      </a:pPr>
                      <a:r>
                        <a:rPr lang="zh-CN" altLang="en-US" sz="1800" b="1" kern="1200" dirty="0">
                          <a:solidFill>
                            <a:schemeClr val="lt1"/>
                          </a:solidFill>
                          <a:latin typeface="+mn-lt"/>
                          <a:ea typeface="+mn-ea"/>
                          <a:cs typeface="+mn-cs"/>
                        </a:rPr>
                        <a:t>影响范围</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A62B00"/>
                    </a:solidFill>
                  </a:tcPr>
                </a:tc>
                <a:extLst>
                  <a:ext uri="{0D108BD9-81ED-4DB2-BD59-A6C34878D82A}">
                    <a16:rowId xmlns:a16="http://schemas.microsoft.com/office/drawing/2014/main" val="3698486399"/>
                  </a:ext>
                </a:extLst>
              </a:tr>
              <a:tr h="807908">
                <a:tc>
                  <a:txBody>
                    <a:bodyPr/>
                    <a:lstStyle/>
                    <a:p>
                      <a:pPr algn="ctr">
                        <a:buNone/>
                      </a:pPr>
                      <a:r>
                        <a:rPr lang="en-US" sz="1800" b="1" dirty="0">
                          <a:effectLst/>
                        </a:rPr>
                        <a:t>Brent</a:t>
                      </a:r>
                      <a:endParaRPr lang="en-US" sz="1800" dirty="0">
                        <a:effectLst/>
                      </a:endParaRP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zh-CN" altLang="en-US" sz="1800" dirty="0">
                          <a:effectLst/>
                        </a:rPr>
                        <a:t>全球基准</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just">
                        <a:buNone/>
                      </a:pPr>
                      <a:r>
                        <a:rPr lang="zh-CN" altLang="en-US" sz="1800" dirty="0">
                          <a:effectLst/>
                        </a:rPr>
                        <a:t>约 </a:t>
                      </a:r>
                      <a:r>
                        <a:rPr lang="en-US" altLang="zh-CN" sz="1800" dirty="0">
                          <a:effectLst/>
                        </a:rPr>
                        <a:t>70% </a:t>
                      </a:r>
                      <a:r>
                        <a:rPr lang="zh-CN" altLang="en-US" sz="1800" dirty="0">
                          <a:effectLst/>
                        </a:rPr>
                        <a:t>全球原油贸易，欧洲、非洲、中东向欧洲出口</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868178363"/>
                  </a:ext>
                </a:extLst>
              </a:tr>
              <a:tr h="561477">
                <a:tc>
                  <a:txBody>
                    <a:bodyPr/>
                    <a:lstStyle/>
                    <a:p>
                      <a:pPr algn="ctr">
                        <a:buNone/>
                      </a:pPr>
                      <a:r>
                        <a:rPr lang="en-US" sz="1800" b="1" dirty="0">
                          <a:effectLst/>
                        </a:rPr>
                        <a:t>WTI</a:t>
                      </a:r>
                      <a:endParaRPr lang="en-US" sz="1800" dirty="0">
                        <a:effectLst/>
                      </a:endParaRP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zh-CN" altLang="en-US" sz="1800" dirty="0">
                          <a:effectLst/>
                        </a:rPr>
                        <a:t>北美</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just">
                        <a:buNone/>
                      </a:pPr>
                      <a:r>
                        <a:rPr lang="zh-CN" altLang="en-US" sz="1800" dirty="0">
                          <a:effectLst/>
                        </a:rPr>
                        <a:t>美国及加拿大原油贸易</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52404892"/>
                  </a:ext>
                </a:extLst>
              </a:tr>
              <a:tr h="561477">
                <a:tc>
                  <a:txBody>
                    <a:bodyPr/>
                    <a:lstStyle/>
                    <a:p>
                      <a:pPr algn="ctr">
                        <a:buNone/>
                      </a:pPr>
                      <a:r>
                        <a:rPr lang="zh-CN" altLang="en-US" sz="1800" b="1" dirty="0">
                          <a:effectLst/>
                        </a:rPr>
                        <a:t>迪拜 </a:t>
                      </a:r>
                      <a:r>
                        <a:rPr lang="en-US" altLang="zh-CN" sz="1800" b="1" dirty="0">
                          <a:effectLst/>
                        </a:rPr>
                        <a:t>/ </a:t>
                      </a:r>
                      <a:r>
                        <a:rPr lang="zh-CN" altLang="en-US" sz="1800" b="1" dirty="0">
                          <a:effectLst/>
                        </a:rPr>
                        <a:t>阿曼</a:t>
                      </a:r>
                      <a:endParaRPr lang="zh-CN" altLang="en-US" sz="1800" dirty="0">
                        <a:effectLst/>
                      </a:endParaRP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zh-CN" altLang="en-US" sz="1800" dirty="0">
                          <a:effectLst/>
                        </a:rPr>
                        <a:t>亚洲传统基准</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just">
                        <a:buNone/>
                      </a:pPr>
                      <a:r>
                        <a:rPr lang="zh-CN" altLang="en-US" sz="1800" dirty="0">
                          <a:effectLst/>
                        </a:rPr>
                        <a:t>中东向亚洲出口原油</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831839525"/>
                  </a:ext>
                </a:extLst>
              </a:tr>
              <a:tr h="547702">
                <a:tc>
                  <a:txBody>
                    <a:bodyPr/>
                    <a:lstStyle/>
                    <a:p>
                      <a:pPr algn="ctr">
                        <a:buNone/>
                      </a:pPr>
                      <a:r>
                        <a:rPr lang="en-US" sz="1800" b="1" dirty="0">
                          <a:effectLst/>
                        </a:rPr>
                        <a:t>INE </a:t>
                      </a:r>
                      <a:r>
                        <a:rPr lang="zh-CN" altLang="en-US" sz="1800" b="1" dirty="0">
                          <a:effectLst/>
                        </a:rPr>
                        <a:t>原油 </a:t>
                      </a:r>
                      <a:endParaRPr lang="en-US" sz="1800" dirty="0">
                        <a:effectLst/>
                      </a:endParaRP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zh-CN" altLang="en-US" sz="1800" dirty="0">
                          <a:effectLst/>
                        </a:rPr>
                        <a:t>亚洲新兴基准</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just">
                        <a:buNone/>
                      </a:pPr>
                      <a:r>
                        <a:rPr lang="zh-CN" altLang="en-US" sz="1800" dirty="0">
                          <a:effectLst/>
                        </a:rPr>
                        <a:t>中国及亚太地区原油贸易</a:t>
                      </a:r>
                    </a:p>
                  </a:txBody>
                  <a:tcPr marL="14385" marR="14385" marT="14385" marB="14385"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1650573"/>
                  </a:ext>
                </a:extLst>
              </a:tr>
            </a:tbl>
          </a:graphicData>
        </a:graphic>
      </p:graphicFrame>
      <p:sp>
        <p:nvSpPr>
          <p:cNvPr id="8" name="页脚占位符 10">
            <a:extLst>
              <a:ext uri="{FF2B5EF4-FFF2-40B4-BE49-F238E27FC236}">
                <a16:creationId xmlns:a16="http://schemas.microsoft.com/office/drawing/2014/main" id="{1298D071-2F41-5851-4360-BBEC437CF88F}"/>
              </a:ext>
            </a:extLst>
          </p:cNvPr>
          <p:cNvSpPr>
            <a:spLocks noGrp="1"/>
          </p:cNvSpPr>
          <p:nvPr>
            <p:ph type="ftr" sz="quarter" idx="11"/>
          </p:nvPr>
        </p:nvSpPr>
        <p:spPr>
          <a:xfrm>
            <a:off x="3997959" y="6393180"/>
            <a:ext cx="4520609" cy="365125"/>
          </a:xfrm>
        </p:spPr>
        <p:txBody>
          <a:bodyPr/>
          <a:lstStyle/>
          <a:p>
            <a:r>
              <a:rPr lang="zh-CN" altLang="en-US" dirty="0"/>
              <a:t>数据来源：</a:t>
            </a:r>
            <a:r>
              <a:rPr lang="en-US" altLang="zh-CN" dirty="0"/>
              <a:t>EIA</a:t>
            </a:r>
            <a:r>
              <a:rPr lang="zh-CN" altLang="en-US" dirty="0"/>
              <a:t>、</a:t>
            </a:r>
            <a:r>
              <a:rPr lang="en-US" altLang="zh-CN" dirty="0"/>
              <a:t>Wind</a:t>
            </a:r>
            <a:endParaRPr lang="zh-CN" altLang="en-US" dirty="0"/>
          </a:p>
        </p:txBody>
      </p:sp>
      <p:sp>
        <p:nvSpPr>
          <p:cNvPr id="16" name="文本框 15">
            <a:extLst>
              <a:ext uri="{FF2B5EF4-FFF2-40B4-BE49-F238E27FC236}">
                <a16:creationId xmlns:a16="http://schemas.microsoft.com/office/drawing/2014/main" id="{9ED3921E-5306-DEDD-4B03-737051DF1773}"/>
              </a:ext>
            </a:extLst>
          </p:cNvPr>
          <p:cNvSpPr txBox="1"/>
          <p:nvPr/>
        </p:nvSpPr>
        <p:spPr>
          <a:xfrm>
            <a:off x="7438079" y="3361675"/>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lang="zh-CN" altLang="en-US" sz="1600" b="1" dirty="0">
                <a:solidFill>
                  <a:prstClr val="black"/>
                </a:solidFill>
                <a:latin typeface="Times New Roman" panose="02020603050405020304"/>
                <a:ea typeface="楷体" panose="02010609060101010101" charset="-122"/>
              </a:rPr>
              <a:t>原油市场处于脆弱的紧平衡状态</a:t>
            </a:r>
            <a:endParaRPr lang="en-US" altLang="zh-CN" sz="1600" b="1" dirty="0">
              <a:solidFill>
                <a:prstClr val="black"/>
              </a:solidFill>
              <a:latin typeface="Times New Roman" panose="02020603050405020304"/>
              <a:ea typeface="楷体" panose="02010609060101010101" charset="-122"/>
            </a:endParaRPr>
          </a:p>
        </p:txBody>
      </p:sp>
      <p:sp>
        <p:nvSpPr>
          <p:cNvPr id="17" name="文本框 16">
            <a:extLst>
              <a:ext uri="{FF2B5EF4-FFF2-40B4-BE49-F238E27FC236}">
                <a16:creationId xmlns:a16="http://schemas.microsoft.com/office/drawing/2014/main" id="{9DEFC857-68A2-24CB-5BBE-EB9A0F837F94}"/>
              </a:ext>
            </a:extLst>
          </p:cNvPr>
          <p:cNvSpPr txBox="1"/>
          <p:nvPr/>
        </p:nvSpPr>
        <p:spPr>
          <a:xfrm>
            <a:off x="7045960" y="6088410"/>
            <a:ext cx="5037442"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石油价格、美元、美债收益率的联动关系</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25" name="文本框 24">
            <a:extLst>
              <a:ext uri="{FF2B5EF4-FFF2-40B4-BE49-F238E27FC236}">
                <a16:creationId xmlns:a16="http://schemas.microsoft.com/office/drawing/2014/main" id="{5E32D075-9E02-D87C-A754-422AFF5A2A0D}"/>
              </a:ext>
            </a:extLst>
          </p:cNvPr>
          <p:cNvSpPr txBox="1"/>
          <p:nvPr/>
        </p:nvSpPr>
        <p:spPr>
          <a:xfrm>
            <a:off x="420955" y="955639"/>
            <a:ext cx="5593765" cy="304936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dirty="0"/>
              <a:t>当前国际原油贸易</a:t>
            </a:r>
            <a:r>
              <a:rPr lang="en-US" altLang="zh-CN" dirty="0"/>
              <a:t>90% </a:t>
            </a:r>
            <a:r>
              <a:rPr lang="zh-CN" altLang="en-US" dirty="0"/>
              <a:t>以上采用公式定价：</a:t>
            </a:r>
          </a:p>
          <a:p>
            <a:pPr algn="just">
              <a:lnSpc>
                <a:spcPct val="150000"/>
              </a:lnSpc>
              <a:buNone/>
            </a:pPr>
            <a:r>
              <a:rPr lang="en-US" altLang="zh-CN" dirty="0"/>
              <a:t>	</a:t>
            </a:r>
            <a:r>
              <a:rPr lang="zh-CN" altLang="en-US" dirty="0"/>
              <a:t>结算价格 </a:t>
            </a:r>
            <a:r>
              <a:rPr lang="en-US" altLang="zh-CN" dirty="0"/>
              <a:t>= </a:t>
            </a:r>
            <a:r>
              <a:rPr lang="zh-CN" altLang="en-US" dirty="0"/>
              <a:t>基准价格 </a:t>
            </a:r>
            <a:r>
              <a:rPr lang="en-US" altLang="zh-CN" dirty="0"/>
              <a:t>+ </a:t>
            </a:r>
            <a:r>
              <a:rPr lang="zh-CN" altLang="en-US" dirty="0"/>
              <a:t>升贴水 </a:t>
            </a:r>
            <a:endParaRPr lang="en-US" altLang="zh-CN" dirty="0"/>
          </a:p>
          <a:p>
            <a:pPr marL="342900" indent="-342900" algn="just">
              <a:lnSpc>
                <a:spcPct val="150000"/>
              </a:lnSpc>
              <a:buFont typeface="Wingdings" panose="05000000000000000000" pitchFamily="2" charset="2"/>
              <a:buChar char="Ø"/>
            </a:pPr>
            <a:r>
              <a:rPr lang="zh-CN" altLang="en-US" dirty="0"/>
              <a:t>石油定价“期现联动”。目前，原油价格的波动更多地反映在期货盘面上。</a:t>
            </a:r>
            <a:endParaRPr lang="en-US" altLang="zh-CN" dirty="0"/>
          </a:p>
          <a:p>
            <a:pPr marL="342900" indent="-342900" algn="just">
              <a:lnSpc>
                <a:spcPct val="150000"/>
              </a:lnSpc>
              <a:buFont typeface="Wingdings" panose="05000000000000000000" pitchFamily="2" charset="2"/>
              <a:buChar char="Ø"/>
            </a:pPr>
            <a:r>
              <a:rPr lang="zh-CN" altLang="en-US" dirty="0"/>
              <a:t>石油价格不仅仅受单一供需影响，它具有深厚的政治、金融和战略属性。</a:t>
            </a:r>
            <a:endParaRPr lang="en-US" altLang="zh-CN" dirty="0"/>
          </a:p>
          <a:p>
            <a:pPr marL="342900" indent="-342900">
              <a:lnSpc>
                <a:spcPts val="1800"/>
              </a:lnSpc>
              <a:buFont typeface="Wingdings" panose="05000000000000000000" pitchFamily="2" charset="2"/>
              <a:buChar char="Ø"/>
            </a:pPr>
            <a:endParaRPr lang="en-US" altLang="zh-CN" sz="2000" dirty="0"/>
          </a:p>
          <a:p>
            <a:pPr marL="342900" indent="-342900" algn="l">
              <a:lnSpc>
                <a:spcPts val="1800"/>
              </a:lnSpc>
              <a:buFont typeface="Wingdings" panose="05000000000000000000" pitchFamily="2" charset="2"/>
              <a:buChar char="Ø"/>
            </a:pPr>
            <a:endParaRPr lang="zh-CN" altLang="en-US" sz="2000" dirty="0"/>
          </a:p>
        </p:txBody>
      </p:sp>
      <p:pic>
        <p:nvPicPr>
          <p:cNvPr id="20" name="图片 19">
            <a:extLst>
              <a:ext uri="{FF2B5EF4-FFF2-40B4-BE49-F238E27FC236}">
                <a16:creationId xmlns:a16="http://schemas.microsoft.com/office/drawing/2014/main" id="{AADC7D30-8C54-6125-328D-5416F5988BD8}"/>
              </a:ext>
            </a:extLst>
          </p:cNvPr>
          <p:cNvPicPr>
            <a:picLocks noChangeAspect="1"/>
          </p:cNvPicPr>
          <p:nvPr/>
        </p:nvPicPr>
        <p:blipFill>
          <a:blip r:embed="rId3"/>
          <a:srcRect l="665" t="5336" r="-1250" b="4368"/>
          <a:stretch>
            <a:fillRect/>
          </a:stretch>
        </p:blipFill>
        <p:spPr>
          <a:xfrm>
            <a:off x="6293218" y="3665003"/>
            <a:ext cx="5444744" cy="2443984"/>
          </a:xfrm>
          <a:prstGeom prst="rect">
            <a:avLst/>
          </a:prstGeom>
        </p:spPr>
      </p:pic>
      <p:pic>
        <p:nvPicPr>
          <p:cNvPr id="27" name="图片 26">
            <a:extLst>
              <a:ext uri="{FF2B5EF4-FFF2-40B4-BE49-F238E27FC236}">
                <a16:creationId xmlns:a16="http://schemas.microsoft.com/office/drawing/2014/main" id="{9BEF304E-87B6-C59E-2B2A-1232D5FFF2B8}"/>
              </a:ext>
            </a:extLst>
          </p:cNvPr>
          <p:cNvPicPr>
            <a:picLocks noChangeAspect="1"/>
          </p:cNvPicPr>
          <p:nvPr/>
        </p:nvPicPr>
        <p:blipFill>
          <a:blip r:embed="rId4"/>
          <a:srcRect l="667" t="1581" b="4725"/>
          <a:stretch>
            <a:fillRect/>
          </a:stretch>
        </p:blipFill>
        <p:spPr>
          <a:xfrm>
            <a:off x="6326301" y="1062906"/>
            <a:ext cx="5444744" cy="2337103"/>
          </a:xfrm>
          <a:prstGeom prst="rect">
            <a:avLst/>
          </a:prstGeom>
        </p:spPr>
      </p:pic>
    </p:spTree>
    <p:extLst>
      <p:ext uri="{BB962C8B-B14F-4D97-AF65-F5344CB8AC3E}">
        <p14:creationId xmlns:p14="http://schemas.microsoft.com/office/powerpoint/2010/main" val="4213225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8ACA4-B644-F683-D003-9A526308A7EC}"/>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132F1E1C-1296-8B13-10DC-5B632A857281}"/>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F0632863-235E-3483-0D05-90D6752A0E4A}"/>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20D8401F-6379-79CD-F0DB-47104FAF225B}"/>
              </a:ext>
            </a:extLst>
          </p:cNvPr>
          <p:cNvSpPr>
            <a:spLocks noGrp="1"/>
          </p:cNvSpPr>
          <p:nvPr>
            <p:ph type="dt" sz="half" idx="10"/>
          </p:nvPr>
        </p:nvSpPr>
        <p:spPr>
          <a:xfrm>
            <a:off x="838200" y="6367334"/>
            <a:ext cx="2743200" cy="365125"/>
          </a:xfrm>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D7A2E57F-00D8-692D-96D0-CF46DD299AAB}"/>
              </a:ext>
            </a:extLst>
          </p:cNvPr>
          <p:cNvSpPr>
            <a:spLocks noGrp="1"/>
          </p:cNvSpPr>
          <p:nvPr>
            <p:ph type="sldNum" sz="quarter" idx="12"/>
          </p:nvPr>
        </p:nvSpPr>
        <p:spPr/>
        <p:txBody>
          <a:bodyPr/>
          <a:lstStyle/>
          <a:p>
            <a:fld id="{BAEB1E39-14EE-405C-B1D8-764466B19623}" type="slidenum">
              <a:rPr lang="zh-CN" altLang="en-US" smtClean="0"/>
              <a:t>6</a:t>
            </a:fld>
            <a:endParaRPr lang="zh-CN" altLang="en-US"/>
          </a:p>
        </p:txBody>
      </p:sp>
      <p:sp>
        <p:nvSpPr>
          <p:cNvPr id="2" name="Title 1">
            <a:extLst>
              <a:ext uri="{FF2B5EF4-FFF2-40B4-BE49-F238E27FC236}">
                <a16:creationId xmlns:a16="http://schemas.microsoft.com/office/drawing/2014/main" id="{8B896137-7C32-ED2C-AAF4-37BD1118AD25}"/>
              </a:ext>
            </a:extLst>
          </p:cNvPr>
          <p:cNvSpPr txBox="1">
            <a:spLocks/>
          </p:cNvSpPr>
          <p:nvPr/>
        </p:nvSpPr>
        <p:spPr>
          <a:xfrm>
            <a:off x="-286870" y="0"/>
            <a:ext cx="4736950"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霍尔木兹海峡封锁</a:t>
            </a:r>
            <a:endParaRPr lang="zh-CN" altLang="en-US" sz="3600" b="1" dirty="0">
              <a:latin typeface="楷体" panose="02010609060101010101" charset="-122"/>
              <a:ea typeface="楷体" panose="02010609060101010101" charset="-122"/>
              <a:cs typeface="Times New Roman" panose="02020603050405020304" pitchFamily="18" charset="0"/>
            </a:endParaRPr>
          </a:p>
        </p:txBody>
      </p:sp>
      <p:sp>
        <p:nvSpPr>
          <p:cNvPr id="8" name="页脚占位符 10">
            <a:extLst>
              <a:ext uri="{FF2B5EF4-FFF2-40B4-BE49-F238E27FC236}">
                <a16:creationId xmlns:a16="http://schemas.microsoft.com/office/drawing/2014/main" id="{9AA006FD-CDFB-2325-EFD1-303AA8373AA2}"/>
              </a:ext>
            </a:extLst>
          </p:cNvPr>
          <p:cNvSpPr>
            <a:spLocks noGrp="1"/>
          </p:cNvSpPr>
          <p:nvPr>
            <p:ph type="ftr" sz="quarter" idx="11"/>
          </p:nvPr>
        </p:nvSpPr>
        <p:spPr>
          <a:xfrm>
            <a:off x="3589973" y="6410138"/>
            <a:ext cx="5316854" cy="365125"/>
          </a:xfrm>
        </p:spPr>
        <p:txBody>
          <a:bodyPr/>
          <a:lstStyle/>
          <a:p>
            <a:r>
              <a:rPr lang="zh-CN" altLang="en-US" dirty="0"/>
              <a:t>数据来源：</a:t>
            </a:r>
            <a:r>
              <a:rPr lang="en-US" altLang="zh-CN" dirty="0"/>
              <a:t>Wind, EIA</a:t>
            </a:r>
            <a:endParaRPr lang="zh-CN" altLang="en-US" dirty="0"/>
          </a:p>
        </p:txBody>
      </p:sp>
      <p:sp>
        <p:nvSpPr>
          <p:cNvPr id="16" name="文本框 15">
            <a:extLst>
              <a:ext uri="{FF2B5EF4-FFF2-40B4-BE49-F238E27FC236}">
                <a16:creationId xmlns:a16="http://schemas.microsoft.com/office/drawing/2014/main" id="{1AE66117-8DAA-8066-49AD-DECFDDFC263B}"/>
              </a:ext>
            </a:extLst>
          </p:cNvPr>
          <p:cNvSpPr txBox="1"/>
          <p:nvPr/>
        </p:nvSpPr>
        <p:spPr>
          <a:xfrm>
            <a:off x="1211077" y="6036773"/>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a:t>
            </a:r>
            <a:r>
              <a:rPr lang="zh-CN" altLang="en-US" sz="1600" b="1" dirty="0">
                <a:solidFill>
                  <a:prstClr val="black"/>
                </a:solidFill>
                <a:latin typeface="Times New Roman" panose="02020603050405020304"/>
                <a:ea typeface="楷体" panose="02010609060101010101" charset="-122"/>
              </a:rPr>
              <a:t>霍尔木兹海峡原油出口分布图</a:t>
            </a:r>
            <a:endParaRPr lang="en-US" altLang="zh-CN" sz="1600" b="1" dirty="0">
              <a:solidFill>
                <a:prstClr val="black"/>
              </a:solidFill>
              <a:latin typeface="Times New Roman" panose="02020603050405020304"/>
              <a:ea typeface="楷体" panose="02010609060101010101" charset="-122"/>
            </a:endParaRPr>
          </a:p>
        </p:txBody>
      </p:sp>
      <p:sp>
        <p:nvSpPr>
          <p:cNvPr id="17" name="AutoShape 4" descr="Map of crude oil exports from Strait of Hormuz - Feb 2025">
            <a:extLst>
              <a:ext uri="{FF2B5EF4-FFF2-40B4-BE49-F238E27FC236}">
                <a16:creationId xmlns:a16="http://schemas.microsoft.com/office/drawing/2014/main" id="{C743EE67-F5B7-B8A2-98BF-E13846EE0EE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3" name="图片 22">
            <a:extLst>
              <a:ext uri="{FF2B5EF4-FFF2-40B4-BE49-F238E27FC236}">
                <a16:creationId xmlns:a16="http://schemas.microsoft.com/office/drawing/2014/main" id="{108C6C4B-0CA5-2DC9-95B2-8EDC351FBA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6749" y="3374072"/>
            <a:ext cx="5417893" cy="2676621"/>
          </a:xfrm>
          <a:prstGeom prst="rect">
            <a:avLst/>
          </a:prstGeom>
        </p:spPr>
      </p:pic>
      <p:grpSp>
        <p:nvGrpSpPr>
          <p:cNvPr id="30" name="组合 29">
            <a:extLst>
              <a:ext uri="{FF2B5EF4-FFF2-40B4-BE49-F238E27FC236}">
                <a16:creationId xmlns:a16="http://schemas.microsoft.com/office/drawing/2014/main" id="{F628DFCF-E52A-EADF-81F4-5FD1367F655D}"/>
              </a:ext>
            </a:extLst>
          </p:cNvPr>
          <p:cNvGrpSpPr/>
          <p:nvPr/>
        </p:nvGrpSpPr>
        <p:grpSpPr>
          <a:xfrm>
            <a:off x="958012" y="4038386"/>
            <a:ext cx="5053682" cy="971763"/>
            <a:chOff x="7689373" y="1898927"/>
            <a:chExt cx="5053682" cy="971763"/>
          </a:xfrm>
        </p:grpSpPr>
        <p:sp>
          <p:nvSpPr>
            <p:cNvPr id="24" name="文本框 23">
              <a:extLst>
                <a:ext uri="{FF2B5EF4-FFF2-40B4-BE49-F238E27FC236}">
                  <a16:creationId xmlns:a16="http://schemas.microsoft.com/office/drawing/2014/main" id="{69E30929-DCCA-9F21-8ED9-58940E2A0200}"/>
                </a:ext>
              </a:extLst>
            </p:cNvPr>
            <p:cNvSpPr txBox="1"/>
            <p:nvPr/>
          </p:nvSpPr>
          <p:spPr>
            <a:xfrm>
              <a:off x="9251455" y="1898927"/>
              <a:ext cx="1361440" cy="415498"/>
            </a:xfrm>
            <a:prstGeom prst="rect">
              <a:avLst/>
            </a:prstGeom>
            <a:noFill/>
          </p:spPr>
          <p:txBody>
            <a:bodyPr wrap="square">
              <a:spAutoFit/>
            </a:bodyPr>
            <a:lstStyle/>
            <a:p>
              <a:pPr algn="ctr"/>
              <a:r>
                <a:rPr lang="zh-CN" altLang="en-US" sz="1050" dirty="0"/>
                <a:t>欧洲</a:t>
              </a:r>
              <a:endParaRPr lang="en-US" altLang="zh-CN" sz="1050" dirty="0"/>
            </a:p>
            <a:p>
              <a:pPr algn="ctr"/>
              <a:r>
                <a:rPr lang="en-US" altLang="zh-CN" sz="1050" dirty="0"/>
                <a:t>60</a:t>
              </a:r>
              <a:r>
                <a:rPr lang="zh-CN" altLang="en-US" sz="1050" dirty="0"/>
                <a:t>万桶</a:t>
              </a:r>
              <a:r>
                <a:rPr lang="en-US" altLang="zh-CN" sz="1050" dirty="0"/>
                <a:t>/</a:t>
              </a:r>
              <a:r>
                <a:rPr lang="zh-CN" altLang="en-US" sz="1050" dirty="0"/>
                <a:t>天</a:t>
              </a:r>
            </a:p>
          </p:txBody>
        </p:sp>
        <p:sp>
          <p:nvSpPr>
            <p:cNvPr id="25" name="文本框 24">
              <a:extLst>
                <a:ext uri="{FF2B5EF4-FFF2-40B4-BE49-F238E27FC236}">
                  <a16:creationId xmlns:a16="http://schemas.microsoft.com/office/drawing/2014/main" id="{155F7D39-58AB-262C-5999-FC5964BF3F22}"/>
                </a:ext>
              </a:extLst>
            </p:cNvPr>
            <p:cNvSpPr txBox="1"/>
            <p:nvPr/>
          </p:nvSpPr>
          <p:spPr>
            <a:xfrm>
              <a:off x="10687561" y="2146176"/>
              <a:ext cx="1361440" cy="415498"/>
            </a:xfrm>
            <a:prstGeom prst="rect">
              <a:avLst/>
            </a:prstGeom>
            <a:noFill/>
          </p:spPr>
          <p:txBody>
            <a:bodyPr wrap="square">
              <a:spAutoFit/>
            </a:bodyPr>
            <a:lstStyle/>
            <a:p>
              <a:pPr algn="ctr"/>
              <a:r>
                <a:rPr lang="zh-CN" altLang="en-US" sz="1050" dirty="0"/>
                <a:t>中国</a:t>
              </a:r>
              <a:endParaRPr lang="en-US" altLang="zh-CN" sz="1050" dirty="0"/>
            </a:p>
            <a:p>
              <a:pPr algn="ctr"/>
              <a:r>
                <a:rPr lang="en-US" altLang="zh-CN" sz="1050" dirty="0"/>
                <a:t>460</a:t>
              </a:r>
              <a:r>
                <a:rPr lang="zh-CN" altLang="en-US" sz="1050" dirty="0"/>
                <a:t>万桶</a:t>
              </a:r>
              <a:r>
                <a:rPr lang="en-US" altLang="zh-CN" sz="1050" dirty="0"/>
                <a:t>/</a:t>
              </a:r>
              <a:r>
                <a:rPr lang="zh-CN" altLang="en-US" sz="1050" dirty="0"/>
                <a:t>天</a:t>
              </a:r>
            </a:p>
          </p:txBody>
        </p:sp>
        <p:sp>
          <p:nvSpPr>
            <p:cNvPr id="26" name="文本框 25">
              <a:extLst>
                <a:ext uri="{FF2B5EF4-FFF2-40B4-BE49-F238E27FC236}">
                  <a16:creationId xmlns:a16="http://schemas.microsoft.com/office/drawing/2014/main" id="{232B1DE1-5803-2FB2-7A5B-939BCA52C6EE}"/>
                </a:ext>
              </a:extLst>
            </p:cNvPr>
            <p:cNvSpPr txBox="1"/>
            <p:nvPr/>
          </p:nvSpPr>
          <p:spPr>
            <a:xfrm>
              <a:off x="11381615" y="2179263"/>
              <a:ext cx="1361440" cy="415498"/>
            </a:xfrm>
            <a:prstGeom prst="rect">
              <a:avLst/>
            </a:prstGeom>
            <a:noFill/>
          </p:spPr>
          <p:txBody>
            <a:bodyPr wrap="square">
              <a:spAutoFit/>
            </a:bodyPr>
            <a:lstStyle/>
            <a:p>
              <a:pPr algn="ctr"/>
              <a:r>
                <a:rPr lang="zh-CN" altLang="en-US" sz="1050" dirty="0"/>
                <a:t>亚洲其他地区</a:t>
              </a:r>
              <a:endParaRPr lang="en-US" altLang="zh-CN" sz="1050" dirty="0"/>
            </a:p>
            <a:p>
              <a:pPr algn="ctr"/>
              <a:r>
                <a:rPr lang="en-US" altLang="zh-CN" sz="1050" dirty="0"/>
                <a:t>620</a:t>
              </a:r>
              <a:r>
                <a:rPr lang="zh-CN" altLang="en-US" sz="1050" dirty="0"/>
                <a:t>万桶</a:t>
              </a:r>
              <a:r>
                <a:rPr lang="en-US" altLang="zh-CN" sz="1050" dirty="0"/>
                <a:t>/</a:t>
              </a:r>
              <a:r>
                <a:rPr lang="zh-CN" altLang="en-US" sz="1050" dirty="0"/>
                <a:t>天</a:t>
              </a:r>
            </a:p>
          </p:txBody>
        </p:sp>
        <p:sp>
          <p:nvSpPr>
            <p:cNvPr id="27" name="文本框 26">
              <a:extLst>
                <a:ext uri="{FF2B5EF4-FFF2-40B4-BE49-F238E27FC236}">
                  <a16:creationId xmlns:a16="http://schemas.microsoft.com/office/drawing/2014/main" id="{3B8931A9-8B1B-662A-E598-922AC70A82A4}"/>
                </a:ext>
              </a:extLst>
            </p:cNvPr>
            <p:cNvSpPr txBox="1"/>
            <p:nvPr/>
          </p:nvSpPr>
          <p:spPr>
            <a:xfrm>
              <a:off x="9115451" y="2455192"/>
              <a:ext cx="1361440" cy="415498"/>
            </a:xfrm>
            <a:prstGeom prst="rect">
              <a:avLst/>
            </a:prstGeom>
            <a:noFill/>
          </p:spPr>
          <p:txBody>
            <a:bodyPr wrap="square">
              <a:spAutoFit/>
            </a:bodyPr>
            <a:lstStyle/>
            <a:p>
              <a:pPr algn="ctr"/>
              <a:r>
                <a:rPr lang="zh-CN" altLang="en-US" sz="1050" dirty="0"/>
                <a:t>非洲</a:t>
              </a:r>
              <a:endParaRPr lang="en-US" altLang="zh-CN" sz="1050" dirty="0"/>
            </a:p>
            <a:p>
              <a:pPr algn="ctr"/>
              <a:r>
                <a:rPr lang="en-US" altLang="zh-CN" sz="1050" dirty="0"/>
                <a:t>20</a:t>
              </a:r>
              <a:r>
                <a:rPr lang="zh-CN" altLang="en-US" sz="1050" dirty="0"/>
                <a:t>万桶</a:t>
              </a:r>
              <a:r>
                <a:rPr lang="en-US" altLang="zh-CN" sz="1050" dirty="0"/>
                <a:t>/</a:t>
              </a:r>
              <a:r>
                <a:rPr lang="zh-CN" altLang="en-US" sz="1050" dirty="0"/>
                <a:t>天</a:t>
              </a:r>
            </a:p>
          </p:txBody>
        </p:sp>
        <p:sp>
          <p:nvSpPr>
            <p:cNvPr id="28" name="文本框 25">
              <a:extLst>
                <a:ext uri="{FF2B5EF4-FFF2-40B4-BE49-F238E27FC236}">
                  <a16:creationId xmlns:a16="http://schemas.microsoft.com/office/drawing/2014/main" id="{232B1DE1-5803-2FB2-7A5B-939BCA52C6EE}"/>
                </a:ext>
              </a:extLst>
            </p:cNvPr>
            <p:cNvSpPr txBox="1"/>
            <p:nvPr/>
          </p:nvSpPr>
          <p:spPr>
            <a:xfrm>
              <a:off x="7689373" y="2282350"/>
              <a:ext cx="1270000" cy="41549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50" dirty="0"/>
                <a:t>美国</a:t>
              </a:r>
              <a:endParaRPr lang="en-US" altLang="zh-CN" sz="1050" dirty="0"/>
            </a:p>
            <a:p>
              <a:pPr algn="ctr"/>
              <a:r>
                <a:rPr lang="en-US" altLang="zh-CN" sz="1050" dirty="0"/>
                <a:t>50</a:t>
              </a:r>
              <a:r>
                <a:rPr lang="zh-CN" altLang="en-US" sz="1050" dirty="0"/>
                <a:t>万桶</a:t>
              </a:r>
              <a:r>
                <a:rPr lang="en-US" altLang="zh-CN" sz="1050" dirty="0"/>
                <a:t>/</a:t>
              </a:r>
              <a:r>
                <a:rPr lang="zh-CN" altLang="en-US" sz="1050" dirty="0"/>
                <a:t>天</a:t>
              </a:r>
            </a:p>
          </p:txBody>
        </p:sp>
        <p:sp>
          <p:nvSpPr>
            <p:cNvPr id="29" name="文本框 25">
              <a:extLst>
                <a:ext uri="{FF2B5EF4-FFF2-40B4-BE49-F238E27FC236}">
                  <a16:creationId xmlns:a16="http://schemas.microsoft.com/office/drawing/2014/main" id="{232B1DE1-5803-2FB2-7A5B-939BCA52C6EE}"/>
                </a:ext>
              </a:extLst>
            </p:cNvPr>
            <p:cNvSpPr txBox="1"/>
            <p:nvPr/>
          </p:nvSpPr>
          <p:spPr>
            <a:xfrm>
              <a:off x="10249616" y="2389019"/>
              <a:ext cx="1361440" cy="41549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050" dirty="0"/>
                <a:t>印度</a:t>
              </a:r>
              <a:endParaRPr lang="en-US" altLang="zh-CN" sz="1050" dirty="0"/>
            </a:p>
            <a:p>
              <a:pPr algn="ctr"/>
              <a:r>
                <a:rPr lang="en-US" altLang="zh-CN" sz="1050" dirty="0"/>
                <a:t>210</a:t>
              </a:r>
              <a:r>
                <a:rPr lang="zh-CN" altLang="en-US" sz="1050" dirty="0"/>
                <a:t>万桶</a:t>
              </a:r>
              <a:r>
                <a:rPr lang="en-US" altLang="zh-CN" sz="1050" dirty="0"/>
                <a:t>/</a:t>
              </a:r>
              <a:r>
                <a:rPr lang="zh-CN" altLang="en-US" sz="1050" dirty="0"/>
                <a:t>天</a:t>
              </a:r>
            </a:p>
          </p:txBody>
        </p:sp>
      </p:grpSp>
      <p:sp>
        <p:nvSpPr>
          <p:cNvPr id="34" name="文本框 33">
            <a:extLst>
              <a:ext uri="{FF2B5EF4-FFF2-40B4-BE49-F238E27FC236}">
                <a16:creationId xmlns:a16="http://schemas.microsoft.com/office/drawing/2014/main" id="{C24F6F1A-A708-7F95-9DAE-70AC8CF1C8A9}"/>
              </a:ext>
            </a:extLst>
          </p:cNvPr>
          <p:cNvSpPr txBox="1"/>
          <p:nvPr/>
        </p:nvSpPr>
        <p:spPr>
          <a:xfrm>
            <a:off x="239697" y="1020106"/>
            <a:ext cx="5899745" cy="212237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altLang="zh-CN" dirty="0">
                <a:solidFill>
                  <a:srgbClr val="000000"/>
                </a:solidFill>
                <a:latin typeface="Graphik"/>
              </a:rPr>
              <a:t>2025</a:t>
            </a:r>
            <a:r>
              <a:rPr lang="zh-CN" altLang="en-US" dirty="0">
                <a:solidFill>
                  <a:srgbClr val="000000"/>
                </a:solidFill>
                <a:latin typeface="Graphik"/>
              </a:rPr>
              <a:t>年，近</a:t>
            </a:r>
            <a:r>
              <a:rPr lang="en-US" altLang="zh-CN" dirty="0">
                <a:solidFill>
                  <a:srgbClr val="000000"/>
                </a:solidFill>
                <a:latin typeface="+mj-lt"/>
              </a:rPr>
              <a:t>1500</a:t>
            </a:r>
            <a:r>
              <a:rPr lang="zh-CN" altLang="en-US" dirty="0">
                <a:solidFill>
                  <a:srgbClr val="000000"/>
                </a:solidFill>
                <a:latin typeface="Graphik"/>
              </a:rPr>
              <a:t>万桶</a:t>
            </a:r>
            <a:r>
              <a:rPr lang="en-US" altLang="zh-CN" dirty="0">
                <a:solidFill>
                  <a:srgbClr val="000000"/>
                </a:solidFill>
                <a:latin typeface="Graphik"/>
              </a:rPr>
              <a:t>/</a:t>
            </a:r>
            <a:r>
              <a:rPr lang="zh-CN" altLang="en-US" dirty="0">
                <a:solidFill>
                  <a:srgbClr val="000000"/>
                </a:solidFill>
                <a:latin typeface="Graphik"/>
              </a:rPr>
              <a:t>日的原油（占全球原油贸易总量的近</a:t>
            </a:r>
            <a:r>
              <a:rPr lang="en-US" altLang="zh-CN" dirty="0">
                <a:solidFill>
                  <a:srgbClr val="000000"/>
                </a:solidFill>
                <a:latin typeface="+mj-lt"/>
              </a:rPr>
              <a:t>34%</a:t>
            </a:r>
            <a:r>
              <a:rPr lang="zh-CN" altLang="en-US" dirty="0">
                <a:solidFill>
                  <a:srgbClr val="000000"/>
                </a:solidFill>
                <a:latin typeface="Graphik"/>
              </a:rPr>
              <a:t>）途经霍尔木兹海峡，其中大部分出口目的地为亚洲。</a:t>
            </a:r>
            <a:endParaRPr lang="en-US" altLang="zh-CN" dirty="0">
              <a:solidFill>
                <a:srgbClr val="000000"/>
              </a:solidFill>
              <a:latin typeface="Graphik"/>
            </a:endParaRPr>
          </a:p>
          <a:p>
            <a:pPr marL="285750" indent="-285750" algn="just">
              <a:lnSpc>
                <a:spcPct val="150000"/>
              </a:lnSpc>
              <a:buFont typeface="Wingdings" panose="05000000000000000000" pitchFamily="2" charset="2"/>
              <a:buChar char="Ø"/>
            </a:pPr>
            <a:r>
              <a:rPr lang="zh-CN" altLang="en-US" dirty="0">
                <a:solidFill>
                  <a:srgbClr val="000000"/>
                </a:solidFill>
                <a:latin typeface="Graphik"/>
              </a:rPr>
              <a:t>海湾地区通过替代路线出口原油的可用产能估计为每日</a:t>
            </a:r>
            <a:r>
              <a:rPr lang="en-US" altLang="zh-CN" dirty="0">
                <a:solidFill>
                  <a:srgbClr val="000000"/>
                </a:solidFill>
                <a:latin typeface="+mj-lt"/>
              </a:rPr>
              <a:t>350</a:t>
            </a:r>
            <a:r>
              <a:rPr lang="zh-CN" altLang="en-US" dirty="0">
                <a:solidFill>
                  <a:srgbClr val="000000"/>
                </a:solidFill>
                <a:latin typeface="Graphik"/>
              </a:rPr>
              <a:t>万至</a:t>
            </a:r>
            <a:r>
              <a:rPr lang="en-US" altLang="zh-CN" dirty="0">
                <a:solidFill>
                  <a:srgbClr val="000000"/>
                </a:solidFill>
                <a:latin typeface="+mj-lt"/>
              </a:rPr>
              <a:t>550</a:t>
            </a:r>
            <a:r>
              <a:rPr lang="zh-CN" altLang="en-US" dirty="0">
                <a:solidFill>
                  <a:srgbClr val="000000"/>
                </a:solidFill>
                <a:latin typeface="Graphik"/>
              </a:rPr>
              <a:t>万桶。</a:t>
            </a:r>
          </a:p>
        </p:txBody>
      </p:sp>
      <p:pic>
        <p:nvPicPr>
          <p:cNvPr id="6" name="图片 5">
            <a:extLst>
              <a:ext uri="{FF2B5EF4-FFF2-40B4-BE49-F238E27FC236}">
                <a16:creationId xmlns:a16="http://schemas.microsoft.com/office/drawing/2014/main" id="{62B8D457-4232-B910-BDF5-1A680FDDC297}"/>
              </a:ext>
            </a:extLst>
          </p:cNvPr>
          <p:cNvPicPr>
            <a:picLocks noChangeAspect="1"/>
          </p:cNvPicPr>
          <p:nvPr/>
        </p:nvPicPr>
        <p:blipFill>
          <a:blip r:embed="rId4"/>
          <a:stretch>
            <a:fillRect/>
          </a:stretch>
        </p:blipFill>
        <p:spPr>
          <a:xfrm>
            <a:off x="6734567" y="1093557"/>
            <a:ext cx="4862308" cy="2669407"/>
          </a:xfrm>
          <a:prstGeom prst="rect">
            <a:avLst/>
          </a:prstGeom>
        </p:spPr>
      </p:pic>
      <p:sp>
        <p:nvSpPr>
          <p:cNvPr id="14" name="文本框 13">
            <a:extLst>
              <a:ext uri="{FF2B5EF4-FFF2-40B4-BE49-F238E27FC236}">
                <a16:creationId xmlns:a16="http://schemas.microsoft.com/office/drawing/2014/main" id="{929EA13D-1793-0431-2C82-5D79DB7AE1C4}"/>
              </a:ext>
            </a:extLst>
          </p:cNvPr>
          <p:cNvSpPr txBox="1"/>
          <p:nvPr/>
        </p:nvSpPr>
        <p:spPr>
          <a:xfrm>
            <a:off x="7636715" y="3834530"/>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a:t>
            </a:r>
            <a:r>
              <a:rPr lang="zh-CN" altLang="en-US" sz="1600" b="1" dirty="0">
                <a:solidFill>
                  <a:prstClr val="black"/>
                </a:solidFill>
                <a:latin typeface="Times New Roman" panose="02020603050405020304"/>
                <a:ea typeface="楷体" panose="02010609060101010101" charset="-122"/>
              </a:rPr>
              <a:t>来源集中度决定冲击弹性</a:t>
            </a:r>
            <a:endParaRPr lang="en-US" altLang="zh-CN" sz="1600" b="1" dirty="0">
              <a:solidFill>
                <a:prstClr val="black"/>
              </a:solidFill>
              <a:latin typeface="Times New Roman" panose="02020603050405020304"/>
              <a:ea typeface="楷体" panose="02010609060101010101" charset="-122"/>
            </a:endParaRPr>
          </a:p>
        </p:txBody>
      </p:sp>
      <p:graphicFrame>
        <p:nvGraphicFramePr>
          <p:cNvPr id="15" name="表格 14">
            <a:extLst>
              <a:ext uri="{FF2B5EF4-FFF2-40B4-BE49-F238E27FC236}">
                <a16:creationId xmlns:a16="http://schemas.microsoft.com/office/drawing/2014/main" id="{A7C0F450-DF38-1E98-A036-60C8BCE5292E}"/>
              </a:ext>
            </a:extLst>
          </p:cNvPr>
          <p:cNvGraphicFramePr>
            <a:graphicFrameLocks noGrp="1"/>
          </p:cNvGraphicFramePr>
          <p:nvPr>
            <p:extLst>
              <p:ext uri="{D42A27DB-BD31-4B8C-83A1-F6EECF244321}">
                <p14:modId xmlns:p14="http://schemas.microsoft.com/office/powerpoint/2010/main" val="319614012"/>
              </p:ext>
            </p:extLst>
          </p:nvPr>
        </p:nvGraphicFramePr>
        <p:xfrm>
          <a:off x="6761620" y="4186544"/>
          <a:ext cx="4808202" cy="2100715"/>
        </p:xfrm>
        <a:graphic>
          <a:graphicData uri="http://schemas.openxmlformats.org/drawingml/2006/table">
            <a:tbl>
              <a:tblPr/>
              <a:tblGrid>
                <a:gridCol w="1602734">
                  <a:extLst>
                    <a:ext uri="{9D8B030D-6E8A-4147-A177-3AD203B41FA5}">
                      <a16:colId xmlns:a16="http://schemas.microsoft.com/office/drawing/2014/main" val="3396782207"/>
                    </a:ext>
                  </a:extLst>
                </a:gridCol>
                <a:gridCol w="1602734">
                  <a:extLst>
                    <a:ext uri="{9D8B030D-6E8A-4147-A177-3AD203B41FA5}">
                      <a16:colId xmlns:a16="http://schemas.microsoft.com/office/drawing/2014/main" val="3739134695"/>
                    </a:ext>
                  </a:extLst>
                </a:gridCol>
                <a:gridCol w="1602734">
                  <a:extLst>
                    <a:ext uri="{9D8B030D-6E8A-4147-A177-3AD203B41FA5}">
                      <a16:colId xmlns:a16="http://schemas.microsoft.com/office/drawing/2014/main" val="3742942690"/>
                    </a:ext>
                  </a:extLst>
                </a:gridCol>
              </a:tblGrid>
              <a:tr h="315313">
                <a:tc>
                  <a:txBody>
                    <a:bodyPr/>
                    <a:lstStyle/>
                    <a:p>
                      <a:pPr algn="ctr">
                        <a:buNone/>
                      </a:pPr>
                      <a:r>
                        <a:rPr lang="zh-CN" altLang="en-US" sz="1800" dirty="0">
                          <a:solidFill>
                            <a:schemeClr val="bg1"/>
                          </a:solidFill>
                          <a:effectLst/>
                        </a:rPr>
                        <a:t>经济体</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990000"/>
                    </a:solidFill>
                  </a:tcPr>
                </a:tc>
                <a:tc>
                  <a:txBody>
                    <a:bodyPr/>
                    <a:lstStyle/>
                    <a:p>
                      <a:pPr marL="0" algn="ctr" defTabSz="914400" rtl="0" eaLnBrk="1" latinLnBrk="0" hangingPunct="1">
                        <a:buNone/>
                      </a:pPr>
                      <a:r>
                        <a:rPr lang="zh-CN" altLang="en-US" sz="1800" kern="1200" dirty="0">
                          <a:solidFill>
                            <a:schemeClr val="bg1"/>
                          </a:solidFill>
                          <a:effectLst/>
                          <a:latin typeface="+mn-lt"/>
                          <a:ea typeface="+mn-ea"/>
                          <a:cs typeface="+mn-cs"/>
                        </a:rPr>
                        <a:t>依赖度特征</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990000"/>
                    </a:solidFill>
                  </a:tcPr>
                </a:tc>
                <a:tc>
                  <a:txBody>
                    <a:bodyPr/>
                    <a:lstStyle/>
                    <a:p>
                      <a:pPr marL="0" algn="ctr" defTabSz="914400" rtl="0" eaLnBrk="1" latinLnBrk="0" hangingPunct="1">
                        <a:buNone/>
                      </a:pPr>
                      <a:r>
                        <a:rPr lang="zh-CN" altLang="en-US" sz="1800" kern="1200" dirty="0">
                          <a:solidFill>
                            <a:schemeClr val="bg1"/>
                          </a:solidFill>
                          <a:effectLst/>
                          <a:latin typeface="+mn-lt"/>
                          <a:ea typeface="+mn-ea"/>
                          <a:cs typeface="+mn-cs"/>
                        </a:rPr>
                        <a:t>能源安全风险</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3125516533"/>
                  </a:ext>
                </a:extLst>
              </a:tr>
              <a:tr h="485701">
                <a:tc>
                  <a:txBody>
                    <a:bodyPr/>
                    <a:lstStyle/>
                    <a:p>
                      <a:pPr algn="ctr">
                        <a:buNone/>
                      </a:pPr>
                      <a:r>
                        <a:rPr lang="zh-CN" altLang="en-US" sz="1800">
                          <a:effectLst/>
                        </a:rPr>
                        <a:t>日本</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zh-CN" altLang="en-US" sz="1800" dirty="0">
                          <a:effectLst/>
                        </a:rPr>
                        <a:t>高度集中</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zh-CN" altLang="en-US" sz="1800" dirty="0">
                          <a:effectLst/>
                        </a:rPr>
                        <a:t>高</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95803234"/>
                  </a:ext>
                </a:extLst>
              </a:tr>
              <a:tr h="328299">
                <a:tc>
                  <a:txBody>
                    <a:bodyPr/>
                    <a:lstStyle/>
                    <a:p>
                      <a:pPr algn="ctr">
                        <a:buNone/>
                      </a:pPr>
                      <a:r>
                        <a:rPr lang="zh-CN" altLang="en-US" sz="1800">
                          <a:effectLst/>
                        </a:rPr>
                        <a:t>欧盟</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zh-CN" altLang="en-US" sz="1800" dirty="0">
                          <a:effectLst/>
                        </a:rPr>
                        <a:t>持续分散</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zh-CN" altLang="en-US" sz="1800" dirty="0">
                          <a:effectLst/>
                        </a:rPr>
                        <a:t>大幅降低</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65642453"/>
                  </a:ext>
                </a:extLst>
              </a:tr>
              <a:tr h="485701">
                <a:tc>
                  <a:txBody>
                    <a:bodyPr/>
                    <a:lstStyle/>
                    <a:p>
                      <a:pPr algn="ctr">
                        <a:buNone/>
                      </a:pPr>
                      <a:r>
                        <a:rPr lang="zh-CN" altLang="en-US" sz="1800">
                          <a:effectLst/>
                        </a:rPr>
                        <a:t>美国</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zh-CN" altLang="en-US" sz="1800" dirty="0">
                          <a:effectLst/>
                        </a:rPr>
                        <a:t>区域一体化</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None/>
                      </a:pPr>
                      <a:r>
                        <a:rPr lang="zh-CN" altLang="en-US" sz="1800" dirty="0">
                          <a:effectLst/>
                        </a:rPr>
                        <a:t>低</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90974415"/>
                  </a:ext>
                </a:extLst>
              </a:tr>
              <a:tr h="485701">
                <a:tc>
                  <a:txBody>
                    <a:bodyPr/>
                    <a:lstStyle/>
                    <a:p>
                      <a:pPr algn="ctr">
                        <a:buNone/>
                      </a:pPr>
                      <a:r>
                        <a:rPr lang="zh-CN" altLang="en-US" sz="1800">
                          <a:effectLst/>
                        </a:rPr>
                        <a:t>中国</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zh-CN" altLang="en-US" sz="1800" dirty="0">
                          <a:effectLst/>
                        </a:rPr>
                        <a:t>持续多元化</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zh-CN" altLang="en-US" sz="1800" dirty="0">
                          <a:effectLst/>
                        </a:rPr>
                        <a:t>中</a:t>
                      </a:r>
                    </a:p>
                  </a:txBody>
                  <a:tcPr marL="11760" marR="11760" marT="11760" marB="1176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7899440"/>
                  </a:ext>
                </a:extLst>
              </a:tr>
            </a:tbl>
          </a:graphicData>
        </a:graphic>
      </p:graphicFrame>
    </p:spTree>
    <p:extLst>
      <p:ext uri="{BB962C8B-B14F-4D97-AF65-F5344CB8AC3E}">
        <p14:creationId xmlns:p14="http://schemas.microsoft.com/office/powerpoint/2010/main" val="1568965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8E2BA-4902-DEAE-5BE0-DC505412B889}"/>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D6AF74A1-5F62-A8EE-C5EC-92BAC9C0CFFC}"/>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5AAD7723-CA84-4F7B-D601-2ED3A71AAB36}"/>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A2D30C89-F719-B650-FBDC-8D01CAF1E916}"/>
              </a:ext>
            </a:extLst>
          </p:cNvPr>
          <p:cNvSpPr>
            <a:spLocks noGrp="1"/>
          </p:cNvSpPr>
          <p:nvPr>
            <p:ph type="sldNum" sz="quarter" idx="12"/>
          </p:nvPr>
        </p:nvSpPr>
        <p:spPr/>
        <p:txBody>
          <a:bodyPr/>
          <a:lstStyle/>
          <a:p>
            <a:fld id="{BAEB1E39-14EE-405C-B1D8-764466B19623}" type="slidenum">
              <a:rPr lang="zh-CN" altLang="en-US" smtClean="0"/>
              <a:t>7</a:t>
            </a:fld>
            <a:endParaRPr lang="zh-CN" altLang="en-US"/>
          </a:p>
        </p:txBody>
      </p:sp>
      <p:sp>
        <p:nvSpPr>
          <p:cNvPr id="2" name="Title 1">
            <a:extLst>
              <a:ext uri="{FF2B5EF4-FFF2-40B4-BE49-F238E27FC236}">
                <a16:creationId xmlns:a16="http://schemas.microsoft.com/office/drawing/2014/main" id="{6DDCD030-2C63-C9D4-F585-8F7CC0158B57}"/>
              </a:ext>
            </a:extLst>
          </p:cNvPr>
          <p:cNvSpPr txBox="1">
            <a:spLocks/>
          </p:cNvSpPr>
          <p:nvPr/>
        </p:nvSpPr>
        <p:spPr>
          <a:xfrm>
            <a:off x="-286870" y="0"/>
            <a:ext cx="9789458"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地缘风险溢价</a:t>
            </a:r>
          </a:p>
        </p:txBody>
      </p:sp>
      <p:grpSp>
        <p:nvGrpSpPr>
          <p:cNvPr id="13" name="组合 12">
            <a:extLst>
              <a:ext uri="{FF2B5EF4-FFF2-40B4-BE49-F238E27FC236}">
                <a16:creationId xmlns:a16="http://schemas.microsoft.com/office/drawing/2014/main" id="{9C4AA57C-88A0-AC52-CA8E-032C22DD5DB9}"/>
              </a:ext>
            </a:extLst>
          </p:cNvPr>
          <p:cNvGrpSpPr/>
          <p:nvPr/>
        </p:nvGrpSpPr>
        <p:grpSpPr>
          <a:xfrm>
            <a:off x="6013755" y="4299140"/>
            <a:ext cx="6351218" cy="3327193"/>
            <a:chOff x="255769" y="1181076"/>
            <a:chExt cx="6351218" cy="3327193"/>
          </a:xfrm>
        </p:grpSpPr>
        <p:sp>
          <p:nvSpPr>
            <p:cNvPr id="3" name="Rectangle 1">
              <a:extLst>
                <a:ext uri="{FF2B5EF4-FFF2-40B4-BE49-F238E27FC236}">
                  <a16:creationId xmlns:a16="http://schemas.microsoft.com/office/drawing/2014/main" id="{AC9E6289-3511-4E05-2503-3E65F2286FF0}"/>
                </a:ext>
              </a:extLst>
            </p:cNvPr>
            <p:cNvSpPr>
              <a:spLocks noChangeArrowheads="1"/>
            </p:cNvSpPr>
            <p:nvPr/>
          </p:nvSpPr>
          <p:spPr bwMode="auto">
            <a:xfrm>
              <a:off x="255769" y="1181076"/>
              <a:ext cx="6351218" cy="3327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Font typeface="Wingdings" panose="05000000000000000000" pitchFamily="2" charset="2"/>
                <a:buChar char="Ø"/>
              </a:pPr>
              <a:r>
                <a:rPr lang="zh-CN" altLang="en-US" dirty="0"/>
                <a:t>原油期货期权定价 </a:t>
              </a:r>
              <a:r>
                <a:rPr lang="en-US" altLang="zh-CN" dirty="0"/>
                <a:t>Black(1976)</a:t>
              </a:r>
              <a:r>
                <a:rPr lang="zh-CN" altLang="en-US" dirty="0"/>
                <a:t>模型中的资产价格路径：</a:t>
              </a:r>
              <a:endParaRPr lang="en-US" altLang="zh-CN" dirty="0"/>
            </a:p>
            <a:p>
              <a:pPr marL="285750" lvl="0" indent="-285750" eaLnBrk="0" fontAlgn="base" hangingPunct="0">
                <a:lnSpc>
                  <a:spcPct val="150000"/>
                </a:lnSpc>
                <a:spcBef>
                  <a:spcPct val="0"/>
                </a:spcBef>
                <a:spcAft>
                  <a:spcPct val="0"/>
                </a:spcAft>
                <a:buFont typeface="Wingdings" panose="05000000000000000000" pitchFamily="2" charset="2"/>
                <a:buChar char="Ø"/>
              </a:pPr>
              <a:endParaRPr lang="en-US" altLang="zh-CN" dirty="0">
                <a:solidFill>
                  <a:srgbClr val="000000"/>
                </a:solidFill>
                <a:latin typeface="Graphik"/>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zh-CN" altLang="zh-CN" dirty="0">
                  <a:solidFill>
                    <a:srgbClr val="000000"/>
                  </a:solidFill>
                </a:rPr>
                <a:t>Merton </a:t>
              </a:r>
              <a:r>
                <a:rPr lang="zh-CN" altLang="zh-CN" dirty="0">
                  <a:solidFill>
                    <a:srgbClr val="000000"/>
                  </a:solidFill>
                  <a:latin typeface="Graphik"/>
                </a:rPr>
                <a:t>跳跃扩散模型</a:t>
              </a:r>
              <a:r>
                <a:rPr lang="zh-CN" altLang="en-US" dirty="0">
                  <a:solidFill>
                    <a:srgbClr val="000000"/>
                  </a:solidFill>
                  <a:latin typeface="Graphik"/>
                </a:rPr>
                <a:t>在连续波动的基础上加入了泊松过程来量化地缘危机对于油价的跳跃性影响：</a:t>
              </a:r>
              <a:endParaRPr lang="en-US" altLang="zh-CN" dirty="0">
                <a:solidFill>
                  <a:srgbClr val="000000"/>
                </a:solidFill>
                <a:latin typeface="Graphik"/>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lang="en-US" altLang="zh-CN" dirty="0">
                <a:solidFill>
                  <a:srgbClr val="000000"/>
                </a:solidFill>
                <a:latin typeface="Graphik"/>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lang="en-US" altLang="zh-CN" dirty="0">
                <a:solidFill>
                  <a:srgbClr val="000000"/>
                </a:solidFill>
                <a:latin typeface="Graphik"/>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lang="zh-CN" altLang="en-US" dirty="0">
                <a:solidFill>
                  <a:srgbClr val="000000"/>
                </a:solidFill>
                <a:latin typeface="Graphik"/>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lang="zh-CN" altLang="zh-CN" dirty="0">
                <a:solidFill>
                  <a:srgbClr val="000000"/>
                </a:solidFill>
                <a:latin typeface="Graphik"/>
              </a:endParaRPr>
            </a:p>
          </p:txBody>
        </p:sp>
        <p:graphicFrame>
          <p:nvGraphicFramePr>
            <p:cNvPr id="8" name="对象 7">
              <a:extLst>
                <a:ext uri="{FF2B5EF4-FFF2-40B4-BE49-F238E27FC236}">
                  <a16:creationId xmlns:a16="http://schemas.microsoft.com/office/drawing/2014/main" id="{5703232B-3E66-8B39-DCC5-B15C9A78936F}"/>
                </a:ext>
              </a:extLst>
            </p:cNvPr>
            <p:cNvGraphicFramePr>
              <a:graphicFrameLocks noChangeAspect="1"/>
            </p:cNvGraphicFramePr>
            <p:nvPr>
              <p:extLst>
                <p:ext uri="{D42A27DB-BD31-4B8C-83A1-F6EECF244321}">
                  <p14:modId xmlns:p14="http://schemas.microsoft.com/office/powerpoint/2010/main" val="1402815908"/>
                </p:ext>
              </p:extLst>
            </p:nvPr>
          </p:nvGraphicFramePr>
          <p:xfrm>
            <a:off x="2142459" y="1620824"/>
            <a:ext cx="2160599" cy="370388"/>
          </p:xfrm>
          <a:graphic>
            <a:graphicData uri="http://schemas.openxmlformats.org/presentationml/2006/ole">
              <mc:AlternateContent xmlns:mc="http://schemas.openxmlformats.org/markup-compatibility/2006">
                <mc:Choice xmlns:v="urn:schemas-microsoft-com:vml" Requires="v">
                  <p:oleObj name="Equation" r:id="rId3" imgW="1333440" imgH="228600" progId="Equation.DSMT4">
                    <p:embed/>
                  </p:oleObj>
                </mc:Choice>
                <mc:Fallback>
                  <p:oleObj name="Equation" r:id="rId3" imgW="1333440" imgH="228600" progId="Equation.DSMT4">
                    <p:embed/>
                    <p:pic>
                      <p:nvPicPr>
                        <p:cNvPr id="0" name=""/>
                        <p:cNvPicPr/>
                        <p:nvPr/>
                      </p:nvPicPr>
                      <p:blipFill>
                        <a:blip r:embed="rId4"/>
                        <a:stretch>
                          <a:fillRect/>
                        </a:stretch>
                      </p:blipFill>
                      <p:spPr>
                        <a:xfrm>
                          <a:off x="2142459" y="1620824"/>
                          <a:ext cx="2160599" cy="370388"/>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9AC60B9D-7356-DD7D-A967-CE9FEA5BDE63}"/>
                </a:ext>
              </a:extLst>
            </p:cNvPr>
            <p:cNvGraphicFramePr>
              <a:graphicFrameLocks noChangeAspect="1"/>
            </p:cNvGraphicFramePr>
            <p:nvPr>
              <p:extLst>
                <p:ext uri="{D42A27DB-BD31-4B8C-83A1-F6EECF244321}">
                  <p14:modId xmlns:p14="http://schemas.microsoft.com/office/powerpoint/2010/main" val="2683624425"/>
                </p:ext>
              </p:extLst>
            </p:nvPr>
          </p:nvGraphicFramePr>
          <p:xfrm>
            <a:off x="1411889" y="2842443"/>
            <a:ext cx="4339022" cy="370154"/>
          </p:xfrm>
          <a:graphic>
            <a:graphicData uri="http://schemas.openxmlformats.org/presentationml/2006/ole">
              <mc:AlternateContent xmlns:mc="http://schemas.openxmlformats.org/markup-compatibility/2006">
                <mc:Choice xmlns:v="urn:schemas-microsoft-com:vml" Requires="v">
                  <p:oleObj name="Equation" r:id="rId5" imgW="2679480" imgH="228600" progId="Equation.DSMT4">
                    <p:embed/>
                  </p:oleObj>
                </mc:Choice>
                <mc:Fallback>
                  <p:oleObj name="Equation" r:id="rId5" imgW="2679480" imgH="228600" progId="Equation.DSMT4">
                    <p:embed/>
                    <p:pic>
                      <p:nvPicPr>
                        <p:cNvPr id="0" name=""/>
                        <p:cNvPicPr/>
                        <p:nvPr/>
                      </p:nvPicPr>
                      <p:blipFill>
                        <a:blip r:embed="rId6"/>
                        <a:stretch>
                          <a:fillRect/>
                        </a:stretch>
                      </p:blipFill>
                      <p:spPr>
                        <a:xfrm>
                          <a:off x="1411889" y="2842443"/>
                          <a:ext cx="4339022" cy="370154"/>
                        </a:xfrm>
                        <a:prstGeom prst="rect">
                          <a:avLst/>
                        </a:prstGeom>
                      </p:spPr>
                    </p:pic>
                  </p:oleObj>
                </mc:Fallback>
              </mc:AlternateContent>
            </a:graphicData>
          </a:graphic>
        </p:graphicFrame>
      </p:grpSp>
      <p:sp>
        <p:nvSpPr>
          <p:cNvPr id="18" name="矩形 17">
            <a:extLst>
              <a:ext uri="{FF2B5EF4-FFF2-40B4-BE49-F238E27FC236}">
                <a16:creationId xmlns:a16="http://schemas.microsoft.com/office/drawing/2014/main" id="{B281F7F8-8360-CF98-AF3A-BDA3B22B9216}"/>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49E3734E-4565-8E9F-F15C-0ED8BAD58180}"/>
              </a:ext>
            </a:extLst>
          </p:cNvPr>
          <p:cNvPicPr>
            <a:picLocks noChangeAspect="1"/>
          </p:cNvPicPr>
          <p:nvPr/>
        </p:nvPicPr>
        <p:blipFill>
          <a:blip r:embed="rId7"/>
          <a:srcRect t="6288" r="446" b="4517"/>
          <a:stretch>
            <a:fillRect/>
          </a:stretch>
        </p:blipFill>
        <p:spPr>
          <a:xfrm>
            <a:off x="6295460" y="1059263"/>
            <a:ext cx="5629840" cy="2975958"/>
          </a:xfrm>
          <a:prstGeom prst="rect">
            <a:avLst/>
          </a:prstGeom>
        </p:spPr>
      </p:pic>
      <p:sp>
        <p:nvSpPr>
          <p:cNvPr id="12" name="文本框 11">
            <a:extLst>
              <a:ext uri="{FF2B5EF4-FFF2-40B4-BE49-F238E27FC236}">
                <a16:creationId xmlns:a16="http://schemas.microsoft.com/office/drawing/2014/main" id="{6B193FD9-9D04-4D60-6CFB-E316DDD39286}"/>
              </a:ext>
            </a:extLst>
          </p:cNvPr>
          <p:cNvSpPr txBox="1"/>
          <p:nvPr/>
        </p:nvSpPr>
        <p:spPr>
          <a:xfrm>
            <a:off x="7702733" y="3944394"/>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a:t>
            </a:r>
            <a:r>
              <a:rPr lang="zh-CN" altLang="en-US" sz="1600" b="1" dirty="0">
                <a:solidFill>
                  <a:prstClr val="black"/>
                </a:solidFill>
                <a:latin typeface="Times New Roman" panose="02020603050405020304"/>
                <a:ea typeface="楷体" panose="02010609060101010101" charset="-122"/>
              </a:rPr>
              <a:t>地缘冲突下的油价的跳跃性</a:t>
            </a:r>
            <a:endParaRPr lang="en-US" altLang="zh-CN" sz="1600" b="1" dirty="0">
              <a:solidFill>
                <a:prstClr val="black"/>
              </a:solidFill>
              <a:latin typeface="Times New Roman" panose="02020603050405020304"/>
              <a:ea typeface="楷体" panose="02010609060101010101" charset="-122"/>
            </a:endParaRPr>
          </a:p>
        </p:txBody>
      </p:sp>
      <p:pic>
        <p:nvPicPr>
          <p:cNvPr id="14" name="图片 13">
            <a:extLst>
              <a:ext uri="{FF2B5EF4-FFF2-40B4-BE49-F238E27FC236}">
                <a16:creationId xmlns:a16="http://schemas.microsoft.com/office/drawing/2014/main" id="{8E48FBA3-3A6D-AB4A-962D-1BBA38936F1C}"/>
              </a:ext>
            </a:extLst>
          </p:cNvPr>
          <p:cNvPicPr>
            <a:picLocks noChangeAspect="1"/>
          </p:cNvPicPr>
          <p:nvPr/>
        </p:nvPicPr>
        <p:blipFill>
          <a:blip r:embed="rId8"/>
          <a:srcRect l="1094" t="5133" r="1145" b="5829"/>
          <a:stretch>
            <a:fillRect/>
          </a:stretch>
        </p:blipFill>
        <p:spPr>
          <a:xfrm>
            <a:off x="266700" y="3060694"/>
            <a:ext cx="5773859" cy="2868385"/>
          </a:xfrm>
          <a:prstGeom prst="rect">
            <a:avLst/>
          </a:prstGeom>
        </p:spPr>
      </p:pic>
      <p:sp>
        <p:nvSpPr>
          <p:cNvPr id="15" name="文本框 14">
            <a:extLst>
              <a:ext uri="{FF2B5EF4-FFF2-40B4-BE49-F238E27FC236}">
                <a16:creationId xmlns:a16="http://schemas.microsoft.com/office/drawing/2014/main" id="{4BB9B37D-1141-502C-1D14-7C4B23FD42BD}"/>
              </a:ext>
            </a:extLst>
          </p:cNvPr>
          <p:cNvSpPr txBox="1"/>
          <p:nvPr/>
        </p:nvSpPr>
        <p:spPr>
          <a:xfrm>
            <a:off x="266700" y="1095027"/>
            <a:ext cx="6629400" cy="1701748"/>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b="0" i="0" dirty="0">
                <a:solidFill>
                  <a:srgbClr val="1F2329"/>
                </a:solidFill>
                <a:effectLst/>
                <a:latin typeface="ui-sans-serif"/>
              </a:rPr>
              <a:t> 地缘风险溢价的三层传导机制：</a:t>
            </a:r>
            <a:endParaRPr lang="en-US" altLang="zh-CN" dirty="0">
              <a:solidFill>
                <a:srgbClr val="1F2329"/>
              </a:solidFill>
              <a:latin typeface="ui-sans-serif"/>
            </a:endParaRPr>
          </a:p>
          <a:p>
            <a:pPr marL="285750" indent="-285750">
              <a:lnSpc>
                <a:spcPct val="150000"/>
              </a:lnSpc>
              <a:buFont typeface="Arial" panose="020B0604020202020204" pitchFamily="34" charset="0"/>
              <a:buChar char="•"/>
            </a:pPr>
            <a:r>
              <a:rPr lang="en-US" altLang="zh-CN" dirty="0">
                <a:solidFill>
                  <a:srgbClr val="1F2329"/>
                </a:solidFill>
                <a:latin typeface="ui-sans-serif"/>
              </a:rPr>
              <a:t> </a:t>
            </a:r>
            <a:r>
              <a:rPr lang="zh-CN" altLang="en-US" b="0" i="0" dirty="0">
                <a:solidFill>
                  <a:srgbClr val="1F2329"/>
                </a:solidFill>
                <a:effectLst/>
                <a:latin typeface="ui-sans-serif"/>
              </a:rPr>
              <a:t>供给冲击预期：霍尔木兹海峡等关键节点的中断风险 </a:t>
            </a:r>
            <a:endParaRPr lang="en-US" altLang="zh-CN" b="0" i="0" dirty="0">
              <a:solidFill>
                <a:srgbClr val="1F2329"/>
              </a:solidFill>
              <a:effectLst/>
              <a:latin typeface="ui-sans-serif"/>
            </a:endParaRPr>
          </a:p>
          <a:p>
            <a:pPr marL="285750" indent="-285750">
              <a:lnSpc>
                <a:spcPct val="150000"/>
              </a:lnSpc>
              <a:buFont typeface="Arial" panose="020B0604020202020204" pitchFamily="34" charset="0"/>
              <a:buChar char="•"/>
            </a:pPr>
            <a:r>
              <a:rPr lang="zh-CN" altLang="en-US" b="0" i="0" dirty="0">
                <a:solidFill>
                  <a:srgbClr val="1F2329"/>
                </a:solidFill>
                <a:effectLst/>
                <a:latin typeface="ui-sans-serif"/>
              </a:rPr>
              <a:t>库存与贸易溢价：现货升水、运费跳升 </a:t>
            </a:r>
            <a:endParaRPr lang="en-US" altLang="zh-CN" b="0" i="0" dirty="0">
              <a:solidFill>
                <a:srgbClr val="1F2329"/>
              </a:solidFill>
              <a:effectLst/>
              <a:latin typeface="ui-sans-serif"/>
            </a:endParaRPr>
          </a:p>
          <a:p>
            <a:pPr marL="285750" indent="-285750">
              <a:lnSpc>
                <a:spcPct val="150000"/>
              </a:lnSpc>
              <a:buFont typeface="Arial" panose="020B0604020202020204" pitchFamily="34" charset="0"/>
              <a:buChar char="•"/>
            </a:pPr>
            <a:r>
              <a:rPr lang="zh-CN" altLang="en-US" b="0" i="0" dirty="0">
                <a:solidFill>
                  <a:srgbClr val="1F2329"/>
                </a:solidFill>
                <a:effectLst/>
                <a:latin typeface="ui-sans-serif"/>
              </a:rPr>
              <a:t>投机资金放大：</a:t>
            </a:r>
            <a:r>
              <a:rPr lang="zh-CN" altLang="en-US" dirty="0">
                <a:solidFill>
                  <a:srgbClr val="1F2329"/>
                </a:solidFill>
                <a:latin typeface="ui-sans-serif"/>
              </a:rPr>
              <a:t>衍生品</a:t>
            </a:r>
            <a:r>
              <a:rPr lang="zh-CN" altLang="en-US" b="0" i="0" dirty="0">
                <a:solidFill>
                  <a:srgbClr val="1F2329"/>
                </a:solidFill>
                <a:effectLst/>
                <a:latin typeface="ui-sans-serif"/>
              </a:rPr>
              <a:t>市场多头资金推升油价波动率</a:t>
            </a:r>
            <a:endParaRPr lang="zh-CN" altLang="en-US" dirty="0"/>
          </a:p>
        </p:txBody>
      </p:sp>
      <p:sp>
        <p:nvSpPr>
          <p:cNvPr id="32" name="文本框 31">
            <a:extLst>
              <a:ext uri="{FF2B5EF4-FFF2-40B4-BE49-F238E27FC236}">
                <a16:creationId xmlns:a16="http://schemas.microsoft.com/office/drawing/2014/main" id="{C2A057A8-7E0B-57B8-7918-3F6D35727DFD}"/>
              </a:ext>
            </a:extLst>
          </p:cNvPr>
          <p:cNvSpPr txBox="1"/>
          <p:nvPr/>
        </p:nvSpPr>
        <p:spPr>
          <a:xfrm>
            <a:off x="1764225" y="6048968"/>
            <a:ext cx="5037442"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风险溢价先于实体缺口</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17" name="页脚占位符 10">
            <a:extLst>
              <a:ext uri="{FF2B5EF4-FFF2-40B4-BE49-F238E27FC236}">
                <a16:creationId xmlns:a16="http://schemas.microsoft.com/office/drawing/2014/main" id="{4B5F2DBC-5E77-D110-8962-26CEF85B5320}"/>
              </a:ext>
            </a:extLst>
          </p:cNvPr>
          <p:cNvSpPr txBox="1">
            <a:spLocks/>
          </p:cNvSpPr>
          <p:nvPr/>
        </p:nvSpPr>
        <p:spPr>
          <a:xfrm>
            <a:off x="3884106" y="6493347"/>
            <a:ext cx="5316854"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数据来源：</a:t>
            </a:r>
            <a:r>
              <a:rPr lang="en-US" altLang="zh-CN" dirty="0"/>
              <a:t>IEA, Wind, EIA, Caldara-Iacoviello Geopolitical Risk Index</a:t>
            </a:r>
            <a:br>
              <a:rPr lang="en-US" altLang="zh-CN" dirty="0"/>
            </a:br>
            <a:r>
              <a:rPr lang="en-US" altLang="zh-CN" dirty="0" err="1"/>
              <a:t>JFE《Option</a:t>
            </a:r>
            <a:r>
              <a:rPr lang="en-US" altLang="zh-CN" dirty="0"/>
              <a:t> Pricing When Underlying Stock Returns Are Discontinuous》</a:t>
            </a:r>
            <a:endParaRPr lang="zh-CN" altLang="en-US" dirty="0"/>
          </a:p>
        </p:txBody>
      </p:sp>
    </p:spTree>
    <p:extLst>
      <p:ext uri="{BB962C8B-B14F-4D97-AF65-F5344CB8AC3E}">
        <p14:creationId xmlns:p14="http://schemas.microsoft.com/office/powerpoint/2010/main" val="13355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AE4C-61DC-DDFD-F5BA-B0D4D2F5AEF9}"/>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FF1A6C35-282B-77DE-D8C8-9AF30A11615C}"/>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7F245A92-3506-2C11-8989-B5183B573E61}"/>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BB005CE1-3B31-3803-7C09-7FC1F0829201}"/>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928A94BB-57E2-ED1D-1EC0-F6995A1689E0}"/>
              </a:ext>
            </a:extLst>
          </p:cNvPr>
          <p:cNvSpPr>
            <a:spLocks noGrp="1"/>
          </p:cNvSpPr>
          <p:nvPr>
            <p:ph type="sldNum" sz="quarter" idx="12"/>
          </p:nvPr>
        </p:nvSpPr>
        <p:spPr/>
        <p:txBody>
          <a:bodyPr/>
          <a:lstStyle/>
          <a:p>
            <a:fld id="{BAEB1E39-14EE-405C-B1D8-764466B19623}" type="slidenum">
              <a:rPr lang="zh-CN" altLang="en-US" smtClean="0"/>
              <a:t>8</a:t>
            </a:fld>
            <a:endParaRPr lang="zh-CN" altLang="en-US" dirty="0"/>
          </a:p>
        </p:txBody>
      </p:sp>
      <p:sp>
        <p:nvSpPr>
          <p:cNvPr id="2" name="Title 1">
            <a:extLst>
              <a:ext uri="{FF2B5EF4-FFF2-40B4-BE49-F238E27FC236}">
                <a16:creationId xmlns:a16="http://schemas.microsoft.com/office/drawing/2014/main" id="{3474FA37-E610-BE51-9497-CDB6CB43BECE}"/>
              </a:ext>
            </a:extLst>
          </p:cNvPr>
          <p:cNvSpPr txBox="1">
            <a:spLocks/>
          </p:cNvSpPr>
          <p:nvPr/>
        </p:nvSpPr>
        <p:spPr>
          <a:xfrm>
            <a:off x="-327510" y="0"/>
            <a:ext cx="9668734"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衍生品如何定价原油供给冲击</a:t>
            </a:r>
          </a:p>
        </p:txBody>
      </p:sp>
      <p:sp>
        <p:nvSpPr>
          <p:cNvPr id="14" name="文本框 13">
            <a:extLst>
              <a:ext uri="{FF2B5EF4-FFF2-40B4-BE49-F238E27FC236}">
                <a16:creationId xmlns:a16="http://schemas.microsoft.com/office/drawing/2014/main" id="{977C1815-8755-2165-35A8-FF558AA9F785}"/>
              </a:ext>
            </a:extLst>
          </p:cNvPr>
          <p:cNvSpPr txBox="1"/>
          <p:nvPr/>
        </p:nvSpPr>
        <p:spPr>
          <a:xfrm>
            <a:off x="8176346" y="6128186"/>
            <a:ext cx="3341919" cy="584775"/>
          </a:xfrm>
          <a:prstGeom prst="rect">
            <a:avLst/>
          </a:prstGeom>
          <a:noFill/>
        </p:spPr>
        <p:txBody>
          <a:bodyPr wrap="square" rtlCol="0">
            <a:spAutoFit/>
          </a:bodyPr>
          <a:lstStyle/>
          <a:p>
            <a:pPr>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a:t>
            </a:r>
            <a:r>
              <a:rPr lang="en-US" altLang="zh-CN" sz="1600" b="1" dirty="0">
                <a:solidFill>
                  <a:prstClr val="black"/>
                </a:solidFill>
                <a:latin typeface="Times New Roman" panose="02020603050405020304"/>
                <a:ea typeface="楷体" panose="02010609060101010101" charset="-122"/>
              </a:rPr>
              <a:t>–</a:t>
            </a:r>
            <a:r>
              <a:rPr lang="zh-CN" altLang="en-US" sz="1600" b="1" dirty="0">
                <a:solidFill>
                  <a:prstClr val="black"/>
                </a:solidFill>
                <a:latin typeface="Times New Roman" panose="02020603050405020304"/>
                <a:ea typeface="楷体" panose="02010609060101010101" charset="-122"/>
              </a:rPr>
              <a:t>期限结构的深度倒挂</a:t>
            </a:r>
          </a:p>
          <a:p>
            <a:pPr lvl="0">
              <a:defRPr/>
            </a:pP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16" name="页脚占位符 10">
            <a:extLst>
              <a:ext uri="{FF2B5EF4-FFF2-40B4-BE49-F238E27FC236}">
                <a16:creationId xmlns:a16="http://schemas.microsoft.com/office/drawing/2014/main" id="{67EB0408-670F-1958-29E0-5F9B4046A354}"/>
              </a:ext>
            </a:extLst>
          </p:cNvPr>
          <p:cNvSpPr txBox="1">
            <a:spLocks/>
          </p:cNvSpPr>
          <p:nvPr/>
        </p:nvSpPr>
        <p:spPr>
          <a:xfrm>
            <a:off x="3888106" y="6438900"/>
            <a:ext cx="5316854"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数据来源：</a:t>
            </a:r>
            <a:r>
              <a:rPr lang="en-US" altLang="zh-CN" dirty="0"/>
              <a:t>Bloomberg</a:t>
            </a:r>
            <a:endParaRPr lang="zh-CN" altLang="en-US" dirty="0"/>
          </a:p>
        </p:txBody>
      </p:sp>
      <p:pic>
        <p:nvPicPr>
          <p:cNvPr id="21" name="图片 20">
            <a:extLst>
              <a:ext uri="{FF2B5EF4-FFF2-40B4-BE49-F238E27FC236}">
                <a16:creationId xmlns:a16="http://schemas.microsoft.com/office/drawing/2014/main" id="{A15A3B6D-82EE-09BC-334D-12AE51D9D584}"/>
              </a:ext>
            </a:extLst>
          </p:cNvPr>
          <p:cNvPicPr>
            <a:picLocks noChangeAspect="1"/>
          </p:cNvPicPr>
          <p:nvPr/>
        </p:nvPicPr>
        <p:blipFill>
          <a:blip r:embed="rId3"/>
          <a:srcRect l="-1133" t="6171" r="368" b="5555"/>
          <a:stretch>
            <a:fillRect/>
          </a:stretch>
        </p:blipFill>
        <p:spPr>
          <a:xfrm>
            <a:off x="6381117" y="3242111"/>
            <a:ext cx="5647686" cy="2886075"/>
          </a:xfrm>
          <a:prstGeom prst="rect">
            <a:avLst/>
          </a:prstGeom>
        </p:spPr>
      </p:pic>
      <p:graphicFrame>
        <p:nvGraphicFramePr>
          <p:cNvPr id="23" name="对象 22">
            <a:extLst>
              <a:ext uri="{FF2B5EF4-FFF2-40B4-BE49-F238E27FC236}">
                <a16:creationId xmlns:a16="http://schemas.microsoft.com/office/drawing/2014/main" id="{4324C579-D209-B70B-0140-C7A04A2B7927}"/>
              </a:ext>
            </a:extLst>
          </p:cNvPr>
          <p:cNvGraphicFramePr>
            <a:graphicFrameLocks noChangeAspect="1"/>
          </p:cNvGraphicFramePr>
          <p:nvPr>
            <p:extLst>
              <p:ext uri="{D42A27DB-BD31-4B8C-83A1-F6EECF244321}">
                <p14:modId xmlns:p14="http://schemas.microsoft.com/office/powerpoint/2010/main" val="1764023769"/>
              </p:ext>
            </p:extLst>
          </p:nvPr>
        </p:nvGraphicFramePr>
        <p:xfrm>
          <a:off x="10340440" y="1455506"/>
          <a:ext cx="1744518" cy="377193"/>
        </p:xfrm>
        <a:graphic>
          <a:graphicData uri="http://schemas.openxmlformats.org/presentationml/2006/ole">
            <mc:AlternateContent xmlns:mc="http://schemas.openxmlformats.org/markup-compatibility/2006">
              <mc:Choice xmlns:v="urn:schemas-microsoft-com:vml" Requires="v">
                <p:oleObj name="Equation" r:id="rId4" imgW="939600" imgH="203040" progId="Equation.DSMT4">
                  <p:embed/>
                </p:oleObj>
              </mc:Choice>
              <mc:Fallback>
                <p:oleObj name="Equation" r:id="rId4" imgW="939600" imgH="203040" progId="Equation.DSMT4">
                  <p:embed/>
                  <p:pic>
                    <p:nvPicPr>
                      <p:cNvPr id="0" name=""/>
                      <p:cNvPicPr/>
                      <p:nvPr/>
                    </p:nvPicPr>
                    <p:blipFill>
                      <a:blip r:embed="rId5"/>
                      <a:stretch>
                        <a:fillRect/>
                      </a:stretch>
                    </p:blipFill>
                    <p:spPr>
                      <a:xfrm>
                        <a:off x="10340440" y="1455506"/>
                        <a:ext cx="1744518" cy="377193"/>
                      </a:xfrm>
                      <a:prstGeom prst="rect">
                        <a:avLst/>
                      </a:prstGeom>
                    </p:spPr>
                  </p:pic>
                </p:oleObj>
              </mc:Fallback>
            </mc:AlternateContent>
          </a:graphicData>
        </a:graphic>
      </p:graphicFrame>
      <p:sp>
        <p:nvSpPr>
          <p:cNvPr id="25" name="文本框 24">
            <a:extLst>
              <a:ext uri="{FF2B5EF4-FFF2-40B4-BE49-F238E27FC236}">
                <a16:creationId xmlns:a16="http://schemas.microsoft.com/office/drawing/2014/main" id="{06E115A2-6BA6-EB6E-348E-2796E483380F}"/>
              </a:ext>
            </a:extLst>
          </p:cNvPr>
          <p:cNvSpPr txBox="1"/>
          <p:nvPr/>
        </p:nvSpPr>
        <p:spPr>
          <a:xfrm>
            <a:off x="6485266" y="1012807"/>
            <a:ext cx="5905787" cy="3139321"/>
          </a:xfrm>
          <a:prstGeom prst="rect">
            <a:avLst/>
          </a:prstGeom>
          <a:noFill/>
        </p:spPr>
        <p:txBody>
          <a:bodyPr wrap="square">
            <a:spAutoFit/>
          </a:bodyPr>
          <a:lstStyle/>
          <a:p>
            <a:pPr marL="285750" lvl="0" indent="-285750" eaLnBrk="0" fontAlgn="base" hangingPunct="0">
              <a:lnSpc>
                <a:spcPct val="150000"/>
              </a:lnSpc>
              <a:spcBef>
                <a:spcPct val="0"/>
              </a:spcBef>
              <a:spcAft>
                <a:spcPct val="0"/>
              </a:spcAft>
              <a:buFont typeface="Wingdings" panose="05000000000000000000" pitchFamily="2" charset="2"/>
              <a:buChar char="Ø"/>
            </a:pPr>
            <a:r>
              <a:rPr lang="zh-CN" altLang="en-US" dirty="0">
                <a:latin typeface="Arial" panose="020B0604020202020204" pitchFamily="34" charset="0"/>
              </a:rPr>
              <a:t>供给冲击带来贴水结构。</a:t>
            </a:r>
            <a:endParaRPr lang="en-US" altLang="zh-CN" dirty="0">
              <a:latin typeface="Arial" panose="020B0604020202020204" pitchFamily="34" charset="0"/>
            </a:endParaRPr>
          </a:p>
          <a:p>
            <a:pPr marL="285750" lvl="0" indent="-285750" eaLnBrk="0" fontAlgn="base" hangingPunct="0">
              <a:lnSpc>
                <a:spcPct val="150000"/>
              </a:lnSpc>
              <a:spcBef>
                <a:spcPct val="0"/>
              </a:spcBef>
              <a:spcAft>
                <a:spcPct val="0"/>
              </a:spcAft>
              <a:buFont typeface="Wingdings" panose="05000000000000000000" pitchFamily="2" charset="2"/>
              <a:buChar char="Ø"/>
            </a:pPr>
            <a:r>
              <a:rPr lang="zh-CN" altLang="en-US" dirty="0">
                <a:latin typeface="Arial" panose="020B0604020202020204" pitchFamily="34" charset="0"/>
              </a:rPr>
              <a:t>地缘政治风险下的</a:t>
            </a:r>
            <a:r>
              <a:rPr lang="zh-CN" altLang="zh-CN" dirty="0">
                <a:latin typeface="Arial" panose="020B0604020202020204" pitchFamily="34" charset="0"/>
              </a:rPr>
              <a:t>持有成本模型</a:t>
            </a:r>
            <a:r>
              <a:rPr lang="zh-CN" altLang="en-US" dirty="0">
                <a:latin typeface="Arial" panose="020B0604020202020204" pitchFamily="34" charset="0"/>
              </a:rPr>
              <a:t>：</a:t>
            </a:r>
            <a:endParaRPr lang="en-US" altLang="zh-CN" dirty="0">
              <a:latin typeface="Arial" panose="020B0604020202020204" pitchFamily="34" charset="0"/>
            </a:endParaRPr>
          </a:p>
          <a:p>
            <a:pPr eaLnBrk="0" fontAlgn="base" hangingPunct="0">
              <a:lnSpc>
                <a:spcPct val="150000"/>
              </a:lnSpc>
              <a:spcBef>
                <a:spcPct val="0"/>
              </a:spcBef>
              <a:spcAft>
                <a:spcPct val="0"/>
              </a:spcAft>
            </a:pPr>
            <a:r>
              <a:rPr lang="zh-CN" altLang="en-US" dirty="0"/>
              <a:t>持有现货能获得便利</a:t>
            </a:r>
            <a:r>
              <a:rPr lang="en-US" altLang="zh-CN" dirty="0"/>
              <a:t>y</a:t>
            </a:r>
            <a:r>
              <a:rPr lang="zh-CN" altLang="en-US" dirty="0"/>
              <a:t>，对于实体经济在为‘当下的生存权’的定价。</a:t>
            </a:r>
            <a:endParaRPr lang="en-US" altLang="zh-CN" dirty="0"/>
          </a:p>
          <a:p>
            <a:pPr marL="285750" indent="-285750" eaLnBrk="0" fontAlgn="base" hangingPunct="0">
              <a:lnSpc>
                <a:spcPct val="150000"/>
              </a:lnSpc>
              <a:spcBef>
                <a:spcPct val="0"/>
              </a:spcBef>
              <a:spcAft>
                <a:spcPct val="0"/>
              </a:spcAft>
              <a:buFont typeface="Wingdings" panose="05000000000000000000" pitchFamily="2" charset="2"/>
              <a:buChar char="Ø"/>
            </a:pPr>
            <a:r>
              <a:rPr lang="zh-CN" altLang="en-US" dirty="0"/>
              <a:t>期限贴水迅速收敛反映投资者对于供给冲击的预期。</a:t>
            </a:r>
            <a:endParaRPr lang="en-US" altLang="zh-CN" dirty="0"/>
          </a:p>
          <a:p>
            <a:pPr lvl="0" eaLnBrk="0" fontAlgn="base" hangingPunct="0">
              <a:lnSpc>
                <a:spcPct val="150000"/>
              </a:lnSpc>
              <a:spcBef>
                <a:spcPct val="0"/>
              </a:spcBef>
              <a:spcAft>
                <a:spcPct val="0"/>
              </a:spcAft>
            </a:pPr>
            <a:endParaRPr lang="en-US" altLang="zh-CN" dirty="0"/>
          </a:p>
          <a:p>
            <a:pPr marL="285750" indent="-285750">
              <a:buFont typeface="Wingdings" panose="05000000000000000000" pitchFamily="2" charset="2"/>
              <a:buChar char="Ø"/>
            </a:pPr>
            <a:endParaRPr lang="en-US" altLang="zh-CN" dirty="0"/>
          </a:p>
          <a:p>
            <a:endParaRPr lang="zh-CN" altLang="en-US" dirty="0"/>
          </a:p>
        </p:txBody>
      </p:sp>
      <p:pic>
        <p:nvPicPr>
          <p:cNvPr id="31" name="图片 30">
            <a:extLst>
              <a:ext uri="{FF2B5EF4-FFF2-40B4-BE49-F238E27FC236}">
                <a16:creationId xmlns:a16="http://schemas.microsoft.com/office/drawing/2014/main" id="{5F4540C0-5A64-D150-FCE1-1BDE8F771C44}"/>
              </a:ext>
            </a:extLst>
          </p:cNvPr>
          <p:cNvPicPr>
            <a:picLocks noChangeAspect="1"/>
          </p:cNvPicPr>
          <p:nvPr/>
        </p:nvPicPr>
        <p:blipFill>
          <a:blip r:embed="rId6"/>
          <a:srcRect l="6967" t="7479" r="7653" b="2449"/>
          <a:stretch>
            <a:fillRect/>
          </a:stretch>
        </p:blipFill>
        <p:spPr>
          <a:xfrm>
            <a:off x="201431" y="2485869"/>
            <a:ext cx="6283835" cy="3862520"/>
          </a:xfrm>
          <a:prstGeom prst="rect">
            <a:avLst/>
          </a:prstGeom>
        </p:spPr>
      </p:pic>
      <p:sp>
        <p:nvSpPr>
          <p:cNvPr id="28" name="文本框 27">
            <a:extLst>
              <a:ext uri="{FF2B5EF4-FFF2-40B4-BE49-F238E27FC236}">
                <a16:creationId xmlns:a16="http://schemas.microsoft.com/office/drawing/2014/main" id="{EDDB2395-E064-F08C-66A2-548D4B3CEFAA}"/>
              </a:ext>
            </a:extLst>
          </p:cNvPr>
          <p:cNvSpPr txBox="1"/>
          <p:nvPr/>
        </p:nvSpPr>
        <p:spPr>
          <a:xfrm>
            <a:off x="1164099" y="6092168"/>
            <a:ext cx="3717624" cy="584775"/>
          </a:xfrm>
          <a:prstGeom prst="rect">
            <a:avLst/>
          </a:prstGeom>
          <a:noFill/>
        </p:spPr>
        <p:txBody>
          <a:bodyPr wrap="square" rtlCol="0">
            <a:spAutoFit/>
          </a:bodyPr>
          <a:lstStyle/>
          <a:p>
            <a:pPr>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a:t>
            </a:r>
            <a:r>
              <a:rPr lang="en-US" altLang="zh-CN" sz="1600" b="1" dirty="0">
                <a:solidFill>
                  <a:prstClr val="black"/>
                </a:solidFill>
                <a:latin typeface="Times New Roman" panose="02020603050405020304"/>
                <a:ea typeface="楷体" panose="02010609060101010101" charset="-122"/>
              </a:rPr>
              <a:t>–</a:t>
            </a:r>
            <a:r>
              <a:rPr lang="zh-CN" altLang="en-US" sz="1600" b="1" dirty="0">
                <a:solidFill>
                  <a:prstClr val="black"/>
                </a:solidFill>
                <a:latin typeface="Times New Roman" panose="02020603050405020304"/>
                <a:ea typeface="楷体" panose="02010609060101010101" charset="-122"/>
              </a:rPr>
              <a:t>期权市场对于地缘冲突的尾部定价</a:t>
            </a:r>
          </a:p>
          <a:p>
            <a:pPr lvl="0">
              <a:defRPr/>
            </a:pP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33" name="文本框 32">
            <a:extLst>
              <a:ext uri="{FF2B5EF4-FFF2-40B4-BE49-F238E27FC236}">
                <a16:creationId xmlns:a16="http://schemas.microsoft.com/office/drawing/2014/main" id="{750A4A59-6D9F-E591-8316-46BFB54FB43C}"/>
              </a:ext>
            </a:extLst>
          </p:cNvPr>
          <p:cNvSpPr txBox="1"/>
          <p:nvPr/>
        </p:nvSpPr>
        <p:spPr>
          <a:xfrm>
            <a:off x="163119" y="1047730"/>
            <a:ext cx="6360458" cy="1286250"/>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t>波动率曲线的斜率是市场风险中性概率密度函数的反映。</a:t>
            </a:r>
            <a:endParaRPr lang="en-US" altLang="zh-CN" dirty="0"/>
          </a:p>
          <a:p>
            <a:pPr marL="285750" indent="-285750">
              <a:lnSpc>
                <a:spcPct val="150000"/>
              </a:lnSpc>
              <a:buFont typeface="Wingdings" panose="05000000000000000000" pitchFamily="2" charset="2"/>
              <a:buChar char="Ø"/>
            </a:pPr>
            <a:r>
              <a:rPr lang="zh-CN" altLang="en-US" dirty="0"/>
              <a:t>在短期内摧毁供需平衡，但拉长周期看，全球产业链具有自我修复能力，价格终将面临均值回归。</a:t>
            </a:r>
          </a:p>
        </p:txBody>
      </p:sp>
    </p:spTree>
    <p:extLst>
      <p:ext uri="{BB962C8B-B14F-4D97-AF65-F5344CB8AC3E}">
        <p14:creationId xmlns:p14="http://schemas.microsoft.com/office/powerpoint/2010/main" val="3574887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C19D3-225F-2E25-8009-CC791C04AD0F}"/>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D71C43E0-23D7-E9FB-7F9E-EC545F5052F1}"/>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A4B2FC52-C07C-7AFA-095C-C636AD21496C}"/>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grpSp>
        <p:nvGrpSpPr>
          <p:cNvPr id="2" name="组合 1">
            <a:extLst>
              <a:ext uri="{FF2B5EF4-FFF2-40B4-BE49-F238E27FC236}">
                <a16:creationId xmlns:a16="http://schemas.microsoft.com/office/drawing/2014/main" id="{3A2478B9-E248-2FED-132B-9DB9CA194399}"/>
              </a:ext>
            </a:extLst>
          </p:cNvPr>
          <p:cNvGrpSpPr/>
          <p:nvPr>
            <p:custDataLst>
              <p:tags r:id="rId1"/>
            </p:custDataLst>
          </p:nvPr>
        </p:nvGrpSpPr>
        <p:grpSpPr>
          <a:xfrm>
            <a:off x="4110623" y="2267135"/>
            <a:ext cx="5625121" cy="2822045"/>
            <a:chOff x="1137" y="2276"/>
            <a:chExt cx="7581" cy="4892"/>
          </a:xfrm>
        </p:grpSpPr>
        <p:sp>
          <p:nvSpPr>
            <p:cNvPr id="5" name="矩形 4">
              <a:extLst>
                <a:ext uri="{FF2B5EF4-FFF2-40B4-BE49-F238E27FC236}">
                  <a16:creationId xmlns:a16="http://schemas.microsoft.com/office/drawing/2014/main" id="{1C165482-1D7A-C142-91E2-F01A074E9274}"/>
                </a:ext>
              </a:extLst>
            </p:cNvPr>
            <p:cNvSpPr/>
            <p:nvPr>
              <p:custDataLst>
                <p:tags r:id="rId2"/>
              </p:custDataLst>
            </p:nvPr>
          </p:nvSpPr>
          <p:spPr>
            <a:xfrm>
              <a:off x="1137" y="3750"/>
              <a:ext cx="688" cy="645"/>
            </a:xfrm>
            <a:prstGeom prst="rect">
              <a:avLst/>
            </a:prstGeom>
            <a:solidFill>
              <a:srgbClr val="A62B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Times New Roman" panose="02020603050405020304" pitchFamily="18" charset="0"/>
                  <a:cs typeface="Times New Roman" panose="02020603050405020304" pitchFamily="18" charset="0"/>
                </a:rPr>
                <a:t>2</a:t>
              </a:r>
              <a:endParaRPr lang="zh-CN" altLang="en-US" sz="2000" b="1"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4E95F03F-6C71-9E91-13E5-B2EBE66EEB43}"/>
                </a:ext>
              </a:extLst>
            </p:cNvPr>
            <p:cNvSpPr/>
            <p:nvPr>
              <p:custDataLst>
                <p:tags r:id="rId3"/>
              </p:custDataLst>
            </p:nvPr>
          </p:nvSpPr>
          <p:spPr>
            <a:xfrm>
              <a:off x="2112" y="2276"/>
              <a:ext cx="5289" cy="747"/>
            </a:xfrm>
            <a:prstGeom prst="rect">
              <a:avLst/>
            </a:prstGeom>
          </p:spPr>
          <p:txBody>
            <a:bodyPr wrap="square">
              <a:spAutoFit/>
            </a:bodyPr>
            <a:lstStyle/>
            <a:p>
              <a:r>
                <a:rPr lang="zh-CN" altLang="en-US" sz="2200" b="1" dirty="0">
                  <a:solidFill>
                    <a:schemeClr val="accent2">
                      <a:lumMod val="20000"/>
                      <a:lumOff val="80000"/>
                    </a:schemeClr>
                  </a:solidFill>
                  <a:latin typeface="Times New Roman" panose="02020603050405020304" pitchFamily="18" charset="0"/>
                  <a:cs typeface="Times New Roman" panose="02020603050405020304" pitchFamily="18" charset="0"/>
                </a:rPr>
                <a:t>地缘冲突下的石油定价</a:t>
              </a:r>
              <a:endParaRPr lang="en-US" altLang="zh-CN" sz="2200" b="1" dirty="0">
                <a:solidFill>
                  <a:schemeClr val="accent2">
                    <a:lumMod val="20000"/>
                    <a:lumOff val="80000"/>
                  </a:schemeClr>
                </a:solidFill>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DAD5A4AE-97EE-A00D-EDBC-6951CFBE5097}"/>
                </a:ext>
              </a:extLst>
            </p:cNvPr>
            <p:cNvSpPr/>
            <p:nvPr>
              <p:custDataLst>
                <p:tags r:id="rId4"/>
              </p:custDataLst>
            </p:nvPr>
          </p:nvSpPr>
          <p:spPr>
            <a:xfrm>
              <a:off x="2112" y="3692"/>
              <a:ext cx="6606" cy="747"/>
            </a:xfrm>
            <a:prstGeom prst="rect">
              <a:avLst/>
            </a:prstGeom>
          </p:spPr>
          <p:txBody>
            <a:bodyPr wrap="square">
              <a:spAutoFit/>
            </a:bodyPr>
            <a:lstStyle/>
            <a:p>
              <a:r>
                <a:rPr lang="zh-CN" altLang="en-US" sz="2200" b="1" dirty="0">
                  <a:latin typeface="Times New Roman" panose="02020603050405020304" pitchFamily="18" charset="0"/>
                  <a:cs typeface="Times New Roman" panose="02020603050405020304" pitchFamily="18" charset="0"/>
                </a:rPr>
                <a:t>地缘冲突下的全球经济与资产走势</a:t>
              </a:r>
            </a:p>
          </p:txBody>
        </p:sp>
        <p:sp>
          <p:nvSpPr>
            <p:cNvPr id="14" name="矩形 13">
              <a:extLst>
                <a:ext uri="{FF2B5EF4-FFF2-40B4-BE49-F238E27FC236}">
                  <a16:creationId xmlns:a16="http://schemas.microsoft.com/office/drawing/2014/main" id="{9753604B-47FC-88EA-4E1F-969584E67ADF}"/>
                </a:ext>
              </a:extLst>
            </p:cNvPr>
            <p:cNvSpPr/>
            <p:nvPr>
              <p:custDataLst>
                <p:tags r:id="rId5"/>
              </p:custDataLst>
            </p:nvPr>
          </p:nvSpPr>
          <p:spPr>
            <a:xfrm>
              <a:off x="1137" y="2368"/>
              <a:ext cx="688" cy="6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Times New Roman" panose="02020603050405020304" pitchFamily="18" charset="0"/>
                  <a:cs typeface="Times New Roman" panose="02020603050405020304" pitchFamily="18" charset="0"/>
                </a:rPr>
                <a:t>1</a:t>
              </a:r>
              <a:endParaRPr lang="zh-CN" altLang="en-US" sz="2000" b="1" dirty="0">
                <a:latin typeface="Times New Roman" panose="02020603050405020304" pitchFamily="18" charset="0"/>
                <a:cs typeface="Times New Roman" panose="02020603050405020304" pitchFamily="18" charset="0"/>
              </a:endParaRPr>
            </a:p>
          </p:txBody>
        </p:sp>
        <p:sp>
          <p:nvSpPr>
            <p:cNvPr id="15" name="矩形 14">
              <a:extLst>
                <a:ext uri="{FF2B5EF4-FFF2-40B4-BE49-F238E27FC236}">
                  <a16:creationId xmlns:a16="http://schemas.microsoft.com/office/drawing/2014/main" id="{81F18835-90AB-33FB-DC43-D2598741DD81}"/>
                </a:ext>
              </a:extLst>
            </p:cNvPr>
            <p:cNvSpPr/>
            <p:nvPr>
              <p:custDataLst>
                <p:tags r:id="rId6"/>
              </p:custDataLst>
            </p:nvPr>
          </p:nvSpPr>
          <p:spPr>
            <a:xfrm>
              <a:off x="1137" y="5104"/>
              <a:ext cx="688" cy="6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pitchFamily="18" charset="0"/>
                  <a:cs typeface="Times New Roman" panose="02020603050405020304" pitchFamily="18" charset="0"/>
                </a:rPr>
                <a:t>3</a:t>
              </a:r>
              <a:endParaRPr lang="zh-CN" altLang="en-US" sz="2000" b="1">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CC724F73-C527-547D-7D93-E0A038BD9C85}"/>
                </a:ext>
              </a:extLst>
            </p:cNvPr>
            <p:cNvSpPr/>
            <p:nvPr>
              <p:custDataLst>
                <p:tags r:id="rId7"/>
              </p:custDataLst>
            </p:nvPr>
          </p:nvSpPr>
          <p:spPr>
            <a:xfrm>
              <a:off x="1137" y="6523"/>
              <a:ext cx="688" cy="6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pitchFamily="18" charset="0"/>
                  <a:cs typeface="Times New Roman" panose="02020603050405020304" pitchFamily="18" charset="0"/>
                </a:rPr>
                <a:t>4</a:t>
              </a:r>
              <a:endParaRPr lang="zh-CN" altLang="en-US" sz="2000" b="1">
                <a:latin typeface="Times New Roman" panose="02020603050405020304" pitchFamily="18" charset="0"/>
                <a:cs typeface="Times New Roman" panose="02020603050405020304" pitchFamily="18" charset="0"/>
              </a:endParaRPr>
            </a:p>
          </p:txBody>
        </p:sp>
      </p:grpSp>
      <p:sp>
        <p:nvSpPr>
          <p:cNvPr id="23" name="日期占位符 22">
            <a:extLst>
              <a:ext uri="{FF2B5EF4-FFF2-40B4-BE49-F238E27FC236}">
                <a16:creationId xmlns:a16="http://schemas.microsoft.com/office/drawing/2014/main" id="{7DFA9D2C-B075-0AAA-4E29-39DB031B31BF}"/>
              </a:ext>
            </a:extLst>
          </p:cNvPr>
          <p:cNvSpPr>
            <a:spLocks noGrp="1"/>
          </p:cNvSpPr>
          <p:nvPr>
            <p:ph type="dt" sz="half" idx="10"/>
          </p:nvPr>
        </p:nvSpPr>
        <p:spPr/>
        <p:txBody>
          <a:bodyPr/>
          <a:lstStyle/>
          <a:p>
            <a:fld id="{7EE0FA00-9E9F-421C-A6E0-0A7EF3827B71}" type="datetime1">
              <a:rPr lang="zh-CN" altLang="en-US" smtClean="0"/>
              <a:t>2026-04-21</a:t>
            </a:fld>
            <a:endParaRPr lang="zh-CN" altLang="en-US"/>
          </a:p>
        </p:txBody>
      </p:sp>
      <p:sp>
        <p:nvSpPr>
          <p:cNvPr id="25" name="灯片编号占位符 24">
            <a:extLst>
              <a:ext uri="{FF2B5EF4-FFF2-40B4-BE49-F238E27FC236}">
                <a16:creationId xmlns:a16="http://schemas.microsoft.com/office/drawing/2014/main" id="{7A5FD102-AD70-B09C-80C5-8045D73CB575}"/>
              </a:ext>
            </a:extLst>
          </p:cNvPr>
          <p:cNvSpPr>
            <a:spLocks noGrp="1"/>
          </p:cNvSpPr>
          <p:nvPr>
            <p:ph type="sldNum" sz="quarter" idx="12"/>
          </p:nvPr>
        </p:nvSpPr>
        <p:spPr/>
        <p:txBody>
          <a:bodyPr/>
          <a:lstStyle/>
          <a:p>
            <a:fld id="{BAEB1E39-14EE-405C-B1D8-764466B19623}" type="slidenum">
              <a:rPr lang="zh-CN" altLang="en-US" smtClean="0"/>
              <a:t>9</a:t>
            </a:fld>
            <a:endParaRPr lang="zh-CN" altLang="en-US"/>
          </a:p>
        </p:txBody>
      </p:sp>
      <p:sp>
        <p:nvSpPr>
          <p:cNvPr id="26" name="Title 1">
            <a:extLst>
              <a:ext uri="{FF2B5EF4-FFF2-40B4-BE49-F238E27FC236}">
                <a16:creationId xmlns:a16="http://schemas.microsoft.com/office/drawing/2014/main" id="{E539CB69-5B3F-420F-C6DE-03E8C65BFCE4}"/>
              </a:ext>
            </a:extLst>
          </p:cNvPr>
          <p:cNvSpPr txBox="1"/>
          <p:nvPr/>
        </p:nvSpPr>
        <p:spPr>
          <a:xfrm>
            <a:off x="0" y="0"/>
            <a:ext cx="3027814" cy="109852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pPr>
            <a:r>
              <a:rPr lang="zh-CN" altLang="en-US" sz="3600" b="1" kern="1200" spc="0">
                <a:latin typeface="楷体" panose="02010609060101010101" charset="-122"/>
                <a:ea typeface="楷体" panose="02010609060101010101" charset="-122"/>
                <a:cs typeface="Times New Roman" panose="02020603050405020304" pitchFamily="18" charset="0"/>
              </a:rPr>
              <a:t>  </a:t>
            </a:r>
            <a:r>
              <a:rPr lang="zh-CN" altLang="en-US" sz="3600" b="1" kern="120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mj-cs"/>
              </a:rPr>
              <a:t>目录</a:t>
            </a:r>
            <a:endParaRPr lang="zh-CN" altLang="en-US" sz="3600" b="1" kern="1200" spc="0">
              <a:latin typeface="楷体" panose="02010609060101010101" charset="-122"/>
              <a:ea typeface="楷体" panose="02010609060101010101" charset="-122"/>
              <a:cs typeface="Times New Roman" panose="02020603050405020304" pitchFamily="18" charset="0"/>
            </a:endParaRPr>
          </a:p>
        </p:txBody>
      </p:sp>
      <p:sp>
        <p:nvSpPr>
          <p:cNvPr id="10" name="标题 9">
            <a:extLst>
              <a:ext uri="{FF2B5EF4-FFF2-40B4-BE49-F238E27FC236}">
                <a16:creationId xmlns:a16="http://schemas.microsoft.com/office/drawing/2014/main" id="{F13C4327-1515-7A90-D153-5AF299B8EA70}"/>
              </a:ext>
            </a:extLst>
          </p:cNvPr>
          <p:cNvSpPr>
            <a:spLocks noGrp="1"/>
          </p:cNvSpPr>
          <p:nvPr>
            <p:ph type="title"/>
          </p:nvPr>
        </p:nvSpPr>
        <p:spPr>
          <a:xfrm>
            <a:off x="838200" y="-496693"/>
            <a:ext cx="3433549" cy="496693"/>
          </a:xfrm>
        </p:spPr>
        <p:txBody>
          <a:bodyPr vert="horz" lIns="91440" tIns="45720" rIns="91440" bIns="45720" rtlCol="0" anchor="b">
            <a:normAutofit/>
          </a:bodyPr>
          <a:lstStyle/>
          <a:p>
            <a:r>
              <a:rPr lang="en-US" altLang="zh-CN" sz="2400">
                <a:solidFill>
                  <a:srgbClr val="FBE5D6"/>
                </a:solidFill>
              </a:rPr>
              <a:t>1.</a:t>
            </a:r>
            <a:r>
              <a:rPr lang="zh-CN" altLang="en-US" sz="2400">
                <a:solidFill>
                  <a:srgbClr val="FBE5D6"/>
                </a:solidFill>
              </a:rPr>
              <a:t>作为替代的稳定币</a:t>
            </a:r>
          </a:p>
        </p:txBody>
      </p:sp>
    </p:spTree>
    <p:extLst>
      <p:ext uri="{BB962C8B-B14F-4D97-AF65-F5344CB8AC3E}">
        <p14:creationId xmlns:p14="http://schemas.microsoft.com/office/powerpoint/2010/main" val="2051360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ACFBC-B3C4-F12E-CF04-F24509EF71BE}"/>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5614CA2D-1E69-533A-6265-6DC83081A0AE}"/>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00A2F241-3002-8C08-04D7-4656EC2070C8}"/>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E36F0544-2BBA-3443-37D1-CF0FCF9817B0}"/>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2D31AB33-5188-39DB-C02C-77AEF03C8BEA}"/>
              </a:ext>
            </a:extLst>
          </p:cNvPr>
          <p:cNvSpPr>
            <a:spLocks noGrp="1"/>
          </p:cNvSpPr>
          <p:nvPr>
            <p:ph type="sldNum" sz="quarter" idx="12"/>
          </p:nvPr>
        </p:nvSpPr>
        <p:spPr/>
        <p:txBody>
          <a:bodyPr/>
          <a:lstStyle/>
          <a:p>
            <a:fld id="{BAEB1E39-14EE-405C-B1D8-764466B19623}" type="slidenum">
              <a:rPr lang="zh-CN" altLang="en-US" smtClean="0"/>
              <a:t>10</a:t>
            </a:fld>
            <a:endParaRPr lang="zh-CN" altLang="en-US"/>
          </a:p>
        </p:txBody>
      </p:sp>
      <p:sp>
        <p:nvSpPr>
          <p:cNvPr id="2" name="Title 1">
            <a:extLst>
              <a:ext uri="{FF2B5EF4-FFF2-40B4-BE49-F238E27FC236}">
                <a16:creationId xmlns:a16="http://schemas.microsoft.com/office/drawing/2014/main" id="{3DB04F87-154F-CE81-2C20-DD3F2448B0B6}"/>
              </a:ext>
            </a:extLst>
          </p:cNvPr>
          <p:cNvSpPr txBox="1">
            <a:spLocks/>
          </p:cNvSpPr>
          <p:nvPr/>
        </p:nvSpPr>
        <p:spPr>
          <a:xfrm>
            <a:off x="-286870" y="0"/>
            <a:ext cx="6017110"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暂时性滞胀</a:t>
            </a:r>
            <a:endParaRPr lang="zh-CN" altLang="en-US" sz="3600" b="1" dirty="0">
              <a:latin typeface="楷体" panose="02010609060101010101" charset="-122"/>
              <a:ea typeface="楷体" panose="02010609060101010101" charset="-122"/>
              <a:cs typeface="Times New Roman" panose="02020603050405020304" pitchFamily="18" charset="0"/>
            </a:endParaRPr>
          </a:p>
        </p:txBody>
      </p:sp>
      <p:sp>
        <p:nvSpPr>
          <p:cNvPr id="4" name="页脚占位符 10">
            <a:extLst>
              <a:ext uri="{FF2B5EF4-FFF2-40B4-BE49-F238E27FC236}">
                <a16:creationId xmlns:a16="http://schemas.microsoft.com/office/drawing/2014/main" id="{D06C2E66-2388-2EF2-D34B-ADBF6136853F}"/>
              </a:ext>
            </a:extLst>
          </p:cNvPr>
          <p:cNvSpPr>
            <a:spLocks noGrp="1"/>
          </p:cNvSpPr>
          <p:nvPr>
            <p:ph type="ftr" sz="quarter" idx="11"/>
          </p:nvPr>
        </p:nvSpPr>
        <p:spPr>
          <a:xfrm>
            <a:off x="3921759" y="6403340"/>
            <a:ext cx="4688841" cy="365125"/>
          </a:xfrm>
        </p:spPr>
        <p:txBody>
          <a:bodyPr/>
          <a:lstStyle/>
          <a:p>
            <a:r>
              <a:rPr lang="zh-CN" altLang="en-US" dirty="0"/>
              <a:t>数据来源：美联储</a:t>
            </a:r>
            <a:r>
              <a:rPr lang="en-US" altLang="zh-CN" dirty="0"/>
              <a:t>, Wind, Haver</a:t>
            </a:r>
            <a:endParaRPr lang="zh-CN" altLang="en-US" dirty="0"/>
          </a:p>
        </p:txBody>
      </p:sp>
      <p:grpSp>
        <p:nvGrpSpPr>
          <p:cNvPr id="28" name="组合 27">
            <a:extLst>
              <a:ext uri="{FF2B5EF4-FFF2-40B4-BE49-F238E27FC236}">
                <a16:creationId xmlns:a16="http://schemas.microsoft.com/office/drawing/2014/main" id="{ED7EBADE-59B1-269A-E6A7-50ED35369A04}"/>
              </a:ext>
            </a:extLst>
          </p:cNvPr>
          <p:cNvGrpSpPr/>
          <p:nvPr/>
        </p:nvGrpSpPr>
        <p:grpSpPr>
          <a:xfrm>
            <a:off x="2436685" y="1256829"/>
            <a:ext cx="7802880" cy="1389448"/>
            <a:chOff x="303007" y="1351443"/>
            <a:chExt cx="7802880" cy="1389448"/>
          </a:xfrm>
        </p:grpSpPr>
        <p:sp>
          <p:nvSpPr>
            <p:cNvPr id="3" name="矩形: 圆角 2">
              <a:extLst>
                <a:ext uri="{FF2B5EF4-FFF2-40B4-BE49-F238E27FC236}">
                  <a16:creationId xmlns:a16="http://schemas.microsoft.com/office/drawing/2014/main" id="{1E6E1EB2-489E-3DB2-59A5-DBB00C4CCDA4}"/>
                </a:ext>
              </a:extLst>
            </p:cNvPr>
            <p:cNvSpPr/>
            <p:nvPr/>
          </p:nvSpPr>
          <p:spPr>
            <a:xfrm>
              <a:off x="303007" y="1351444"/>
              <a:ext cx="2897393" cy="564353"/>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外部供给冲击</a:t>
              </a:r>
              <a:endParaRPr lang="en-US" altLang="zh-CN" dirty="0">
                <a:solidFill>
                  <a:schemeClr val="tx1"/>
                </a:solidFill>
              </a:endParaRPr>
            </a:p>
            <a:p>
              <a:pPr algn="ctr"/>
              <a:r>
                <a:rPr lang="zh-CN" altLang="en-US" dirty="0">
                  <a:solidFill>
                    <a:schemeClr val="tx1"/>
                  </a:solidFill>
                </a:rPr>
                <a:t>房租样本轮换、关税传导</a:t>
              </a:r>
              <a:endParaRPr lang="en-US" altLang="zh-CN" dirty="0">
                <a:solidFill>
                  <a:schemeClr val="tx1"/>
                </a:solidFill>
              </a:endParaRPr>
            </a:p>
          </p:txBody>
        </p:sp>
        <p:sp>
          <p:nvSpPr>
            <p:cNvPr id="5" name="矩形: 圆角 4">
              <a:extLst>
                <a:ext uri="{FF2B5EF4-FFF2-40B4-BE49-F238E27FC236}">
                  <a16:creationId xmlns:a16="http://schemas.microsoft.com/office/drawing/2014/main" id="{AF71A8A5-D39C-7E0B-B4B4-E6D0B87EF631}"/>
                </a:ext>
              </a:extLst>
            </p:cNvPr>
            <p:cNvSpPr/>
            <p:nvPr/>
          </p:nvSpPr>
          <p:spPr>
            <a:xfrm>
              <a:off x="3581400" y="1351443"/>
              <a:ext cx="2009887" cy="564353"/>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通胀短期升高</a:t>
              </a:r>
              <a:endParaRPr lang="en-US" altLang="zh-CN" dirty="0">
                <a:solidFill>
                  <a:schemeClr val="tx1"/>
                </a:solidFill>
              </a:endParaRPr>
            </a:p>
          </p:txBody>
        </p:sp>
        <p:sp>
          <p:nvSpPr>
            <p:cNvPr id="8" name="矩形: 圆角 7">
              <a:extLst>
                <a:ext uri="{FF2B5EF4-FFF2-40B4-BE49-F238E27FC236}">
                  <a16:creationId xmlns:a16="http://schemas.microsoft.com/office/drawing/2014/main" id="{41B680E9-B735-A068-F466-B5126302B537}"/>
                </a:ext>
              </a:extLst>
            </p:cNvPr>
            <p:cNvSpPr/>
            <p:nvPr/>
          </p:nvSpPr>
          <p:spPr>
            <a:xfrm>
              <a:off x="303007" y="2176538"/>
              <a:ext cx="2897393" cy="564353"/>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商品消费下行</a:t>
              </a:r>
              <a:endParaRPr lang="en-US" altLang="zh-CN" dirty="0">
                <a:solidFill>
                  <a:schemeClr val="tx1"/>
                </a:solidFill>
              </a:endParaRPr>
            </a:p>
            <a:p>
              <a:pPr algn="ctr"/>
              <a:r>
                <a:rPr lang="zh-CN" altLang="en-US" dirty="0">
                  <a:solidFill>
                    <a:schemeClr val="tx1"/>
                  </a:solidFill>
                </a:rPr>
                <a:t>贸易逆差扩大</a:t>
              </a:r>
              <a:endParaRPr lang="en-US" altLang="zh-CN" dirty="0">
                <a:solidFill>
                  <a:schemeClr val="tx1"/>
                </a:solidFill>
              </a:endParaRPr>
            </a:p>
          </p:txBody>
        </p:sp>
        <p:sp>
          <p:nvSpPr>
            <p:cNvPr id="9" name="矩形: 圆角 8">
              <a:extLst>
                <a:ext uri="{FF2B5EF4-FFF2-40B4-BE49-F238E27FC236}">
                  <a16:creationId xmlns:a16="http://schemas.microsoft.com/office/drawing/2014/main" id="{233ACDDB-CD25-6C56-0C40-0E3529ED7D6B}"/>
                </a:ext>
              </a:extLst>
            </p:cNvPr>
            <p:cNvSpPr/>
            <p:nvPr/>
          </p:nvSpPr>
          <p:spPr>
            <a:xfrm>
              <a:off x="3581400" y="2165118"/>
              <a:ext cx="2009887" cy="564353"/>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弱增长</a:t>
              </a:r>
              <a:endParaRPr lang="en-US" altLang="zh-CN" dirty="0">
                <a:solidFill>
                  <a:schemeClr val="tx1"/>
                </a:solidFill>
              </a:endParaRPr>
            </a:p>
          </p:txBody>
        </p:sp>
        <p:sp>
          <p:nvSpPr>
            <p:cNvPr id="11" name="矩形: 圆角 10">
              <a:extLst>
                <a:ext uri="{FF2B5EF4-FFF2-40B4-BE49-F238E27FC236}">
                  <a16:creationId xmlns:a16="http://schemas.microsoft.com/office/drawing/2014/main" id="{5954AB74-B190-F8FF-EB09-4449C0828086}"/>
                </a:ext>
              </a:extLst>
            </p:cNvPr>
            <p:cNvSpPr/>
            <p:nvPr/>
          </p:nvSpPr>
          <p:spPr>
            <a:xfrm>
              <a:off x="6096000" y="1743777"/>
              <a:ext cx="2009887" cy="564353"/>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暂时性滞胀</a:t>
              </a:r>
              <a:endParaRPr lang="en-US" altLang="zh-CN" dirty="0">
                <a:solidFill>
                  <a:schemeClr val="tx1"/>
                </a:solidFill>
              </a:endParaRPr>
            </a:p>
          </p:txBody>
        </p:sp>
        <p:cxnSp>
          <p:nvCxnSpPr>
            <p:cNvPr id="12" name="直接箭头连接符 11">
              <a:extLst>
                <a:ext uri="{FF2B5EF4-FFF2-40B4-BE49-F238E27FC236}">
                  <a16:creationId xmlns:a16="http://schemas.microsoft.com/office/drawing/2014/main" id="{D80E4D28-B477-F3ED-79E0-4EEEB4856C39}"/>
                </a:ext>
              </a:extLst>
            </p:cNvPr>
            <p:cNvCxnSpPr>
              <a:cxnSpLocks/>
            </p:cNvCxnSpPr>
            <p:nvPr/>
          </p:nvCxnSpPr>
          <p:spPr>
            <a:xfrm>
              <a:off x="3234208" y="1630542"/>
              <a:ext cx="313383" cy="256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直接箭头连接符 12">
              <a:extLst>
                <a:ext uri="{FF2B5EF4-FFF2-40B4-BE49-F238E27FC236}">
                  <a16:creationId xmlns:a16="http://schemas.microsoft.com/office/drawing/2014/main" id="{EE5757E1-8007-2B86-1C4E-0CA033C6323E}"/>
                </a:ext>
              </a:extLst>
            </p:cNvPr>
            <p:cNvCxnSpPr>
              <a:cxnSpLocks/>
            </p:cNvCxnSpPr>
            <p:nvPr/>
          </p:nvCxnSpPr>
          <p:spPr>
            <a:xfrm>
              <a:off x="3234208" y="2444734"/>
              <a:ext cx="313383" cy="256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直接箭头连接符 13">
              <a:extLst>
                <a:ext uri="{FF2B5EF4-FFF2-40B4-BE49-F238E27FC236}">
                  <a16:creationId xmlns:a16="http://schemas.microsoft.com/office/drawing/2014/main" id="{82A32366-39F2-0309-CF75-5D2BF35FC792}"/>
                </a:ext>
              </a:extLst>
            </p:cNvPr>
            <p:cNvCxnSpPr>
              <a:cxnSpLocks/>
            </p:cNvCxnSpPr>
            <p:nvPr/>
          </p:nvCxnSpPr>
          <p:spPr>
            <a:xfrm>
              <a:off x="5730239" y="2037897"/>
              <a:ext cx="313383" cy="256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右大括号 14">
              <a:extLst>
                <a:ext uri="{FF2B5EF4-FFF2-40B4-BE49-F238E27FC236}">
                  <a16:creationId xmlns:a16="http://schemas.microsoft.com/office/drawing/2014/main" id="{C738E264-A1EF-A98E-1A34-FC2C7703605F}"/>
                </a:ext>
              </a:extLst>
            </p:cNvPr>
            <p:cNvSpPr/>
            <p:nvPr/>
          </p:nvSpPr>
          <p:spPr>
            <a:xfrm>
              <a:off x="5641489" y="1351443"/>
              <a:ext cx="177501" cy="1378028"/>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pSp>
      <p:pic>
        <p:nvPicPr>
          <p:cNvPr id="31" name="图片 30">
            <a:extLst>
              <a:ext uri="{FF2B5EF4-FFF2-40B4-BE49-F238E27FC236}">
                <a16:creationId xmlns:a16="http://schemas.microsoft.com/office/drawing/2014/main" id="{0D923A24-4D72-5156-A5B5-4105C8ABA4AA}"/>
              </a:ext>
            </a:extLst>
          </p:cNvPr>
          <p:cNvPicPr>
            <a:picLocks noChangeAspect="1"/>
          </p:cNvPicPr>
          <p:nvPr/>
        </p:nvPicPr>
        <p:blipFill>
          <a:blip r:embed="rId3"/>
          <a:stretch>
            <a:fillRect/>
          </a:stretch>
        </p:blipFill>
        <p:spPr>
          <a:xfrm>
            <a:off x="6231444" y="3052248"/>
            <a:ext cx="5521377" cy="2805318"/>
          </a:xfrm>
          <a:prstGeom prst="rect">
            <a:avLst/>
          </a:prstGeom>
        </p:spPr>
      </p:pic>
      <p:sp>
        <p:nvSpPr>
          <p:cNvPr id="32" name="文本框 31">
            <a:extLst>
              <a:ext uri="{FF2B5EF4-FFF2-40B4-BE49-F238E27FC236}">
                <a16:creationId xmlns:a16="http://schemas.microsoft.com/office/drawing/2014/main" id="{94857EBD-4169-C03A-E6AE-6D960F6E2A2E}"/>
              </a:ext>
            </a:extLst>
          </p:cNvPr>
          <p:cNvSpPr txBox="1"/>
          <p:nvPr/>
        </p:nvSpPr>
        <p:spPr>
          <a:xfrm>
            <a:off x="7709725" y="5925622"/>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a:t>
            </a:r>
            <a:r>
              <a:rPr lang="zh-CN" altLang="en-US" sz="1600" b="1" dirty="0">
                <a:solidFill>
                  <a:prstClr val="black"/>
                </a:solidFill>
                <a:latin typeface="Times New Roman" panose="02020603050405020304"/>
                <a:ea typeface="楷体" panose="02010609060101010101" charset="-122"/>
              </a:rPr>
              <a:t>美国的增长迎来下行压力</a:t>
            </a:r>
            <a:endParaRPr lang="en-US" altLang="zh-CN" sz="1600" b="1" dirty="0">
              <a:solidFill>
                <a:prstClr val="black"/>
              </a:solidFill>
              <a:latin typeface="Times New Roman" panose="02020603050405020304"/>
              <a:ea typeface="楷体" panose="02010609060101010101" charset="-122"/>
            </a:endParaRPr>
          </a:p>
        </p:txBody>
      </p:sp>
      <p:pic>
        <p:nvPicPr>
          <p:cNvPr id="35" name="图片 34">
            <a:extLst>
              <a:ext uri="{FF2B5EF4-FFF2-40B4-BE49-F238E27FC236}">
                <a16:creationId xmlns:a16="http://schemas.microsoft.com/office/drawing/2014/main" id="{889AD1BE-CEA4-6007-EFB2-8A38CB703E47}"/>
              </a:ext>
            </a:extLst>
          </p:cNvPr>
          <p:cNvPicPr>
            <a:picLocks noChangeAspect="1"/>
          </p:cNvPicPr>
          <p:nvPr/>
        </p:nvPicPr>
        <p:blipFill>
          <a:blip r:embed="rId4"/>
          <a:stretch>
            <a:fillRect/>
          </a:stretch>
        </p:blipFill>
        <p:spPr>
          <a:xfrm>
            <a:off x="838200" y="2740270"/>
            <a:ext cx="4775958" cy="3183972"/>
          </a:xfrm>
          <a:prstGeom prst="rect">
            <a:avLst/>
          </a:prstGeom>
        </p:spPr>
      </p:pic>
      <p:sp>
        <p:nvSpPr>
          <p:cNvPr id="36" name="文本框 35">
            <a:extLst>
              <a:ext uri="{FF2B5EF4-FFF2-40B4-BE49-F238E27FC236}">
                <a16:creationId xmlns:a16="http://schemas.microsoft.com/office/drawing/2014/main" id="{AB6984B9-496E-8241-67F1-517DAF5B5B11}"/>
              </a:ext>
            </a:extLst>
          </p:cNvPr>
          <p:cNvSpPr txBox="1"/>
          <p:nvPr/>
        </p:nvSpPr>
        <p:spPr>
          <a:xfrm>
            <a:off x="1810547" y="5924242"/>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a:t>
            </a:r>
            <a:r>
              <a:rPr lang="zh-CN" altLang="en-US" sz="1600" b="1" dirty="0">
                <a:solidFill>
                  <a:prstClr val="black"/>
                </a:solidFill>
                <a:latin typeface="Times New Roman" panose="02020603050405020304"/>
                <a:ea typeface="楷体" panose="02010609060101010101" charset="-122"/>
              </a:rPr>
              <a:t>市场对于</a:t>
            </a:r>
            <a:r>
              <a:rPr lang="en-US" altLang="zh-CN" sz="1600" b="1" dirty="0">
                <a:solidFill>
                  <a:prstClr val="black"/>
                </a:solidFill>
                <a:latin typeface="Times New Roman" panose="02020603050405020304"/>
                <a:ea typeface="楷体" panose="02010609060101010101" charset="-122"/>
              </a:rPr>
              <a:t>CPI</a:t>
            </a:r>
            <a:r>
              <a:rPr lang="zh-CN" altLang="en-US" sz="1600" b="1" dirty="0">
                <a:solidFill>
                  <a:prstClr val="black"/>
                </a:solidFill>
                <a:latin typeface="Times New Roman" panose="02020603050405020304"/>
                <a:ea typeface="楷体" panose="02010609060101010101" charset="-122"/>
              </a:rPr>
              <a:t>的一致预期</a:t>
            </a:r>
            <a:endParaRPr lang="en-US" altLang="zh-CN" sz="1600" b="1" dirty="0">
              <a:solidFill>
                <a:prstClr val="black"/>
              </a:solidFill>
              <a:latin typeface="Times New Roman" panose="02020603050405020304"/>
              <a:ea typeface="楷体" panose="02010609060101010101" charset="-122"/>
            </a:endParaRPr>
          </a:p>
        </p:txBody>
      </p:sp>
    </p:spTree>
    <p:extLst>
      <p:ext uri="{BB962C8B-B14F-4D97-AF65-F5344CB8AC3E}">
        <p14:creationId xmlns:p14="http://schemas.microsoft.com/office/powerpoint/2010/main" val="2718108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2D6B0-4702-6DBB-AEE5-6FCBC694A318}"/>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32D45E9E-6DD0-AB21-716D-4BE3EAECCCD5}"/>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BA4BDFE2-6E42-2AA2-D078-0E07C941F288}"/>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55A5A877-2B2A-D320-DFE5-EF44C2AAF42F}"/>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D24E8BC1-3564-936A-D8F2-E362CE5ECA12}"/>
              </a:ext>
            </a:extLst>
          </p:cNvPr>
          <p:cNvSpPr>
            <a:spLocks noGrp="1"/>
          </p:cNvSpPr>
          <p:nvPr>
            <p:ph type="sldNum" sz="quarter" idx="12"/>
          </p:nvPr>
        </p:nvSpPr>
        <p:spPr/>
        <p:txBody>
          <a:bodyPr/>
          <a:lstStyle/>
          <a:p>
            <a:fld id="{BAEB1E39-14EE-405C-B1D8-764466B19623}" type="slidenum">
              <a:rPr lang="zh-CN" altLang="en-US" smtClean="0"/>
              <a:t>11</a:t>
            </a:fld>
            <a:endParaRPr lang="zh-CN" altLang="en-US"/>
          </a:p>
        </p:txBody>
      </p:sp>
      <p:sp>
        <p:nvSpPr>
          <p:cNvPr id="2" name="Title 1">
            <a:extLst>
              <a:ext uri="{FF2B5EF4-FFF2-40B4-BE49-F238E27FC236}">
                <a16:creationId xmlns:a16="http://schemas.microsoft.com/office/drawing/2014/main" id="{5F0781CD-9364-4AFF-7BD9-325EB68B2DF2}"/>
              </a:ext>
            </a:extLst>
          </p:cNvPr>
          <p:cNvSpPr txBox="1">
            <a:spLocks/>
          </p:cNvSpPr>
          <p:nvPr/>
        </p:nvSpPr>
        <p:spPr>
          <a:xfrm>
            <a:off x="-286870" y="0"/>
            <a:ext cx="6017110"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金融市场的脆弱性</a:t>
            </a:r>
            <a:endParaRPr lang="zh-CN" altLang="en-US" sz="3600" b="1" dirty="0">
              <a:latin typeface="楷体" panose="02010609060101010101" charset="-122"/>
              <a:ea typeface="楷体" panose="02010609060101010101" charset="-122"/>
              <a:cs typeface="Times New Roman" panose="02020603050405020304" pitchFamily="18" charset="0"/>
            </a:endParaRPr>
          </a:p>
        </p:txBody>
      </p:sp>
      <p:sp>
        <p:nvSpPr>
          <p:cNvPr id="4" name="页脚占位符 10">
            <a:extLst>
              <a:ext uri="{FF2B5EF4-FFF2-40B4-BE49-F238E27FC236}">
                <a16:creationId xmlns:a16="http://schemas.microsoft.com/office/drawing/2014/main" id="{004EC3C2-D48F-56A1-A0ED-E03E18E0EEBE}"/>
              </a:ext>
            </a:extLst>
          </p:cNvPr>
          <p:cNvSpPr>
            <a:spLocks noGrp="1"/>
          </p:cNvSpPr>
          <p:nvPr>
            <p:ph type="ftr" sz="quarter" idx="11"/>
          </p:nvPr>
        </p:nvSpPr>
        <p:spPr>
          <a:xfrm>
            <a:off x="3921759" y="6403340"/>
            <a:ext cx="4688841" cy="365125"/>
          </a:xfrm>
        </p:spPr>
        <p:txBody>
          <a:bodyPr/>
          <a:lstStyle/>
          <a:p>
            <a:r>
              <a:rPr lang="zh-CN" altLang="en-US" dirty="0"/>
              <a:t>数据来源：</a:t>
            </a:r>
            <a:r>
              <a:rPr lang="en-US" altLang="zh-CN" dirty="0"/>
              <a:t>Wind</a:t>
            </a:r>
            <a:r>
              <a:rPr lang="zh-CN" altLang="en-US" dirty="0"/>
              <a:t>，</a:t>
            </a:r>
            <a:r>
              <a:rPr lang="en-US" altLang="zh-CN" dirty="0"/>
              <a:t>Haver, </a:t>
            </a:r>
            <a:r>
              <a:rPr lang="zh-CN" altLang="en-US" dirty="0"/>
              <a:t>中金研究所</a:t>
            </a:r>
          </a:p>
        </p:txBody>
      </p:sp>
      <p:sp>
        <p:nvSpPr>
          <p:cNvPr id="17" name="Rectangle 1">
            <a:extLst>
              <a:ext uri="{FF2B5EF4-FFF2-40B4-BE49-F238E27FC236}">
                <a16:creationId xmlns:a16="http://schemas.microsoft.com/office/drawing/2014/main" id="{88B9B2A1-BB7E-3B14-8BE3-1D73FF2FEC5D}"/>
              </a:ext>
            </a:extLst>
          </p:cNvPr>
          <p:cNvSpPr>
            <a:spLocks noChangeArrowheads="1"/>
          </p:cNvSpPr>
          <p:nvPr/>
        </p:nvSpPr>
        <p:spPr bwMode="auto">
          <a:xfrm rot="10800000" flipV="1">
            <a:off x="368148" y="1147830"/>
            <a:ext cx="1179606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zh-CN" altLang="zh-CN" dirty="0">
                <a:latin typeface="Arial" panose="020B0604020202020204" pitchFamily="34" charset="0"/>
              </a:rPr>
              <a:t>地缘冲突打压风险偏好，进一步放大高估值美国金融资产的脆弱性</a:t>
            </a:r>
            <a:endParaRPr lang="en-US" altLang="zh-CN" dirty="0">
              <a:latin typeface="Arial" panose="020B0604020202020204" pitchFamily="34" charset="0"/>
            </a:endParaRPr>
          </a:p>
          <a:p>
            <a:pPr marL="285750" indent="-285750" eaLnBrk="0" fontAlgn="base" hangingPunct="0">
              <a:lnSpc>
                <a:spcPct val="150000"/>
              </a:lnSpc>
              <a:spcBef>
                <a:spcPct val="0"/>
              </a:spcBef>
              <a:spcAft>
                <a:spcPct val="0"/>
              </a:spcAft>
              <a:buFont typeface="Wingdings" panose="05000000000000000000" pitchFamily="2" charset="2"/>
              <a:buChar char="Ø"/>
            </a:pPr>
            <a:r>
              <a:rPr lang="zh-CN" altLang="en-US" dirty="0">
                <a:latin typeface="Arial" panose="020B0604020202020204" pitchFamily="34" charset="0"/>
              </a:rPr>
              <a:t>伯南克</a:t>
            </a:r>
            <a:r>
              <a:rPr lang="zh-CN" altLang="zh-CN" dirty="0">
                <a:latin typeface="Arial" panose="020B0604020202020204" pitchFamily="34" charset="0"/>
              </a:rPr>
              <a:t>“金融加速器”理论</a:t>
            </a:r>
            <a:r>
              <a:rPr lang="zh-CN" altLang="en-US" dirty="0">
                <a:latin typeface="Arial" panose="020B0604020202020204" pitchFamily="34" charset="0"/>
              </a:rPr>
              <a:t>：</a:t>
            </a:r>
            <a:r>
              <a:rPr lang="zh-CN" altLang="zh-CN" dirty="0">
                <a:latin typeface="Arial" panose="020B0604020202020204" pitchFamily="34" charset="0"/>
              </a:rPr>
              <a:t>金融市场条件恶化可能对经济产生明显负面影响</a:t>
            </a:r>
            <a:r>
              <a:rPr lang="zh-CN" altLang="en-US" dirty="0">
                <a:latin typeface="Arial" panose="020B0604020202020204" pitchFamily="34" charset="0"/>
              </a:rPr>
              <a:t>。</a:t>
            </a:r>
            <a:endParaRPr lang="en-US" altLang="zh-CN" dirty="0">
              <a:latin typeface="Arial" panose="020B0604020202020204" pitchFamily="34" charset="0"/>
            </a:endParaRPr>
          </a:p>
          <a:p>
            <a:pPr marL="285750" indent="-285750" eaLnBrk="0" fontAlgn="base" hangingPunct="0">
              <a:lnSpc>
                <a:spcPct val="150000"/>
              </a:lnSpc>
              <a:spcBef>
                <a:spcPct val="0"/>
              </a:spcBef>
              <a:spcAft>
                <a:spcPct val="0"/>
              </a:spcAft>
              <a:buFont typeface="Wingdings" panose="05000000000000000000" pitchFamily="2" charset="2"/>
              <a:buChar char="Ø"/>
            </a:pPr>
            <a:r>
              <a:rPr lang="zh-CN" altLang="en-US" dirty="0">
                <a:latin typeface="Arial" panose="020B0604020202020204" pitchFamily="34" charset="0"/>
              </a:rPr>
              <a:t>货币政策的博弈：防风险</a:t>
            </a:r>
            <a:r>
              <a:rPr lang="en-US" altLang="zh-CN" dirty="0"/>
              <a:t>vs</a:t>
            </a:r>
            <a:r>
              <a:rPr lang="zh-CN" altLang="en-US" dirty="0"/>
              <a:t>防通胀。</a:t>
            </a:r>
            <a:r>
              <a:rPr lang="zh-CN" altLang="zh-CN" dirty="0">
                <a:latin typeface="Arial" panose="020B0604020202020204" pitchFamily="34" charset="0"/>
              </a:rPr>
              <a:t>若政策转向紧缩，</a:t>
            </a:r>
            <a:r>
              <a:rPr lang="zh-CN" altLang="zh-CN" dirty="0"/>
              <a:t>AI</a:t>
            </a:r>
            <a:r>
              <a:rPr lang="zh-CN" altLang="zh-CN" dirty="0">
                <a:latin typeface="Arial" panose="020B0604020202020204" pitchFamily="34" charset="0"/>
              </a:rPr>
              <a:t>软件行业可能面临现金流和估值的双重压力，对</a:t>
            </a:r>
            <a:r>
              <a:rPr lang="zh-CN" altLang="zh-CN" dirty="0"/>
              <a:t>AI</a:t>
            </a:r>
            <a:r>
              <a:rPr lang="zh-CN" altLang="zh-CN" dirty="0">
                <a:latin typeface="Arial" panose="020B0604020202020204" pitchFamily="34" charset="0"/>
              </a:rPr>
              <a:t>泡沫和私募信贷行业造成较大冲击。</a:t>
            </a:r>
            <a:endParaRPr lang="en-US" altLang="zh-CN" dirty="0">
              <a:latin typeface="Arial" panose="020B0604020202020204" pitchFamily="34" charset="0"/>
            </a:endParaRPr>
          </a:p>
          <a:p>
            <a:pPr marL="285750" indent="-285750" eaLnBrk="0" fontAlgn="base" hangingPunct="0">
              <a:spcBef>
                <a:spcPct val="0"/>
              </a:spcBef>
              <a:spcAft>
                <a:spcPct val="0"/>
              </a:spcAft>
              <a:buFont typeface="Wingdings" panose="05000000000000000000" pitchFamily="2" charset="2"/>
              <a:buChar char="Ø"/>
            </a:pPr>
            <a:endParaRPr lang="zh-CN" altLang="zh-CN"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Ø"/>
            </a:pPr>
            <a:endParaRPr lang="en-US" altLang="zh-CN" dirty="0"/>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zh-CN" sz="1800" b="0" i="0" u="none" strike="noStrike" cap="none" normalizeH="0" baseline="0" dirty="0">
              <a:ln>
                <a:noFill/>
              </a:ln>
              <a:solidFill>
                <a:schemeClr val="tx1"/>
              </a:solidFill>
              <a:effectLst/>
            </a:endParaRPr>
          </a:p>
        </p:txBody>
      </p:sp>
      <p:pic>
        <p:nvPicPr>
          <p:cNvPr id="25" name="图片 24">
            <a:extLst>
              <a:ext uri="{FF2B5EF4-FFF2-40B4-BE49-F238E27FC236}">
                <a16:creationId xmlns:a16="http://schemas.microsoft.com/office/drawing/2014/main" id="{E3C74121-E2E6-00A6-610B-B8261398E8FD}"/>
              </a:ext>
            </a:extLst>
          </p:cNvPr>
          <p:cNvPicPr>
            <a:picLocks noChangeAspect="1"/>
          </p:cNvPicPr>
          <p:nvPr/>
        </p:nvPicPr>
        <p:blipFill>
          <a:blip r:embed="rId3"/>
          <a:srcRect l="16154" t="9284" r="11421" b="17598"/>
          <a:stretch>
            <a:fillRect/>
          </a:stretch>
        </p:blipFill>
        <p:spPr>
          <a:xfrm>
            <a:off x="7929388" y="2972329"/>
            <a:ext cx="2905132" cy="2704596"/>
          </a:xfrm>
          <a:prstGeom prst="rect">
            <a:avLst/>
          </a:prstGeom>
        </p:spPr>
      </p:pic>
      <p:sp>
        <p:nvSpPr>
          <p:cNvPr id="26" name="文本框 25">
            <a:extLst>
              <a:ext uri="{FF2B5EF4-FFF2-40B4-BE49-F238E27FC236}">
                <a16:creationId xmlns:a16="http://schemas.microsoft.com/office/drawing/2014/main" id="{E28CC1F4-D962-AFEB-53EB-FA9319C3567F}"/>
              </a:ext>
            </a:extLst>
          </p:cNvPr>
          <p:cNvSpPr txBox="1"/>
          <p:nvPr/>
        </p:nvSpPr>
        <p:spPr>
          <a:xfrm>
            <a:off x="7717273" y="5891254"/>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lang="en-US" altLang="zh-CN" sz="1600" b="1" dirty="0">
                <a:solidFill>
                  <a:prstClr val="black"/>
                </a:solidFill>
                <a:latin typeface="Times New Roman" panose="02020603050405020304"/>
                <a:ea typeface="楷体" panose="02010609060101010101" charset="-122"/>
              </a:rPr>
              <a:t>BDC</a:t>
            </a:r>
            <a:r>
              <a:rPr lang="zh-CN" altLang="en-US" sz="1600" b="1" dirty="0">
                <a:solidFill>
                  <a:prstClr val="black"/>
                </a:solidFill>
                <a:latin typeface="Times New Roman" panose="02020603050405020304"/>
                <a:ea typeface="楷体" panose="02010609060101010101" charset="-122"/>
              </a:rPr>
              <a:t>直接贷款主要投向科技行业</a:t>
            </a:r>
            <a:endParaRPr lang="en-US" altLang="zh-CN" sz="1600" b="1" dirty="0">
              <a:solidFill>
                <a:prstClr val="black"/>
              </a:solidFill>
              <a:latin typeface="Times New Roman" panose="02020603050405020304"/>
              <a:ea typeface="楷体" panose="02010609060101010101" charset="-122"/>
            </a:endParaRPr>
          </a:p>
        </p:txBody>
      </p:sp>
      <p:pic>
        <p:nvPicPr>
          <p:cNvPr id="11" name="图片 10">
            <a:extLst>
              <a:ext uri="{FF2B5EF4-FFF2-40B4-BE49-F238E27FC236}">
                <a16:creationId xmlns:a16="http://schemas.microsoft.com/office/drawing/2014/main" id="{70AD85DE-8DEA-015A-D16C-8473BE0981A5}"/>
              </a:ext>
            </a:extLst>
          </p:cNvPr>
          <p:cNvPicPr>
            <a:picLocks noChangeAspect="1"/>
          </p:cNvPicPr>
          <p:nvPr/>
        </p:nvPicPr>
        <p:blipFill>
          <a:blip r:embed="rId4"/>
          <a:srcRect l="4668" t="7816" r="5642" b="6544"/>
          <a:stretch>
            <a:fillRect/>
          </a:stretch>
        </p:blipFill>
        <p:spPr>
          <a:xfrm>
            <a:off x="838200" y="3108771"/>
            <a:ext cx="5931679" cy="2831931"/>
          </a:xfrm>
          <a:prstGeom prst="rect">
            <a:avLst/>
          </a:prstGeom>
        </p:spPr>
      </p:pic>
      <p:sp>
        <p:nvSpPr>
          <p:cNvPr id="12" name="文本框 11">
            <a:extLst>
              <a:ext uri="{FF2B5EF4-FFF2-40B4-BE49-F238E27FC236}">
                <a16:creationId xmlns:a16="http://schemas.microsoft.com/office/drawing/2014/main" id="{98756742-A317-AD6E-58FE-193E91EE560F}"/>
              </a:ext>
            </a:extLst>
          </p:cNvPr>
          <p:cNvSpPr txBox="1"/>
          <p:nvPr/>
        </p:nvSpPr>
        <p:spPr>
          <a:xfrm>
            <a:off x="1429616" y="5885507"/>
            <a:ext cx="4984285"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lang="zh-CN" altLang="en-US" sz="1600" b="1" dirty="0">
                <a:solidFill>
                  <a:prstClr val="black"/>
                </a:solidFill>
                <a:latin typeface="Times New Roman" panose="02020603050405020304"/>
                <a:ea typeface="楷体" panose="02010609060101010101" charset="-122"/>
              </a:rPr>
              <a:t>美股行业结构转变及其波动率处于历史地位</a:t>
            </a:r>
            <a:endParaRPr lang="en-US" altLang="zh-CN" sz="1600" b="1" dirty="0">
              <a:solidFill>
                <a:prstClr val="black"/>
              </a:solidFill>
              <a:latin typeface="Times New Roman" panose="02020603050405020304"/>
              <a:ea typeface="楷体" panose="02010609060101010101" charset="-122"/>
            </a:endParaRPr>
          </a:p>
        </p:txBody>
      </p:sp>
    </p:spTree>
    <p:extLst>
      <p:ext uri="{BB962C8B-B14F-4D97-AF65-F5344CB8AC3E}">
        <p14:creationId xmlns:p14="http://schemas.microsoft.com/office/powerpoint/2010/main" val="2037849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917DA-27C5-5221-985D-CE6D1E896447}"/>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E905A7D9-980D-692E-431C-795B146063F4}"/>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3CECF860-9D80-9E95-2639-334BDC434460}"/>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80B055BE-8D86-FCB4-3B54-FA0E90DA0B0A}"/>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CC49F0B1-40E0-6F78-34E2-EC42F99459D3}"/>
              </a:ext>
            </a:extLst>
          </p:cNvPr>
          <p:cNvSpPr>
            <a:spLocks noGrp="1"/>
          </p:cNvSpPr>
          <p:nvPr>
            <p:ph type="sldNum" sz="quarter" idx="12"/>
          </p:nvPr>
        </p:nvSpPr>
        <p:spPr/>
        <p:txBody>
          <a:bodyPr/>
          <a:lstStyle/>
          <a:p>
            <a:fld id="{BAEB1E39-14EE-405C-B1D8-764466B19623}" type="slidenum">
              <a:rPr lang="zh-CN" altLang="en-US" smtClean="0"/>
              <a:t>12</a:t>
            </a:fld>
            <a:endParaRPr lang="zh-CN" altLang="en-US"/>
          </a:p>
        </p:txBody>
      </p:sp>
      <p:sp>
        <p:nvSpPr>
          <p:cNvPr id="2" name="Title 1">
            <a:extLst>
              <a:ext uri="{FF2B5EF4-FFF2-40B4-BE49-F238E27FC236}">
                <a16:creationId xmlns:a16="http://schemas.microsoft.com/office/drawing/2014/main" id="{58C930DF-E316-290E-E626-2819A36DFFB6}"/>
              </a:ext>
            </a:extLst>
          </p:cNvPr>
          <p:cNvSpPr txBox="1">
            <a:spLocks/>
          </p:cNvSpPr>
          <p:nvPr/>
        </p:nvSpPr>
        <p:spPr>
          <a:xfrm>
            <a:off x="-286870" y="0"/>
            <a:ext cx="6301590"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历次地缘冲突下的通胀预期</a:t>
            </a:r>
            <a:endParaRPr lang="zh-CN" altLang="en-US" sz="3600" b="1" dirty="0">
              <a:latin typeface="楷体" panose="02010609060101010101" charset="-122"/>
              <a:ea typeface="楷体" panose="02010609060101010101" charset="-122"/>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6168A130-DBCF-96C7-C2FC-F6DE66810243}"/>
              </a:ext>
            </a:extLst>
          </p:cNvPr>
          <p:cNvGraphicFramePr>
            <a:graphicFrameLocks noGrp="1"/>
          </p:cNvGraphicFramePr>
          <p:nvPr/>
        </p:nvGraphicFramePr>
        <p:xfrm>
          <a:off x="1293372" y="1153141"/>
          <a:ext cx="9605256" cy="5136827"/>
        </p:xfrm>
        <a:graphic>
          <a:graphicData uri="http://schemas.openxmlformats.org/drawingml/2006/table">
            <a:tbl>
              <a:tblPr/>
              <a:tblGrid>
                <a:gridCol w="2407757">
                  <a:extLst>
                    <a:ext uri="{9D8B030D-6E8A-4147-A177-3AD203B41FA5}">
                      <a16:colId xmlns:a16="http://schemas.microsoft.com/office/drawing/2014/main" val="1837435951"/>
                    </a:ext>
                  </a:extLst>
                </a:gridCol>
                <a:gridCol w="1097376">
                  <a:extLst>
                    <a:ext uri="{9D8B030D-6E8A-4147-A177-3AD203B41FA5}">
                      <a16:colId xmlns:a16="http://schemas.microsoft.com/office/drawing/2014/main" val="4139677834"/>
                    </a:ext>
                  </a:extLst>
                </a:gridCol>
                <a:gridCol w="2420683">
                  <a:extLst>
                    <a:ext uri="{9D8B030D-6E8A-4147-A177-3AD203B41FA5}">
                      <a16:colId xmlns:a16="http://schemas.microsoft.com/office/drawing/2014/main" val="2424973143"/>
                    </a:ext>
                  </a:extLst>
                </a:gridCol>
                <a:gridCol w="2177155">
                  <a:extLst>
                    <a:ext uri="{9D8B030D-6E8A-4147-A177-3AD203B41FA5}">
                      <a16:colId xmlns:a16="http://schemas.microsoft.com/office/drawing/2014/main" val="4281739587"/>
                    </a:ext>
                  </a:extLst>
                </a:gridCol>
                <a:gridCol w="1502285">
                  <a:extLst>
                    <a:ext uri="{9D8B030D-6E8A-4147-A177-3AD203B41FA5}">
                      <a16:colId xmlns:a16="http://schemas.microsoft.com/office/drawing/2014/main" val="1720747083"/>
                    </a:ext>
                  </a:extLst>
                </a:gridCol>
              </a:tblGrid>
              <a:tr h="589724">
                <a:tc>
                  <a:txBody>
                    <a:bodyPr/>
                    <a:lstStyle/>
                    <a:p>
                      <a:pPr algn="ctr" rtl="0">
                        <a:buNone/>
                      </a:pPr>
                      <a:r>
                        <a:rPr lang="zh-CN" altLang="en-US" sz="1800" b="1" dirty="0">
                          <a:solidFill>
                            <a:schemeClr val="bg1"/>
                          </a:solidFill>
                          <a:effectLst/>
                          <a:latin typeface="Google Sans Text"/>
                        </a:rPr>
                        <a:t>事件</a:t>
                      </a:r>
                      <a:endParaRPr lang="zh-CN" altLang="en-US" sz="1800" dirty="0">
                        <a:solidFill>
                          <a:schemeClr val="bg1"/>
                        </a:solidFill>
                        <a:effectLst/>
                        <a:latin typeface="Google Sans Text"/>
                      </a:endParaRPr>
                    </a:p>
                  </a:txBody>
                  <a:tcPr marL="68346" marR="68346" marT="91127" marB="91127"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990000"/>
                    </a:solidFill>
                  </a:tcPr>
                </a:tc>
                <a:tc>
                  <a:txBody>
                    <a:bodyPr/>
                    <a:lstStyle/>
                    <a:p>
                      <a:pPr algn="ctr" rtl="0">
                        <a:buNone/>
                      </a:pPr>
                      <a:r>
                        <a:rPr lang="en-US" sz="1800" b="0" kern="1200" dirty="0">
                          <a:solidFill>
                            <a:schemeClr val="bg1"/>
                          </a:solidFill>
                          <a:effectLst/>
                          <a:latin typeface="+mn-lt"/>
                          <a:ea typeface="+mj-ea"/>
                          <a:cs typeface="+mn-cs"/>
                        </a:rPr>
                        <a:t>WTI</a:t>
                      </a:r>
                      <a:r>
                        <a:rPr lang="zh-CN" altLang="en-US" sz="1800" b="1" dirty="0">
                          <a:solidFill>
                            <a:schemeClr val="bg1"/>
                          </a:solidFill>
                          <a:effectLst/>
                          <a:latin typeface="Google Sans Text"/>
                        </a:rPr>
                        <a:t>油价</a:t>
                      </a:r>
                      <a:r>
                        <a:rPr lang="zh-CN" altLang="en-US" sz="1800" b="1" kern="1200" dirty="0">
                          <a:solidFill>
                            <a:schemeClr val="bg1"/>
                          </a:solidFill>
                          <a:effectLst/>
                          <a:latin typeface="Google Sans Text"/>
                          <a:ea typeface="+mn-ea"/>
                          <a:cs typeface="+mn-cs"/>
                        </a:rPr>
                        <a:t>涨幅</a:t>
                      </a:r>
                    </a:p>
                  </a:txBody>
                  <a:tcPr marL="68346" marR="68346" marT="91127" marB="91127"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990000"/>
                    </a:solidFill>
                  </a:tcPr>
                </a:tc>
                <a:tc>
                  <a:txBody>
                    <a:bodyPr/>
                    <a:lstStyle/>
                    <a:p>
                      <a:pPr algn="ctr" rtl="0">
                        <a:buNone/>
                      </a:pPr>
                      <a:r>
                        <a:rPr lang="zh-CN" altLang="en-US" sz="1800" b="1" dirty="0">
                          <a:solidFill>
                            <a:schemeClr val="bg1"/>
                          </a:solidFill>
                          <a:effectLst/>
                          <a:latin typeface="Google Sans Text"/>
                        </a:rPr>
                        <a:t>美联储的政策应对</a:t>
                      </a:r>
                      <a:endParaRPr lang="zh-CN" altLang="en-US" sz="1800" dirty="0">
                        <a:solidFill>
                          <a:schemeClr val="bg1"/>
                        </a:solidFill>
                        <a:effectLst/>
                        <a:latin typeface="Google Sans Text"/>
                      </a:endParaRPr>
                    </a:p>
                  </a:txBody>
                  <a:tcPr marL="68346" marR="68346" marT="91127" marB="91127"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990000"/>
                    </a:solidFill>
                  </a:tcPr>
                </a:tc>
                <a:tc>
                  <a:txBody>
                    <a:bodyPr/>
                    <a:lstStyle/>
                    <a:p>
                      <a:pPr algn="ctr" rtl="0">
                        <a:buNone/>
                      </a:pPr>
                      <a:r>
                        <a:rPr lang="zh-CN" altLang="en-US" sz="1800" b="1" dirty="0">
                          <a:solidFill>
                            <a:schemeClr val="bg1"/>
                          </a:solidFill>
                          <a:effectLst/>
                          <a:latin typeface="Google Sans Text"/>
                        </a:rPr>
                        <a:t>冲突发生后的经济走势</a:t>
                      </a:r>
                      <a:endParaRPr lang="zh-CN" altLang="en-US" sz="1800" dirty="0">
                        <a:solidFill>
                          <a:schemeClr val="bg1"/>
                        </a:solidFill>
                        <a:effectLst/>
                        <a:latin typeface="Google Sans Text"/>
                      </a:endParaRPr>
                    </a:p>
                  </a:txBody>
                  <a:tcPr marL="68346" marR="68346" marT="91127" marB="91127"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990000"/>
                    </a:solidFill>
                  </a:tcPr>
                </a:tc>
                <a:tc>
                  <a:txBody>
                    <a:bodyPr/>
                    <a:lstStyle/>
                    <a:p>
                      <a:pPr algn="ctr" rtl="0">
                        <a:buNone/>
                      </a:pPr>
                      <a:r>
                        <a:rPr lang="zh-CN" altLang="en-US" sz="1800" b="1" dirty="0">
                          <a:solidFill>
                            <a:schemeClr val="bg1"/>
                          </a:solidFill>
                          <a:effectLst/>
                          <a:latin typeface="Google Sans Text"/>
                        </a:rPr>
                        <a:t>通胀预期是否失锚</a:t>
                      </a:r>
                      <a:endParaRPr lang="zh-CN" altLang="en-US" sz="1800" dirty="0">
                        <a:solidFill>
                          <a:schemeClr val="bg1"/>
                        </a:solidFill>
                        <a:effectLst/>
                        <a:latin typeface="Google Sans Text"/>
                      </a:endParaRPr>
                    </a:p>
                  </a:txBody>
                  <a:tcPr marL="68346" marR="68346" marT="91127" marB="91127"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4136929460"/>
                  </a:ext>
                </a:extLst>
              </a:tr>
              <a:tr h="688818">
                <a:tc>
                  <a:txBody>
                    <a:bodyPr/>
                    <a:lstStyle/>
                    <a:p>
                      <a:pPr algn="ctr" rtl="0">
                        <a:buNone/>
                      </a:pPr>
                      <a:r>
                        <a:rPr lang="zh-CN" altLang="en-US" sz="1800" b="0" dirty="0">
                          <a:solidFill>
                            <a:srgbClr val="1F1F1F"/>
                          </a:solidFill>
                          <a:effectLst/>
                          <a:latin typeface="+mj-ea"/>
                          <a:ea typeface="+mj-ea"/>
                        </a:rPr>
                        <a:t>第一次石油危机</a:t>
                      </a:r>
                      <a:endParaRPr lang="en-US" altLang="zh-CN" sz="1800" b="0" dirty="0">
                        <a:solidFill>
                          <a:srgbClr val="1F1F1F"/>
                        </a:solidFill>
                        <a:effectLst/>
                        <a:latin typeface="+mj-ea"/>
                        <a:ea typeface="+mj-ea"/>
                      </a:endParaRPr>
                    </a:p>
                    <a:p>
                      <a:pPr algn="ctr" rtl="0">
                        <a:buNone/>
                      </a:pPr>
                      <a:r>
                        <a:rPr lang="zh-CN" altLang="en-US" sz="1800" b="0" dirty="0">
                          <a:solidFill>
                            <a:srgbClr val="1F1F1F"/>
                          </a:solidFill>
                          <a:effectLst/>
                          <a:latin typeface="+mj-ea"/>
                          <a:ea typeface="+mj-ea"/>
                        </a:rPr>
                        <a:t> </a:t>
                      </a:r>
                      <a:r>
                        <a:rPr lang="en-US" altLang="zh-CN" sz="1800" b="0" kern="1200" dirty="0">
                          <a:solidFill>
                            <a:srgbClr val="1F1F1F"/>
                          </a:solidFill>
                          <a:effectLst/>
                          <a:latin typeface="+mn-lt"/>
                          <a:ea typeface="+mj-ea"/>
                          <a:cs typeface="+mn-cs"/>
                        </a:rPr>
                        <a:t>(1973-10-17)</a:t>
                      </a:r>
                    </a:p>
                  </a:txBody>
                  <a:tcPr marL="68346" marR="68346" marT="91127" marB="91127" anchor="ctr">
                    <a:lnL w="7620" cap="flat" cmpd="sng" algn="ctr">
                      <a:noFill/>
                      <a:prstDash val="solid"/>
                      <a:round/>
                      <a:headEnd type="none" w="med" len="med"/>
                      <a:tailEnd type="none" w="med" len="med"/>
                    </a:lnL>
                    <a:lnR w="12700" cap="flat" cmpd="sng" algn="ctr">
                      <a:noFill/>
                      <a:prstDash val="solid"/>
                      <a:round/>
                      <a:headEnd type="none" w="med" len="med"/>
                      <a:tailEnd type="none" w="med" len="med"/>
                    </a:lnR>
                    <a:lnT w="762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en-US" altLang="zh-CN" sz="1800" b="0" kern="1200" dirty="0">
                          <a:solidFill>
                            <a:srgbClr val="1F1F1F"/>
                          </a:solidFill>
                          <a:effectLst/>
                          <a:latin typeface="+mn-lt"/>
                          <a:ea typeface="+mj-ea"/>
                          <a:cs typeface="+mn-cs"/>
                        </a:rPr>
                        <a:t>214%</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762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zh-CN" altLang="en-US" sz="1800" b="0">
                          <a:solidFill>
                            <a:srgbClr val="1F1F1F"/>
                          </a:solidFill>
                          <a:effectLst/>
                          <a:latin typeface="+mj-ea"/>
                          <a:ea typeface="+mj-ea"/>
                        </a:rPr>
                        <a:t>缓慢加息</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762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zh-CN" altLang="en-US" sz="1800" b="0">
                          <a:solidFill>
                            <a:srgbClr val="1F1F1F"/>
                          </a:solidFill>
                          <a:effectLst/>
                          <a:latin typeface="+mj-ea"/>
                          <a:ea typeface="+mj-ea"/>
                        </a:rPr>
                        <a:t>滞胀式衰退</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762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zh-CN" altLang="en-US" sz="1800" b="0" dirty="0">
                          <a:solidFill>
                            <a:srgbClr val="1F1F1F"/>
                          </a:solidFill>
                          <a:effectLst/>
                          <a:latin typeface="+mj-ea"/>
                          <a:ea typeface="+mj-ea"/>
                        </a:rPr>
                        <a:t>是</a:t>
                      </a:r>
                    </a:p>
                  </a:txBody>
                  <a:tcPr marL="68346" marR="68346" marT="91127" marB="91127" anchor="ctr">
                    <a:lnL w="1270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300227956"/>
                  </a:ext>
                </a:extLst>
              </a:tr>
              <a:tr h="688818">
                <a:tc>
                  <a:txBody>
                    <a:bodyPr/>
                    <a:lstStyle/>
                    <a:p>
                      <a:pPr algn="ctr" rtl="0">
                        <a:buNone/>
                      </a:pPr>
                      <a:r>
                        <a:rPr lang="zh-CN" altLang="en-US" sz="1800" b="0" dirty="0">
                          <a:solidFill>
                            <a:srgbClr val="1F1F1F"/>
                          </a:solidFill>
                          <a:effectLst/>
                          <a:latin typeface="+mj-ea"/>
                          <a:ea typeface="+mj-ea"/>
                        </a:rPr>
                        <a:t>第二次石油危机 </a:t>
                      </a:r>
                      <a:endParaRPr lang="en-US" altLang="zh-CN" sz="1800" b="0" dirty="0">
                        <a:solidFill>
                          <a:srgbClr val="1F1F1F"/>
                        </a:solidFill>
                        <a:effectLst/>
                        <a:latin typeface="+mj-ea"/>
                        <a:ea typeface="+mj-ea"/>
                      </a:endParaRPr>
                    </a:p>
                    <a:p>
                      <a:pPr algn="ctr" rtl="0">
                        <a:buNone/>
                      </a:pPr>
                      <a:r>
                        <a:rPr lang="en-US" altLang="zh-CN" sz="1800" b="0" kern="1200" dirty="0">
                          <a:solidFill>
                            <a:srgbClr val="1F1F1F"/>
                          </a:solidFill>
                          <a:effectLst/>
                          <a:latin typeface="+mn-lt"/>
                          <a:ea typeface="+mj-ea"/>
                          <a:cs typeface="+mn-cs"/>
                        </a:rPr>
                        <a:t>(1979-01-16)</a:t>
                      </a:r>
                    </a:p>
                  </a:txBody>
                  <a:tcPr marL="68346" marR="68346" marT="91127" marB="91127" anchor="ctr">
                    <a:lnL w="762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en-US" altLang="zh-CN" sz="1800" b="0" kern="1200" dirty="0">
                          <a:solidFill>
                            <a:srgbClr val="1F1F1F"/>
                          </a:solidFill>
                          <a:effectLst/>
                          <a:latin typeface="+mn-lt"/>
                          <a:ea typeface="+mj-ea"/>
                          <a:cs typeface="+mn-cs"/>
                        </a:rPr>
                        <a:t>151%</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zh-CN" altLang="en-US" sz="1800" b="0" dirty="0">
                          <a:solidFill>
                            <a:srgbClr val="1F1F1F"/>
                          </a:solidFill>
                          <a:effectLst/>
                          <a:latin typeface="+mj-ea"/>
                          <a:ea typeface="+mj-ea"/>
                        </a:rPr>
                        <a:t>大幅加息（“沃尔克紧缩”）</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zh-CN" altLang="en-US" sz="1800" b="0" dirty="0">
                          <a:solidFill>
                            <a:srgbClr val="1F1F1F"/>
                          </a:solidFill>
                          <a:effectLst/>
                          <a:latin typeface="+mj-ea"/>
                          <a:ea typeface="+mj-ea"/>
                        </a:rPr>
                        <a:t>滞胀式衰退</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zh-CN" altLang="en-US" sz="1800" b="0" dirty="0">
                          <a:solidFill>
                            <a:srgbClr val="1F1F1F"/>
                          </a:solidFill>
                          <a:effectLst/>
                          <a:latin typeface="+mj-ea"/>
                          <a:ea typeface="+mj-ea"/>
                        </a:rPr>
                        <a:t>是</a:t>
                      </a:r>
                    </a:p>
                  </a:txBody>
                  <a:tcPr marL="68346" marR="68346" marT="91127" marB="91127" anchor="ctr">
                    <a:lnL w="12700" cap="flat" cmpd="sng" algn="ctr">
                      <a:noFill/>
                      <a:prstDash val="solid"/>
                      <a:round/>
                      <a:headEnd type="none" w="med" len="med"/>
                      <a:tailEnd type="none" w="med" len="med"/>
                    </a:lnL>
                    <a:lnR w="762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47916016"/>
                  </a:ext>
                </a:extLst>
              </a:tr>
              <a:tr h="688818">
                <a:tc>
                  <a:txBody>
                    <a:bodyPr/>
                    <a:lstStyle/>
                    <a:p>
                      <a:pPr algn="ctr" rtl="0">
                        <a:buNone/>
                      </a:pPr>
                      <a:r>
                        <a:rPr lang="zh-CN" altLang="en-US" sz="1800" b="0" dirty="0">
                          <a:solidFill>
                            <a:srgbClr val="1F1F1F"/>
                          </a:solidFill>
                          <a:effectLst/>
                          <a:latin typeface="+mj-ea"/>
                          <a:ea typeface="+mj-ea"/>
                        </a:rPr>
                        <a:t>海湾</a:t>
                      </a:r>
                      <a:r>
                        <a:rPr lang="zh-CN" altLang="en-US" sz="1800" b="0" kern="1200" dirty="0">
                          <a:solidFill>
                            <a:srgbClr val="1F1F1F"/>
                          </a:solidFill>
                          <a:effectLst/>
                          <a:latin typeface="+mj-lt"/>
                          <a:ea typeface="+mj-ea"/>
                          <a:cs typeface="+mn-cs"/>
                        </a:rPr>
                        <a:t>战争 </a:t>
                      </a:r>
                      <a:endParaRPr lang="en-US" altLang="zh-CN" sz="1800" b="0" kern="1200" dirty="0">
                        <a:solidFill>
                          <a:srgbClr val="1F1F1F"/>
                        </a:solidFill>
                        <a:effectLst/>
                        <a:latin typeface="+mj-lt"/>
                        <a:ea typeface="+mj-ea"/>
                        <a:cs typeface="+mn-cs"/>
                      </a:endParaRPr>
                    </a:p>
                    <a:p>
                      <a:pPr algn="ctr" rtl="0">
                        <a:buNone/>
                      </a:pPr>
                      <a:r>
                        <a:rPr lang="en-US" altLang="zh-CN" sz="1800" b="0" kern="1200" dirty="0">
                          <a:solidFill>
                            <a:srgbClr val="1F1F1F"/>
                          </a:solidFill>
                          <a:effectLst/>
                          <a:latin typeface="+mn-lt"/>
                          <a:ea typeface="+mj-ea"/>
                          <a:cs typeface="+mn-cs"/>
                        </a:rPr>
                        <a:t>(1990-08-02)</a:t>
                      </a:r>
                    </a:p>
                  </a:txBody>
                  <a:tcPr marL="68346" marR="68346" marT="91127" marB="91127" anchor="ctr">
                    <a:lnL w="762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en-US" altLang="zh-CN" sz="1800" b="0" kern="1200" dirty="0">
                          <a:solidFill>
                            <a:srgbClr val="1F1F1F"/>
                          </a:solidFill>
                          <a:effectLst/>
                          <a:latin typeface="+mn-lt"/>
                          <a:ea typeface="+mj-ea"/>
                          <a:cs typeface="+mn-cs"/>
                        </a:rPr>
                        <a:t>73%</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zh-CN" altLang="en-US" sz="1800" b="0" dirty="0">
                          <a:solidFill>
                            <a:srgbClr val="1F1F1F"/>
                          </a:solidFill>
                          <a:effectLst/>
                          <a:latin typeface="+mj-ea"/>
                          <a:ea typeface="+mj-ea"/>
                        </a:rPr>
                        <a:t>优先稳增长，</a:t>
                      </a:r>
                      <a:r>
                        <a:rPr lang="en-US" altLang="zh-CN" sz="1800" b="0" kern="1200" dirty="0">
                          <a:solidFill>
                            <a:srgbClr val="1F1F1F"/>
                          </a:solidFill>
                          <a:effectLst/>
                          <a:latin typeface="+mn-lt"/>
                          <a:ea typeface="+mj-ea"/>
                          <a:cs typeface="+mn-cs"/>
                        </a:rPr>
                        <a:t>1990</a:t>
                      </a:r>
                      <a:r>
                        <a:rPr lang="zh-CN" altLang="en-US" sz="1800" b="0" dirty="0">
                          <a:solidFill>
                            <a:srgbClr val="1F1F1F"/>
                          </a:solidFill>
                          <a:effectLst/>
                          <a:latin typeface="+mj-ea"/>
                          <a:ea typeface="+mj-ea"/>
                        </a:rPr>
                        <a:t>年</a:t>
                      </a:r>
                      <a:r>
                        <a:rPr lang="en-US" altLang="zh-CN" sz="1800" b="0" dirty="0">
                          <a:solidFill>
                            <a:srgbClr val="1F1F1F"/>
                          </a:solidFill>
                          <a:effectLst/>
                          <a:latin typeface="+mj-ea"/>
                          <a:ea typeface="+mj-ea"/>
                        </a:rPr>
                        <a:t>10</a:t>
                      </a:r>
                      <a:r>
                        <a:rPr lang="zh-CN" altLang="en-US" sz="1800" b="0" dirty="0">
                          <a:solidFill>
                            <a:srgbClr val="1F1F1F"/>
                          </a:solidFill>
                          <a:effectLst/>
                          <a:latin typeface="+mj-ea"/>
                          <a:ea typeface="+mj-ea"/>
                        </a:rPr>
                        <a:t>月起连续降息</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en-US" altLang="zh-CN" sz="1800" b="0" kern="1200" dirty="0">
                          <a:solidFill>
                            <a:srgbClr val="1F1F1F"/>
                          </a:solidFill>
                          <a:effectLst/>
                          <a:latin typeface="+mn-lt"/>
                          <a:ea typeface="+mj-ea"/>
                          <a:cs typeface="+mn-cs"/>
                        </a:rPr>
                        <a:t>1990</a:t>
                      </a:r>
                      <a:r>
                        <a:rPr lang="zh-CN" altLang="en-US" sz="1800" b="0" kern="1200" dirty="0">
                          <a:solidFill>
                            <a:srgbClr val="1F1F1F"/>
                          </a:solidFill>
                          <a:effectLst/>
                          <a:latin typeface="+mn-lt"/>
                          <a:ea typeface="+mj-ea"/>
                          <a:cs typeface="+mn-cs"/>
                        </a:rPr>
                        <a:t>年</a:t>
                      </a:r>
                      <a:r>
                        <a:rPr lang="en-US" altLang="zh-CN" sz="1800" b="0" kern="1200" dirty="0">
                          <a:solidFill>
                            <a:srgbClr val="1F1F1F"/>
                          </a:solidFill>
                          <a:effectLst/>
                          <a:latin typeface="+mn-lt"/>
                          <a:ea typeface="+mj-ea"/>
                          <a:cs typeface="+mn-cs"/>
                        </a:rPr>
                        <a:t>7</a:t>
                      </a:r>
                      <a:r>
                        <a:rPr lang="zh-CN" altLang="en-US" sz="1800" b="0" dirty="0">
                          <a:solidFill>
                            <a:srgbClr val="1F1F1F"/>
                          </a:solidFill>
                          <a:effectLst/>
                          <a:latin typeface="+mj-ea"/>
                          <a:ea typeface="+mj-ea"/>
                        </a:rPr>
                        <a:t>月衰退，</a:t>
                      </a:r>
                      <a:r>
                        <a:rPr lang="en-US" altLang="zh-CN" sz="1800" b="0" kern="1200" dirty="0">
                          <a:solidFill>
                            <a:srgbClr val="1F1F1F"/>
                          </a:solidFill>
                          <a:effectLst/>
                          <a:latin typeface="+mn-lt"/>
                          <a:ea typeface="+mj-ea"/>
                          <a:cs typeface="+mn-cs"/>
                        </a:rPr>
                        <a:t>8</a:t>
                      </a:r>
                      <a:r>
                        <a:rPr lang="zh-CN" altLang="en-US" sz="1800" b="0" dirty="0">
                          <a:solidFill>
                            <a:srgbClr val="1F1F1F"/>
                          </a:solidFill>
                          <a:effectLst/>
                          <a:latin typeface="+mj-ea"/>
                          <a:ea typeface="+mj-ea"/>
                        </a:rPr>
                        <a:t>个月后走出衰退</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zh-CN" altLang="en-US" sz="1800" b="0" dirty="0">
                          <a:solidFill>
                            <a:srgbClr val="1F1F1F"/>
                          </a:solidFill>
                          <a:effectLst/>
                          <a:latin typeface="+mj-ea"/>
                          <a:ea typeface="+mj-ea"/>
                        </a:rPr>
                        <a:t>否</a:t>
                      </a:r>
                    </a:p>
                  </a:txBody>
                  <a:tcPr marL="68346" marR="68346" marT="91127" marB="91127" anchor="ctr">
                    <a:lnL w="12700" cap="flat" cmpd="sng" algn="ctr">
                      <a:noFill/>
                      <a:prstDash val="solid"/>
                      <a:round/>
                      <a:headEnd type="none" w="med" len="med"/>
                      <a:tailEnd type="none" w="med" len="med"/>
                    </a:lnL>
                    <a:lnR w="762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37033368"/>
                  </a:ext>
                </a:extLst>
              </a:tr>
              <a:tr h="688818">
                <a:tc>
                  <a:txBody>
                    <a:bodyPr/>
                    <a:lstStyle/>
                    <a:p>
                      <a:pPr algn="ctr" rtl="0">
                        <a:buNone/>
                      </a:pPr>
                      <a:r>
                        <a:rPr lang="zh-CN" altLang="en-US" sz="1800" b="0" dirty="0">
                          <a:solidFill>
                            <a:srgbClr val="1F1F1F"/>
                          </a:solidFill>
                          <a:effectLst/>
                          <a:latin typeface="+mj-ea"/>
                          <a:ea typeface="+mj-ea"/>
                        </a:rPr>
                        <a:t>伊拉克</a:t>
                      </a:r>
                      <a:r>
                        <a:rPr lang="zh-CN" altLang="en-US" sz="1800" b="0" kern="1200" dirty="0">
                          <a:solidFill>
                            <a:srgbClr val="1F1F1F"/>
                          </a:solidFill>
                          <a:effectLst/>
                          <a:latin typeface="+mj-lt"/>
                          <a:ea typeface="+mj-ea"/>
                          <a:cs typeface="+mn-cs"/>
                        </a:rPr>
                        <a:t>战争</a:t>
                      </a:r>
                      <a:endParaRPr lang="en-US" altLang="zh-CN" sz="1800" b="0" kern="1200" dirty="0">
                        <a:solidFill>
                          <a:srgbClr val="1F1F1F"/>
                        </a:solidFill>
                        <a:effectLst/>
                        <a:latin typeface="+mj-lt"/>
                        <a:ea typeface="+mj-ea"/>
                        <a:cs typeface="+mn-cs"/>
                      </a:endParaRPr>
                    </a:p>
                    <a:p>
                      <a:pPr algn="ctr" rtl="0">
                        <a:buNone/>
                      </a:pPr>
                      <a:r>
                        <a:rPr lang="zh-CN" altLang="en-US" sz="1800" b="0" kern="1200" dirty="0">
                          <a:solidFill>
                            <a:srgbClr val="1F1F1F"/>
                          </a:solidFill>
                          <a:effectLst/>
                          <a:latin typeface="+mn-lt"/>
                          <a:ea typeface="+mj-ea"/>
                          <a:cs typeface="+mn-cs"/>
                        </a:rPr>
                        <a:t> </a:t>
                      </a:r>
                      <a:r>
                        <a:rPr lang="en-US" altLang="zh-CN" sz="1800" b="0" kern="1200" dirty="0">
                          <a:solidFill>
                            <a:srgbClr val="1F1F1F"/>
                          </a:solidFill>
                          <a:effectLst/>
                          <a:latin typeface="+mn-lt"/>
                          <a:ea typeface="+mj-ea"/>
                          <a:cs typeface="+mn-cs"/>
                        </a:rPr>
                        <a:t>(2003-03-20)</a:t>
                      </a:r>
                    </a:p>
                  </a:txBody>
                  <a:tcPr marL="68346" marR="68346" marT="91127" marB="91127" anchor="ctr">
                    <a:lnL w="762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en-US" altLang="zh-CN" sz="1800" b="0" kern="1200" dirty="0">
                          <a:solidFill>
                            <a:srgbClr val="1F1F1F"/>
                          </a:solidFill>
                          <a:effectLst/>
                          <a:latin typeface="+mn-lt"/>
                          <a:ea typeface="+mj-ea"/>
                          <a:cs typeface="+mn-cs"/>
                        </a:rPr>
                        <a:t>169%</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zh-CN" altLang="en-US" sz="1800" b="0" dirty="0">
                          <a:solidFill>
                            <a:srgbClr val="1F1F1F"/>
                          </a:solidFill>
                          <a:effectLst/>
                          <a:latin typeface="+mj-ea"/>
                          <a:ea typeface="+mj-ea"/>
                        </a:rPr>
                        <a:t>仅</a:t>
                      </a:r>
                      <a:r>
                        <a:rPr lang="en-US" altLang="zh-CN" sz="1800" b="0" kern="1200" dirty="0">
                          <a:solidFill>
                            <a:srgbClr val="1F1F1F"/>
                          </a:solidFill>
                          <a:effectLst/>
                          <a:latin typeface="+mn-lt"/>
                          <a:ea typeface="+mj-ea"/>
                          <a:cs typeface="+mn-cs"/>
                        </a:rPr>
                        <a:t>2003</a:t>
                      </a:r>
                      <a:r>
                        <a:rPr lang="zh-CN" altLang="en-US" sz="1800" b="0" dirty="0">
                          <a:solidFill>
                            <a:srgbClr val="1F1F1F"/>
                          </a:solidFill>
                          <a:effectLst/>
                          <a:latin typeface="+mj-ea"/>
                          <a:ea typeface="+mj-ea"/>
                        </a:rPr>
                        <a:t>年</a:t>
                      </a:r>
                      <a:r>
                        <a:rPr lang="en-US" altLang="zh-CN" sz="1800" b="0" kern="1200" dirty="0">
                          <a:solidFill>
                            <a:srgbClr val="1F1F1F"/>
                          </a:solidFill>
                          <a:effectLst/>
                          <a:latin typeface="+mn-lt"/>
                          <a:ea typeface="+mj-ea"/>
                          <a:cs typeface="+mn-cs"/>
                        </a:rPr>
                        <a:t>6</a:t>
                      </a:r>
                      <a:r>
                        <a:rPr lang="zh-CN" altLang="en-US" sz="1800" b="0" dirty="0">
                          <a:solidFill>
                            <a:srgbClr val="1F1F1F"/>
                          </a:solidFill>
                          <a:effectLst/>
                          <a:latin typeface="+mj-ea"/>
                          <a:ea typeface="+mj-ea"/>
                        </a:rPr>
                        <a:t>月降息一次</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zh-CN" altLang="en-US" sz="1800" b="0" dirty="0">
                          <a:solidFill>
                            <a:srgbClr val="1F1F1F"/>
                          </a:solidFill>
                          <a:effectLst/>
                          <a:latin typeface="+mj-ea"/>
                          <a:ea typeface="+mj-ea"/>
                        </a:rPr>
                        <a:t>经济扩张</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zh-CN" altLang="en-US" sz="1800" b="0" dirty="0">
                          <a:solidFill>
                            <a:srgbClr val="1F1F1F"/>
                          </a:solidFill>
                          <a:effectLst/>
                          <a:latin typeface="+mj-ea"/>
                          <a:ea typeface="+mj-ea"/>
                        </a:rPr>
                        <a:t>否</a:t>
                      </a:r>
                    </a:p>
                  </a:txBody>
                  <a:tcPr marL="68346" marR="68346" marT="91127" marB="91127" anchor="ctr">
                    <a:lnL w="12700" cap="flat" cmpd="sng" algn="ctr">
                      <a:noFill/>
                      <a:prstDash val="solid"/>
                      <a:round/>
                      <a:headEnd type="none" w="med" len="med"/>
                      <a:tailEnd type="none" w="med" len="med"/>
                    </a:lnL>
                    <a:lnR w="762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72280083"/>
                  </a:ext>
                </a:extLst>
              </a:tr>
              <a:tr h="688818">
                <a:tc>
                  <a:txBody>
                    <a:bodyPr/>
                    <a:lstStyle/>
                    <a:p>
                      <a:pPr algn="ctr" rtl="0">
                        <a:buNone/>
                      </a:pPr>
                      <a:r>
                        <a:rPr lang="zh-CN" altLang="en-US" sz="1800" b="0" dirty="0">
                          <a:solidFill>
                            <a:srgbClr val="1F1F1F"/>
                          </a:solidFill>
                          <a:effectLst/>
                          <a:latin typeface="+mj-ea"/>
                          <a:ea typeface="+mj-ea"/>
                        </a:rPr>
                        <a:t>阿拉伯之春 </a:t>
                      </a:r>
                      <a:endParaRPr lang="en-US" altLang="zh-CN" sz="1800" b="0" dirty="0">
                        <a:solidFill>
                          <a:srgbClr val="1F1F1F"/>
                        </a:solidFill>
                        <a:effectLst/>
                        <a:latin typeface="+mj-ea"/>
                        <a:ea typeface="+mj-ea"/>
                      </a:endParaRPr>
                    </a:p>
                    <a:p>
                      <a:pPr algn="ctr" rtl="0">
                        <a:buNone/>
                      </a:pPr>
                      <a:r>
                        <a:rPr lang="en-US" altLang="zh-CN" sz="1800" b="0" kern="1200" dirty="0">
                          <a:solidFill>
                            <a:srgbClr val="1F1F1F"/>
                          </a:solidFill>
                          <a:effectLst/>
                          <a:latin typeface="+mn-lt"/>
                          <a:ea typeface="+mj-ea"/>
                          <a:cs typeface="+mn-cs"/>
                        </a:rPr>
                        <a:t>(2011-02-15)</a:t>
                      </a:r>
                    </a:p>
                  </a:txBody>
                  <a:tcPr marL="68346" marR="68346" marT="91127" marB="91127" anchor="ctr">
                    <a:lnL w="762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en-US" altLang="zh-CN" sz="1800" b="0" kern="1200" dirty="0">
                          <a:solidFill>
                            <a:srgbClr val="1F1F1F"/>
                          </a:solidFill>
                          <a:effectLst/>
                          <a:latin typeface="+mn-lt"/>
                          <a:ea typeface="+mj-ea"/>
                          <a:cs typeface="+mn-cs"/>
                        </a:rPr>
                        <a:t>36%</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zh-CN" altLang="en-US" sz="1800" b="0" dirty="0">
                          <a:solidFill>
                            <a:srgbClr val="1F1F1F"/>
                          </a:solidFill>
                          <a:effectLst/>
                          <a:latin typeface="+mj-ea"/>
                          <a:ea typeface="+mj-ea"/>
                        </a:rPr>
                        <a:t>暂不理会</a:t>
                      </a:r>
                      <a:r>
                        <a:rPr lang="en-US" sz="1800" b="0" dirty="0">
                          <a:solidFill>
                            <a:srgbClr val="1F1F1F"/>
                          </a:solidFill>
                          <a:effectLst/>
                          <a:latin typeface="+mj-ea"/>
                          <a:ea typeface="+mj-ea"/>
                        </a:rPr>
                        <a:t>（</a:t>
                      </a:r>
                      <a:r>
                        <a:rPr lang="zh-CN" altLang="en-US" sz="1800" b="0" dirty="0">
                          <a:solidFill>
                            <a:srgbClr val="1F1F1F"/>
                          </a:solidFill>
                          <a:effectLst/>
                          <a:latin typeface="+mj-ea"/>
                          <a:ea typeface="+mj-ea"/>
                        </a:rPr>
                        <a:t>忽略短期波动）</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zh-CN" altLang="en-US" sz="1800" b="0">
                          <a:solidFill>
                            <a:srgbClr val="1F1F1F"/>
                          </a:solidFill>
                          <a:effectLst/>
                          <a:latin typeface="+mj-ea"/>
                          <a:ea typeface="+mj-ea"/>
                        </a:rPr>
                        <a:t>复苏期小幅扰动</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a:buNone/>
                      </a:pPr>
                      <a:r>
                        <a:rPr lang="zh-CN" altLang="en-US" sz="1800" b="0" dirty="0">
                          <a:solidFill>
                            <a:srgbClr val="1F1F1F"/>
                          </a:solidFill>
                          <a:effectLst/>
                          <a:latin typeface="+mj-ea"/>
                          <a:ea typeface="+mj-ea"/>
                        </a:rPr>
                        <a:t>否</a:t>
                      </a:r>
                    </a:p>
                  </a:txBody>
                  <a:tcPr marL="68346" marR="68346" marT="91127" marB="91127" anchor="ctr">
                    <a:lnL w="12700" cap="flat" cmpd="sng" algn="ctr">
                      <a:noFill/>
                      <a:prstDash val="solid"/>
                      <a:round/>
                      <a:headEnd type="none" w="med" len="med"/>
                      <a:tailEnd type="none" w="med" len="med"/>
                    </a:lnL>
                    <a:lnR w="762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118133029"/>
                  </a:ext>
                </a:extLst>
              </a:tr>
              <a:tr h="751463">
                <a:tc>
                  <a:txBody>
                    <a:bodyPr/>
                    <a:lstStyle/>
                    <a:p>
                      <a:pPr algn="ctr" rtl="0">
                        <a:buNone/>
                      </a:pPr>
                      <a:r>
                        <a:rPr lang="zh-CN" altLang="en-US" sz="1800" b="0" dirty="0">
                          <a:solidFill>
                            <a:srgbClr val="1F1F1F"/>
                          </a:solidFill>
                          <a:effectLst/>
                          <a:latin typeface="+mj-ea"/>
                          <a:ea typeface="+mj-ea"/>
                        </a:rPr>
                        <a:t>俄乌冲突 </a:t>
                      </a:r>
                      <a:endParaRPr lang="en-US" altLang="zh-CN" sz="1800" b="0" dirty="0">
                        <a:solidFill>
                          <a:srgbClr val="1F1F1F"/>
                        </a:solidFill>
                        <a:effectLst/>
                        <a:latin typeface="+mj-ea"/>
                        <a:ea typeface="+mj-ea"/>
                      </a:endParaRPr>
                    </a:p>
                    <a:p>
                      <a:pPr algn="ctr" rtl="0">
                        <a:buNone/>
                      </a:pPr>
                      <a:r>
                        <a:rPr lang="en-US" altLang="zh-CN" sz="1800" b="0" kern="1200" dirty="0">
                          <a:solidFill>
                            <a:srgbClr val="1F1F1F"/>
                          </a:solidFill>
                          <a:effectLst/>
                          <a:latin typeface="+mn-lt"/>
                          <a:ea typeface="+mj-ea"/>
                          <a:cs typeface="+mn-cs"/>
                        </a:rPr>
                        <a:t>(2022-02-24)</a:t>
                      </a:r>
                    </a:p>
                  </a:txBody>
                  <a:tcPr marL="68346" marR="68346" marT="91127" marB="91127" anchor="ctr">
                    <a:lnL w="762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en-US" altLang="zh-CN" sz="1800" b="0" kern="1200" dirty="0">
                          <a:solidFill>
                            <a:srgbClr val="1F1F1F"/>
                          </a:solidFill>
                          <a:effectLst/>
                          <a:latin typeface="+mn-lt"/>
                          <a:ea typeface="+mj-ea"/>
                          <a:cs typeface="+mn-cs"/>
                        </a:rPr>
                        <a:t>33%</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zh-CN" altLang="en-US" sz="1800" b="0" dirty="0">
                          <a:solidFill>
                            <a:srgbClr val="1F1F1F"/>
                          </a:solidFill>
                          <a:effectLst/>
                          <a:latin typeface="+mj-ea"/>
                          <a:ea typeface="+mj-ea"/>
                        </a:rPr>
                        <a:t>前期观望，</a:t>
                      </a:r>
                      <a:r>
                        <a:rPr lang="en-US" altLang="zh-CN" sz="1800" b="0" kern="1200" dirty="0">
                          <a:solidFill>
                            <a:srgbClr val="1F1F1F"/>
                          </a:solidFill>
                          <a:effectLst/>
                          <a:latin typeface="+mn-lt"/>
                          <a:ea typeface="+mj-ea"/>
                          <a:cs typeface="+mn-cs"/>
                        </a:rPr>
                        <a:t>2022</a:t>
                      </a:r>
                      <a:r>
                        <a:rPr lang="zh-CN" altLang="en-US" sz="1800" b="0" dirty="0">
                          <a:solidFill>
                            <a:srgbClr val="1F1F1F"/>
                          </a:solidFill>
                          <a:effectLst/>
                          <a:latin typeface="+mj-ea"/>
                          <a:ea typeface="+mj-ea"/>
                        </a:rPr>
                        <a:t>年</a:t>
                      </a:r>
                      <a:r>
                        <a:rPr lang="en-US" altLang="zh-CN" sz="1800" b="0" kern="1200" dirty="0">
                          <a:solidFill>
                            <a:srgbClr val="1F1F1F"/>
                          </a:solidFill>
                          <a:effectLst/>
                          <a:latin typeface="+mn-lt"/>
                          <a:ea typeface="+mj-ea"/>
                          <a:cs typeface="+mn-cs"/>
                        </a:rPr>
                        <a:t>3</a:t>
                      </a:r>
                      <a:r>
                        <a:rPr lang="zh-CN" altLang="en-US" sz="1800" b="0" dirty="0">
                          <a:solidFill>
                            <a:srgbClr val="1F1F1F"/>
                          </a:solidFill>
                          <a:effectLst/>
                          <a:latin typeface="+mj-ea"/>
                          <a:ea typeface="+mj-ea"/>
                        </a:rPr>
                        <a:t>月开始连续激进加息</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zh-CN" altLang="en-US" sz="1800" b="0" dirty="0">
                          <a:solidFill>
                            <a:srgbClr val="1F1F1F"/>
                          </a:solidFill>
                          <a:effectLst/>
                          <a:latin typeface="+mj-ea"/>
                          <a:ea typeface="+mj-ea"/>
                        </a:rPr>
                        <a:t>软着陆</a:t>
                      </a:r>
                    </a:p>
                  </a:txBody>
                  <a:tcPr marL="68346" marR="68346" marT="91127" marB="9112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buNone/>
                      </a:pPr>
                      <a:r>
                        <a:rPr lang="zh-CN" altLang="en-US" sz="1800" b="0" dirty="0">
                          <a:solidFill>
                            <a:srgbClr val="1F1F1F"/>
                          </a:solidFill>
                          <a:effectLst/>
                          <a:latin typeface="+mj-ea"/>
                          <a:ea typeface="+mj-ea"/>
                        </a:rPr>
                        <a:t>否</a:t>
                      </a:r>
                    </a:p>
                  </a:txBody>
                  <a:tcPr marL="68346" marR="68346" marT="91127" marB="91127" anchor="ctr">
                    <a:lnL w="12700" cap="flat" cmpd="sng" algn="ctr">
                      <a:noFill/>
                      <a:prstDash val="solid"/>
                      <a:round/>
                      <a:headEnd type="none" w="med" len="med"/>
                      <a:tailEnd type="none" w="med" len="med"/>
                    </a:lnL>
                    <a:lnR w="7620" cap="flat" cmpd="sng" algn="ctr">
                      <a:noFill/>
                      <a:prstDash val="solid"/>
                      <a:round/>
                      <a:headEnd type="none" w="med" len="med"/>
                      <a:tailEnd type="none" w="med" len="med"/>
                    </a:lnR>
                    <a:lnT w="1270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74046267"/>
                  </a:ext>
                </a:extLst>
              </a:tr>
            </a:tbl>
          </a:graphicData>
        </a:graphic>
      </p:graphicFrame>
      <p:sp>
        <p:nvSpPr>
          <p:cNvPr id="4" name="页脚占位符 10">
            <a:extLst>
              <a:ext uri="{FF2B5EF4-FFF2-40B4-BE49-F238E27FC236}">
                <a16:creationId xmlns:a16="http://schemas.microsoft.com/office/drawing/2014/main" id="{DF1145E1-41B1-CBDC-FAEA-C5FC10321C33}"/>
              </a:ext>
            </a:extLst>
          </p:cNvPr>
          <p:cNvSpPr>
            <a:spLocks noGrp="1"/>
          </p:cNvSpPr>
          <p:nvPr>
            <p:ph type="ftr" sz="quarter" idx="11"/>
          </p:nvPr>
        </p:nvSpPr>
        <p:spPr>
          <a:xfrm>
            <a:off x="3921759" y="6403340"/>
            <a:ext cx="4688841" cy="365125"/>
          </a:xfrm>
        </p:spPr>
        <p:txBody>
          <a:bodyPr/>
          <a:lstStyle/>
          <a:p>
            <a:r>
              <a:rPr lang="zh-CN" altLang="en-US" dirty="0"/>
              <a:t>数据来源：</a:t>
            </a:r>
            <a:r>
              <a:rPr lang="en-US" altLang="zh-CN" dirty="0"/>
              <a:t>Wind</a:t>
            </a:r>
            <a:r>
              <a:rPr lang="zh-CN" altLang="en-US" dirty="0"/>
              <a:t>，中金研究所</a:t>
            </a:r>
          </a:p>
        </p:txBody>
      </p:sp>
    </p:spTree>
    <p:extLst>
      <p:ext uri="{BB962C8B-B14F-4D97-AF65-F5344CB8AC3E}">
        <p14:creationId xmlns:p14="http://schemas.microsoft.com/office/powerpoint/2010/main" val="2013171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7E730-0770-7E48-BDA6-3429E163ECC8}"/>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32119AF1-6F41-6456-AA51-29608AC823BB}"/>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A764D4C5-B519-3A4B-FA0D-559266490671}"/>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FC71FB41-194D-F519-B69A-7D90724A2CB6}"/>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F5473232-5972-C2C4-C638-8CB3E85AC082}"/>
              </a:ext>
            </a:extLst>
          </p:cNvPr>
          <p:cNvSpPr>
            <a:spLocks noGrp="1"/>
          </p:cNvSpPr>
          <p:nvPr>
            <p:ph type="sldNum" sz="quarter" idx="12"/>
          </p:nvPr>
        </p:nvSpPr>
        <p:spPr/>
        <p:txBody>
          <a:bodyPr/>
          <a:lstStyle/>
          <a:p>
            <a:fld id="{BAEB1E39-14EE-405C-B1D8-764466B19623}" type="slidenum">
              <a:rPr lang="zh-CN" altLang="en-US" smtClean="0"/>
              <a:t>13</a:t>
            </a:fld>
            <a:endParaRPr lang="zh-CN" altLang="en-US"/>
          </a:p>
        </p:txBody>
      </p:sp>
      <p:sp>
        <p:nvSpPr>
          <p:cNvPr id="3" name="Title 1">
            <a:extLst>
              <a:ext uri="{FF2B5EF4-FFF2-40B4-BE49-F238E27FC236}">
                <a16:creationId xmlns:a16="http://schemas.microsoft.com/office/drawing/2014/main" id="{9342C12C-E408-EE76-2184-550439E714FC}"/>
              </a:ext>
            </a:extLst>
          </p:cNvPr>
          <p:cNvSpPr txBox="1">
            <a:spLocks/>
          </p:cNvSpPr>
          <p:nvPr/>
        </p:nvSpPr>
        <p:spPr>
          <a:xfrm>
            <a:off x="-272526" y="0"/>
            <a:ext cx="8756126"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二次效应有限</a:t>
            </a:r>
          </a:p>
        </p:txBody>
      </p:sp>
      <p:sp>
        <p:nvSpPr>
          <p:cNvPr id="4" name="文本框 3">
            <a:extLst>
              <a:ext uri="{FF2B5EF4-FFF2-40B4-BE49-F238E27FC236}">
                <a16:creationId xmlns:a16="http://schemas.microsoft.com/office/drawing/2014/main" id="{99DA1DFF-7985-446B-BC1F-8CD4FF2DEE31}"/>
              </a:ext>
            </a:extLst>
          </p:cNvPr>
          <p:cNvSpPr txBox="1"/>
          <p:nvPr/>
        </p:nvSpPr>
        <p:spPr>
          <a:xfrm>
            <a:off x="155752" y="949847"/>
            <a:ext cx="6332818" cy="6324808"/>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b="0" i="0" dirty="0">
                <a:solidFill>
                  <a:srgbClr val="3E3E3E"/>
                </a:solidFill>
                <a:effectLst/>
                <a:latin typeface="PingFang SC"/>
              </a:rPr>
              <a:t>油价上升导致消费者篮子中的能源品价格上升，是一次效应。二次效应则是在一次效应之外，油价变动导致非能源商品、服务和工资等核心价格上升。</a:t>
            </a:r>
            <a:endParaRPr lang="en-US" altLang="zh-CN" b="0" i="0" dirty="0">
              <a:solidFill>
                <a:srgbClr val="3E3E3E"/>
              </a:solidFill>
              <a:effectLst/>
              <a:latin typeface="PingFang SC"/>
            </a:endParaRPr>
          </a:p>
          <a:p>
            <a:pPr marL="285750" indent="-285750" algn="just">
              <a:lnSpc>
                <a:spcPct val="150000"/>
              </a:lnSpc>
              <a:buFont typeface="Wingdings" panose="05000000000000000000" pitchFamily="2" charset="2"/>
              <a:buChar char="Ø"/>
            </a:pPr>
            <a:r>
              <a:rPr lang="zh-CN" altLang="en-US" dirty="0">
                <a:solidFill>
                  <a:srgbClr val="3E3E3E"/>
                </a:solidFill>
                <a:latin typeface="PingFang SC"/>
              </a:rPr>
              <a:t>“沃尔克紧缩”成功确立了央行抑制通胀的信誉与政策决心，使通胀预期得以有效锚定。</a:t>
            </a:r>
            <a:r>
              <a:rPr lang="zh-CN" altLang="en-US" dirty="0"/>
              <a:t>央行强化前瞻性指引与沟通机制，预期管理在货币政策框架中的作用显著提升。</a:t>
            </a:r>
            <a:r>
              <a:rPr lang="en-US" altLang="zh-CN" dirty="0"/>
              <a:t>IMF 2022</a:t>
            </a:r>
            <a:r>
              <a:rPr lang="zh-CN" altLang="en-US" dirty="0"/>
              <a:t>年</a:t>
            </a:r>
            <a:r>
              <a:rPr lang="zh-CN" altLang="en-US" dirty="0">
                <a:solidFill>
                  <a:srgbClr val="3E3E3E"/>
                </a:solidFill>
                <a:latin typeface="PingFang SC"/>
              </a:rPr>
              <a:t>工作论文：央行独立性越高，二次效应越弱，是抑制传导的核心制度变量。</a:t>
            </a:r>
            <a:endParaRPr lang="en-US" altLang="zh-CN" dirty="0">
              <a:solidFill>
                <a:srgbClr val="3E3E3E"/>
              </a:solidFill>
              <a:latin typeface="PingFang SC"/>
            </a:endParaRPr>
          </a:p>
          <a:p>
            <a:pPr marL="285750" indent="-285750" algn="just">
              <a:lnSpc>
                <a:spcPct val="150000"/>
              </a:lnSpc>
              <a:buFont typeface="Wingdings" panose="05000000000000000000" pitchFamily="2" charset="2"/>
              <a:buChar char="Ø"/>
            </a:pPr>
            <a:r>
              <a:rPr lang="en-US" altLang="zh-CN" dirty="0"/>
              <a:t>BIS 2023</a:t>
            </a:r>
            <a:r>
              <a:rPr lang="zh-CN" altLang="en-US" dirty="0"/>
              <a:t>年的一篇工作论文指出</a:t>
            </a:r>
            <a:r>
              <a:rPr lang="en-US" altLang="zh-CN" dirty="0"/>
              <a:t>:</a:t>
            </a:r>
          </a:p>
          <a:p>
            <a:pPr marL="285750" indent="-285750" algn="just">
              <a:lnSpc>
                <a:spcPct val="150000"/>
              </a:lnSpc>
              <a:buFont typeface="Arial" panose="020B0604020202020204" pitchFamily="34" charset="0"/>
              <a:buChar char="•"/>
            </a:pPr>
            <a:r>
              <a:rPr lang="zh-CN" altLang="en-US" dirty="0">
                <a:solidFill>
                  <a:srgbClr val="3E3E3E"/>
                </a:solidFill>
                <a:latin typeface="PingFang SC"/>
              </a:rPr>
              <a:t>大缓和时代，通胀长期低且稳定，成为结构性常态；</a:t>
            </a:r>
            <a:endParaRPr lang="en-US" altLang="zh-CN" dirty="0">
              <a:solidFill>
                <a:srgbClr val="3E3E3E"/>
              </a:solidFill>
              <a:latin typeface="PingFang SC"/>
            </a:endParaRPr>
          </a:p>
          <a:p>
            <a:pPr marL="285750" indent="-285750" algn="just">
              <a:lnSpc>
                <a:spcPct val="150000"/>
              </a:lnSpc>
              <a:buFont typeface="Arial" panose="020B0604020202020204" pitchFamily="34" charset="0"/>
              <a:buChar char="•"/>
            </a:pPr>
            <a:r>
              <a:rPr lang="zh-CN" altLang="en-US" dirty="0"/>
              <a:t>低通胀区制下，企业价格调整意原极低、价格刚性极强；菲利普斯曲线趋于平坦，工资对价格冲击的响应减弱，抑制了“工资</a:t>
            </a:r>
            <a:r>
              <a:rPr lang="en-US" altLang="zh-CN" dirty="0"/>
              <a:t>-</a:t>
            </a:r>
            <a:r>
              <a:rPr lang="zh-CN" altLang="en-US" dirty="0"/>
              <a:t>通胀”螺旋的形成。</a:t>
            </a:r>
            <a:endParaRPr lang="en-US" altLang="zh-CN" dirty="0"/>
          </a:p>
          <a:p>
            <a:pPr marL="285750" indent="-285750">
              <a:buFont typeface="Wingdings" panose="05000000000000000000" pitchFamily="2" charset="2"/>
              <a:buChar char="Ø"/>
            </a:pPr>
            <a:endParaRPr lang="en-US" altLang="zh-CN" dirty="0"/>
          </a:p>
          <a:p>
            <a:endParaRPr lang="en-US" altLang="zh-CN" dirty="0"/>
          </a:p>
          <a:p>
            <a:endParaRPr lang="en-US" altLang="zh-CN" dirty="0"/>
          </a:p>
        </p:txBody>
      </p:sp>
      <p:pic>
        <p:nvPicPr>
          <p:cNvPr id="8" name="图片 7">
            <a:extLst>
              <a:ext uri="{FF2B5EF4-FFF2-40B4-BE49-F238E27FC236}">
                <a16:creationId xmlns:a16="http://schemas.microsoft.com/office/drawing/2014/main" id="{F056DB7D-1DD4-ACCB-0FDD-BAECEB45B191}"/>
              </a:ext>
            </a:extLst>
          </p:cNvPr>
          <p:cNvPicPr>
            <a:picLocks noChangeAspect="1"/>
          </p:cNvPicPr>
          <p:nvPr/>
        </p:nvPicPr>
        <p:blipFill>
          <a:blip r:embed="rId3"/>
          <a:srcRect l="6297" t="11110" r="7433" b="4756"/>
          <a:stretch>
            <a:fillRect/>
          </a:stretch>
        </p:blipFill>
        <p:spPr>
          <a:xfrm>
            <a:off x="6825006" y="3735658"/>
            <a:ext cx="4955223" cy="2479267"/>
          </a:xfrm>
          <a:prstGeom prst="rect">
            <a:avLst/>
          </a:prstGeom>
        </p:spPr>
      </p:pic>
      <p:sp>
        <p:nvSpPr>
          <p:cNvPr id="9" name="文本框 8">
            <a:extLst>
              <a:ext uri="{FF2B5EF4-FFF2-40B4-BE49-F238E27FC236}">
                <a16:creationId xmlns:a16="http://schemas.microsoft.com/office/drawing/2014/main" id="{DD2A42AF-38B2-5FC3-8B6E-FD3F5867B508}"/>
              </a:ext>
            </a:extLst>
          </p:cNvPr>
          <p:cNvSpPr txBox="1"/>
          <p:nvPr/>
        </p:nvSpPr>
        <p:spPr>
          <a:xfrm>
            <a:off x="7547636" y="6139249"/>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大缓和时期，菲利普斯曲线平坦化</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11" name="页脚占位符 10">
            <a:extLst>
              <a:ext uri="{FF2B5EF4-FFF2-40B4-BE49-F238E27FC236}">
                <a16:creationId xmlns:a16="http://schemas.microsoft.com/office/drawing/2014/main" id="{F49069F5-0CBA-C4B0-B907-02232DC429A8}"/>
              </a:ext>
            </a:extLst>
          </p:cNvPr>
          <p:cNvSpPr>
            <a:spLocks noGrp="1"/>
          </p:cNvSpPr>
          <p:nvPr>
            <p:ph type="ftr" sz="quarter" idx="11"/>
          </p:nvPr>
        </p:nvSpPr>
        <p:spPr>
          <a:xfrm>
            <a:off x="2353449" y="6256200"/>
            <a:ext cx="8270241" cy="781344"/>
          </a:xfrm>
        </p:spPr>
        <p:txBody>
          <a:bodyPr/>
          <a:lstStyle/>
          <a:p>
            <a:pPr algn="just"/>
            <a:r>
              <a:rPr lang="zh-CN" altLang="en-US" dirty="0"/>
              <a:t>数据来源：</a:t>
            </a:r>
            <a:r>
              <a:rPr lang="en-US" altLang="zh-CN" dirty="0"/>
              <a:t>BIS 《The two-regime view of inflation》 IMF《 Second-Round Effects of Oil Price Shocks – Implications for Europe’s Inflation Outlook 》</a:t>
            </a:r>
            <a:r>
              <a:rPr lang="zh-CN" altLang="en-US" dirty="0"/>
              <a:t>，</a:t>
            </a:r>
            <a:r>
              <a:rPr lang="en-US" altLang="zh-CN" dirty="0"/>
              <a:t>Wind, FRED</a:t>
            </a:r>
            <a:endParaRPr lang="zh-CN" altLang="en-US" dirty="0"/>
          </a:p>
        </p:txBody>
      </p:sp>
      <p:pic>
        <p:nvPicPr>
          <p:cNvPr id="14" name="图片 13">
            <a:extLst>
              <a:ext uri="{FF2B5EF4-FFF2-40B4-BE49-F238E27FC236}">
                <a16:creationId xmlns:a16="http://schemas.microsoft.com/office/drawing/2014/main" id="{4B3951DE-C9C2-4D93-703F-7D95D8E57F50}"/>
              </a:ext>
            </a:extLst>
          </p:cNvPr>
          <p:cNvPicPr>
            <a:picLocks noChangeAspect="1"/>
          </p:cNvPicPr>
          <p:nvPr/>
        </p:nvPicPr>
        <p:blipFill>
          <a:blip r:embed="rId4"/>
          <a:srcRect l="-186" t="7310" b="5462"/>
          <a:stretch>
            <a:fillRect/>
          </a:stretch>
        </p:blipFill>
        <p:spPr>
          <a:xfrm>
            <a:off x="6642846" y="1053447"/>
            <a:ext cx="5466080" cy="2379554"/>
          </a:xfrm>
          <a:prstGeom prst="rect">
            <a:avLst/>
          </a:prstGeom>
        </p:spPr>
      </p:pic>
      <p:sp>
        <p:nvSpPr>
          <p:cNvPr id="15" name="文本框 14">
            <a:extLst>
              <a:ext uri="{FF2B5EF4-FFF2-40B4-BE49-F238E27FC236}">
                <a16:creationId xmlns:a16="http://schemas.microsoft.com/office/drawing/2014/main" id="{084D7667-1993-1A8A-06E0-1108A92CDE55}"/>
              </a:ext>
            </a:extLst>
          </p:cNvPr>
          <p:cNvSpPr txBox="1"/>
          <p:nvPr/>
        </p:nvSpPr>
        <p:spPr>
          <a:xfrm>
            <a:off x="7261240" y="3414133"/>
            <a:ext cx="5144122"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a:t>
            </a:r>
            <a:r>
              <a:rPr lang="zh-CN" altLang="en-US" sz="1600" b="1" dirty="0">
                <a:solidFill>
                  <a:prstClr val="black"/>
                </a:solidFill>
                <a:latin typeface="Times New Roman" panose="02020603050405020304"/>
                <a:ea typeface="楷体" panose="02010609060101010101" charset="-122"/>
              </a:rPr>
              <a:t>天然气、新能源在</a:t>
            </a:r>
            <a:r>
              <a:rPr lang="zh-CN" altLang="en-US" sz="1600" b="1" dirty="0">
                <a:solidFill>
                  <a:prstClr val="black"/>
                </a:solidFill>
                <a:ea typeface="楷体" panose="02010609060101010101" charset="-122"/>
              </a:rPr>
              <a:t>全球能源结构中</a:t>
            </a:r>
            <a:r>
              <a:rPr lang="zh-CN" altLang="en-US" sz="1600" b="1" dirty="0">
                <a:solidFill>
                  <a:prstClr val="black"/>
                </a:solidFill>
                <a:latin typeface="Times New Roman" panose="02020603050405020304"/>
                <a:ea typeface="楷体" panose="02010609060101010101" charset="-122"/>
              </a:rPr>
              <a:t>占比上升</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Tree>
    <p:extLst>
      <p:ext uri="{BB962C8B-B14F-4D97-AF65-F5344CB8AC3E}">
        <p14:creationId xmlns:p14="http://schemas.microsoft.com/office/powerpoint/2010/main" val="1676465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84CCA-E133-89C6-DA39-FD76B7FF01E6}"/>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4A032AA8-EB40-2A6D-7366-235DE03D5C61}"/>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DD2619CD-E005-15BD-0D36-86101250DA64}"/>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28C5AA1B-0958-FA17-3F40-4638D41D79B0}"/>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B1776F1F-9C85-5CEE-DEB5-649410285FFC}"/>
              </a:ext>
            </a:extLst>
          </p:cNvPr>
          <p:cNvSpPr>
            <a:spLocks noGrp="1"/>
          </p:cNvSpPr>
          <p:nvPr>
            <p:ph type="sldNum" sz="quarter" idx="12"/>
          </p:nvPr>
        </p:nvSpPr>
        <p:spPr/>
        <p:txBody>
          <a:bodyPr/>
          <a:lstStyle/>
          <a:p>
            <a:fld id="{BAEB1E39-14EE-405C-B1D8-764466B19623}" type="slidenum">
              <a:rPr lang="zh-CN" altLang="en-US" smtClean="0"/>
              <a:t>14</a:t>
            </a:fld>
            <a:endParaRPr lang="zh-CN" altLang="en-US"/>
          </a:p>
        </p:txBody>
      </p:sp>
      <p:sp>
        <p:nvSpPr>
          <p:cNvPr id="3" name="Title 1">
            <a:extLst>
              <a:ext uri="{FF2B5EF4-FFF2-40B4-BE49-F238E27FC236}">
                <a16:creationId xmlns:a16="http://schemas.microsoft.com/office/drawing/2014/main" id="{FE61A07F-9B56-028D-BA6B-0B99F02EF94A}"/>
              </a:ext>
            </a:extLst>
          </p:cNvPr>
          <p:cNvSpPr txBox="1">
            <a:spLocks/>
          </p:cNvSpPr>
          <p:nvPr/>
        </p:nvSpPr>
        <p:spPr>
          <a:xfrm>
            <a:off x="133874" y="0"/>
            <a:ext cx="6284258"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我国视角的宏观推演</a:t>
            </a:r>
          </a:p>
        </p:txBody>
      </p:sp>
      <p:sp>
        <p:nvSpPr>
          <p:cNvPr id="6" name="文本框 5">
            <a:extLst>
              <a:ext uri="{FF2B5EF4-FFF2-40B4-BE49-F238E27FC236}">
                <a16:creationId xmlns:a16="http://schemas.microsoft.com/office/drawing/2014/main" id="{0B22F0F3-3ED5-2883-5AAF-31F8DC616DB7}"/>
              </a:ext>
            </a:extLst>
          </p:cNvPr>
          <p:cNvSpPr txBox="1"/>
          <p:nvPr/>
        </p:nvSpPr>
        <p:spPr>
          <a:xfrm>
            <a:off x="0" y="1065397"/>
            <a:ext cx="12191999" cy="2862322"/>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dirty="0">
                <a:solidFill>
                  <a:srgbClr val="3E3E3E"/>
                </a:solidFill>
                <a:latin typeface="PingFang SC"/>
              </a:rPr>
              <a:t>当前我国宏观经济的核心矛盾是内需不足，且处于弱复苏阶段。通胀绝对水平偏低，供给端充裕。</a:t>
            </a:r>
            <a:endParaRPr lang="en-US" altLang="zh-CN" dirty="0">
              <a:solidFill>
                <a:srgbClr val="3E3E3E"/>
              </a:solidFill>
              <a:latin typeface="PingFang SC"/>
            </a:endParaRPr>
          </a:p>
          <a:p>
            <a:pPr marL="285750" indent="-285750" algn="just">
              <a:lnSpc>
                <a:spcPct val="150000"/>
              </a:lnSpc>
              <a:buFont typeface="Wingdings" panose="05000000000000000000" pitchFamily="2" charset="2"/>
              <a:buChar char="Ø"/>
            </a:pPr>
            <a:r>
              <a:rPr lang="zh-CN" altLang="en-US" dirty="0">
                <a:solidFill>
                  <a:srgbClr val="3E3E3E"/>
                </a:solidFill>
                <a:latin typeface="PingFang SC"/>
              </a:rPr>
              <a:t>在居民和企业收入预算约束偏紧的当下，能源价格的刚性上涨会直接抬升生存和生产成本。这相当于给实体经济“加税”，不可避免地会挤压非能源消费和投资支出，导致二季度经济增长面临放缓压力。</a:t>
            </a:r>
            <a:endParaRPr lang="en-US" altLang="zh-CN" dirty="0">
              <a:solidFill>
                <a:srgbClr val="3E3E3E"/>
              </a:solidFill>
              <a:latin typeface="PingFang SC"/>
            </a:endParaRPr>
          </a:p>
          <a:p>
            <a:pPr marL="285750" indent="-285750" algn="just">
              <a:lnSpc>
                <a:spcPct val="150000"/>
              </a:lnSpc>
              <a:buFont typeface="Wingdings" panose="05000000000000000000" pitchFamily="2" charset="2"/>
              <a:buChar char="Ø"/>
            </a:pPr>
            <a:r>
              <a:rPr lang="zh-CN" altLang="en-US" dirty="0"/>
              <a:t>我国在新能源转型上的纵深布局以及多元化的能源进口战略，构筑了对抗传统化石能源输入性通胀的防火墙。我国完备的制造业体系和充足的战略储备，使得我们在面对大宗商品冲击时，具备极强的内部价格消化和平抑能力。</a:t>
            </a:r>
            <a:endParaRPr lang="en-US" altLang="zh-CN" dirty="0"/>
          </a:p>
          <a:p>
            <a:pPr marL="285750" indent="-285750" algn="just">
              <a:lnSpc>
                <a:spcPct val="150000"/>
              </a:lnSpc>
              <a:buFont typeface="Wingdings" panose="05000000000000000000" pitchFamily="2" charset="2"/>
              <a:buChar char="Ø"/>
            </a:pPr>
            <a:r>
              <a:rPr lang="zh-CN" altLang="en-US" dirty="0"/>
              <a:t>两会政府工作展望中指出，</a:t>
            </a:r>
            <a:r>
              <a:rPr lang="en-US" altLang="zh-CN" dirty="0"/>
              <a:t> 2026</a:t>
            </a:r>
            <a:r>
              <a:rPr lang="zh-CN" altLang="en-US" dirty="0"/>
              <a:t>年我国将继续实施更加积极的财政政策，继续实施适度宽松的货币政策。</a:t>
            </a:r>
          </a:p>
          <a:p>
            <a:pPr marL="285750" indent="-285750">
              <a:buFont typeface="Wingdings" panose="05000000000000000000" pitchFamily="2" charset="2"/>
              <a:buChar char="Ø"/>
            </a:pPr>
            <a:endParaRPr lang="zh-CN" altLang="en-US" dirty="0">
              <a:solidFill>
                <a:srgbClr val="3E3E3E"/>
              </a:solidFill>
              <a:latin typeface="PingFang SC"/>
            </a:endParaRPr>
          </a:p>
        </p:txBody>
      </p:sp>
      <p:sp>
        <p:nvSpPr>
          <p:cNvPr id="21" name="文本框 20">
            <a:extLst>
              <a:ext uri="{FF2B5EF4-FFF2-40B4-BE49-F238E27FC236}">
                <a16:creationId xmlns:a16="http://schemas.microsoft.com/office/drawing/2014/main" id="{B58FFE99-1B8C-DE49-3068-D398B6DBB169}"/>
              </a:ext>
            </a:extLst>
          </p:cNvPr>
          <p:cNvSpPr txBox="1"/>
          <p:nvPr/>
        </p:nvSpPr>
        <p:spPr>
          <a:xfrm>
            <a:off x="569510" y="5976521"/>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我国当下面临内需不足的问题</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22" name="页脚占位符 10">
            <a:extLst>
              <a:ext uri="{FF2B5EF4-FFF2-40B4-BE49-F238E27FC236}">
                <a16:creationId xmlns:a16="http://schemas.microsoft.com/office/drawing/2014/main" id="{AF681150-7772-BDA6-2823-0A8532CEA81C}"/>
              </a:ext>
            </a:extLst>
          </p:cNvPr>
          <p:cNvSpPr>
            <a:spLocks noGrp="1"/>
          </p:cNvSpPr>
          <p:nvPr>
            <p:ph type="ftr" sz="quarter" idx="11"/>
          </p:nvPr>
        </p:nvSpPr>
        <p:spPr>
          <a:xfrm>
            <a:off x="3921759" y="6403340"/>
            <a:ext cx="4688841" cy="365125"/>
          </a:xfrm>
        </p:spPr>
        <p:txBody>
          <a:bodyPr/>
          <a:lstStyle/>
          <a:p>
            <a:r>
              <a:rPr lang="zh-CN" altLang="en-US" dirty="0"/>
              <a:t>数据来源：</a:t>
            </a:r>
            <a:r>
              <a:rPr lang="en-US" altLang="zh-CN" dirty="0"/>
              <a:t>CEIC, </a:t>
            </a:r>
            <a:r>
              <a:rPr lang="zh-CN" altLang="en-US" dirty="0"/>
              <a:t>国家统计局</a:t>
            </a:r>
          </a:p>
        </p:txBody>
      </p:sp>
      <p:pic>
        <p:nvPicPr>
          <p:cNvPr id="5" name="图片 4">
            <a:extLst>
              <a:ext uri="{FF2B5EF4-FFF2-40B4-BE49-F238E27FC236}">
                <a16:creationId xmlns:a16="http://schemas.microsoft.com/office/drawing/2014/main" id="{917BA59A-03AD-6E26-5935-6D10C6730BC8}"/>
              </a:ext>
            </a:extLst>
          </p:cNvPr>
          <p:cNvPicPr>
            <a:picLocks noChangeAspect="1"/>
          </p:cNvPicPr>
          <p:nvPr/>
        </p:nvPicPr>
        <p:blipFill>
          <a:blip r:embed="rId3"/>
          <a:srcRect l="3943" t="2279" r="3148" b="2541"/>
          <a:stretch>
            <a:fillRect/>
          </a:stretch>
        </p:blipFill>
        <p:spPr>
          <a:xfrm>
            <a:off x="4894579" y="3642083"/>
            <a:ext cx="2743199" cy="2311628"/>
          </a:xfrm>
          <a:prstGeom prst="rect">
            <a:avLst/>
          </a:prstGeom>
        </p:spPr>
      </p:pic>
      <p:sp>
        <p:nvSpPr>
          <p:cNvPr id="8" name="文本框 7">
            <a:extLst>
              <a:ext uri="{FF2B5EF4-FFF2-40B4-BE49-F238E27FC236}">
                <a16:creationId xmlns:a16="http://schemas.microsoft.com/office/drawing/2014/main" id="{55DD3780-F6CE-CCD2-7FA7-496AE7E05FDD}"/>
              </a:ext>
            </a:extLst>
          </p:cNvPr>
          <p:cNvSpPr txBox="1"/>
          <p:nvPr/>
        </p:nvSpPr>
        <p:spPr>
          <a:xfrm>
            <a:off x="4634486" y="5958909"/>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lang="zh-CN" altLang="en-US" sz="1600" b="1" dirty="0">
                <a:solidFill>
                  <a:prstClr val="black"/>
                </a:solidFill>
                <a:latin typeface="Times New Roman" panose="02020603050405020304"/>
                <a:ea typeface="楷体" panose="02010609060101010101" charset="-122"/>
              </a:rPr>
              <a:t>我国原油进口的分散化布局</a:t>
            </a:r>
            <a:endParaRPr lang="en-US" altLang="zh-CN" sz="1600" b="1" dirty="0">
              <a:solidFill>
                <a:prstClr val="black"/>
              </a:solidFill>
              <a:latin typeface="Times New Roman" panose="02020603050405020304"/>
              <a:ea typeface="楷体" panose="02010609060101010101" charset="-122"/>
            </a:endParaRPr>
          </a:p>
        </p:txBody>
      </p:sp>
      <p:pic>
        <p:nvPicPr>
          <p:cNvPr id="12" name="图片 11">
            <a:extLst>
              <a:ext uri="{FF2B5EF4-FFF2-40B4-BE49-F238E27FC236}">
                <a16:creationId xmlns:a16="http://schemas.microsoft.com/office/drawing/2014/main" id="{247E13D6-C6E7-F074-549F-9141DD24B0BD}"/>
              </a:ext>
            </a:extLst>
          </p:cNvPr>
          <p:cNvPicPr>
            <a:picLocks noChangeAspect="1"/>
          </p:cNvPicPr>
          <p:nvPr/>
        </p:nvPicPr>
        <p:blipFill>
          <a:blip r:embed="rId4"/>
          <a:stretch>
            <a:fillRect/>
          </a:stretch>
        </p:blipFill>
        <p:spPr>
          <a:xfrm>
            <a:off x="8192812" y="3618082"/>
            <a:ext cx="3806164" cy="2220263"/>
          </a:xfrm>
          <a:prstGeom prst="rect">
            <a:avLst/>
          </a:prstGeom>
        </p:spPr>
      </p:pic>
      <p:sp>
        <p:nvSpPr>
          <p:cNvPr id="13" name="文本框 12">
            <a:extLst>
              <a:ext uri="{FF2B5EF4-FFF2-40B4-BE49-F238E27FC236}">
                <a16:creationId xmlns:a16="http://schemas.microsoft.com/office/drawing/2014/main" id="{508D4396-1B8C-AC0B-FDA6-936CB9FC8DAB}"/>
              </a:ext>
            </a:extLst>
          </p:cNvPr>
          <p:cNvSpPr txBox="1"/>
          <p:nvPr/>
        </p:nvSpPr>
        <p:spPr>
          <a:xfrm>
            <a:off x="8699462" y="5941329"/>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lang="zh-CN" altLang="en-US" sz="1600" b="1" dirty="0">
                <a:solidFill>
                  <a:prstClr val="black"/>
                </a:solidFill>
                <a:latin typeface="Times New Roman" panose="02020603050405020304"/>
                <a:ea typeface="楷体" panose="02010609060101010101" charset="-122"/>
              </a:rPr>
              <a:t>我国新能源产业快速发展</a:t>
            </a:r>
            <a:endParaRPr lang="en-US" altLang="zh-CN" sz="1600" b="1" dirty="0">
              <a:solidFill>
                <a:prstClr val="black"/>
              </a:solidFill>
              <a:latin typeface="Times New Roman" panose="02020603050405020304"/>
              <a:ea typeface="楷体" panose="02010609060101010101" charset="-122"/>
            </a:endParaRPr>
          </a:p>
        </p:txBody>
      </p:sp>
      <p:pic>
        <p:nvPicPr>
          <p:cNvPr id="9" name="图片 8">
            <a:extLst>
              <a:ext uri="{FF2B5EF4-FFF2-40B4-BE49-F238E27FC236}">
                <a16:creationId xmlns:a16="http://schemas.microsoft.com/office/drawing/2014/main" id="{462B7E3A-3606-7511-81E0-3B36428F3706}"/>
              </a:ext>
            </a:extLst>
          </p:cNvPr>
          <p:cNvPicPr>
            <a:picLocks noChangeAspect="1"/>
          </p:cNvPicPr>
          <p:nvPr/>
        </p:nvPicPr>
        <p:blipFill>
          <a:blip r:embed="rId5"/>
          <a:srcRect l="-1" t="5491" r="1754" b="3735"/>
          <a:stretch>
            <a:fillRect/>
          </a:stretch>
        </p:blipFill>
        <p:spPr>
          <a:xfrm>
            <a:off x="193024" y="3714983"/>
            <a:ext cx="4205341" cy="2220263"/>
          </a:xfrm>
          <a:prstGeom prst="rect">
            <a:avLst/>
          </a:prstGeom>
        </p:spPr>
      </p:pic>
    </p:spTree>
    <p:extLst>
      <p:ext uri="{BB962C8B-B14F-4D97-AF65-F5344CB8AC3E}">
        <p14:creationId xmlns:p14="http://schemas.microsoft.com/office/powerpoint/2010/main" val="278432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7A44-7D48-73BD-5D4E-652091D3F15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A7AAD0E8-3FC8-475F-490A-7B5D292515F0}"/>
              </a:ext>
            </a:extLst>
          </p:cNvPr>
          <p:cNvSpPr/>
          <p:nvPr/>
        </p:nvSpPr>
        <p:spPr>
          <a:xfrm>
            <a:off x="0" y="808187"/>
            <a:ext cx="12192000" cy="45719"/>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楷体" panose="02010609060101010101" charset="-122"/>
              <a:ea typeface="楷体" panose="02010609060101010101" charset="-122"/>
              <a:cs typeface="Times New Roman" panose="02020603050405020304" pitchFamily="18" charset="0"/>
            </a:endParaRPr>
          </a:p>
        </p:txBody>
      </p:sp>
      <p:sp>
        <p:nvSpPr>
          <p:cNvPr id="2" name="矩形 1">
            <a:extLst>
              <a:ext uri="{FF2B5EF4-FFF2-40B4-BE49-F238E27FC236}">
                <a16:creationId xmlns:a16="http://schemas.microsoft.com/office/drawing/2014/main" id="{2EC941CE-33D9-C18F-1AEF-A7053DE454D4}"/>
              </a:ext>
            </a:extLst>
          </p:cNvPr>
          <p:cNvSpPr/>
          <p:nvPr/>
        </p:nvSpPr>
        <p:spPr>
          <a:xfrm>
            <a:off x="-235" y="6430432"/>
            <a:ext cx="12193200" cy="36000"/>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楷体" panose="02010609060101010101" charset="-122"/>
              <a:ea typeface="楷体" panose="02010609060101010101" charset="-122"/>
              <a:cs typeface="Times New Roman" panose="02020603050405020304" pitchFamily="18" charset="0"/>
            </a:endParaRPr>
          </a:p>
        </p:txBody>
      </p:sp>
      <p:sp>
        <p:nvSpPr>
          <p:cNvPr id="10" name="日期占位符 9">
            <a:extLst>
              <a:ext uri="{FF2B5EF4-FFF2-40B4-BE49-F238E27FC236}">
                <a16:creationId xmlns:a16="http://schemas.microsoft.com/office/drawing/2014/main" id="{E9352AA9-3548-BA42-BA19-5D7E3A61EA65}"/>
              </a:ext>
            </a:extLst>
          </p:cNvPr>
          <p:cNvSpPr>
            <a:spLocks noGrp="1"/>
          </p:cNvSpPr>
          <p:nvPr>
            <p:ph type="dt" sz="half" idx="10"/>
          </p:nvPr>
        </p:nvSpPr>
        <p:spPr/>
        <p:txBody>
          <a:bodyPr/>
          <a:lstStyle/>
          <a:p>
            <a:fld id="{ED6A685C-8354-465F-B842-294F5261B2D6}" type="datetime1">
              <a:rPr lang="zh-CN" altLang="en-US" smtClean="0"/>
              <a:t>2026-04-21</a:t>
            </a:fld>
            <a:endParaRPr lang="zh-CN" altLang="en-US" dirty="0"/>
          </a:p>
        </p:txBody>
      </p:sp>
      <p:sp>
        <p:nvSpPr>
          <p:cNvPr id="11" name="页脚占位符 10">
            <a:extLst>
              <a:ext uri="{FF2B5EF4-FFF2-40B4-BE49-F238E27FC236}">
                <a16:creationId xmlns:a16="http://schemas.microsoft.com/office/drawing/2014/main" id="{A2E06BCF-366B-C1D2-A09E-5F322E751A55}"/>
              </a:ext>
            </a:extLst>
          </p:cNvPr>
          <p:cNvSpPr>
            <a:spLocks noGrp="1"/>
          </p:cNvSpPr>
          <p:nvPr>
            <p:ph type="ftr" sz="quarter" idx="11"/>
          </p:nvPr>
        </p:nvSpPr>
        <p:spPr>
          <a:xfrm>
            <a:off x="4038599" y="6356350"/>
            <a:ext cx="4520609" cy="365125"/>
          </a:xfrm>
        </p:spPr>
        <p:txBody>
          <a:bodyPr/>
          <a:lstStyle/>
          <a:p>
            <a:r>
              <a:rPr lang="zh-CN" altLang="en-US" dirty="0"/>
              <a:t>数据来源：</a:t>
            </a:r>
            <a:r>
              <a:rPr lang="en-US" altLang="zh-CN" dirty="0"/>
              <a:t>Wind</a:t>
            </a:r>
            <a:r>
              <a:rPr lang="zh-CN" altLang="en-US" dirty="0"/>
              <a:t>，</a:t>
            </a:r>
            <a:r>
              <a:rPr lang="en-US" altLang="zh-CN" dirty="0"/>
              <a:t>World Gold Council</a:t>
            </a:r>
            <a:endParaRPr lang="zh-CN" altLang="en-US" dirty="0"/>
          </a:p>
        </p:txBody>
      </p:sp>
      <p:sp>
        <p:nvSpPr>
          <p:cNvPr id="17" name="灯片编号占位符 16">
            <a:extLst>
              <a:ext uri="{FF2B5EF4-FFF2-40B4-BE49-F238E27FC236}">
                <a16:creationId xmlns:a16="http://schemas.microsoft.com/office/drawing/2014/main" id="{7844C2FE-9E27-7327-5123-6F2A340A1BC4}"/>
              </a:ext>
            </a:extLst>
          </p:cNvPr>
          <p:cNvSpPr>
            <a:spLocks noGrp="1"/>
          </p:cNvSpPr>
          <p:nvPr>
            <p:ph type="sldNum" sz="quarter" idx="12"/>
          </p:nvPr>
        </p:nvSpPr>
        <p:spPr/>
        <p:txBody>
          <a:bodyPr/>
          <a:lstStyle/>
          <a:p>
            <a:fld id="{BAEB1E39-14EE-405C-B1D8-764466B19623}" type="slidenum">
              <a:rPr lang="zh-CN" altLang="en-US" smtClean="0"/>
              <a:t>15</a:t>
            </a:fld>
            <a:endParaRPr lang="zh-CN" altLang="en-US"/>
          </a:p>
        </p:txBody>
      </p:sp>
      <p:sp>
        <p:nvSpPr>
          <p:cNvPr id="19" name="Title 1">
            <a:extLst>
              <a:ext uri="{FF2B5EF4-FFF2-40B4-BE49-F238E27FC236}">
                <a16:creationId xmlns:a16="http://schemas.microsoft.com/office/drawing/2014/main" id="{867292A5-443C-B848-1A99-0B65881648B4}"/>
              </a:ext>
            </a:extLst>
          </p:cNvPr>
          <p:cNvSpPr txBox="1"/>
          <p:nvPr/>
        </p:nvSpPr>
        <p:spPr>
          <a:xfrm>
            <a:off x="-1" y="0"/>
            <a:ext cx="3469341" cy="109852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pPr>
            <a:r>
              <a:rPr lang="zh-CN" altLang="en-US" sz="3600" b="1" kern="1200" spc="0" dirty="0">
                <a:latin typeface="楷体" panose="02010609060101010101" charset="-122"/>
                <a:ea typeface="楷体" panose="02010609060101010101" charset="-122"/>
                <a:cs typeface="Times New Roman" panose="02020603050405020304" pitchFamily="18" charset="0"/>
              </a:rPr>
              <a:t>  </a:t>
            </a:r>
            <a:r>
              <a:rPr lang="zh-CN" altLang="en-US" sz="3600" b="1" kern="1200"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乱世黄金</a:t>
            </a:r>
            <a:endParaRPr lang="zh-CN" altLang="en-US" sz="3600" b="1" kern="1200" spc="0" dirty="0">
              <a:latin typeface="楷体" panose="02010609060101010101" charset="-122"/>
              <a:ea typeface="楷体" panose="02010609060101010101" charset="-122"/>
              <a:cs typeface="Times New Roman" panose="02020603050405020304" pitchFamily="18" charset="0"/>
            </a:endParaRPr>
          </a:p>
        </p:txBody>
      </p:sp>
      <p:sp>
        <p:nvSpPr>
          <p:cNvPr id="14" name="文本框 13">
            <a:extLst>
              <a:ext uri="{FF2B5EF4-FFF2-40B4-BE49-F238E27FC236}">
                <a16:creationId xmlns:a16="http://schemas.microsoft.com/office/drawing/2014/main" id="{FE5DAF6B-92AC-02DC-C432-DF72B62C1B02}"/>
              </a:ext>
            </a:extLst>
          </p:cNvPr>
          <p:cNvSpPr txBox="1"/>
          <p:nvPr/>
        </p:nvSpPr>
        <p:spPr>
          <a:xfrm>
            <a:off x="7547636" y="6101064"/>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金价与美股、美元、美债的关系</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18" name="文本框 17">
            <a:extLst>
              <a:ext uri="{FF2B5EF4-FFF2-40B4-BE49-F238E27FC236}">
                <a16:creationId xmlns:a16="http://schemas.microsoft.com/office/drawing/2014/main" id="{80C5D373-6BA4-B1F8-E3E5-11B7D3E17EB0}"/>
              </a:ext>
            </a:extLst>
          </p:cNvPr>
          <p:cNvSpPr txBox="1"/>
          <p:nvPr/>
        </p:nvSpPr>
        <p:spPr>
          <a:xfrm>
            <a:off x="1406807" y="4111921"/>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金价在地缘冲突过程中的走势</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24" name="文本框 23">
            <a:extLst>
              <a:ext uri="{FF2B5EF4-FFF2-40B4-BE49-F238E27FC236}">
                <a16:creationId xmlns:a16="http://schemas.microsoft.com/office/drawing/2014/main" id="{DEB71F1F-0760-111A-3EF5-84C527B14783}"/>
              </a:ext>
            </a:extLst>
          </p:cNvPr>
          <p:cNvSpPr txBox="1"/>
          <p:nvPr/>
        </p:nvSpPr>
        <p:spPr>
          <a:xfrm>
            <a:off x="561284" y="4391894"/>
            <a:ext cx="7403603" cy="2219197"/>
          </a:xfrm>
          <a:prstGeom prst="rect">
            <a:avLst/>
          </a:prstGeom>
          <a:noFill/>
        </p:spPr>
        <p:txBody>
          <a:bodyPr wrap="square">
            <a:spAutoFit/>
          </a:bodyPr>
          <a:lstStyle/>
          <a:p>
            <a:pPr marL="285750" indent="-285750" algn="l">
              <a:lnSpc>
                <a:spcPct val="150000"/>
              </a:lnSpc>
              <a:buFont typeface="Wingdings" panose="05000000000000000000" pitchFamily="2" charset="2"/>
              <a:buChar char="Ø"/>
            </a:pPr>
            <a:r>
              <a:rPr lang="en-US" altLang="zh-CN" dirty="0">
                <a:solidFill>
                  <a:srgbClr val="000000"/>
                </a:solidFill>
                <a:effectLst/>
                <a:latin typeface="ui-sans-serif"/>
              </a:rPr>
              <a:t>"</a:t>
            </a:r>
            <a:r>
              <a:rPr lang="zh-CN" altLang="en-US" dirty="0">
                <a:solidFill>
                  <a:srgbClr val="000000"/>
                </a:solidFill>
                <a:effectLst/>
                <a:latin typeface="ui-sans-serif"/>
              </a:rPr>
              <a:t>买预期，卖事实</a:t>
            </a:r>
            <a:r>
              <a:rPr lang="en-US" altLang="zh-CN" dirty="0">
                <a:solidFill>
                  <a:srgbClr val="000000"/>
                </a:solidFill>
                <a:effectLst/>
                <a:latin typeface="ui-sans-serif"/>
              </a:rPr>
              <a:t>" </a:t>
            </a:r>
            <a:r>
              <a:rPr lang="zh-CN" altLang="en-US" dirty="0">
                <a:solidFill>
                  <a:srgbClr val="000000"/>
                </a:solidFill>
                <a:effectLst/>
                <a:latin typeface="ui-sans-serif"/>
              </a:rPr>
              <a:t>的经典规律</a:t>
            </a:r>
          </a:p>
          <a:p>
            <a:pPr marL="285750" indent="-285750">
              <a:lnSpc>
                <a:spcPct val="150000"/>
              </a:lnSpc>
              <a:buFont typeface="Wingdings" panose="05000000000000000000" pitchFamily="2" charset="2"/>
              <a:buChar char="Ø"/>
            </a:pPr>
            <a:r>
              <a:rPr lang="zh-CN" altLang="en-US" dirty="0">
                <a:solidFill>
                  <a:srgbClr val="000000"/>
                </a:solidFill>
                <a:effectLst/>
                <a:latin typeface="ui-sans-serif"/>
              </a:rPr>
              <a:t>全市场流动性收紧的连锁反应</a:t>
            </a:r>
            <a:endParaRPr lang="en-US" altLang="zh-CN" dirty="0">
              <a:solidFill>
                <a:srgbClr val="000000"/>
              </a:solidFill>
              <a:effectLst/>
              <a:latin typeface="ui-sans-serif"/>
            </a:endParaRPr>
          </a:p>
          <a:p>
            <a:pPr marL="285750" indent="-285750">
              <a:lnSpc>
                <a:spcPct val="150000"/>
              </a:lnSpc>
              <a:buFont typeface="Wingdings" panose="05000000000000000000" pitchFamily="2" charset="2"/>
              <a:buChar char="Ø"/>
            </a:pPr>
            <a:r>
              <a:rPr lang="zh-CN" altLang="en-US" dirty="0">
                <a:solidFill>
                  <a:srgbClr val="000000"/>
                </a:solidFill>
                <a:latin typeface="ui-sans-serif"/>
              </a:rPr>
              <a:t>短期压制：美元指数和美债收益率上升</a:t>
            </a:r>
            <a:endParaRPr lang="en-US" altLang="zh-CN" dirty="0">
              <a:solidFill>
                <a:srgbClr val="000000"/>
              </a:solidFill>
              <a:effectLst/>
              <a:latin typeface="ui-sans-serif"/>
            </a:endParaRPr>
          </a:p>
          <a:p>
            <a:pPr>
              <a:lnSpc>
                <a:spcPct val="150000"/>
              </a:lnSpc>
            </a:pPr>
            <a:r>
              <a:rPr lang="en-US" altLang="zh-CN" b="1" dirty="0">
                <a:solidFill>
                  <a:srgbClr val="000000"/>
                </a:solidFill>
                <a:latin typeface="ui-sans-serif"/>
              </a:rPr>
              <a:t>     </a:t>
            </a:r>
            <a:r>
              <a:rPr lang="zh-CN" altLang="en-US" dirty="0">
                <a:solidFill>
                  <a:srgbClr val="000000"/>
                </a:solidFill>
                <a:latin typeface="ui-sans-serif"/>
              </a:rPr>
              <a:t>对冲失效：黄金与美股近年高度正相关</a:t>
            </a:r>
            <a:endParaRPr lang="zh-CN" altLang="en-US" dirty="0">
              <a:solidFill>
                <a:srgbClr val="000000"/>
              </a:solidFill>
              <a:effectLst/>
              <a:latin typeface="ui-sans-serif"/>
            </a:endParaRPr>
          </a:p>
          <a:p>
            <a:pPr marL="285750" indent="-285750" algn="l">
              <a:lnSpc>
                <a:spcPts val="1800"/>
              </a:lnSpc>
              <a:buFont typeface="Wingdings" panose="05000000000000000000" pitchFamily="2" charset="2"/>
              <a:buChar char="Ø"/>
            </a:pPr>
            <a:endParaRPr lang="en-US" altLang="zh-CN" dirty="0">
              <a:solidFill>
                <a:srgbClr val="000000"/>
              </a:solidFill>
              <a:latin typeface="ui-sans-serif"/>
            </a:endParaRPr>
          </a:p>
          <a:p>
            <a:pPr marL="285750" indent="-285750" algn="l">
              <a:lnSpc>
                <a:spcPts val="1800"/>
              </a:lnSpc>
              <a:buFont typeface="Wingdings" panose="05000000000000000000" pitchFamily="2" charset="2"/>
              <a:buChar char="Ø"/>
            </a:pPr>
            <a:endParaRPr lang="zh-CN" altLang="en-US" dirty="0">
              <a:solidFill>
                <a:srgbClr val="000000"/>
              </a:solidFill>
              <a:effectLst/>
              <a:latin typeface="ui-sans-serif"/>
            </a:endParaRPr>
          </a:p>
        </p:txBody>
      </p:sp>
      <p:sp>
        <p:nvSpPr>
          <p:cNvPr id="28" name="文本框 27">
            <a:extLst>
              <a:ext uri="{FF2B5EF4-FFF2-40B4-BE49-F238E27FC236}">
                <a16:creationId xmlns:a16="http://schemas.microsoft.com/office/drawing/2014/main" id="{4DA49085-F1C0-E024-1757-F10108B7225E}"/>
              </a:ext>
            </a:extLst>
          </p:cNvPr>
          <p:cNvSpPr txBox="1"/>
          <p:nvPr/>
        </p:nvSpPr>
        <p:spPr>
          <a:xfrm>
            <a:off x="311659" y="969078"/>
            <a:ext cx="11568682" cy="369332"/>
          </a:xfrm>
          <a:prstGeom prst="rect">
            <a:avLst/>
          </a:prstGeom>
          <a:noFill/>
        </p:spPr>
        <p:txBody>
          <a:bodyPr wrap="square">
            <a:spAutoFit/>
          </a:bodyPr>
          <a:lstStyle/>
          <a:p>
            <a:r>
              <a:rPr lang="en-US" altLang="zh-CN" dirty="0">
                <a:solidFill>
                  <a:srgbClr val="000000"/>
                </a:solidFill>
              </a:rPr>
              <a:t>2026</a:t>
            </a:r>
            <a:r>
              <a:rPr lang="en-US" altLang="zh-CN" dirty="0">
                <a:solidFill>
                  <a:srgbClr val="000000"/>
                </a:solidFill>
                <a:latin typeface="ui-sans-serif"/>
              </a:rPr>
              <a:t> </a:t>
            </a:r>
            <a:r>
              <a:rPr lang="zh-CN" altLang="en-US" dirty="0">
                <a:solidFill>
                  <a:srgbClr val="000000"/>
                </a:solidFill>
                <a:latin typeface="ui-sans-serif"/>
              </a:rPr>
              <a:t>年</a:t>
            </a:r>
            <a:r>
              <a:rPr lang="zh-CN" altLang="en-US" dirty="0">
                <a:solidFill>
                  <a:srgbClr val="000000"/>
                </a:solidFill>
              </a:rPr>
              <a:t> </a:t>
            </a:r>
            <a:r>
              <a:rPr lang="en-US" altLang="zh-CN" dirty="0">
                <a:solidFill>
                  <a:srgbClr val="000000"/>
                </a:solidFill>
              </a:rPr>
              <a:t>3 </a:t>
            </a:r>
            <a:r>
              <a:rPr lang="zh-CN" altLang="en-US" dirty="0">
                <a:solidFill>
                  <a:srgbClr val="000000"/>
                </a:solidFill>
                <a:latin typeface="ui-sans-serif"/>
              </a:rPr>
              <a:t>月美伊冲突爆发当周，黄金单周</a:t>
            </a:r>
            <a:r>
              <a:rPr lang="zh-CN" altLang="en-US" dirty="0">
                <a:solidFill>
                  <a:srgbClr val="000000"/>
                </a:solidFill>
              </a:rPr>
              <a:t>暴跌 </a:t>
            </a:r>
            <a:r>
              <a:rPr lang="en-US" altLang="zh-CN" dirty="0">
                <a:solidFill>
                  <a:srgbClr val="000000"/>
                </a:solidFill>
              </a:rPr>
              <a:t>10.5%</a:t>
            </a:r>
            <a:r>
              <a:rPr lang="zh-CN" altLang="en-US" dirty="0">
                <a:solidFill>
                  <a:srgbClr val="000000"/>
                </a:solidFill>
                <a:latin typeface="ui-sans-serif"/>
              </a:rPr>
              <a:t>，创下</a:t>
            </a:r>
            <a:r>
              <a:rPr lang="en-US" altLang="zh-CN" dirty="0">
                <a:solidFill>
                  <a:srgbClr val="000000"/>
                </a:solidFill>
              </a:rPr>
              <a:t>1980</a:t>
            </a:r>
            <a:r>
              <a:rPr lang="en-US" altLang="zh-CN" dirty="0">
                <a:solidFill>
                  <a:srgbClr val="000000"/>
                </a:solidFill>
                <a:latin typeface="ui-sans-serif"/>
              </a:rPr>
              <a:t> </a:t>
            </a:r>
            <a:r>
              <a:rPr lang="zh-CN" altLang="en-US" dirty="0">
                <a:solidFill>
                  <a:srgbClr val="000000"/>
                </a:solidFill>
                <a:latin typeface="ui-sans-serif"/>
              </a:rPr>
              <a:t>年以来最差单周表现，为历史第七大周跌幅</a:t>
            </a:r>
            <a:r>
              <a:rPr lang="en-US" altLang="zh-CN" dirty="0">
                <a:solidFill>
                  <a:srgbClr val="000000"/>
                </a:solidFill>
                <a:latin typeface="ui-sans-serif"/>
              </a:rPr>
              <a:t>……</a:t>
            </a:r>
            <a:endParaRPr lang="zh-CN" altLang="en-US" dirty="0">
              <a:solidFill>
                <a:srgbClr val="000000"/>
              </a:solidFill>
              <a:latin typeface="ui-sans-serif"/>
            </a:endParaRPr>
          </a:p>
        </p:txBody>
      </p:sp>
      <p:pic>
        <p:nvPicPr>
          <p:cNvPr id="23" name="图片 22">
            <a:extLst>
              <a:ext uri="{FF2B5EF4-FFF2-40B4-BE49-F238E27FC236}">
                <a16:creationId xmlns:a16="http://schemas.microsoft.com/office/drawing/2014/main" id="{B34AD078-DC4E-A288-EA41-A365AE6A96DD}"/>
              </a:ext>
            </a:extLst>
          </p:cNvPr>
          <p:cNvPicPr>
            <a:picLocks noChangeAspect="1"/>
          </p:cNvPicPr>
          <p:nvPr/>
        </p:nvPicPr>
        <p:blipFill>
          <a:blip r:embed="rId3"/>
          <a:stretch>
            <a:fillRect/>
          </a:stretch>
        </p:blipFill>
        <p:spPr>
          <a:xfrm>
            <a:off x="6191280" y="3799622"/>
            <a:ext cx="5771177" cy="2363804"/>
          </a:xfrm>
          <a:prstGeom prst="rect">
            <a:avLst/>
          </a:prstGeom>
        </p:spPr>
      </p:pic>
      <p:pic>
        <p:nvPicPr>
          <p:cNvPr id="31" name="图片 30">
            <a:extLst>
              <a:ext uri="{FF2B5EF4-FFF2-40B4-BE49-F238E27FC236}">
                <a16:creationId xmlns:a16="http://schemas.microsoft.com/office/drawing/2014/main" id="{0B2FA700-4A4F-ED25-D368-BEF629BCFF25}"/>
              </a:ext>
            </a:extLst>
          </p:cNvPr>
          <p:cNvPicPr>
            <a:picLocks noChangeAspect="1"/>
          </p:cNvPicPr>
          <p:nvPr/>
        </p:nvPicPr>
        <p:blipFill>
          <a:blip r:embed="rId4"/>
          <a:stretch>
            <a:fillRect/>
          </a:stretch>
        </p:blipFill>
        <p:spPr>
          <a:xfrm>
            <a:off x="6191280" y="1388818"/>
            <a:ext cx="5559313" cy="2291962"/>
          </a:xfrm>
          <a:prstGeom prst="rect">
            <a:avLst/>
          </a:prstGeom>
        </p:spPr>
      </p:pic>
      <p:pic>
        <p:nvPicPr>
          <p:cNvPr id="33" name="图片 32">
            <a:extLst>
              <a:ext uri="{FF2B5EF4-FFF2-40B4-BE49-F238E27FC236}">
                <a16:creationId xmlns:a16="http://schemas.microsoft.com/office/drawing/2014/main" id="{CA603CEF-7D45-A461-A761-EBD716C098B7}"/>
              </a:ext>
            </a:extLst>
          </p:cNvPr>
          <p:cNvPicPr>
            <a:picLocks noChangeAspect="1"/>
          </p:cNvPicPr>
          <p:nvPr/>
        </p:nvPicPr>
        <p:blipFill>
          <a:blip r:embed="rId5"/>
          <a:srcRect l="6875" t="6290" r="7648" b="1924"/>
          <a:stretch>
            <a:fillRect/>
          </a:stretch>
        </p:blipFill>
        <p:spPr>
          <a:xfrm>
            <a:off x="441409" y="1356507"/>
            <a:ext cx="5559313" cy="2715205"/>
          </a:xfrm>
          <a:prstGeom prst="rect">
            <a:avLst/>
          </a:prstGeom>
        </p:spPr>
      </p:pic>
    </p:spTree>
    <p:extLst>
      <p:ext uri="{BB962C8B-B14F-4D97-AF65-F5344CB8AC3E}">
        <p14:creationId xmlns:p14="http://schemas.microsoft.com/office/powerpoint/2010/main" val="1868363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31F8E-68FD-FFE0-F9CA-023160F08E6D}"/>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88CB95E-766C-4A71-B057-3911D93C4B90}"/>
              </a:ext>
            </a:extLst>
          </p:cNvPr>
          <p:cNvSpPr/>
          <p:nvPr/>
        </p:nvSpPr>
        <p:spPr>
          <a:xfrm>
            <a:off x="0" y="808187"/>
            <a:ext cx="12192000" cy="45719"/>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楷体" panose="02010609060101010101" charset="-122"/>
              <a:ea typeface="楷体" panose="02010609060101010101" charset="-122"/>
              <a:cs typeface="Times New Roman" panose="02020603050405020304" pitchFamily="18" charset="0"/>
            </a:endParaRPr>
          </a:p>
        </p:txBody>
      </p:sp>
      <p:sp>
        <p:nvSpPr>
          <p:cNvPr id="2" name="矩形 1">
            <a:extLst>
              <a:ext uri="{FF2B5EF4-FFF2-40B4-BE49-F238E27FC236}">
                <a16:creationId xmlns:a16="http://schemas.microsoft.com/office/drawing/2014/main" id="{7D944292-4C8E-F3D9-09AA-D986ABEEDCB0}"/>
              </a:ext>
            </a:extLst>
          </p:cNvPr>
          <p:cNvSpPr/>
          <p:nvPr/>
        </p:nvSpPr>
        <p:spPr>
          <a:xfrm>
            <a:off x="-235" y="6430432"/>
            <a:ext cx="12193200" cy="36000"/>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楷体" panose="02010609060101010101" charset="-122"/>
              <a:ea typeface="楷体" panose="02010609060101010101" charset="-122"/>
              <a:cs typeface="Times New Roman" panose="02020603050405020304" pitchFamily="18" charset="0"/>
            </a:endParaRPr>
          </a:p>
        </p:txBody>
      </p:sp>
      <p:sp>
        <p:nvSpPr>
          <p:cNvPr id="10" name="日期占位符 9">
            <a:extLst>
              <a:ext uri="{FF2B5EF4-FFF2-40B4-BE49-F238E27FC236}">
                <a16:creationId xmlns:a16="http://schemas.microsoft.com/office/drawing/2014/main" id="{8DBF1F88-DB9C-9D54-0C78-F3BBF8FB242A}"/>
              </a:ext>
            </a:extLst>
          </p:cNvPr>
          <p:cNvSpPr>
            <a:spLocks noGrp="1"/>
          </p:cNvSpPr>
          <p:nvPr>
            <p:ph type="dt" sz="half" idx="10"/>
          </p:nvPr>
        </p:nvSpPr>
        <p:spPr/>
        <p:txBody>
          <a:bodyPr/>
          <a:lstStyle/>
          <a:p>
            <a:fld id="{ED6A685C-8354-465F-B842-294F5261B2D6}" type="datetime1">
              <a:rPr lang="zh-CN" altLang="en-US" smtClean="0"/>
              <a:t>2026-04-21</a:t>
            </a:fld>
            <a:endParaRPr lang="zh-CN" altLang="en-US" dirty="0"/>
          </a:p>
        </p:txBody>
      </p:sp>
      <p:sp>
        <p:nvSpPr>
          <p:cNvPr id="11" name="页脚占位符 10">
            <a:extLst>
              <a:ext uri="{FF2B5EF4-FFF2-40B4-BE49-F238E27FC236}">
                <a16:creationId xmlns:a16="http://schemas.microsoft.com/office/drawing/2014/main" id="{25667D9B-15C6-D4CF-709C-2451F7FECE93}"/>
              </a:ext>
            </a:extLst>
          </p:cNvPr>
          <p:cNvSpPr>
            <a:spLocks noGrp="1"/>
          </p:cNvSpPr>
          <p:nvPr>
            <p:ph type="ftr" sz="quarter" idx="11"/>
          </p:nvPr>
        </p:nvSpPr>
        <p:spPr>
          <a:xfrm>
            <a:off x="4038599" y="6356350"/>
            <a:ext cx="5159208" cy="365125"/>
          </a:xfrm>
        </p:spPr>
        <p:txBody>
          <a:bodyPr/>
          <a:lstStyle/>
          <a:p>
            <a:r>
              <a:rPr lang="zh-CN" altLang="en-US" dirty="0"/>
              <a:t>数据来源：</a:t>
            </a:r>
            <a:r>
              <a:rPr lang="en-US" altLang="zh-CN" dirty="0"/>
              <a:t>World Gold Council, Bloomberg, Vanda Research</a:t>
            </a:r>
            <a:endParaRPr lang="zh-CN" altLang="en-US" dirty="0"/>
          </a:p>
        </p:txBody>
      </p:sp>
      <p:sp>
        <p:nvSpPr>
          <p:cNvPr id="17" name="灯片编号占位符 16">
            <a:extLst>
              <a:ext uri="{FF2B5EF4-FFF2-40B4-BE49-F238E27FC236}">
                <a16:creationId xmlns:a16="http://schemas.microsoft.com/office/drawing/2014/main" id="{FB98B514-22EE-1727-046E-C1925DD2B237}"/>
              </a:ext>
            </a:extLst>
          </p:cNvPr>
          <p:cNvSpPr>
            <a:spLocks noGrp="1"/>
          </p:cNvSpPr>
          <p:nvPr>
            <p:ph type="sldNum" sz="quarter" idx="12"/>
          </p:nvPr>
        </p:nvSpPr>
        <p:spPr/>
        <p:txBody>
          <a:bodyPr/>
          <a:lstStyle/>
          <a:p>
            <a:fld id="{BAEB1E39-14EE-405C-B1D8-764466B19623}" type="slidenum">
              <a:rPr lang="zh-CN" altLang="en-US" smtClean="0"/>
              <a:t>16</a:t>
            </a:fld>
            <a:endParaRPr lang="zh-CN" altLang="en-US"/>
          </a:p>
        </p:txBody>
      </p:sp>
      <p:sp>
        <p:nvSpPr>
          <p:cNvPr id="19" name="Title 1">
            <a:extLst>
              <a:ext uri="{FF2B5EF4-FFF2-40B4-BE49-F238E27FC236}">
                <a16:creationId xmlns:a16="http://schemas.microsoft.com/office/drawing/2014/main" id="{62C3FC7B-C4F0-0B14-9B07-A5420BC6D311}"/>
              </a:ext>
            </a:extLst>
          </p:cNvPr>
          <p:cNvSpPr txBox="1"/>
          <p:nvPr/>
        </p:nvSpPr>
        <p:spPr>
          <a:xfrm>
            <a:off x="-1" y="0"/>
            <a:ext cx="8981441" cy="109852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pPr>
            <a:r>
              <a:rPr lang="zh-CN" altLang="en-US" sz="3600" b="1" kern="1200" spc="0"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去杠杆化和流动性动态</a:t>
            </a:r>
          </a:p>
        </p:txBody>
      </p:sp>
      <p:sp>
        <p:nvSpPr>
          <p:cNvPr id="18" name="文本框 17">
            <a:extLst>
              <a:ext uri="{FF2B5EF4-FFF2-40B4-BE49-F238E27FC236}">
                <a16:creationId xmlns:a16="http://schemas.microsoft.com/office/drawing/2014/main" id="{3995DAE3-2A1E-0DB1-CE53-1D04E5D262BD}"/>
              </a:ext>
            </a:extLst>
          </p:cNvPr>
          <p:cNvSpPr txBox="1"/>
          <p:nvPr/>
        </p:nvSpPr>
        <p:spPr>
          <a:xfrm>
            <a:off x="7661461" y="3472892"/>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CTA</a:t>
            </a:r>
            <a:r>
              <a:rPr lang="zh-CN" altLang="en-US" sz="1600" b="1" dirty="0"/>
              <a:t>是黄金下跌的主动抛压</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pic>
        <p:nvPicPr>
          <p:cNvPr id="8" name="图片 7">
            <a:extLst>
              <a:ext uri="{FF2B5EF4-FFF2-40B4-BE49-F238E27FC236}">
                <a16:creationId xmlns:a16="http://schemas.microsoft.com/office/drawing/2014/main" id="{EDFB4ECC-684E-F1AB-185E-EA6B89C2DE59}"/>
              </a:ext>
            </a:extLst>
          </p:cNvPr>
          <p:cNvPicPr>
            <a:picLocks noChangeAspect="1"/>
          </p:cNvPicPr>
          <p:nvPr/>
        </p:nvPicPr>
        <p:blipFill>
          <a:blip r:embed="rId3"/>
          <a:srcRect t="7447" r="1119"/>
          <a:stretch>
            <a:fillRect/>
          </a:stretch>
        </p:blipFill>
        <p:spPr>
          <a:xfrm>
            <a:off x="372845" y="3355110"/>
            <a:ext cx="5159208" cy="2756620"/>
          </a:xfrm>
          <a:prstGeom prst="rect">
            <a:avLst/>
          </a:prstGeom>
        </p:spPr>
      </p:pic>
      <p:sp>
        <p:nvSpPr>
          <p:cNvPr id="12" name="文本框 11">
            <a:extLst>
              <a:ext uri="{FF2B5EF4-FFF2-40B4-BE49-F238E27FC236}">
                <a16:creationId xmlns:a16="http://schemas.microsoft.com/office/drawing/2014/main" id="{F5075720-E389-77FE-45EC-F8FCAE2190F3}"/>
              </a:ext>
            </a:extLst>
          </p:cNvPr>
          <p:cNvSpPr txBox="1"/>
          <p:nvPr/>
        </p:nvSpPr>
        <p:spPr>
          <a:xfrm>
            <a:off x="232191" y="982821"/>
            <a:ext cx="6322595" cy="2117246"/>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t>黄金收益归因模型</a:t>
            </a:r>
            <a:r>
              <a:rPr lang="en-US" altLang="zh-CN" dirty="0"/>
              <a:t>GRAM</a:t>
            </a:r>
            <a:r>
              <a:rPr lang="zh-CN" altLang="en-US" dirty="0"/>
              <a:t>量化单因子对收益的贡献占比、追踪因子与黄金的相关性时变、识别残差项。</a:t>
            </a:r>
            <a:endParaRPr lang="en-US" altLang="zh-CN" dirty="0"/>
          </a:p>
          <a:p>
            <a:pPr marL="285750" indent="-285750">
              <a:lnSpc>
                <a:spcPct val="150000"/>
              </a:lnSpc>
              <a:buFont typeface="Wingdings" panose="05000000000000000000" pitchFamily="2" charset="2"/>
              <a:buChar char="Ø"/>
            </a:pPr>
            <a:r>
              <a:rPr lang="zh-CN" altLang="en-US" dirty="0"/>
              <a:t>该模型将大部分下跌归因于动量因素：全球黄金 </a:t>
            </a:r>
            <a:r>
              <a:rPr lang="en-US" altLang="zh-CN" dirty="0"/>
              <a:t>ETF </a:t>
            </a:r>
            <a:r>
              <a:rPr lang="zh-CN" altLang="en-US" dirty="0"/>
              <a:t>资金流出、</a:t>
            </a:r>
            <a:r>
              <a:rPr lang="en-US" altLang="zh-CN" dirty="0"/>
              <a:t>COMEX </a:t>
            </a:r>
            <a:r>
              <a:rPr lang="zh-CN" altLang="en-US" dirty="0"/>
              <a:t>净多头平仓以及价格趋势反转。美元走强和收益率的影响较小。</a:t>
            </a:r>
          </a:p>
        </p:txBody>
      </p:sp>
      <p:sp>
        <p:nvSpPr>
          <p:cNvPr id="13" name="文本框 12">
            <a:extLst>
              <a:ext uri="{FF2B5EF4-FFF2-40B4-BE49-F238E27FC236}">
                <a16:creationId xmlns:a16="http://schemas.microsoft.com/office/drawing/2014/main" id="{4CF28FD8-B8DB-7821-598B-2EEFB1FA20C3}"/>
              </a:ext>
            </a:extLst>
          </p:cNvPr>
          <p:cNvSpPr txBox="1"/>
          <p:nvPr/>
        </p:nvSpPr>
        <p:spPr>
          <a:xfrm>
            <a:off x="1179939" y="6086123"/>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动量成为</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3</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月黄金下跌的主要因素</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16" name="矩形: 圆角 15">
            <a:extLst>
              <a:ext uri="{FF2B5EF4-FFF2-40B4-BE49-F238E27FC236}">
                <a16:creationId xmlns:a16="http://schemas.microsoft.com/office/drawing/2014/main" id="{0CF00C3D-65B0-B246-5599-E75F0E97FC3E}"/>
              </a:ext>
            </a:extLst>
          </p:cNvPr>
          <p:cNvSpPr/>
          <p:nvPr/>
        </p:nvSpPr>
        <p:spPr>
          <a:xfrm>
            <a:off x="6004559" y="3990961"/>
            <a:ext cx="2839133" cy="866309"/>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p:txBody>
      </p:sp>
      <p:sp>
        <p:nvSpPr>
          <p:cNvPr id="20" name="矩形: 圆角 19">
            <a:extLst>
              <a:ext uri="{FF2B5EF4-FFF2-40B4-BE49-F238E27FC236}">
                <a16:creationId xmlns:a16="http://schemas.microsoft.com/office/drawing/2014/main" id="{D0298603-E93F-075A-D257-C5A22DFB540C}"/>
              </a:ext>
            </a:extLst>
          </p:cNvPr>
          <p:cNvSpPr/>
          <p:nvPr/>
        </p:nvSpPr>
        <p:spPr>
          <a:xfrm>
            <a:off x="6096000" y="5153914"/>
            <a:ext cx="2747693" cy="789075"/>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双重抛压共振 </a:t>
            </a:r>
            <a:endParaRPr lang="en-US" altLang="zh-CN" dirty="0">
              <a:solidFill>
                <a:schemeClr val="tx1"/>
              </a:solidFill>
            </a:endParaRPr>
          </a:p>
          <a:p>
            <a:pPr algn="ctr"/>
            <a:r>
              <a:rPr lang="zh-CN" altLang="en-US" dirty="0">
                <a:solidFill>
                  <a:schemeClr val="tx1"/>
                </a:solidFill>
              </a:rPr>
              <a:t>黄金阶段性大幅下跌</a:t>
            </a:r>
          </a:p>
        </p:txBody>
      </p:sp>
      <p:sp>
        <p:nvSpPr>
          <p:cNvPr id="25" name="矩形: 圆角 24">
            <a:extLst>
              <a:ext uri="{FF2B5EF4-FFF2-40B4-BE49-F238E27FC236}">
                <a16:creationId xmlns:a16="http://schemas.microsoft.com/office/drawing/2014/main" id="{3BB76B7B-50B5-AFC7-89D0-4A13E6A2F681}"/>
              </a:ext>
            </a:extLst>
          </p:cNvPr>
          <p:cNvSpPr/>
          <p:nvPr/>
        </p:nvSpPr>
        <p:spPr>
          <a:xfrm>
            <a:off x="9157076" y="3987049"/>
            <a:ext cx="2768691" cy="870222"/>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6" name="矩形: 圆角 25">
            <a:extLst>
              <a:ext uri="{FF2B5EF4-FFF2-40B4-BE49-F238E27FC236}">
                <a16:creationId xmlns:a16="http://schemas.microsoft.com/office/drawing/2014/main" id="{5335CB69-39F5-1C18-F4A1-551F77E5610B}"/>
              </a:ext>
            </a:extLst>
          </p:cNvPr>
          <p:cNvSpPr/>
          <p:nvPr/>
        </p:nvSpPr>
        <p:spPr>
          <a:xfrm>
            <a:off x="9216155" y="5146666"/>
            <a:ext cx="2720808" cy="796323"/>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0400881D-E261-F985-8847-3EB691E0BA15}"/>
              </a:ext>
            </a:extLst>
          </p:cNvPr>
          <p:cNvSpPr txBox="1"/>
          <p:nvPr/>
        </p:nvSpPr>
        <p:spPr>
          <a:xfrm>
            <a:off x="5714327" y="4087488"/>
            <a:ext cx="3419595" cy="923330"/>
          </a:xfrm>
          <a:prstGeom prst="rect">
            <a:avLst/>
          </a:prstGeom>
          <a:noFill/>
        </p:spPr>
        <p:txBody>
          <a:bodyPr wrap="square">
            <a:spAutoFit/>
          </a:bodyPr>
          <a:lstStyle/>
          <a:p>
            <a:pPr algn="ctr"/>
            <a:r>
              <a:rPr lang="en-US" altLang="zh-CN" sz="1800" dirty="0">
                <a:solidFill>
                  <a:schemeClr val="tx1"/>
                </a:solidFill>
              </a:rPr>
              <a:t>CTA </a:t>
            </a:r>
            <a:r>
              <a:rPr lang="zh-CN" altLang="en-US" sz="1800" dirty="0">
                <a:solidFill>
                  <a:schemeClr val="tx1"/>
                </a:solidFill>
              </a:rPr>
              <a:t>持有黄金大量多头头寸</a:t>
            </a:r>
            <a:endParaRPr lang="en-US" altLang="zh-CN" sz="1800" dirty="0">
              <a:solidFill>
                <a:schemeClr val="tx1"/>
              </a:solidFill>
            </a:endParaRPr>
          </a:p>
          <a:p>
            <a:pPr algn="ctr"/>
            <a:r>
              <a:rPr lang="zh-CN" altLang="en-US" dirty="0"/>
              <a:t>市场整体保证金债务偏高</a:t>
            </a:r>
          </a:p>
          <a:p>
            <a:pPr algn="ctr"/>
            <a:endParaRPr lang="en-US" altLang="zh-CN" sz="1800" dirty="0">
              <a:solidFill>
                <a:schemeClr val="tx1"/>
              </a:solidFill>
            </a:endParaRPr>
          </a:p>
        </p:txBody>
      </p:sp>
      <p:sp>
        <p:nvSpPr>
          <p:cNvPr id="22" name="文本框 21">
            <a:extLst>
              <a:ext uri="{FF2B5EF4-FFF2-40B4-BE49-F238E27FC236}">
                <a16:creationId xmlns:a16="http://schemas.microsoft.com/office/drawing/2014/main" id="{EC4803FC-090A-7B20-80EA-D19670F375B8}"/>
              </a:ext>
            </a:extLst>
          </p:cNvPr>
          <p:cNvSpPr txBox="1"/>
          <p:nvPr/>
        </p:nvSpPr>
        <p:spPr>
          <a:xfrm>
            <a:off x="9330863" y="4100950"/>
            <a:ext cx="2446607" cy="646331"/>
          </a:xfrm>
          <a:prstGeom prst="rect">
            <a:avLst/>
          </a:prstGeom>
          <a:noFill/>
        </p:spPr>
        <p:txBody>
          <a:bodyPr wrap="square">
            <a:spAutoFit/>
          </a:bodyPr>
          <a:lstStyle/>
          <a:p>
            <a:pPr algn="ctr"/>
            <a:r>
              <a:rPr lang="zh-CN" altLang="en-US" dirty="0"/>
              <a:t>黄金跌破 </a:t>
            </a:r>
            <a:r>
              <a:rPr lang="en-US" altLang="zh-CN" dirty="0"/>
              <a:t>50/55 </a:t>
            </a:r>
            <a:r>
              <a:rPr lang="zh-CN" altLang="en-US" dirty="0"/>
              <a:t>日均线</a:t>
            </a:r>
            <a:endParaRPr lang="en-US" altLang="zh-CN" dirty="0"/>
          </a:p>
          <a:p>
            <a:pPr algn="ctr"/>
            <a:r>
              <a:rPr lang="zh-CN" altLang="en-US" dirty="0"/>
              <a:t>美股普跌</a:t>
            </a:r>
          </a:p>
        </p:txBody>
      </p:sp>
      <p:sp>
        <p:nvSpPr>
          <p:cNvPr id="32" name="文本框 31">
            <a:extLst>
              <a:ext uri="{FF2B5EF4-FFF2-40B4-BE49-F238E27FC236}">
                <a16:creationId xmlns:a16="http://schemas.microsoft.com/office/drawing/2014/main" id="{EBE147FC-CF0D-3720-BDCD-657C5D0A8C8B}"/>
              </a:ext>
            </a:extLst>
          </p:cNvPr>
          <p:cNvSpPr txBox="1"/>
          <p:nvPr/>
        </p:nvSpPr>
        <p:spPr>
          <a:xfrm>
            <a:off x="7528559" y="5228911"/>
            <a:ext cx="6096000" cy="646331"/>
          </a:xfrm>
          <a:prstGeom prst="rect">
            <a:avLst/>
          </a:prstGeom>
          <a:noFill/>
        </p:spPr>
        <p:txBody>
          <a:bodyPr wrap="square">
            <a:spAutoFit/>
          </a:bodyPr>
          <a:lstStyle/>
          <a:p>
            <a:pPr algn="ctr"/>
            <a:r>
              <a:rPr lang="zh-CN" altLang="en-US" dirty="0"/>
              <a:t>全市场去杠杆</a:t>
            </a:r>
            <a:endParaRPr lang="en-US" altLang="zh-CN" dirty="0"/>
          </a:p>
          <a:p>
            <a:pPr algn="ctr"/>
            <a:r>
              <a:rPr lang="zh-CN" altLang="en-US" dirty="0"/>
              <a:t>补充流动性</a:t>
            </a:r>
          </a:p>
        </p:txBody>
      </p:sp>
      <p:cxnSp>
        <p:nvCxnSpPr>
          <p:cNvPr id="37" name="直接箭头连接符 36">
            <a:extLst>
              <a:ext uri="{FF2B5EF4-FFF2-40B4-BE49-F238E27FC236}">
                <a16:creationId xmlns:a16="http://schemas.microsoft.com/office/drawing/2014/main" id="{417C16AC-5CFC-1339-635C-631CFBAC007D}"/>
              </a:ext>
            </a:extLst>
          </p:cNvPr>
          <p:cNvCxnSpPr>
            <a:cxnSpLocks/>
            <a:endCxn id="25" idx="1"/>
          </p:cNvCxnSpPr>
          <p:nvPr/>
        </p:nvCxnSpPr>
        <p:spPr>
          <a:xfrm>
            <a:off x="8843693" y="4419600"/>
            <a:ext cx="313383" cy="256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直接箭头连接符 37">
            <a:extLst>
              <a:ext uri="{FF2B5EF4-FFF2-40B4-BE49-F238E27FC236}">
                <a16:creationId xmlns:a16="http://schemas.microsoft.com/office/drawing/2014/main" id="{6D4AE4B3-6C15-4EC2-367D-D7E4E6F2DB2C}"/>
              </a:ext>
            </a:extLst>
          </p:cNvPr>
          <p:cNvCxnSpPr>
            <a:cxnSpLocks/>
          </p:cNvCxnSpPr>
          <p:nvPr/>
        </p:nvCxnSpPr>
        <p:spPr>
          <a:xfrm flipH="1">
            <a:off x="8837715" y="5549819"/>
            <a:ext cx="360092" cy="45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直接箭头连接符 40">
            <a:extLst>
              <a:ext uri="{FF2B5EF4-FFF2-40B4-BE49-F238E27FC236}">
                <a16:creationId xmlns:a16="http://schemas.microsoft.com/office/drawing/2014/main" id="{5FEF633C-AC4A-6B8C-3662-640FC91EAAD7}"/>
              </a:ext>
            </a:extLst>
          </p:cNvPr>
          <p:cNvCxnSpPr>
            <a:cxnSpLocks/>
          </p:cNvCxnSpPr>
          <p:nvPr/>
        </p:nvCxnSpPr>
        <p:spPr>
          <a:xfrm>
            <a:off x="10554164" y="4857270"/>
            <a:ext cx="1" cy="2662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47" name="图片 46">
            <a:extLst>
              <a:ext uri="{FF2B5EF4-FFF2-40B4-BE49-F238E27FC236}">
                <a16:creationId xmlns:a16="http://schemas.microsoft.com/office/drawing/2014/main" id="{6C31A632-D53C-0C74-2375-9E1D1857376C}"/>
              </a:ext>
            </a:extLst>
          </p:cNvPr>
          <p:cNvPicPr>
            <a:picLocks noChangeAspect="1"/>
          </p:cNvPicPr>
          <p:nvPr/>
        </p:nvPicPr>
        <p:blipFill>
          <a:blip r:embed="rId4"/>
          <a:srcRect t="7528" r="-180" b="5417"/>
          <a:stretch>
            <a:fillRect/>
          </a:stretch>
        </p:blipFill>
        <p:spPr>
          <a:xfrm>
            <a:off x="6524194" y="967807"/>
            <a:ext cx="5456356" cy="2370755"/>
          </a:xfrm>
          <a:prstGeom prst="rect">
            <a:avLst/>
          </a:prstGeom>
        </p:spPr>
      </p:pic>
    </p:spTree>
    <p:extLst>
      <p:ext uri="{BB962C8B-B14F-4D97-AF65-F5344CB8AC3E}">
        <p14:creationId xmlns:p14="http://schemas.microsoft.com/office/powerpoint/2010/main" val="3897922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9C8E5-5652-4ED5-AED9-9B16FA862B5F}"/>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112B409-EFB5-CFCC-BB31-586B11EE27B2}"/>
              </a:ext>
            </a:extLst>
          </p:cNvPr>
          <p:cNvSpPr/>
          <p:nvPr/>
        </p:nvSpPr>
        <p:spPr>
          <a:xfrm>
            <a:off x="0" y="808187"/>
            <a:ext cx="12192000" cy="45719"/>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楷体" panose="02010609060101010101" charset="-122"/>
              <a:ea typeface="楷体" panose="02010609060101010101" charset="-122"/>
              <a:cs typeface="Times New Roman" panose="02020603050405020304" pitchFamily="18" charset="0"/>
            </a:endParaRPr>
          </a:p>
        </p:txBody>
      </p:sp>
      <p:sp>
        <p:nvSpPr>
          <p:cNvPr id="2" name="矩形 1">
            <a:extLst>
              <a:ext uri="{FF2B5EF4-FFF2-40B4-BE49-F238E27FC236}">
                <a16:creationId xmlns:a16="http://schemas.microsoft.com/office/drawing/2014/main" id="{8D7C4F74-26B4-6636-21A4-A7C831AA281E}"/>
              </a:ext>
            </a:extLst>
          </p:cNvPr>
          <p:cNvSpPr/>
          <p:nvPr/>
        </p:nvSpPr>
        <p:spPr>
          <a:xfrm>
            <a:off x="-235" y="6430432"/>
            <a:ext cx="12193200" cy="36000"/>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楷体" panose="02010609060101010101" charset="-122"/>
              <a:ea typeface="楷体" panose="02010609060101010101" charset="-122"/>
              <a:cs typeface="Times New Roman" panose="02020603050405020304" pitchFamily="18" charset="0"/>
            </a:endParaRPr>
          </a:p>
        </p:txBody>
      </p:sp>
      <p:sp>
        <p:nvSpPr>
          <p:cNvPr id="10" name="日期占位符 9">
            <a:extLst>
              <a:ext uri="{FF2B5EF4-FFF2-40B4-BE49-F238E27FC236}">
                <a16:creationId xmlns:a16="http://schemas.microsoft.com/office/drawing/2014/main" id="{BA250A10-9F85-90A1-F91E-3D6C0DAD6777}"/>
              </a:ext>
            </a:extLst>
          </p:cNvPr>
          <p:cNvSpPr>
            <a:spLocks noGrp="1"/>
          </p:cNvSpPr>
          <p:nvPr>
            <p:ph type="dt" sz="half" idx="10"/>
          </p:nvPr>
        </p:nvSpPr>
        <p:spPr/>
        <p:txBody>
          <a:bodyPr/>
          <a:lstStyle/>
          <a:p>
            <a:fld id="{ED6A685C-8354-465F-B842-294F5261B2D6}" type="datetime1">
              <a:rPr lang="zh-CN" altLang="en-US" smtClean="0"/>
              <a:t>2026-04-21</a:t>
            </a:fld>
            <a:endParaRPr lang="zh-CN" altLang="en-US" dirty="0"/>
          </a:p>
        </p:txBody>
      </p:sp>
      <p:sp>
        <p:nvSpPr>
          <p:cNvPr id="11" name="页脚占位符 10">
            <a:extLst>
              <a:ext uri="{FF2B5EF4-FFF2-40B4-BE49-F238E27FC236}">
                <a16:creationId xmlns:a16="http://schemas.microsoft.com/office/drawing/2014/main" id="{20B8672E-98FA-C5CF-0B16-F6CE2C45CBA3}"/>
              </a:ext>
            </a:extLst>
          </p:cNvPr>
          <p:cNvSpPr>
            <a:spLocks noGrp="1"/>
          </p:cNvSpPr>
          <p:nvPr>
            <p:ph type="ftr" sz="quarter" idx="11"/>
          </p:nvPr>
        </p:nvSpPr>
        <p:spPr>
          <a:xfrm>
            <a:off x="3921759" y="6403340"/>
            <a:ext cx="4688841" cy="365125"/>
          </a:xfrm>
        </p:spPr>
        <p:txBody>
          <a:bodyPr/>
          <a:lstStyle/>
          <a:p>
            <a:r>
              <a:rPr lang="zh-CN" altLang="en-US" dirty="0"/>
              <a:t>数据来源：</a:t>
            </a:r>
            <a:r>
              <a:rPr lang="en-US" altLang="zh-CN" dirty="0"/>
              <a:t>World Gold Council, IMF</a:t>
            </a:r>
            <a:endParaRPr lang="zh-CN" altLang="en-US" dirty="0"/>
          </a:p>
        </p:txBody>
      </p:sp>
      <p:sp>
        <p:nvSpPr>
          <p:cNvPr id="17" name="灯片编号占位符 16">
            <a:extLst>
              <a:ext uri="{FF2B5EF4-FFF2-40B4-BE49-F238E27FC236}">
                <a16:creationId xmlns:a16="http://schemas.microsoft.com/office/drawing/2014/main" id="{3E92BB8C-FC01-EAEE-2692-B8F98AF36B21}"/>
              </a:ext>
            </a:extLst>
          </p:cNvPr>
          <p:cNvSpPr>
            <a:spLocks noGrp="1"/>
          </p:cNvSpPr>
          <p:nvPr>
            <p:ph type="sldNum" sz="quarter" idx="12"/>
          </p:nvPr>
        </p:nvSpPr>
        <p:spPr/>
        <p:txBody>
          <a:bodyPr/>
          <a:lstStyle/>
          <a:p>
            <a:fld id="{BAEB1E39-14EE-405C-B1D8-764466B19623}" type="slidenum">
              <a:rPr lang="zh-CN" altLang="en-US" smtClean="0"/>
              <a:t>17</a:t>
            </a:fld>
            <a:endParaRPr lang="zh-CN" altLang="en-US"/>
          </a:p>
        </p:txBody>
      </p:sp>
      <p:sp>
        <p:nvSpPr>
          <p:cNvPr id="19" name="Title 1">
            <a:extLst>
              <a:ext uri="{FF2B5EF4-FFF2-40B4-BE49-F238E27FC236}">
                <a16:creationId xmlns:a16="http://schemas.microsoft.com/office/drawing/2014/main" id="{E49AB0B8-F61D-B579-8296-7CCB118DC4C5}"/>
              </a:ext>
            </a:extLst>
          </p:cNvPr>
          <p:cNvSpPr txBox="1"/>
          <p:nvPr/>
        </p:nvSpPr>
        <p:spPr>
          <a:xfrm>
            <a:off x="-1" y="0"/>
            <a:ext cx="4670613" cy="109852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pPr>
            <a:r>
              <a:rPr lang="zh-CN" altLang="en-US" sz="3600" b="1" kern="1200" spc="0" dirty="0">
                <a:latin typeface="楷体" panose="02010609060101010101" charset="-122"/>
                <a:ea typeface="楷体" panose="02010609060101010101" charset="-122"/>
                <a:cs typeface="Times New Roman" panose="02020603050405020304" pitchFamily="18" charset="0"/>
              </a:rPr>
              <a:t> </a:t>
            </a:r>
            <a:r>
              <a:rPr lang="zh-CN" altLang="en-US" sz="3600" b="1" kern="1200"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长期支撑逻辑不变</a:t>
            </a:r>
            <a:endParaRPr lang="zh-CN" altLang="en-US" sz="3600" b="1" kern="1200" spc="0" dirty="0">
              <a:latin typeface="楷体" panose="02010609060101010101" charset="-122"/>
              <a:ea typeface="楷体" panose="02010609060101010101" charset="-122"/>
              <a:cs typeface="Times New Roman" panose="02020603050405020304" pitchFamily="18" charset="0"/>
            </a:endParaRPr>
          </a:p>
        </p:txBody>
      </p:sp>
      <p:sp>
        <p:nvSpPr>
          <p:cNvPr id="8" name="文本框 7">
            <a:extLst>
              <a:ext uri="{FF2B5EF4-FFF2-40B4-BE49-F238E27FC236}">
                <a16:creationId xmlns:a16="http://schemas.microsoft.com/office/drawing/2014/main" id="{42B80B34-0005-5C6A-4C54-A605E7BED6C9}"/>
              </a:ext>
            </a:extLst>
          </p:cNvPr>
          <p:cNvSpPr txBox="1"/>
          <p:nvPr/>
        </p:nvSpPr>
        <p:spPr>
          <a:xfrm>
            <a:off x="351415" y="2380147"/>
            <a:ext cx="11200505" cy="646331"/>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000000"/>
                </a:solidFill>
                <a:effectLst/>
                <a:latin typeface="ui-sans-serif"/>
              </a:rPr>
              <a:t>黄金长期支撑逻辑仍成立</a:t>
            </a:r>
            <a:r>
              <a:rPr lang="zh-CN" altLang="en-US" dirty="0">
                <a:solidFill>
                  <a:srgbClr val="000000"/>
                </a:solidFill>
                <a:latin typeface="ui-sans-serif"/>
              </a:rPr>
              <a:t>：地缘风险常态化、非美央行购金意愿强劲、全球经济由 </a:t>
            </a:r>
            <a:r>
              <a:rPr lang="en-US" altLang="zh-CN" dirty="0">
                <a:solidFill>
                  <a:srgbClr val="000000"/>
                </a:solidFill>
                <a:latin typeface="ui-sans-serif"/>
              </a:rPr>
              <a:t>"</a:t>
            </a:r>
            <a:r>
              <a:rPr lang="zh-CN" altLang="en-US" dirty="0">
                <a:solidFill>
                  <a:srgbClr val="000000"/>
                </a:solidFill>
                <a:latin typeface="ui-sans-serif"/>
              </a:rPr>
              <a:t>胀</a:t>
            </a:r>
            <a:r>
              <a:rPr lang="en-US" altLang="zh-CN" dirty="0">
                <a:solidFill>
                  <a:srgbClr val="000000"/>
                </a:solidFill>
                <a:latin typeface="ui-sans-serif"/>
              </a:rPr>
              <a:t>" </a:t>
            </a:r>
            <a:r>
              <a:rPr lang="zh-CN" altLang="en-US" dirty="0">
                <a:solidFill>
                  <a:srgbClr val="000000"/>
                </a:solidFill>
                <a:latin typeface="ui-sans-serif"/>
              </a:rPr>
              <a:t>转 </a:t>
            </a:r>
            <a:r>
              <a:rPr lang="en-US" altLang="zh-CN" dirty="0">
                <a:solidFill>
                  <a:srgbClr val="000000"/>
                </a:solidFill>
                <a:latin typeface="ui-sans-serif"/>
              </a:rPr>
              <a:t>"</a:t>
            </a:r>
            <a:r>
              <a:rPr lang="zh-CN" altLang="en-US" dirty="0">
                <a:solidFill>
                  <a:srgbClr val="000000"/>
                </a:solidFill>
                <a:latin typeface="ui-sans-serif"/>
              </a:rPr>
              <a:t>滞</a:t>
            </a:r>
            <a:r>
              <a:rPr lang="en-US" altLang="zh-CN" dirty="0">
                <a:solidFill>
                  <a:srgbClr val="000000"/>
                </a:solidFill>
                <a:latin typeface="ui-sans-serif"/>
              </a:rPr>
              <a:t>" </a:t>
            </a:r>
            <a:r>
              <a:rPr lang="zh-CN" altLang="en-US" dirty="0">
                <a:solidFill>
                  <a:srgbClr val="000000"/>
                </a:solidFill>
                <a:latin typeface="ui-sans-serif"/>
              </a:rPr>
              <a:t>的风险。</a:t>
            </a:r>
          </a:p>
          <a:p>
            <a:pPr marL="285750" indent="-285750">
              <a:buFont typeface="Wingdings" panose="05000000000000000000" pitchFamily="2" charset="2"/>
              <a:buChar char="Ø"/>
            </a:pPr>
            <a:endParaRPr lang="zh-CN" altLang="en-US" dirty="0"/>
          </a:p>
        </p:txBody>
      </p:sp>
      <p:sp>
        <p:nvSpPr>
          <p:cNvPr id="49" name="文本框 48">
            <a:extLst>
              <a:ext uri="{FF2B5EF4-FFF2-40B4-BE49-F238E27FC236}">
                <a16:creationId xmlns:a16="http://schemas.microsoft.com/office/drawing/2014/main" id="{16D47FA9-882D-B142-1821-97F2359AF513}"/>
              </a:ext>
            </a:extLst>
          </p:cNvPr>
          <p:cNvSpPr txBox="1"/>
          <p:nvPr/>
        </p:nvSpPr>
        <p:spPr>
          <a:xfrm>
            <a:off x="1583756" y="5894818"/>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新兴市场近五年净买入量上升</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51" name="文本框 50">
            <a:extLst>
              <a:ext uri="{FF2B5EF4-FFF2-40B4-BE49-F238E27FC236}">
                <a16:creationId xmlns:a16="http://schemas.microsoft.com/office/drawing/2014/main" id="{5E738FF2-4E5C-8613-4816-70524BA4DBDD}"/>
              </a:ext>
            </a:extLst>
          </p:cNvPr>
          <p:cNvSpPr txBox="1"/>
          <p:nvPr/>
        </p:nvSpPr>
        <p:spPr>
          <a:xfrm>
            <a:off x="351415" y="1019815"/>
            <a:ext cx="11489170" cy="1286250"/>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solidFill>
                  <a:srgbClr val="000000"/>
                </a:solidFill>
                <a:latin typeface="Noto Sans" panose="020B0502040504020204" pitchFamily="34" charset="0"/>
              </a:rPr>
              <a:t>央行干预</a:t>
            </a:r>
            <a:r>
              <a:rPr lang="zh-CN" altLang="en-US" b="0" i="0" dirty="0">
                <a:solidFill>
                  <a:srgbClr val="000000"/>
                </a:solidFill>
                <a:effectLst/>
                <a:latin typeface="Noto Sans" panose="020B0502040504020204" pitchFamily="34" charset="0"/>
              </a:rPr>
              <a:t>以及市场对央行抛售黄金的猜测，也可能加剧了金价下行</a:t>
            </a:r>
            <a:r>
              <a:rPr lang="zh-CN" altLang="en-US" dirty="0">
                <a:solidFill>
                  <a:srgbClr val="000000"/>
                </a:solidFill>
                <a:latin typeface="Noto Sans" panose="020B0502040504020204" pitchFamily="34" charset="0"/>
              </a:rPr>
              <a:t>压力</a:t>
            </a:r>
            <a:r>
              <a:rPr lang="zh-CN" altLang="en-US" b="0" i="0" dirty="0">
                <a:solidFill>
                  <a:srgbClr val="000000"/>
                </a:solidFill>
                <a:effectLst/>
                <a:latin typeface="Noto Sans" panose="020B0502040504020204" pitchFamily="34" charset="0"/>
              </a:rPr>
              <a:t>。</a:t>
            </a:r>
            <a:endParaRPr lang="en-US" altLang="zh-CN" b="0" i="0" dirty="0">
              <a:solidFill>
                <a:srgbClr val="000000"/>
              </a:solidFill>
              <a:effectLst/>
              <a:latin typeface="Noto Sans" panose="020B0502040504020204" pitchFamily="34" charset="0"/>
            </a:endParaRPr>
          </a:p>
          <a:p>
            <a:pPr lvl="1" algn="just">
              <a:lnSpc>
                <a:spcPct val="150000"/>
              </a:lnSpc>
            </a:pPr>
            <a:r>
              <a:rPr lang="zh-CN" altLang="en-US" b="0" i="0" dirty="0">
                <a:solidFill>
                  <a:srgbClr val="000000"/>
                </a:solidFill>
                <a:effectLst/>
                <a:latin typeface="Noto Sans" panose="020B0502040504020204" pitchFamily="34" charset="0"/>
              </a:rPr>
              <a:t>土耳其共和国中央银行决定将约</a:t>
            </a:r>
            <a:r>
              <a:rPr lang="en-US" altLang="zh-CN" b="0" i="0" dirty="0">
                <a:solidFill>
                  <a:srgbClr val="000000"/>
                </a:solidFill>
                <a:effectLst/>
              </a:rPr>
              <a:t>50</a:t>
            </a:r>
            <a:r>
              <a:rPr lang="zh-CN" altLang="en-US" b="0" i="0" dirty="0">
                <a:solidFill>
                  <a:srgbClr val="000000"/>
                </a:solidFill>
                <a:effectLst/>
                <a:latin typeface="Noto Sans" panose="020B0502040504020204" pitchFamily="34" charset="0"/>
              </a:rPr>
              <a:t>吨黄金作为抵押品，这一决定可能助长了抛售传闻。自</a:t>
            </a:r>
            <a:r>
              <a:rPr lang="en-US" altLang="zh-CN" b="0" i="0" dirty="0">
                <a:solidFill>
                  <a:srgbClr val="000000"/>
                </a:solidFill>
                <a:effectLst/>
              </a:rPr>
              <a:t>2017</a:t>
            </a:r>
            <a:r>
              <a:rPr lang="zh-CN" altLang="en-US" b="0" i="0" dirty="0">
                <a:solidFill>
                  <a:srgbClr val="000000"/>
                </a:solidFill>
                <a:effectLst/>
                <a:latin typeface="Noto Sans" panose="020B0502040504020204" pitchFamily="34" charset="0"/>
              </a:rPr>
              <a:t>年以来，土耳其一直是黄金的主要买家，其此次决定再次印证了黄金在市场动荡时期作为储备资产不可或缺的基本原理</a:t>
            </a:r>
            <a:endParaRPr lang="zh-CN" altLang="en-US" dirty="0"/>
          </a:p>
        </p:txBody>
      </p:sp>
      <p:graphicFrame>
        <p:nvGraphicFramePr>
          <p:cNvPr id="58" name="图表 57">
            <a:extLst>
              <a:ext uri="{FF2B5EF4-FFF2-40B4-BE49-F238E27FC236}">
                <a16:creationId xmlns:a16="http://schemas.microsoft.com/office/drawing/2014/main" id="{D56EC8FC-6EDE-6621-B748-F77F88EBEABE}"/>
              </a:ext>
            </a:extLst>
          </p:cNvPr>
          <p:cNvGraphicFramePr>
            <a:graphicFrameLocks/>
          </p:cNvGraphicFramePr>
          <p:nvPr/>
        </p:nvGraphicFramePr>
        <p:xfrm>
          <a:off x="985521" y="3119681"/>
          <a:ext cx="5455919" cy="2751642"/>
        </p:xfrm>
        <a:graphic>
          <a:graphicData uri="http://schemas.openxmlformats.org/drawingml/2006/chart">
            <c:chart xmlns:c="http://schemas.openxmlformats.org/drawingml/2006/chart" xmlns:r="http://schemas.openxmlformats.org/officeDocument/2006/relationships" r:id="rId3"/>
          </a:graphicData>
        </a:graphic>
      </p:graphicFrame>
      <p:pic>
        <p:nvPicPr>
          <p:cNvPr id="61" name="图片 60">
            <a:extLst>
              <a:ext uri="{FF2B5EF4-FFF2-40B4-BE49-F238E27FC236}">
                <a16:creationId xmlns:a16="http://schemas.microsoft.com/office/drawing/2014/main" id="{4C3AE3A4-1BE8-8E54-ECFB-5B41116FEEF7}"/>
              </a:ext>
            </a:extLst>
          </p:cNvPr>
          <p:cNvPicPr>
            <a:picLocks noChangeAspect="1"/>
          </p:cNvPicPr>
          <p:nvPr/>
        </p:nvPicPr>
        <p:blipFill>
          <a:blip r:embed="rId4"/>
          <a:stretch>
            <a:fillRect/>
          </a:stretch>
        </p:blipFill>
        <p:spPr>
          <a:xfrm>
            <a:off x="6126060" y="2939469"/>
            <a:ext cx="5171860" cy="2955349"/>
          </a:xfrm>
          <a:prstGeom prst="rect">
            <a:avLst/>
          </a:prstGeom>
        </p:spPr>
      </p:pic>
      <p:sp>
        <p:nvSpPr>
          <p:cNvPr id="62" name="文本框 61">
            <a:extLst>
              <a:ext uri="{FF2B5EF4-FFF2-40B4-BE49-F238E27FC236}">
                <a16:creationId xmlns:a16="http://schemas.microsoft.com/office/drawing/2014/main" id="{82911BF1-9C1F-72D9-4A01-942066A09771}"/>
              </a:ext>
            </a:extLst>
          </p:cNvPr>
          <p:cNvSpPr txBox="1"/>
          <p:nvPr/>
        </p:nvSpPr>
        <p:spPr>
          <a:xfrm>
            <a:off x="6707518" y="5918313"/>
            <a:ext cx="4296966"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lang="zh-CN" altLang="en-US" sz="1600" b="1" dirty="0">
                <a:solidFill>
                  <a:prstClr val="black"/>
                </a:solidFill>
                <a:latin typeface="Times New Roman" panose="02020603050405020304"/>
                <a:ea typeface="楷体" panose="02010609060101010101" charset="-122"/>
              </a:rPr>
              <a:t>黄金在全球外汇储备中的占比持续上升</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Tree>
    <p:extLst>
      <p:ext uri="{BB962C8B-B14F-4D97-AF65-F5344CB8AC3E}">
        <p14:creationId xmlns:p14="http://schemas.microsoft.com/office/powerpoint/2010/main" val="4114268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7DE93-BFF7-705C-E34A-1CD668764E3B}"/>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6F1FF6B9-6A01-7C67-5DD7-36008B26A7D2}"/>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74169D81-50A3-1100-28C8-AF5AB72F9285}"/>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79401323-678A-0837-6716-B6562DB3F04D}"/>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599D10F9-E781-3F17-76EE-EF4905EAFC25}"/>
              </a:ext>
            </a:extLst>
          </p:cNvPr>
          <p:cNvSpPr>
            <a:spLocks noGrp="1"/>
          </p:cNvSpPr>
          <p:nvPr>
            <p:ph type="sldNum" sz="quarter" idx="12"/>
          </p:nvPr>
        </p:nvSpPr>
        <p:spPr/>
        <p:txBody>
          <a:bodyPr/>
          <a:lstStyle/>
          <a:p>
            <a:fld id="{BAEB1E39-14EE-405C-B1D8-764466B19623}" type="slidenum">
              <a:rPr lang="zh-CN" altLang="en-US" smtClean="0"/>
              <a:t>18</a:t>
            </a:fld>
            <a:endParaRPr lang="zh-CN" altLang="en-US"/>
          </a:p>
        </p:txBody>
      </p:sp>
      <p:sp>
        <p:nvSpPr>
          <p:cNvPr id="3" name="Title 1">
            <a:extLst>
              <a:ext uri="{FF2B5EF4-FFF2-40B4-BE49-F238E27FC236}">
                <a16:creationId xmlns:a16="http://schemas.microsoft.com/office/drawing/2014/main" id="{8F68C775-F5CE-83EB-BD24-94965FB7EB50}"/>
              </a:ext>
            </a:extLst>
          </p:cNvPr>
          <p:cNvSpPr txBox="1">
            <a:spLocks/>
          </p:cNvSpPr>
          <p:nvPr/>
        </p:nvSpPr>
        <p:spPr>
          <a:xfrm>
            <a:off x="133873" y="0"/>
            <a:ext cx="8104691"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地缘危机下的美元虹吸现象</a:t>
            </a:r>
          </a:p>
        </p:txBody>
      </p:sp>
      <p:sp>
        <p:nvSpPr>
          <p:cNvPr id="9" name="文本框 8">
            <a:extLst>
              <a:ext uri="{FF2B5EF4-FFF2-40B4-BE49-F238E27FC236}">
                <a16:creationId xmlns:a16="http://schemas.microsoft.com/office/drawing/2014/main" id="{49C517BA-49F5-82E8-31DD-4CA4A3F1E64F}"/>
              </a:ext>
            </a:extLst>
          </p:cNvPr>
          <p:cNvSpPr txBox="1"/>
          <p:nvPr/>
        </p:nvSpPr>
        <p:spPr>
          <a:xfrm>
            <a:off x="8088445" y="6074641"/>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lang="zh-CN" altLang="en-US" sz="1600" b="1" dirty="0">
                <a:solidFill>
                  <a:prstClr val="black"/>
                </a:solidFill>
                <a:latin typeface="Times New Roman" panose="02020603050405020304"/>
                <a:ea typeface="楷体" panose="02010609060101010101" charset="-122"/>
              </a:rPr>
              <a:t>美元呈现避险属性</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pic>
        <p:nvPicPr>
          <p:cNvPr id="13" name="图片 12">
            <a:extLst>
              <a:ext uri="{FF2B5EF4-FFF2-40B4-BE49-F238E27FC236}">
                <a16:creationId xmlns:a16="http://schemas.microsoft.com/office/drawing/2014/main" id="{A4B3E9D3-161E-85CB-CBC8-A862183C969D}"/>
              </a:ext>
            </a:extLst>
          </p:cNvPr>
          <p:cNvPicPr>
            <a:picLocks noChangeAspect="1"/>
          </p:cNvPicPr>
          <p:nvPr/>
        </p:nvPicPr>
        <p:blipFill>
          <a:blip r:embed="rId3"/>
          <a:srcRect l="691" t="9132"/>
          <a:stretch>
            <a:fillRect/>
          </a:stretch>
        </p:blipFill>
        <p:spPr>
          <a:xfrm>
            <a:off x="6630405" y="2996903"/>
            <a:ext cx="5279730" cy="3131283"/>
          </a:xfrm>
          <a:prstGeom prst="rect">
            <a:avLst/>
          </a:prstGeom>
        </p:spPr>
      </p:pic>
      <p:sp>
        <p:nvSpPr>
          <p:cNvPr id="14" name="页脚占位符 10">
            <a:extLst>
              <a:ext uri="{FF2B5EF4-FFF2-40B4-BE49-F238E27FC236}">
                <a16:creationId xmlns:a16="http://schemas.microsoft.com/office/drawing/2014/main" id="{306B8FB4-D81F-4BE3-7F44-7E58ECB33801}"/>
              </a:ext>
            </a:extLst>
          </p:cNvPr>
          <p:cNvSpPr>
            <a:spLocks noGrp="1"/>
          </p:cNvSpPr>
          <p:nvPr>
            <p:ph type="ftr" sz="quarter" idx="11"/>
          </p:nvPr>
        </p:nvSpPr>
        <p:spPr>
          <a:xfrm>
            <a:off x="3921759" y="6403340"/>
            <a:ext cx="4688841" cy="365125"/>
          </a:xfrm>
        </p:spPr>
        <p:txBody>
          <a:bodyPr/>
          <a:lstStyle/>
          <a:p>
            <a:r>
              <a:rPr lang="zh-CN" altLang="en-US" dirty="0"/>
              <a:t>数据来源：</a:t>
            </a:r>
            <a:r>
              <a:rPr lang="en-US" altLang="zh-CN" dirty="0"/>
              <a:t>Wind, IEA</a:t>
            </a:r>
            <a:endParaRPr lang="zh-CN" altLang="en-US" dirty="0"/>
          </a:p>
        </p:txBody>
      </p:sp>
      <p:pic>
        <p:nvPicPr>
          <p:cNvPr id="21" name="图片 20">
            <a:extLst>
              <a:ext uri="{FF2B5EF4-FFF2-40B4-BE49-F238E27FC236}">
                <a16:creationId xmlns:a16="http://schemas.microsoft.com/office/drawing/2014/main" id="{82BC1330-C80F-6AAE-2A48-EC57AB4927C8}"/>
              </a:ext>
            </a:extLst>
          </p:cNvPr>
          <p:cNvPicPr>
            <a:picLocks noChangeAspect="1"/>
          </p:cNvPicPr>
          <p:nvPr/>
        </p:nvPicPr>
        <p:blipFill>
          <a:blip r:embed="rId4"/>
          <a:stretch>
            <a:fillRect/>
          </a:stretch>
        </p:blipFill>
        <p:spPr>
          <a:xfrm>
            <a:off x="669330" y="2931459"/>
            <a:ext cx="5211517" cy="3257733"/>
          </a:xfrm>
          <a:prstGeom prst="rect">
            <a:avLst/>
          </a:prstGeom>
        </p:spPr>
      </p:pic>
      <p:sp>
        <p:nvSpPr>
          <p:cNvPr id="22" name="文本框 21">
            <a:extLst>
              <a:ext uri="{FF2B5EF4-FFF2-40B4-BE49-F238E27FC236}">
                <a16:creationId xmlns:a16="http://schemas.microsoft.com/office/drawing/2014/main" id="{2F268376-581F-3366-DE26-B7B33E7D9D2E}"/>
              </a:ext>
            </a:extLst>
          </p:cNvPr>
          <p:cNvSpPr txBox="1"/>
          <p:nvPr/>
        </p:nvSpPr>
        <p:spPr>
          <a:xfrm>
            <a:off x="1011401" y="6099562"/>
            <a:ext cx="4952680"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lang="zh-CN" altLang="en-US" sz="1600" b="1" dirty="0">
                <a:solidFill>
                  <a:prstClr val="black"/>
                </a:solidFill>
                <a:latin typeface="Times New Roman" panose="02020603050405020304"/>
                <a:ea typeface="楷体" panose="02010609060101010101" charset="-122"/>
              </a:rPr>
              <a:t>美元相对传统避险货币瑞郎、日元大幅走强</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23" name="文本框 22">
            <a:extLst>
              <a:ext uri="{FF2B5EF4-FFF2-40B4-BE49-F238E27FC236}">
                <a16:creationId xmlns:a16="http://schemas.microsoft.com/office/drawing/2014/main" id="{76916FF9-ADDC-BA99-31F8-CEE80BEE5422}"/>
              </a:ext>
            </a:extLst>
          </p:cNvPr>
          <p:cNvSpPr txBox="1"/>
          <p:nvPr/>
        </p:nvSpPr>
        <p:spPr>
          <a:xfrm>
            <a:off x="168399" y="1053591"/>
            <a:ext cx="11889728" cy="1701748"/>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t>美国受油价冲击小于欧洲和日本等能源进口国。美国自</a:t>
            </a:r>
            <a:r>
              <a:rPr lang="en-US" altLang="zh-CN" dirty="0"/>
              <a:t>2019</a:t>
            </a:r>
            <a:r>
              <a:rPr lang="zh-CN" altLang="en-US" dirty="0"/>
              <a:t>年起已成为能源净出口国，而欧洲和日本的能源进口依赖度仍分别高达</a:t>
            </a:r>
            <a:r>
              <a:rPr lang="en-US" altLang="zh-CN" dirty="0"/>
              <a:t>57%</a:t>
            </a:r>
            <a:r>
              <a:rPr lang="zh-CN" altLang="en-US" dirty="0"/>
              <a:t>和</a:t>
            </a:r>
            <a:r>
              <a:rPr lang="en-US" altLang="zh-CN" dirty="0"/>
              <a:t>85%</a:t>
            </a:r>
            <a:r>
              <a:rPr lang="zh-CN" altLang="en-US" dirty="0"/>
              <a:t>。</a:t>
            </a:r>
            <a:endParaRPr lang="en-US" altLang="zh-CN" dirty="0"/>
          </a:p>
          <a:p>
            <a:pPr marL="285750" indent="-285750">
              <a:lnSpc>
                <a:spcPct val="150000"/>
              </a:lnSpc>
              <a:buFont typeface="Wingdings" panose="05000000000000000000" pitchFamily="2" charset="2"/>
              <a:buChar char="Ø"/>
            </a:pPr>
            <a:r>
              <a:rPr lang="zh-CN" altLang="en-US" dirty="0"/>
              <a:t>由于通胀担忧导致市场下调美联储年内降息预期，股票、债券、黄金等非现金资产明显回调，资金出于避险需要，增加美元现金配置。此外，美债相对其他国家利差走阔。</a:t>
            </a:r>
          </a:p>
        </p:txBody>
      </p:sp>
    </p:spTree>
    <p:extLst>
      <p:ext uri="{BB962C8B-B14F-4D97-AF65-F5344CB8AC3E}">
        <p14:creationId xmlns:p14="http://schemas.microsoft.com/office/powerpoint/2010/main" val="1790624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82452-657F-27F9-F420-20620747BCA3}"/>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A777676D-F421-36DD-535F-2869DDCA5F92}"/>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87884B28-9947-558B-1AE3-CA86E1315777}"/>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AB92E738-BA84-9B51-3D8A-0BB6B1373823}"/>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152D8A54-7B68-7D22-56DC-8A447A37533D}"/>
              </a:ext>
            </a:extLst>
          </p:cNvPr>
          <p:cNvSpPr>
            <a:spLocks noGrp="1"/>
          </p:cNvSpPr>
          <p:nvPr>
            <p:ph type="sldNum" sz="quarter" idx="12"/>
          </p:nvPr>
        </p:nvSpPr>
        <p:spPr/>
        <p:txBody>
          <a:bodyPr/>
          <a:lstStyle/>
          <a:p>
            <a:fld id="{BAEB1E39-14EE-405C-B1D8-764466B19623}" type="slidenum">
              <a:rPr lang="zh-CN" altLang="en-US" smtClean="0"/>
              <a:t>19</a:t>
            </a:fld>
            <a:endParaRPr lang="zh-CN" altLang="en-US"/>
          </a:p>
        </p:txBody>
      </p:sp>
      <p:sp>
        <p:nvSpPr>
          <p:cNvPr id="3" name="Title 1">
            <a:extLst>
              <a:ext uri="{FF2B5EF4-FFF2-40B4-BE49-F238E27FC236}">
                <a16:creationId xmlns:a16="http://schemas.microsoft.com/office/drawing/2014/main" id="{0356677E-6A81-3F66-AE0D-D9CC478D5666}"/>
              </a:ext>
            </a:extLst>
          </p:cNvPr>
          <p:cNvSpPr txBox="1">
            <a:spLocks/>
          </p:cNvSpPr>
          <p:nvPr/>
        </p:nvSpPr>
        <p:spPr>
          <a:xfrm>
            <a:off x="-394446" y="0"/>
            <a:ext cx="6284258"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讨论点一</a:t>
            </a:r>
          </a:p>
        </p:txBody>
      </p:sp>
      <p:sp>
        <p:nvSpPr>
          <p:cNvPr id="6" name="文本框 5">
            <a:extLst>
              <a:ext uri="{FF2B5EF4-FFF2-40B4-BE49-F238E27FC236}">
                <a16:creationId xmlns:a16="http://schemas.microsoft.com/office/drawing/2014/main" id="{3B06E628-1AFB-ED65-5D86-24955EDA08FB}"/>
              </a:ext>
            </a:extLst>
          </p:cNvPr>
          <p:cNvSpPr txBox="1"/>
          <p:nvPr/>
        </p:nvSpPr>
        <p:spPr>
          <a:xfrm>
            <a:off x="199464" y="1840920"/>
            <a:ext cx="11616018" cy="3329758"/>
          </a:xfrm>
          <a:prstGeom prst="rect">
            <a:avLst/>
          </a:prstGeom>
          <a:noFill/>
        </p:spPr>
        <p:txBody>
          <a:bodyPr wrap="square">
            <a:spAutoFit/>
          </a:bodyPr>
          <a:lstStyle/>
          <a:p>
            <a:pPr algn="just">
              <a:lnSpc>
                <a:spcPct val="150000"/>
              </a:lnSpc>
            </a:pPr>
            <a:r>
              <a:rPr lang="en-US" altLang="zh-CN" sz="2400" dirty="0"/>
              <a:t>	</a:t>
            </a:r>
            <a:r>
              <a:rPr lang="zh-CN" altLang="en-US" sz="2400" dirty="0"/>
              <a:t>近年来，无节制发债和金融武器化让美国主权信用持续透支，“去美元化”正逐渐成为全球共识。</a:t>
            </a:r>
            <a:endParaRPr lang="en-US" altLang="zh-CN" sz="2400" dirty="0">
              <a:latin typeface="+mn-ea"/>
            </a:endParaRPr>
          </a:p>
          <a:p>
            <a:pPr algn="just">
              <a:lnSpc>
                <a:spcPct val="150000"/>
              </a:lnSpc>
            </a:pPr>
            <a:r>
              <a:rPr lang="en-US" altLang="zh-CN" sz="2400" dirty="0">
                <a:latin typeface="+mn-ea"/>
              </a:rPr>
              <a:t>	</a:t>
            </a:r>
            <a:r>
              <a:rPr lang="zh-CN" altLang="en-US" sz="2400" dirty="0">
                <a:latin typeface="+mn-ea"/>
              </a:rPr>
              <a:t>然而，在本次中东局势升级的极限压力下，美元依然展现出了极其强悍的虹吸能力，表现远超瑞郎、日元等传统避险货币。这是否意味着，只要危机足够大，别无选择的美元霸权就能自我修复？还是说</a:t>
            </a:r>
            <a:r>
              <a:rPr lang="zh-CN" altLang="en-US" sz="2400" dirty="0"/>
              <a:t>这不过是旧秩序崩塌前，一场由流动性紧张引发的虚假繁荣</a:t>
            </a:r>
            <a:r>
              <a:rPr lang="zh-CN" altLang="en-US" sz="2400" dirty="0">
                <a:latin typeface="+mn-ea"/>
              </a:rPr>
              <a:t>？</a:t>
            </a:r>
            <a:endParaRPr lang="zh-CN" altLang="en-US" sz="2400" dirty="0">
              <a:solidFill>
                <a:srgbClr val="3E3E3E"/>
              </a:solidFill>
              <a:latin typeface="+mn-ea"/>
            </a:endParaRPr>
          </a:p>
        </p:txBody>
      </p:sp>
    </p:spTree>
    <p:extLst>
      <p:ext uri="{BB962C8B-B14F-4D97-AF65-F5344CB8AC3E}">
        <p14:creationId xmlns:p14="http://schemas.microsoft.com/office/powerpoint/2010/main" val="4016048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81BD8-F802-CFBF-82A7-0D1F4E410C9D}"/>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E77A9FC9-BE47-BBBC-E2BA-2AFB34F4202D}"/>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4FA5574E-FAC1-A7DD-20D4-635EFF3C0375}"/>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16D74295-4BA9-B4DC-BB46-5F331F5B67B8}"/>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97BB3927-AACB-77C0-7ED4-B8CFF76F586E}"/>
              </a:ext>
            </a:extLst>
          </p:cNvPr>
          <p:cNvSpPr>
            <a:spLocks noGrp="1"/>
          </p:cNvSpPr>
          <p:nvPr>
            <p:ph type="sldNum" sz="quarter" idx="12"/>
          </p:nvPr>
        </p:nvSpPr>
        <p:spPr/>
        <p:txBody>
          <a:bodyPr/>
          <a:lstStyle/>
          <a:p>
            <a:fld id="{BAEB1E39-14EE-405C-B1D8-764466B19623}" type="slidenum">
              <a:rPr lang="zh-CN" altLang="en-US" smtClean="0"/>
              <a:t>20</a:t>
            </a:fld>
            <a:endParaRPr lang="zh-CN" altLang="en-US"/>
          </a:p>
        </p:txBody>
      </p:sp>
      <p:sp>
        <p:nvSpPr>
          <p:cNvPr id="3" name="Title 1">
            <a:extLst>
              <a:ext uri="{FF2B5EF4-FFF2-40B4-BE49-F238E27FC236}">
                <a16:creationId xmlns:a16="http://schemas.microsoft.com/office/drawing/2014/main" id="{E546B86D-3462-9753-C4D4-C7DD312B2846}"/>
              </a:ext>
            </a:extLst>
          </p:cNvPr>
          <p:cNvSpPr txBox="1">
            <a:spLocks/>
          </p:cNvSpPr>
          <p:nvPr/>
        </p:nvSpPr>
        <p:spPr>
          <a:xfrm>
            <a:off x="133874" y="0"/>
            <a:ext cx="6284258"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“安全资产”属性下降</a:t>
            </a:r>
          </a:p>
        </p:txBody>
      </p:sp>
      <p:grpSp>
        <p:nvGrpSpPr>
          <p:cNvPr id="48" name="组合 47">
            <a:extLst>
              <a:ext uri="{FF2B5EF4-FFF2-40B4-BE49-F238E27FC236}">
                <a16:creationId xmlns:a16="http://schemas.microsoft.com/office/drawing/2014/main" id="{49E85F8E-966F-913B-3AD3-BECDE7384841}"/>
              </a:ext>
            </a:extLst>
          </p:cNvPr>
          <p:cNvGrpSpPr/>
          <p:nvPr/>
        </p:nvGrpSpPr>
        <p:grpSpPr>
          <a:xfrm>
            <a:off x="1790698" y="1214920"/>
            <a:ext cx="12768758" cy="1223983"/>
            <a:chOff x="269808" y="1273081"/>
            <a:chExt cx="12768758" cy="1223983"/>
          </a:xfrm>
        </p:grpSpPr>
        <p:cxnSp>
          <p:nvCxnSpPr>
            <p:cNvPr id="16" name="直接箭头连接符 15">
              <a:extLst>
                <a:ext uri="{FF2B5EF4-FFF2-40B4-BE49-F238E27FC236}">
                  <a16:creationId xmlns:a16="http://schemas.microsoft.com/office/drawing/2014/main" id="{75619902-2B32-9434-F73F-0AD12C7FDF1B}"/>
                </a:ext>
              </a:extLst>
            </p:cNvPr>
            <p:cNvCxnSpPr>
              <a:cxnSpLocks/>
              <a:endCxn id="25" idx="1"/>
            </p:cNvCxnSpPr>
            <p:nvPr/>
          </p:nvCxnSpPr>
          <p:spPr>
            <a:xfrm flipV="1">
              <a:off x="1743811" y="1512411"/>
              <a:ext cx="465989" cy="27688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直接箭头连接符 20">
              <a:extLst>
                <a:ext uri="{FF2B5EF4-FFF2-40B4-BE49-F238E27FC236}">
                  <a16:creationId xmlns:a16="http://schemas.microsoft.com/office/drawing/2014/main" id="{233E6258-7F88-B221-3DD7-C86C07864F35}"/>
                </a:ext>
              </a:extLst>
            </p:cNvPr>
            <p:cNvCxnSpPr>
              <a:cxnSpLocks/>
              <a:endCxn id="27" idx="1"/>
            </p:cNvCxnSpPr>
            <p:nvPr/>
          </p:nvCxnSpPr>
          <p:spPr>
            <a:xfrm>
              <a:off x="1766025" y="1928162"/>
              <a:ext cx="443775" cy="32426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组合 46">
              <a:extLst>
                <a:ext uri="{FF2B5EF4-FFF2-40B4-BE49-F238E27FC236}">
                  <a16:creationId xmlns:a16="http://schemas.microsoft.com/office/drawing/2014/main" id="{F931F1EE-E80C-DA03-6A6D-12FAA488C0B2}"/>
                </a:ext>
              </a:extLst>
            </p:cNvPr>
            <p:cNvGrpSpPr/>
            <p:nvPr/>
          </p:nvGrpSpPr>
          <p:grpSpPr>
            <a:xfrm>
              <a:off x="269808" y="1273081"/>
              <a:ext cx="12768758" cy="1223983"/>
              <a:chOff x="269808" y="1273081"/>
              <a:chExt cx="12768758" cy="1223983"/>
            </a:xfrm>
          </p:grpSpPr>
          <p:sp>
            <p:nvSpPr>
              <p:cNvPr id="13" name="矩形: 圆角 12">
                <a:extLst>
                  <a:ext uri="{FF2B5EF4-FFF2-40B4-BE49-F238E27FC236}">
                    <a16:creationId xmlns:a16="http://schemas.microsoft.com/office/drawing/2014/main" id="{B515C7AC-5B91-4775-42AE-CE346232EC50}"/>
                  </a:ext>
                </a:extLst>
              </p:cNvPr>
              <p:cNvSpPr/>
              <p:nvPr/>
            </p:nvSpPr>
            <p:spPr>
              <a:xfrm>
                <a:off x="269808" y="1578134"/>
                <a:ext cx="1463648" cy="459465"/>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p:txBody>
          </p:sp>
          <p:sp>
            <p:nvSpPr>
              <p:cNvPr id="15" name="文本框 14">
                <a:extLst>
                  <a:ext uri="{FF2B5EF4-FFF2-40B4-BE49-F238E27FC236}">
                    <a16:creationId xmlns:a16="http://schemas.microsoft.com/office/drawing/2014/main" id="{B71C0017-C12F-FBA0-7FC1-91AF63E2E255}"/>
                  </a:ext>
                </a:extLst>
              </p:cNvPr>
              <p:cNvSpPr txBox="1"/>
              <p:nvPr/>
            </p:nvSpPr>
            <p:spPr>
              <a:xfrm>
                <a:off x="450302" y="1619373"/>
                <a:ext cx="1102660" cy="369332"/>
              </a:xfrm>
              <a:prstGeom prst="rect">
                <a:avLst/>
              </a:prstGeom>
              <a:noFill/>
            </p:spPr>
            <p:txBody>
              <a:bodyPr wrap="square">
                <a:spAutoFit/>
              </a:bodyPr>
              <a:lstStyle/>
              <a:p>
                <a:r>
                  <a:rPr lang="zh-CN" altLang="en-US" dirty="0"/>
                  <a:t>地缘冲突 </a:t>
                </a:r>
              </a:p>
            </p:txBody>
          </p:sp>
          <p:sp>
            <p:nvSpPr>
              <p:cNvPr id="17" name="矩形: 圆角 16">
                <a:extLst>
                  <a:ext uri="{FF2B5EF4-FFF2-40B4-BE49-F238E27FC236}">
                    <a16:creationId xmlns:a16="http://schemas.microsoft.com/office/drawing/2014/main" id="{352EC9AB-7D39-A545-5B09-842D7841B38E}"/>
                  </a:ext>
                </a:extLst>
              </p:cNvPr>
              <p:cNvSpPr/>
              <p:nvPr/>
            </p:nvSpPr>
            <p:spPr>
              <a:xfrm>
                <a:off x="2283599" y="1282679"/>
                <a:ext cx="1463648" cy="459465"/>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p:txBody>
          </p:sp>
          <p:sp>
            <p:nvSpPr>
              <p:cNvPr id="23" name="矩形: 圆角 22">
                <a:extLst>
                  <a:ext uri="{FF2B5EF4-FFF2-40B4-BE49-F238E27FC236}">
                    <a16:creationId xmlns:a16="http://schemas.microsoft.com/office/drawing/2014/main" id="{EA75BE15-AD2B-F42F-13AA-1BD614439C5B}"/>
                  </a:ext>
                </a:extLst>
              </p:cNvPr>
              <p:cNvSpPr/>
              <p:nvPr/>
            </p:nvSpPr>
            <p:spPr>
              <a:xfrm>
                <a:off x="2283599" y="2022693"/>
                <a:ext cx="1463648" cy="459465"/>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p:txBody>
          </p:sp>
          <p:sp>
            <p:nvSpPr>
              <p:cNvPr id="25" name="文本框 24">
                <a:extLst>
                  <a:ext uri="{FF2B5EF4-FFF2-40B4-BE49-F238E27FC236}">
                    <a16:creationId xmlns:a16="http://schemas.microsoft.com/office/drawing/2014/main" id="{2101679E-B7A2-0BBF-BD24-714ABFD1F858}"/>
                  </a:ext>
                </a:extLst>
              </p:cNvPr>
              <p:cNvSpPr txBox="1"/>
              <p:nvPr/>
            </p:nvSpPr>
            <p:spPr>
              <a:xfrm>
                <a:off x="2209800" y="1327745"/>
                <a:ext cx="1636059" cy="369332"/>
              </a:xfrm>
              <a:prstGeom prst="rect">
                <a:avLst/>
              </a:prstGeom>
              <a:noFill/>
            </p:spPr>
            <p:txBody>
              <a:bodyPr wrap="square">
                <a:spAutoFit/>
              </a:bodyPr>
              <a:lstStyle/>
              <a:p>
                <a:r>
                  <a:rPr lang="zh-CN" altLang="en-US" dirty="0"/>
                  <a:t>避险情绪升温 </a:t>
                </a:r>
              </a:p>
            </p:txBody>
          </p:sp>
          <p:sp>
            <p:nvSpPr>
              <p:cNvPr id="27" name="文本框 26">
                <a:extLst>
                  <a:ext uri="{FF2B5EF4-FFF2-40B4-BE49-F238E27FC236}">
                    <a16:creationId xmlns:a16="http://schemas.microsoft.com/office/drawing/2014/main" id="{542CEA18-604E-4FBB-E4DE-91E8A0D5F08C}"/>
                  </a:ext>
                </a:extLst>
              </p:cNvPr>
              <p:cNvSpPr txBox="1"/>
              <p:nvPr/>
            </p:nvSpPr>
            <p:spPr>
              <a:xfrm>
                <a:off x="2209800" y="2067759"/>
                <a:ext cx="1884989" cy="369332"/>
              </a:xfrm>
              <a:prstGeom prst="rect">
                <a:avLst/>
              </a:prstGeom>
              <a:noFill/>
            </p:spPr>
            <p:txBody>
              <a:bodyPr wrap="square">
                <a:spAutoFit/>
              </a:bodyPr>
              <a:lstStyle/>
              <a:p>
                <a:r>
                  <a:rPr lang="zh-CN" altLang="zh-CN" dirty="0"/>
                  <a:t>财政支出</a:t>
                </a:r>
                <a:r>
                  <a:rPr lang="zh-CN" altLang="en-US" dirty="0"/>
                  <a:t>扩张</a:t>
                </a:r>
                <a:r>
                  <a:rPr lang="zh-CN" altLang="zh-CN" dirty="0"/>
                  <a:t> </a:t>
                </a:r>
                <a:endParaRPr lang="zh-CN" altLang="en-US" dirty="0"/>
              </a:p>
            </p:txBody>
          </p:sp>
          <p:sp>
            <p:nvSpPr>
              <p:cNvPr id="28" name="矩形: 圆角 27">
                <a:extLst>
                  <a:ext uri="{FF2B5EF4-FFF2-40B4-BE49-F238E27FC236}">
                    <a16:creationId xmlns:a16="http://schemas.microsoft.com/office/drawing/2014/main" id="{A01E6BFA-DBDC-5A97-7BB9-0CE8DC85EA49}"/>
                  </a:ext>
                </a:extLst>
              </p:cNvPr>
              <p:cNvSpPr/>
              <p:nvPr/>
            </p:nvSpPr>
            <p:spPr>
              <a:xfrm>
                <a:off x="4094788" y="1282679"/>
                <a:ext cx="1884988" cy="459465"/>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p:txBody>
          </p:sp>
          <p:sp>
            <p:nvSpPr>
              <p:cNvPr id="31" name="矩形: 圆角 30">
                <a:extLst>
                  <a:ext uri="{FF2B5EF4-FFF2-40B4-BE49-F238E27FC236}">
                    <a16:creationId xmlns:a16="http://schemas.microsoft.com/office/drawing/2014/main" id="{C1CCE43B-F2A3-E1DE-D165-43E0D69F8617}"/>
                  </a:ext>
                </a:extLst>
              </p:cNvPr>
              <p:cNvSpPr/>
              <p:nvPr/>
            </p:nvSpPr>
            <p:spPr>
              <a:xfrm>
                <a:off x="4094788" y="2037599"/>
                <a:ext cx="1884988" cy="459465"/>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p:txBody>
          </p:sp>
          <p:sp>
            <p:nvSpPr>
              <p:cNvPr id="30" name="文本框 29">
                <a:extLst>
                  <a:ext uri="{FF2B5EF4-FFF2-40B4-BE49-F238E27FC236}">
                    <a16:creationId xmlns:a16="http://schemas.microsoft.com/office/drawing/2014/main" id="{437C5B55-CD2F-79EA-923B-AED40674ACA4}"/>
                  </a:ext>
                </a:extLst>
              </p:cNvPr>
              <p:cNvSpPr txBox="1"/>
              <p:nvPr/>
            </p:nvSpPr>
            <p:spPr>
              <a:xfrm>
                <a:off x="4029635" y="2092280"/>
                <a:ext cx="6454588" cy="369332"/>
              </a:xfrm>
              <a:prstGeom prst="rect">
                <a:avLst/>
              </a:prstGeom>
              <a:noFill/>
            </p:spPr>
            <p:txBody>
              <a:bodyPr wrap="square">
                <a:spAutoFit/>
              </a:bodyPr>
              <a:lstStyle/>
              <a:p>
                <a:r>
                  <a:rPr lang="zh-CN" altLang="zh-CN" dirty="0"/>
                  <a:t>增发大量长期国债</a:t>
                </a:r>
                <a:endParaRPr lang="zh-CN" altLang="en-US" dirty="0"/>
              </a:p>
            </p:txBody>
          </p:sp>
          <p:sp>
            <p:nvSpPr>
              <p:cNvPr id="32" name="文本框 31">
                <a:extLst>
                  <a:ext uri="{FF2B5EF4-FFF2-40B4-BE49-F238E27FC236}">
                    <a16:creationId xmlns:a16="http://schemas.microsoft.com/office/drawing/2014/main" id="{FC2C6090-7B4A-D249-8871-F64BF7B8D8DB}"/>
                  </a:ext>
                </a:extLst>
              </p:cNvPr>
              <p:cNvSpPr txBox="1"/>
              <p:nvPr/>
            </p:nvSpPr>
            <p:spPr>
              <a:xfrm>
                <a:off x="4094788" y="1328517"/>
                <a:ext cx="6454588" cy="369332"/>
              </a:xfrm>
              <a:prstGeom prst="rect">
                <a:avLst/>
              </a:prstGeom>
              <a:noFill/>
            </p:spPr>
            <p:txBody>
              <a:bodyPr wrap="square">
                <a:spAutoFit/>
              </a:bodyPr>
              <a:lstStyle/>
              <a:p>
                <a:r>
                  <a:rPr lang="zh-CN" altLang="en-US" dirty="0"/>
                  <a:t>买入“安全资产”</a:t>
                </a:r>
              </a:p>
            </p:txBody>
          </p:sp>
          <p:sp>
            <p:nvSpPr>
              <p:cNvPr id="33" name="矩形: 圆角 32">
                <a:extLst>
                  <a:ext uri="{FF2B5EF4-FFF2-40B4-BE49-F238E27FC236}">
                    <a16:creationId xmlns:a16="http://schemas.microsoft.com/office/drawing/2014/main" id="{ADC1A292-B871-EB96-239B-25259A954DA6}"/>
                  </a:ext>
                </a:extLst>
              </p:cNvPr>
              <p:cNvSpPr/>
              <p:nvPr/>
            </p:nvSpPr>
            <p:spPr>
              <a:xfrm>
                <a:off x="6418132" y="1273081"/>
                <a:ext cx="1463648" cy="459465"/>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p:txBody>
          </p:sp>
          <p:sp>
            <p:nvSpPr>
              <p:cNvPr id="34" name="矩形: 圆角 33">
                <a:extLst>
                  <a:ext uri="{FF2B5EF4-FFF2-40B4-BE49-F238E27FC236}">
                    <a16:creationId xmlns:a16="http://schemas.microsoft.com/office/drawing/2014/main" id="{FD54005B-B193-6369-9903-C1A6E5575864}"/>
                  </a:ext>
                </a:extLst>
              </p:cNvPr>
              <p:cNvSpPr/>
              <p:nvPr/>
            </p:nvSpPr>
            <p:spPr>
              <a:xfrm>
                <a:off x="6418132" y="2025702"/>
                <a:ext cx="1463648" cy="459465"/>
              </a:xfrm>
              <a:prstGeom prst="roundRect">
                <a:avLst/>
              </a:prstGeom>
              <a:solidFill>
                <a:schemeClr val="bg1">
                  <a:lumMod val="85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p:txBody>
          </p:sp>
          <p:sp>
            <p:nvSpPr>
              <p:cNvPr id="36" name="文本框 35">
                <a:extLst>
                  <a:ext uri="{FF2B5EF4-FFF2-40B4-BE49-F238E27FC236}">
                    <a16:creationId xmlns:a16="http://schemas.microsoft.com/office/drawing/2014/main" id="{9DBDA2D0-0FD5-BEBC-90EF-8676D819B44F}"/>
                  </a:ext>
                </a:extLst>
              </p:cNvPr>
              <p:cNvSpPr txBox="1"/>
              <p:nvPr/>
            </p:nvSpPr>
            <p:spPr>
              <a:xfrm>
                <a:off x="6516744" y="1317633"/>
                <a:ext cx="6454588" cy="369332"/>
              </a:xfrm>
              <a:prstGeom prst="rect">
                <a:avLst/>
              </a:prstGeom>
              <a:noFill/>
            </p:spPr>
            <p:txBody>
              <a:bodyPr wrap="square">
                <a:spAutoFit/>
              </a:bodyPr>
              <a:lstStyle/>
              <a:p>
                <a:r>
                  <a:rPr lang="zh-CN" altLang="en-US"/>
                  <a:t>收益率下降</a:t>
                </a:r>
                <a:endParaRPr lang="zh-CN" altLang="en-US" dirty="0"/>
              </a:p>
            </p:txBody>
          </p:sp>
          <p:sp>
            <p:nvSpPr>
              <p:cNvPr id="38" name="文本框 37">
                <a:extLst>
                  <a:ext uri="{FF2B5EF4-FFF2-40B4-BE49-F238E27FC236}">
                    <a16:creationId xmlns:a16="http://schemas.microsoft.com/office/drawing/2014/main" id="{B2F495A8-1448-3CC0-474A-DDD6FF6EDA79}"/>
                  </a:ext>
                </a:extLst>
              </p:cNvPr>
              <p:cNvSpPr txBox="1"/>
              <p:nvPr/>
            </p:nvSpPr>
            <p:spPr>
              <a:xfrm>
                <a:off x="6516744" y="2092280"/>
                <a:ext cx="6521822" cy="369332"/>
              </a:xfrm>
              <a:prstGeom prst="rect">
                <a:avLst/>
              </a:prstGeom>
              <a:noFill/>
            </p:spPr>
            <p:txBody>
              <a:bodyPr wrap="square">
                <a:spAutoFit/>
              </a:bodyPr>
              <a:lstStyle/>
              <a:p>
                <a:r>
                  <a:rPr lang="zh-CN" altLang="en-US" dirty="0"/>
                  <a:t>收益率上升</a:t>
                </a:r>
                <a:r>
                  <a:rPr lang="en-US" altLang="zh-CN" dirty="0"/>
                  <a:t> </a:t>
                </a:r>
                <a:endParaRPr lang="zh-CN" altLang="en-US" dirty="0"/>
              </a:p>
            </p:txBody>
          </p:sp>
        </p:grpSp>
        <p:cxnSp>
          <p:nvCxnSpPr>
            <p:cNvPr id="42" name="直接箭头连接符 41">
              <a:extLst>
                <a:ext uri="{FF2B5EF4-FFF2-40B4-BE49-F238E27FC236}">
                  <a16:creationId xmlns:a16="http://schemas.microsoft.com/office/drawing/2014/main" id="{FDD8EE87-6748-6A2D-27ED-BD382535DB37}"/>
                </a:ext>
              </a:extLst>
            </p:cNvPr>
            <p:cNvCxnSpPr>
              <a:cxnSpLocks/>
            </p:cNvCxnSpPr>
            <p:nvPr/>
          </p:nvCxnSpPr>
          <p:spPr>
            <a:xfrm>
              <a:off x="3792493" y="1512411"/>
              <a:ext cx="313383" cy="256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直接箭头连接符 42">
              <a:extLst>
                <a:ext uri="{FF2B5EF4-FFF2-40B4-BE49-F238E27FC236}">
                  <a16:creationId xmlns:a16="http://schemas.microsoft.com/office/drawing/2014/main" id="{F3168FA4-1C98-6DFC-6FE9-41F1E9BDCFA6}"/>
                </a:ext>
              </a:extLst>
            </p:cNvPr>
            <p:cNvCxnSpPr>
              <a:cxnSpLocks/>
            </p:cNvCxnSpPr>
            <p:nvPr/>
          </p:nvCxnSpPr>
          <p:spPr>
            <a:xfrm>
              <a:off x="3768068" y="2283475"/>
              <a:ext cx="313383" cy="256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4" name="直接箭头连接符 43">
              <a:extLst>
                <a:ext uri="{FF2B5EF4-FFF2-40B4-BE49-F238E27FC236}">
                  <a16:creationId xmlns:a16="http://schemas.microsoft.com/office/drawing/2014/main" id="{6A547419-6C65-E0A3-63C0-B1191EB9AF99}"/>
                </a:ext>
              </a:extLst>
            </p:cNvPr>
            <p:cNvCxnSpPr>
              <a:cxnSpLocks/>
            </p:cNvCxnSpPr>
            <p:nvPr/>
          </p:nvCxnSpPr>
          <p:spPr>
            <a:xfrm>
              <a:off x="6046744" y="1494682"/>
              <a:ext cx="313383" cy="256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5" name="直接箭头连接符 44">
              <a:extLst>
                <a:ext uri="{FF2B5EF4-FFF2-40B4-BE49-F238E27FC236}">
                  <a16:creationId xmlns:a16="http://schemas.microsoft.com/office/drawing/2014/main" id="{CEE1C0A6-88C5-7822-7D7E-DA1442DF5C5F}"/>
                </a:ext>
              </a:extLst>
            </p:cNvPr>
            <p:cNvCxnSpPr>
              <a:cxnSpLocks/>
            </p:cNvCxnSpPr>
            <p:nvPr/>
          </p:nvCxnSpPr>
          <p:spPr>
            <a:xfrm>
              <a:off x="6049995" y="2283475"/>
              <a:ext cx="313383" cy="256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53" name="页脚占位符 10">
            <a:extLst>
              <a:ext uri="{FF2B5EF4-FFF2-40B4-BE49-F238E27FC236}">
                <a16:creationId xmlns:a16="http://schemas.microsoft.com/office/drawing/2014/main" id="{C32486B8-E35C-1DC1-8316-0B4E8D6994C3}"/>
              </a:ext>
            </a:extLst>
          </p:cNvPr>
          <p:cNvSpPr>
            <a:spLocks noGrp="1"/>
          </p:cNvSpPr>
          <p:nvPr>
            <p:ph type="ftr" sz="quarter" idx="11"/>
          </p:nvPr>
        </p:nvSpPr>
        <p:spPr>
          <a:xfrm>
            <a:off x="1638226" y="6466105"/>
            <a:ext cx="9523653" cy="365125"/>
          </a:xfrm>
        </p:spPr>
        <p:txBody>
          <a:bodyPr/>
          <a:lstStyle/>
          <a:p>
            <a:r>
              <a:rPr lang="zh-CN" altLang="en-US" dirty="0"/>
              <a:t>数据来源：</a:t>
            </a:r>
            <a:r>
              <a:rPr lang="nb-NO" altLang="zh-CN" dirty="0"/>
              <a:t>NBER</a:t>
            </a:r>
            <a:r>
              <a:rPr lang="en-US" altLang="zh-CN" dirty="0"/>
              <a:t>《</a:t>
            </a:r>
            <a:r>
              <a:rPr lang="en-US" altLang="zh-CN" i="1" dirty="0"/>
              <a:t>Debt as Safe Asset </a:t>
            </a:r>
            <a:r>
              <a:rPr lang="en-US" altLang="zh-CN" dirty="0"/>
              <a:t>》</a:t>
            </a:r>
          </a:p>
          <a:p>
            <a:r>
              <a:rPr lang="en-US" altLang="zh-CN" dirty="0"/>
              <a:t>NBER《</a:t>
            </a:r>
            <a:r>
              <a:rPr lang="en-US" altLang="zh-CN" i="1" dirty="0"/>
              <a:t> Decoupling dollar and treasury </a:t>
            </a:r>
            <a:r>
              <a:rPr lang="en-US" altLang="zh-CN" dirty="0"/>
              <a:t>》, Wind</a:t>
            </a:r>
            <a:endParaRPr lang="zh-CN" altLang="en-US" dirty="0"/>
          </a:p>
        </p:txBody>
      </p:sp>
      <p:sp>
        <p:nvSpPr>
          <p:cNvPr id="60" name="Rectangle 5">
            <a:extLst>
              <a:ext uri="{FF2B5EF4-FFF2-40B4-BE49-F238E27FC236}">
                <a16:creationId xmlns:a16="http://schemas.microsoft.com/office/drawing/2014/main" id="{2895AB13-BBA3-DF85-7D54-E19430818D0B}"/>
              </a:ext>
            </a:extLst>
          </p:cNvPr>
          <p:cNvSpPr>
            <a:spLocks noChangeArrowheads="1"/>
          </p:cNvSpPr>
          <p:nvPr/>
        </p:nvSpPr>
        <p:spPr bwMode="auto">
          <a:xfrm rot="10800000" flipV="1">
            <a:off x="306718" y="2635617"/>
            <a:ext cx="5791946" cy="3686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Font typeface="Wingdings" panose="05000000000000000000" pitchFamily="2" charset="2"/>
              <a:buChar char="Ø"/>
            </a:pPr>
            <a:r>
              <a:rPr lang="zh-CN" altLang="en-US" dirty="0">
                <a:solidFill>
                  <a:srgbClr val="3E3E3E"/>
                </a:solidFill>
                <a:latin typeface="PingFang SC"/>
              </a:rPr>
              <a:t>“安全资产”避险机制表现为，市场在危机时选择兼具流动性与信用稳定性的安全资产。这些资产在危机中升值具有负</a:t>
            </a:r>
            <a:r>
              <a:rPr lang="en-US" altLang="zh-CN" dirty="0">
                <a:solidFill>
                  <a:srgbClr val="3E3E3E"/>
                </a:solidFill>
              </a:rPr>
              <a:t>β</a:t>
            </a:r>
            <a:r>
              <a:rPr lang="zh-CN" altLang="en-US" dirty="0">
                <a:solidFill>
                  <a:srgbClr val="3E3E3E"/>
                </a:solidFill>
                <a:latin typeface="PingFang SC"/>
              </a:rPr>
              <a:t>属性。</a:t>
            </a:r>
            <a:endParaRPr lang="en-US" altLang="zh-CN" dirty="0">
              <a:solidFill>
                <a:srgbClr val="3E3E3E"/>
              </a:solidFill>
              <a:latin typeface="PingFang SC"/>
            </a:endParaRPr>
          </a:p>
          <a:p>
            <a:pPr marL="285750" indent="-285750" eaLnBrk="0" fontAlgn="base" hangingPunct="0">
              <a:lnSpc>
                <a:spcPct val="150000"/>
              </a:lnSpc>
              <a:spcBef>
                <a:spcPct val="0"/>
              </a:spcBef>
              <a:spcAft>
                <a:spcPct val="0"/>
              </a:spcAft>
              <a:buFont typeface="Wingdings" panose="05000000000000000000" pitchFamily="2" charset="2"/>
              <a:buChar char="Ø"/>
            </a:pPr>
            <a:r>
              <a:rPr lang="zh-CN" altLang="zh-CN" dirty="0"/>
              <a:t>美元便利收益：长期为正，VIX 上行时显著走阔，避险货币属性稳固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zh-CN" altLang="zh-CN" dirty="0"/>
              <a:t>美债便利收益：长期下行，2023 年后全期限转负，中长期债跌幅最大；相对 G10 国债无安全溢价 </a:t>
            </a:r>
            <a:endParaRPr lang="en-US" altLang="zh-CN" dirty="0"/>
          </a:p>
          <a:p>
            <a:pPr marL="285750" lvl="0" indent="-285750" eaLnBrk="0" fontAlgn="base" hangingPunct="0">
              <a:lnSpc>
                <a:spcPct val="150000"/>
              </a:lnSpc>
              <a:spcBef>
                <a:spcPct val="0"/>
              </a:spcBef>
              <a:spcAft>
                <a:spcPct val="0"/>
              </a:spcAft>
              <a:buFont typeface="Wingdings" panose="05000000000000000000" pitchFamily="2" charset="2"/>
              <a:buChar char="Ø"/>
            </a:pPr>
            <a:r>
              <a:rPr lang="zh-CN" altLang="en-US" dirty="0"/>
              <a:t>美元的国际货币地位未动摇，但美债的全球安全资产特权已因供给过剩消失。</a:t>
            </a:r>
            <a:endParaRPr lang="zh-CN" altLang="zh-CN" dirty="0"/>
          </a:p>
        </p:txBody>
      </p:sp>
      <p:pic>
        <p:nvPicPr>
          <p:cNvPr id="2" name="图片 1">
            <a:extLst>
              <a:ext uri="{FF2B5EF4-FFF2-40B4-BE49-F238E27FC236}">
                <a16:creationId xmlns:a16="http://schemas.microsoft.com/office/drawing/2014/main" id="{C6364D9A-BEFD-F2B6-D908-F9ABCB9AF369}"/>
              </a:ext>
            </a:extLst>
          </p:cNvPr>
          <p:cNvPicPr>
            <a:picLocks noChangeAspect="1"/>
          </p:cNvPicPr>
          <p:nvPr/>
        </p:nvPicPr>
        <p:blipFill>
          <a:blip r:embed="rId3"/>
          <a:srcRect l="-794" t="7329" r="1"/>
          <a:stretch>
            <a:fillRect/>
          </a:stretch>
        </p:blipFill>
        <p:spPr>
          <a:xfrm>
            <a:off x="6400053" y="3033834"/>
            <a:ext cx="5791947" cy="3042957"/>
          </a:xfrm>
          <a:prstGeom prst="rect">
            <a:avLst/>
          </a:prstGeom>
        </p:spPr>
      </p:pic>
      <p:sp>
        <p:nvSpPr>
          <p:cNvPr id="4" name="文本框 3">
            <a:extLst>
              <a:ext uri="{FF2B5EF4-FFF2-40B4-BE49-F238E27FC236}">
                <a16:creationId xmlns:a16="http://schemas.microsoft.com/office/drawing/2014/main" id="{8ACB8BC8-F21C-B72F-240B-EA3C1F7387D6}"/>
              </a:ext>
            </a:extLst>
          </p:cNvPr>
          <p:cNvSpPr txBox="1"/>
          <p:nvPr/>
        </p:nvSpPr>
        <p:spPr>
          <a:xfrm>
            <a:off x="8079118" y="6064894"/>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危机中美债收益率上行</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Tree>
    <p:extLst>
      <p:ext uri="{BB962C8B-B14F-4D97-AF65-F5344CB8AC3E}">
        <p14:creationId xmlns:p14="http://schemas.microsoft.com/office/powerpoint/2010/main" val="2144228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92A7-9ABB-8F00-B538-AADC53928CFE}"/>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5D12CFE0-14A4-52C4-9F25-86D45167819B}"/>
              </a:ext>
            </a:extLst>
          </p:cNvPr>
          <p:cNvSpPr/>
          <p:nvPr/>
        </p:nvSpPr>
        <p:spPr>
          <a:xfrm>
            <a:off x="0" y="853027"/>
            <a:ext cx="12192000" cy="186742"/>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86C86D17-DE50-B8F7-965B-53565D5CB86E}"/>
              </a:ext>
            </a:extLst>
          </p:cNvPr>
          <p:cNvSpPr/>
          <p:nvPr/>
        </p:nvSpPr>
        <p:spPr>
          <a:xfrm>
            <a:off x="0" y="6438900"/>
            <a:ext cx="12192000" cy="54411"/>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7" name="日期占位符 6">
            <a:extLst>
              <a:ext uri="{FF2B5EF4-FFF2-40B4-BE49-F238E27FC236}">
                <a16:creationId xmlns:a16="http://schemas.microsoft.com/office/drawing/2014/main" id="{FE9DEE14-6DEB-4AB8-55A4-453E1288134E}"/>
              </a:ext>
            </a:extLst>
          </p:cNvPr>
          <p:cNvSpPr>
            <a:spLocks noGrp="1"/>
          </p:cNvSpPr>
          <p:nvPr>
            <p:ph type="dt" sz="half" idx="10"/>
          </p:nvPr>
        </p:nvSpPr>
        <p:spPr/>
        <p:txBody>
          <a:bodyPr/>
          <a:lstStyle/>
          <a:p>
            <a:fld id="{C036B944-E9C1-43D9-BF98-E7847FC8C30B}" type="datetime1">
              <a:rPr lang="zh-CN" altLang="en-US" smtClean="0"/>
              <a:t>2026-04-21</a:t>
            </a:fld>
            <a:endParaRPr lang="zh-CN" altLang="en-US" dirty="0"/>
          </a:p>
        </p:txBody>
      </p:sp>
      <p:sp>
        <p:nvSpPr>
          <p:cNvPr id="10" name="灯片编号占位符 9">
            <a:extLst>
              <a:ext uri="{FF2B5EF4-FFF2-40B4-BE49-F238E27FC236}">
                <a16:creationId xmlns:a16="http://schemas.microsoft.com/office/drawing/2014/main" id="{5D9C74F0-26C8-042C-F924-594FBB925661}"/>
              </a:ext>
            </a:extLst>
          </p:cNvPr>
          <p:cNvSpPr>
            <a:spLocks noGrp="1"/>
          </p:cNvSpPr>
          <p:nvPr>
            <p:ph type="sldNum" sz="quarter" idx="12"/>
          </p:nvPr>
        </p:nvSpPr>
        <p:spPr/>
        <p:txBody>
          <a:bodyPr/>
          <a:lstStyle/>
          <a:p>
            <a:fld id="{BAEB1E39-14EE-405C-B1D8-764466B19623}" type="slidenum">
              <a:rPr lang="zh-CN" altLang="en-US" smtClean="0"/>
              <a:t>21</a:t>
            </a:fld>
            <a:endParaRPr lang="zh-CN" altLang="en-US"/>
          </a:p>
        </p:txBody>
      </p:sp>
      <p:sp>
        <p:nvSpPr>
          <p:cNvPr id="3" name="Title 1">
            <a:extLst>
              <a:ext uri="{FF2B5EF4-FFF2-40B4-BE49-F238E27FC236}">
                <a16:creationId xmlns:a16="http://schemas.microsoft.com/office/drawing/2014/main" id="{9F417A83-CF80-1420-8711-B60F8DD5D3CD}"/>
              </a:ext>
            </a:extLst>
          </p:cNvPr>
          <p:cNvSpPr txBox="1">
            <a:spLocks/>
          </p:cNvSpPr>
          <p:nvPr/>
        </p:nvSpPr>
        <p:spPr>
          <a:xfrm>
            <a:off x="-394446" y="0"/>
            <a:ext cx="6284258" cy="1098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ts val="2400"/>
              </a:lnSpc>
              <a:defRPr/>
            </a:pPr>
            <a:r>
              <a:rPr lang="zh-CN" altLang="en-US" sz="3600" b="1" dirty="0">
                <a:latin typeface="楷体" panose="02010609060101010101" charset="-122"/>
                <a:ea typeface="楷体" panose="02010609060101010101" charset="-122"/>
                <a:cs typeface="Times New Roman" panose="02020603050405020304" pitchFamily="18" charset="0"/>
              </a:rPr>
              <a:t>  </a:t>
            </a:r>
            <a:r>
              <a:rPr lang="zh-CN" altLang="en-US" sz="3600" b="1" dirty="0">
                <a:solidFill>
                  <a:srgbClr val="731E00"/>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“价值锚”的动摇</a:t>
            </a:r>
          </a:p>
        </p:txBody>
      </p:sp>
      <p:sp>
        <p:nvSpPr>
          <p:cNvPr id="9" name="页脚占位符 10">
            <a:extLst>
              <a:ext uri="{FF2B5EF4-FFF2-40B4-BE49-F238E27FC236}">
                <a16:creationId xmlns:a16="http://schemas.microsoft.com/office/drawing/2014/main" id="{20B8672E-98FA-C5CF-0B16-F6CE2C45CBA3}"/>
              </a:ext>
            </a:extLst>
          </p:cNvPr>
          <p:cNvSpPr>
            <a:spLocks noGrp="1"/>
          </p:cNvSpPr>
          <p:nvPr/>
        </p:nvSpPr>
        <p:spPr>
          <a:xfrm>
            <a:off x="3993627" y="6438900"/>
            <a:ext cx="4688841"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数据来源：</a:t>
            </a:r>
            <a:r>
              <a:rPr lang="en-US" altLang="zh-CN" dirty="0"/>
              <a:t>《</a:t>
            </a:r>
            <a:r>
              <a:rPr lang="zh-CN" altLang="en-US" dirty="0"/>
              <a:t>中国外汇</a:t>
            </a:r>
            <a:r>
              <a:rPr lang="en-US" altLang="zh-CN" dirty="0"/>
              <a:t>》</a:t>
            </a:r>
            <a:r>
              <a:rPr lang="zh-CN" altLang="en-US" dirty="0"/>
              <a:t>第五期</a:t>
            </a:r>
            <a:r>
              <a:rPr lang="en-US" altLang="zh-CN" dirty="0"/>
              <a:t>, Wind</a:t>
            </a:r>
            <a:endParaRPr lang="zh-CN" altLang="en-US" dirty="0"/>
          </a:p>
        </p:txBody>
      </p:sp>
      <p:sp>
        <p:nvSpPr>
          <p:cNvPr id="11" name="Rectangle 1">
            <a:extLst>
              <a:ext uri="{FF2B5EF4-FFF2-40B4-BE49-F238E27FC236}">
                <a16:creationId xmlns:a16="http://schemas.microsoft.com/office/drawing/2014/main" id="{BC182FAF-19DB-3924-A154-F4BE77D9B0C2}"/>
              </a:ext>
            </a:extLst>
          </p:cNvPr>
          <p:cNvSpPr>
            <a:spLocks noChangeArrowheads="1"/>
          </p:cNvSpPr>
          <p:nvPr/>
        </p:nvSpPr>
        <p:spPr bwMode="auto">
          <a:xfrm rot="10800000" flipV="1">
            <a:off x="304053" y="1113515"/>
            <a:ext cx="12845143"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zh-CN" altLang="zh-CN" dirty="0">
                <a:latin typeface="Arial" panose="020B0604020202020204" pitchFamily="34" charset="0"/>
              </a:rPr>
              <a:t>基建锚： 代表的是美元系统的“流动性”和“交易工具”。</a:t>
            </a:r>
            <a:endParaRPr lang="en-US" altLang="zh-CN" dirty="0">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tabLst/>
            </a:pPr>
            <a:r>
              <a:rPr lang="zh-CN" altLang="zh-CN" dirty="0">
                <a:latin typeface="Arial" panose="020B0604020202020204" pitchFamily="34" charset="0"/>
              </a:rPr>
              <a:t>它是金融市场的“货币替代品”，通过回购协议等渠道支撑着整个市场的资金融通。</a:t>
            </a:r>
            <a:endParaRPr lang="en-US" altLang="zh-CN" dirty="0">
              <a:latin typeface="Arial" panose="020B0604020202020204" pitchFamily="34" charset="0"/>
            </a:endParaRP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zh-CN" altLang="zh-CN" dirty="0">
                <a:latin typeface="Arial" panose="020B0604020202020204" pitchFamily="34" charset="0"/>
              </a:rPr>
              <a:t>价值锚： 代表的是美元的“长期信用”和“定价基准”。</a:t>
            </a:r>
            <a:endParaRPr lang="en-US" altLang="zh-CN" dirty="0">
              <a:latin typeface="Arial" panose="020B0604020202020204" pitchFamily="34" charset="0"/>
            </a:endParaRPr>
          </a:p>
          <a:p>
            <a:pPr lvl="0" algn="just" eaLnBrk="0" fontAlgn="base" hangingPunct="0">
              <a:lnSpc>
                <a:spcPct val="150000"/>
              </a:lnSpc>
              <a:spcBef>
                <a:spcPct val="0"/>
              </a:spcBef>
              <a:spcAft>
                <a:spcPct val="0"/>
              </a:spcAft>
            </a:pPr>
            <a:r>
              <a:rPr lang="zh-CN" altLang="zh-CN" dirty="0">
                <a:latin typeface="Arial" panose="020B0604020202020204" pitchFamily="34" charset="0"/>
              </a:rPr>
              <a:t>它是全球资产配置的避风港</a:t>
            </a:r>
            <a:r>
              <a:rPr lang="zh-CN" altLang="en-US" dirty="0">
                <a:latin typeface="Arial" panose="020B0604020202020204" pitchFamily="34" charset="0"/>
              </a:rPr>
              <a:t>，</a:t>
            </a:r>
            <a:r>
              <a:rPr lang="zh-CN" altLang="zh-CN" dirty="0">
                <a:latin typeface="Arial" panose="020B0604020202020204" pitchFamily="34" charset="0"/>
              </a:rPr>
              <a:t>如果长债走弱</a:t>
            </a:r>
            <a:r>
              <a:rPr lang="zh-CN" altLang="en-US" dirty="0">
                <a:latin typeface="Arial" panose="020B0604020202020204" pitchFamily="34" charset="0"/>
              </a:rPr>
              <a:t>，</a:t>
            </a:r>
            <a:r>
              <a:rPr lang="zh-CN" altLang="zh-CN" dirty="0">
                <a:latin typeface="Arial" panose="020B0604020202020204" pitchFamily="34" charset="0"/>
              </a:rPr>
              <a:t>说明市场对美国长期的通胀、偿债能力或信用产生了怀疑。</a:t>
            </a:r>
          </a:p>
          <a:p>
            <a:pPr marR="0" lvl="0" algn="l" defTabSz="914400" rtl="0" eaLnBrk="0" fontAlgn="base" latinLnBrk="0" hangingPunct="0">
              <a:lnSpc>
                <a:spcPct val="150000"/>
              </a:lnSpc>
              <a:spcBef>
                <a:spcPct val="0"/>
              </a:spcBef>
              <a:spcAft>
                <a:spcPct val="0"/>
              </a:spcAft>
              <a:buClrTx/>
              <a:buSzTx/>
              <a:tabLst/>
            </a:pPr>
            <a:endParaRPr lang="zh-CN" altLang="zh-CN" dirty="0">
              <a:latin typeface="Arial" panose="020B0604020202020204" pitchFamily="34" charset="0"/>
            </a:endParaRPr>
          </a:p>
        </p:txBody>
      </p:sp>
      <p:pic>
        <p:nvPicPr>
          <p:cNvPr id="16" name="图片 15">
            <a:extLst>
              <a:ext uri="{FF2B5EF4-FFF2-40B4-BE49-F238E27FC236}">
                <a16:creationId xmlns:a16="http://schemas.microsoft.com/office/drawing/2014/main" id="{0D196584-0DE9-4931-66E7-6B70089B77FA}"/>
              </a:ext>
            </a:extLst>
          </p:cNvPr>
          <p:cNvPicPr>
            <a:picLocks noChangeAspect="1"/>
          </p:cNvPicPr>
          <p:nvPr/>
        </p:nvPicPr>
        <p:blipFill>
          <a:blip r:embed="rId3"/>
          <a:stretch>
            <a:fillRect/>
          </a:stretch>
        </p:blipFill>
        <p:spPr>
          <a:xfrm>
            <a:off x="6661525" y="3002971"/>
            <a:ext cx="5376905" cy="2688453"/>
          </a:xfrm>
          <a:prstGeom prst="rect">
            <a:avLst/>
          </a:prstGeom>
        </p:spPr>
      </p:pic>
      <p:sp>
        <p:nvSpPr>
          <p:cNvPr id="17" name="文本框 16">
            <a:extLst>
              <a:ext uri="{FF2B5EF4-FFF2-40B4-BE49-F238E27FC236}">
                <a16:creationId xmlns:a16="http://schemas.microsoft.com/office/drawing/2014/main" id="{519B402F-B79E-4314-BC16-B17FF404F5A8}"/>
              </a:ext>
            </a:extLst>
          </p:cNvPr>
          <p:cNvSpPr txBox="1"/>
          <p:nvPr/>
        </p:nvSpPr>
        <p:spPr>
          <a:xfrm>
            <a:off x="8232266" y="5813335"/>
            <a:ext cx="3806164" cy="338554"/>
          </a:xfrm>
          <a:prstGeom prst="rect">
            <a:avLst/>
          </a:prstGeom>
          <a:noFill/>
        </p:spPr>
        <p:txBody>
          <a:bodyPr wrap="square" rtlCol="0">
            <a:spAutoFit/>
          </a:bodyPr>
          <a:lstStyle/>
          <a:p>
            <a:pPr lvl="0">
              <a:defRPr/>
            </a:pP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图</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8 – </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rPr>
              <a:t>美元流动性压力可控</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a:ea typeface="楷体" panose="02010609060101010101" charset="-122"/>
              <a:cs typeface="+mn-cs"/>
            </a:endParaRPr>
          </a:p>
        </p:txBody>
      </p:sp>
      <p:sp>
        <p:nvSpPr>
          <p:cNvPr id="24" name="文本框 23">
            <a:extLst>
              <a:ext uri="{FF2B5EF4-FFF2-40B4-BE49-F238E27FC236}">
                <a16:creationId xmlns:a16="http://schemas.microsoft.com/office/drawing/2014/main" id="{B123C243-2A74-7ED6-0179-5D68320E3345}"/>
              </a:ext>
            </a:extLst>
          </p:cNvPr>
          <p:cNvSpPr txBox="1"/>
          <p:nvPr/>
        </p:nvSpPr>
        <p:spPr>
          <a:xfrm>
            <a:off x="448235" y="2960083"/>
            <a:ext cx="5889812" cy="3125215"/>
          </a:xfrm>
          <a:prstGeom prst="rect">
            <a:avLst/>
          </a:prstGeom>
          <a:noFill/>
        </p:spPr>
        <p:txBody>
          <a:bodyPr wrap="square">
            <a:spAutoFit/>
          </a:bodyPr>
          <a:lstStyle/>
          <a:p>
            <a:pPr algn="just">
              <a:lnSpc>
                <a:spcPts val="3000"/>
              </a:lnSpc>
            </a:pPr>
            <a:r>
              <a:rPr lang="zh-CN" altLang="en-US" b="0" i="0" dirty="0">
                <a:solidFill>
                  <a:srgbClr val="3E3E3E"/>
                </a:solidFill>
                <a:effectLst/>
                <a:latin typeface="PingFang SC"/>
              </a:rPr>
              <a:t>在短期因素对美元的推升效果消退之后，全球货币秩序重构、美元霸权动摇的叙事可能重新主导市场方向：美国对外净负债持续累积</a:t>
            </a:r>
            <a:r>
              <a:rPr lang="zh-CN" altLang="en-US" dirty="0">
                <a:solidFill>
                  <a:srgbClr val="3E3E3E"/>
                </a:solidFill>
                <a:latin typeface="PingFang SC"/>
              </a:rPr>
              <a:t>带来</a:t>
            </a:r>
            <a:r>
              <a:rPr lang="zh-CN" altLang="en-US" b="0" i="0" dirty="0">
                <a:solidFill>
                  <a:srgbClr val="3E3E3E"/>
                </a:solidFill>
                <a:effectLst/>
                <a:latin typeface="PingFang SC"/>
              </a:rPr>
              <a:t>更强的美元贬值诉求；特朗普政策不确定性较高，美元“武器化”风险并未缓解，也在压低市场对美国资产的需求。我们认为</a:t>
            </a:r>
            <a:r>
              <a:rPr lang="zh-CN" altLang="zh-CN" dirty="0">
                <a:latin typeface="Arial" panose="020B0604020202020204" pitchFamily="34" charset="0"/>
              </a:rPr>
              <a:t>美元不会迅速崩塌，因为目前没有替代品。美国必须靠美元贬值来收铸币税，但这又会加剧波动，进一步动摇信心。</a:t>
            </a:r>
            <a:r>
              <a:rPr lang="zh-CN" altLang="en-US" b="0" i="0" dirty="0">
                <a:solidFill>
                  <a:srgbClr val="3E3E3E"/>
                </a:solidFill>
                <a:effectLst/>
                <a:latin typeface="PingFang SC"/>
              </a:rPr>
              <a:t>全球货币秩序可能继续重构，推动美元维持长期贬值趋势</a:t>
            </a:r>
            <a:r>
              <a:rPr lang="zh-CN" altLang="en-US" dirty="0">
                <a:solidFill>
                  <a:srgbClr val="3E3E3E"/>
                </a:solidFill>
                <a:latin typeface="PingFang SC"/>
              </a:rPr>
              <a:t>。</a:t>
            </a:r>
            <a:endParaRPr lang="zh-CN" altLang="en-US" dirty="0"/>
          </a:p>
        </p:txBody>
      </p:sp>
    </p:spTree>
    <p:extLst>
      <p:ext uri="{BB962C8B-B14F-4D97-AF65-F5344CB8AC3E}">
        <p14:creationId xmlns:p14="http://schemas.microsoft.com/office/powerpoint/2010/main" val="870606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1C1F7-722B-FFC1-F684-FB534AD4BC9A}"/>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5991FC01-E181-ECDA-4FB2-C96F0BA25E2F}"/>
              </a:ext>
            </a:extLst>
          </p:cNvPr>
          <p:cNvSpPr/>
          <p:nvPr/>
        </p:nvSpPr>
        <p:spPr>
          <a:xfrm>
            <a:off x="0" y="6639560"/>
            <a:ext cx="12192000" cy="218440"/>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pic>
        <p:nvPicPr>
          <p:cNvPr id="27" name="图片 26">
            <a:extLst>
              <a:ext uri="{FF2B5EF4-FFF2-40B4-BE49-F238E27FC236}">
                <a16:creationId xmlns:a16="http://schemas.microsoft.com/office/drawing/2014/main" id="{5314BCDA-AD17-1A14-03B1-9792FA5B98EC}"/>
              </a:ext>
            </a:extLst>
          </p:cNvPr>
          <p:cNvPicPr>
            <a:picLocks noChangeAspect="1"/>
          </p:cNvPicPr>
          <p:nvPr/>
        </p:nvPicPr>
        <p:blipFill>
          <a:blip r:embed="rId3"/>
          <a:stretch>
            <a:fillRect/>
          </a:stretch>
        </p:blipFill>
        <p:spPr>
          <a:xfrm>
            <a:off x="1196400" y="394879"/>
            <a:ext cx="3272213" cy="780845"/>
          </a:xfrm>
          <a:prstGeom prst="rect">
            <a:avLst/>
          </a:prstGeom>
        </p:spPr>
      </p:pic>
      <p:pic>
        <p:nvPicPr>
          <p:cNvPr id="11" name="图片 10">
            <a:extLst>
              <a:ext uri="{FF2B5EF4-FFF2-40B4-BE49-F238E27FC236}">
                <a16:creationId xmlns:a16="http://schemas.microsoft.com/office/drawing/2014/main" id="{7CCA92CE-0F26-5740-CC86-073F150E5552}"/>
              </a:ext>
            </a:extLst>
          </p:cNvPr>
          <p:cNvPicPr>
            <a:picLocks noChangeAspect="1"/>
          </p:cNvPicPr>
          <p:nvPr/>
        </p:nvPicPr>
        <p:blipFill>
          <a:blip r:embed="rId4"/>
          <a:stretch>
            <a:fillRect/>
          </a:stretch>
        </p:blipFill>
        <p:spPr>
          <a:xfrm>
            <a:off x="276691" y="398940"/>
            <a:ext cx="778386" cy="780845"/>
          </a:xfrm>
          <a:prstGeom prst="rect">
            <a:avLst/>
          </a:prstGeom>
        </p:spPr>
      </p:pic>
      <p:sp>
        <p:nvSpPr>
          <p:cNvPr id="14" name="矩形 13">
            <a:extLst>
              <a:ext uri="{FF2B5EF4-FFF2-40B4-BE49-F238E27FC236}">
                <a16:creationId xmlns:a16="http://schemas.microsoft.com/office/drawing/2014/main" id="{C90FAF0D-6F23-C1DB-533A-43EC8941B526}"/>
              </a:ext>
            </a:extLst>
          </p:cNvPr>
          <p:cNvSpPr/>
          <p:nvPr/>
        </p:nvSpPr>
        <p:spPr>
          <a:xfrm>
            <a:off x="0" y="0"/>
            <a:ext cx="12192000" cy="262255"/>
          </a:xfrm>
          <a:prstGeom prst="rect">
            <a:avLst/>
          </a:prstGeom>
          <a:solidFill>
            <a:srgbClr val="A62B00"/>
          </a:solidFill>
          <a:ln w="12700">
            <a:no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80666" tIns="40333" rIns="80666" bIns="40333" numCol="1" spcCol="0" rtlCol="0" fromWordArt="0" anchor="ctr" anchorCtr="0" forceAA="0" compatLnSpc="1">
            <a:noAutofit/>
          </a:bodyPr>
          <a:lstStyle/>
          <a:p>
            <a:pPr algn="ctr"/>
            <a:endParaRPr lang="zh-CN" altLang="en-US" sz="1235" err="1">
              <a:latin typeface="Times New Roman" panose="02020603050405020304" pitchFamily="18" charset="0"/>
              <a:cs typeface="Times New Roman" panose="02020603050405020304" pitchFamily="18" charset="0"/>
            </a:endParaRPr>
          </a:p>
        </p:txBody>
      </p:sp>
      <p:sp>
        <p:nvSpPr>
          <p:cNvPr id="9" name="标题 1">
            <a:extLst>
              <a:ext uri="{FF2B5EF4-FFF2-40B4-BE49-F238E27FC236}">
                <a16:creationId xmlns:a16="http://schemas.microsoft.com/office/drawing/2014/main" id="{C4E33C7A-F179-9700-1688-EB74314B8F3B}"/>
              </a:ext>
            </a:extLst>
          </p:cNvPr>
          <p:cNvSpPr txBox="1">
            <a:spLocks noGrp="1"/>
          </p:cNvSpPr>
          <p:nvPr>
            <p:ph type="title" idx="4294967295"/>
          </p:nvPr>
        </p:nvSpPr>
        <p:spPr>
          <a:xfrm>
            <a:off x="1524000" y="1122363"/>
            <a:ext cx="9144000" cy="23876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ctr" defTabSz="914400" rtl="0" eaLnBrk="1" latinLnBrk="0" hangingPunct="1">
              <a:lnSpc>
                <a:spcPct val="90000"/>
              </a:lnSpc>
              <a:spcBef>
                <a:spcPct val="0"/>
              </a:spcBef>
              <a:buNone/>
              <a:defRPr sz="6000" kern="1200">
                <a:solidFill>
                  <a:schemeClr val="tx1"/>
                </a:solidFill>
                <a:latin typeface="KaiTi" panose="02010609060101010101" pitchFamily="49" charset="-122"/>
                <a:ea typeface="KaiTi" panose="02010609060101010101" pitchFamily="49"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6000" b="0" i="0" u="none" strike="noStrike" kern="1200" cap="none" spc="0" normalizeH="0" baseline="0" noProof="0">
                <a:ln>
                  <a:noFill/>
                </a:ln>
                <a:solidFill>
                  <a:srgbClr val="731E00"/>
                </a:solidFill>
                <a:effectLst/>
                <a:uLnTx/>
                <a:uFillTx/>
                <a:latin typeface="KaiTi" panose="02010609060101010101" pitchFamily="49" charset="-122"/>
                <a:ea typeface="KaiTi" panose="02010609060101010101" pitchFamily="49" charset="-122"/>
                <a:cs typeface="+mj-cs"/>
              </a:rPr>
              <a:t>谢谢大家！敬请雅正！</a:t>
            </a:r>
            <a:endParaRPr kumimoji="0" lang="zh-CN" altLang="en-US" sz="6000" b="0" i="0" u="none" strike="noStrike" kern="1200" cap="none" spc="0" normalizeH="0" baseline="0" noProof="0" dirty="0">
              <a:ln>
                <a:noFill/>
              </a:ln>
              <a:solidFill>
                <a:srgbClr val="731E00"/>
              </a:solidFill>
              <a:effectLst/>
              <a:uLnTx/>
              <a:uFillTx/>
              <a:latin typeface="KaiTi" panose="02010609060101010101" pitchFamily="49" charset="-122"/>
              <a:ea typeface="KaiTi" panose="02010609060101010101" pitchFamily="49" charset="-122"/>
              <a:cs typeface="+mj-cs"/>
            </a:endParaRPr>
          </a:p>
        </p:txBody>
      </p:sp>
      <p:sp>
        <p:nvSpPr>
          <p:cNvPr id="2" name="副标题 2">
            <a:extLst>
              <a:ext uri="{FF2B5EF4-FFF2-40B4-BE49-F238E27FC236}">
                <a16:creationId xmlns:a16="http://schemas.microsoft.com/office/drawing/2014/main" id="{10DF3167-2C1E-9D2B-2AB4-C38BC4B796D4}"/>
              </a:ext>
            </a:extLst>
          </p:cNvPr>
          <p:cNvSpPr txBox="1">
            <a:spLocks/>
          </p:cNvSpPr>
          <p:nvPr/>
        </p:nvSpPr>
        <p:spPr>
          <a:xfrm>
            <a:off x="365176" y="4070204"/>
            <a:ext cx="12191998" cy="1749409"/>
          </a:xfrm>
          <a:prstGeom prst="rect">
            <a:avLst/>
          </a:prstGeom>
        </p:spPr>
        <p:txBody>
          <a:bodyPr vert="horz" lIns="91440" tIns="45720" rIns="91440" bIns="45720" rtlCol="0" anchor="ctr"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zh-CN" altLang="en-US" sz="2400" dirty="0">
                <a:latin typeface="Times New Roman" panose="02020603050405020304" pitchFamily="18" charset="0"/>
                <a:cs typeface="Times New Roman" panose="02020603050405020304" pitchFamily="18" charset="0"/>
                <a:sym typeface="+mn-ea"/>
              </a:rPr>
              <a:t>中国金融学院《金融方舟》编辑部</a:t>
            </a:r>
          </a:p>
          <a:p>
            <a:pPr marL="0" indent="0" algn="ctr">
              <a:buFont typeface="Arial" panose="020B0604020202020204" pitchFamily="34" charset="0"/>
              <a:buNone/>
            </a:pPr>
            <a:r>
              <a:rPr lang="zh-CN" altLang="en-US" sz="2400" dirty="0">
                <a:latin typeface="Times New Roman" panose="02020603050405020304" pitchFamily="18" charset="0"/>
                <a:cs typeface="Times New Roman" panose="02020603050405020304" pitchFamily="18" charset="0"/>
                <a:sym typeface="+mn-ea"/>
              </a:rPr>
              <a:t>外部研讨会</a:t>
            </a:r>
            <a:endParaRPr lang="en-US" altLang="zh-CN" sz="2400" dirty="0">
              <a:latin typeface="Times New Roman" panose="02020603050405020304" pitchFamily="18" charset="0"/>
              <a:cs typeface="Times New Roman" panose="02020603050405020304" pitchFamily="18" charset="0"/>
              <a:sym typeface="+mn-ea"/>
            </a:endParaRPr>
          </a:p>
          <a:p>
            <a:pPr marL="0" indent="0" algn="ctr">
              <a:buFont typeface="Arial" panose="020B0604020202020204" pitchFamily="34" charset="0"/>
              <a:buNone/>
            </a:pPr>
            <a:r>
              <a:rPr lang="zh-CN" altLang="en-US" sz="2400" dirty="0">
                <a:latin typeface="Times New Roman" panose="02020603050405020304" pitchFamily="18" charset="0"/>
                <a:cs typeface="Times New Roman" panose="02020603050405020304" pitchFamily="18" charset="0"/>
                <a:sym typeface="+mn-ea"/>
              </a:rPr>
              <a:t>邓湘雯 </a:t>
            </a:r>
            <a:endParaRPr lang="en-US" altLang="zh-CN" sz="2400" dirty="0">
              <a:latin typeface="Times New Roman" panose="02020603050405020304" pitchFamily="18" charset="0"/>
              <a:cs typeface="Times New Roman" panose="02020603050405020304" pitchFamily="18" charset="0"/>
              <a:sym typeface="+mn-ea"/>
            </a:endParaRPr>
          </a:p>
          <a:p>
            <a:pPr marL="0" indent="0" algn="ctr">
              <a:buFont typeface="Arial" panose="020B0604020202020204" pitchFamily="34" charset="0"/>
              <a:buNone/>
            </a:pPr>
            <a:r>
              <a:rPr lang="en-US" altLang="zh-CN" sz="2400" dirty="0">
                <a:latin typeface="Times New Roman" panose="02020603050405020304" pitchFamily="18" charset="0"/>
                <a:cs typeface="Times New Roman" panose="02020603050405020304" pitchFamily="18" charset="0"/>
                <a:sym typeface="+mn-ea"/>
              </a:rPr>
              <a:t>2026</a:t>
            </a:r>
            <a:r>
              <a:rPr lang="zh-CN" altLang="en-US" sz="2400" dirty="0">
                <a:latin typeface="Times New Roman" panose="02020603050405020304" pitchFamily="18" charset="0"/>
                <a:cs typeface="Times New Roman" panose="02020603050405020304" pitchFamily="18" charset="0"/>
                <a:sym typeface="+mn-ea"/>
              </a:rPr>
              <a:t>年</a:t>
            </a:r>
            <a:r>
              <a:rPr lang="en-US" altLang="zh-CN" sz="2400" dirty="0">
                <a:latin typeface="Times New Roman" panose="02020603050405020304" pitchFamily="18" charset="0"/>
                <a:cs typeface="Times New Roman" panose="02020603050405020304" pitchFamily="18" charset="0"/>
                <a:sym typeface="+mn-ea"/>
              </a:rPr>
              <a:t>5</a:t>
            </a:r>
            <a:r>
              <a:rPr lang="zh-CN" altLang="en-US" sz="2400" dirty="0">
                <a:latin typeface="Times New Roman" panose="02020603050405020304" pitchFamily="18" charset="0"/>
                <a:cs typeface="Times New Roman" panose="02020603050405020304" pitchFamily="18" charset="0"/>
                <a:sym typeface="+mn-ea"/>
              </a:rPr>
              <a:t>月</a:t>
            </a:r>
            <a:r>
              <a:rPr lang="en-US" altLang="zh-CN" sz="2400" dirty="0">
                <a:latin typeface="Times New Roman" panose="02020603050405020304" pitchFamily="18" charset="0"/>
                <a:cs typeface="Times New Roman" panose="02020603050405020304" pitchFamily="18" charset="0"/>
                <a:sym typeface="+mn-ea"/>
              </a:rPr>
              <a:t>24</a:t>
            </a:r>
            <a:r>
              <a:rPr lang="zh-CN" altLang="en-US" sz="2400" dirty="0">
                <a:latin typeface="Times New Roman" panose="02020603050405020304" pitchFamily="18" charset="0"/>
                <a:cs typeface="Times New Roman" panose="02020603050405020304" pitchFamily="18" charset="0"/>
                <a:sym typeface="+mn-ea"/>
              </a:rPr>
              <a:t>日</a:t>
            </a:r>
            <a:endParaRPr lang="en-US" altLang="zh-CN" sz="2400" dirty="0">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14803756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FmZWIzNDg2MmIzZjExOTIzMmViNTBmYTMwYTk0ZWY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44.61204724409453,&quot;left&quot;:305.3,&quot;top&quot;:158.50000000000003,&quot;width&quot;:313.2}"/>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44.61204724409453,&quot;left&quot;:305.3,&quot;top&quot;:158.50000000000003,&quot;width&quot;:313.2}"/>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38.97448818897635,&quot;left&quot;:294.05,&quot;top&quot;:129.75,&quot;width&quot;:342.0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默认模板">
      <a:majorFont>
        <a:latin typeface="Times New Roman"/>
        <a:ea typeface="楷体"/>
        <a:cs typeface=""/>
      </a:majorFont>
      <a:minorFont>
        <a:latin typeface="Times New Roman"/>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sz="200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Mjk3MjkwNTgxNTExIiwKCSJHcm91cElkIiA6ICIxMzg2MDA2NTgiLAoJIkltYWdlIiA6ICJpVkJPUncwS0dnb0FBQUFOU1VoRVVnQUFCQlFBQUFOdkNBWUFBQUJ0WFlrUUFBQUFBWE5TUjBJQXJzNGM2UUFBSUFCSlJFRlVlSnpzM1hkNFZGWCt4L0hQekdUU2V5Q2swQ0VrOUk0Qy9nQ3BBalpVUk5ZT2l1RGFlMWxFQmRlT3lLcFlRRjJVUlZHeGdRaTRWRUVFNmRKN1NPODltVWxtNXZkSHpDeVJJTGxKTUNEdjEvUHNQbkx2elRubkJoUG5mdTQ1MzJOeXVWd3VBUUFBQUFBQUdHQ3U3d0VBQUFBQUFJQnpENEVDQUFBQUFBQXdqRUFCQUFBQUFBQVlScUFBQUFBQUFBQU1JMUFBQUFBQUFBQ0dFU2dBQUFBQUFBRERDQlFBQUFBQUFJQmhCQW9BQUFBQUFNQXdBZ1VBQUFBQUFHQVlnUUlBQUFBQUFEQ01RQUVBQUFBQUFCaEdvQUFBQUFBQUFBd2pVQUFBQUFBQUFJWVJLQUFBQUFBQUFNTUlGQUFBQUFBQWdHRUVDZ0FBQUFBQXdEQUNCUUFBQUFBQVlCaUJBZ0FBQUFBQU1JeEFBUUFBQUFBQUdFYWdBQUFBQUFBQURDTlFBQUFBQUFBQWhoRW9BQUFBQUFBQXd3Z1VBQUFBQUFDQVlRUUtBQUFBQUFEQU1BSUZBQUFBQUFCZ0dJRUNBQUFBQUFBd2pFQUJBQUFBQUFBWVJxQUFBQUFBQUFBTUkxQUFBQUFBQUFDR0VTZ0FBQUFBQUFERENCUUFBQUFBQUlCaEJBb0FBQUFBQU1Bd0FnVUFBQUFBQUdBWWdRSUFBQUFBQURDTVFBRUFBQUFBQUJqbVVkOERBQURnYkphWm1hbms1T1Q2SGdad3ptdlVxSkVhTm14WTM4TUFBTlFoQWdVQUFFNGhLeXRMNzc3N3JsSlRVK3Q3S01BNUx5UWtSSGZlZVNlaEFnRDhoUkFvQUFCd0NqazVPY3JLeWxKeFVaR3NaV1V5dTV6MVBTVGduT00wbVZYcVVmNlJNeXNyaTBBQkFQNUNDQlFBQURnTnM5T3B4bW1wQ2lncXJPK2hBT2VjQWg4ZnhVZEUxZmN3QUFCbkFJRUNBQUNuWVpKTHZpVWxDaXdxcXUraEFPY2NsOGtzazh0VjM4TUFBSndCN1BJQUFBQUFBQUFNSTFBQUFBQUFBQUNHRVNnQUFBQUFBQUREQ0JRQUFBQUFBSUJoQkFvQUFBQUFBTUF3QWdVQUFBQUFBR0FZZ1FJQUFBQUFBRENNUUFFQUFBQUFBQmhHb0FBQUFBQUFBQXdqVUFBQUFBQUFBSVlSS0FBQUFBQUFBTU1JRkFBQUFBQUFnR0VFQ2dBQUFBQUF3REFDQlFBQUFBQUFZQmlCQWdBQUFBQUFNSXhBQVFBQUFBQUFHRWFnQUFBQUFBQUFEQ05RQUFBQUFBQUFoaEVvQUFBQUFBQUF3d2dVQUFBQUFBQ0FZUVFLQUFBQUFBREFNQUlGQUFBQUFBQmdHSUVDQUFBQUFBQXdqRUFCQUFBQUFBQVlScUFBQUFBQUFBQU1JMUFBQU9BYzEvS0tLOVZzK0FpWkxKYjZIa3FkYWRDNTgxL3FmZ0FBK0NzaVVBQUE0QnpYZU5CZ2RaZzRVUUZObXJpUGVZZUcxbWtmTFM2N1hOMGZmVXhOaHc2VHlWdzNIeDhDbWphVGI2TkdWWjdyOC95TEd2cnhQQVcxYkZXclBzeFdxMXBmTTFwbVQ4OHF6OGVNdVU3L04vMDFSZmNmVUt0K3pnWk5oMTJpaTE1K1ZSRzllOWYzVUFBQTV3a0NCUUFBemdFZTN0Nnkrdm1kZER5b1pTdUZ4TVpxMDdTcHN1WGtxT213UzlSLzVyOTB5YWVmNmVLMzMxRll4MDUxMG4vQ3FsVUtidE5HM1I1K1JDMnV1TEpPMm16VXE1Y0d6bjVmVFljT3EzVGM2dWNuazhVaXM4V2lvclRVV3ZWaDlROVFoenNtNnY5ZWZhM0tHUThGeDQ4cnJHTW5OUjB5cEZiOUdPRWRHcXJROXUwVjJhZXZ3cnQzbDlYMzVML1hta2orY2EwYWRPbWlEaE1tMWtsN0FBQ2Nqa2Q5RHdBQUFKeGVrNkhEMVBudWU1UzliNjkrZWY1NUZTWW1TSkk2VEpxa3ZNT0gxZXlTNFhJT0hLVHN2WHUwNDgwMzFlbnV1K1VmM1ZneDExNnJ2Q09IVlZwUVVLditTL1B6dE9idXU5WHh6anRseTg2U0pIbjQraXFnU1ZQWjgzSlZtSnhzdU0yZ21CaDVlSHZMdzhlbjB2RUduYnZJWkRiTGxwMGptV3IzN2lPb1pRdEprc3ZocVBLOHM3UlVrblQwdSs5cTFjL3ZXUU1DNVJmUlNINlJVZkp2MGtUK2padkl2MGxqK1RkcGNsS0FZTS9MMDg5VEppdnoxMTlyMVdkcFlhRktDd3FVdGF0MjdRQUFVRjBFQ2dBQW5BT09mUE8xVEJhTE90dytRUzB2djF3N1o3MmxsbGVPVW1sQmdkWS85cWphalJ1djR6OHNWOTZSSXdwcTFWcXBtelpwM2NNUHFheTR1RTc2TjF1dDhvMklVUHIyN1FwdDExNnRyeDZ0NEpnWW1Td1dsUllWYXUyOTl5anY2TkZxdCtmaDY2dklDM3NyYmZObUhmNzZxMHJubW84WW9hSzBORzErK1VYMW1qeFpQejg5UldWRlJUVWFkMlNmdm5LV2xXbnp5eTlXR1NwWS9mM2tjanFWc1dPN0FwbzJWV2o3RGdwczNseFp1M1lwY2MzcUt0djBEZzFWVU10V01udDZ5aG9RSU8vUUVIbUhOWlJmUkNQNU5JcVFiM2k0UEh4OUpVbUZTVWtxVGsrWExUZEhPZnYyS2UyWFgrUW9LZmxmWTZieS8zT1dsWjMyWHF3QmdXcDk5ZFZxT1dxVWt0YXMwYTdaNzhtZW0xdnBtcktTWWhXbXBGVDcrd01BUUcwUUtBQUFjSTQ0L09WQ0phMVpMWlBKckFhZE9zay9La3FicGsyVnhXcFZ6TFZqNUIwV3BzMHZQSy9jUXdlVmUraGdyZnFLNk4xYlVYMy9UMTZoSWZLTGpKSmZaS1JjVHFmeTQ0K3A0SGlDdkJ1RWFlYzdieXQ3eng3bEhOaC95aGtBcDlKcytBaFp2TDIxNjkxM0toMFBhTnBVNFQxN2FldXJyeWozNEVFZFhiUkl2YWM5cDUrZWVGeGxKejZJVjRPSHI2K2lMeDZvbzRzWHF6QXhzZEk1MzRnSUJiVnFyZWdCRjBzdWw0Yk5teThQWDErNW5FNFZKQ1RJNnVldjVQWHJxbnpRTjVrdGFqdHV2SUpqWWlSSlJTa3B5ajkyVlBueDhVcGN1MWI1OGZIeURnbldCYzlNVmZyV3JkbzJZN3FoY2J2N3NWalVZZUlrZVhoNXlXUTJ5MkczSy8vWU1jbnBVck5obHloaDVRcWxiOW1pb05hdGxYZjRzRnhPcDF4bER0bXlzMnZVSHdBQVJoRW9BQUQrVXNyS3luVGt5QkZGUjBmTDk3ZTN4SDhsSlptWmtxUXlXNGt5ZHV5UUpFVU1HQ0NIelNhVDJhSUdYYm9vWTl1Mld2ZVR1bkdqWEE2SGZDTWlWWnFmcjd4alI1Vi83SmhjRG9kTVpyT3UrSDZaV2w1K2hWWit0OWh3bUdDMldoVXorbG9kVzdKRXVZY1BWVHJYL3JZSnlqbXdYL0hMbGtxU0V0ZXNWbGluVHJyd3VlZTFZZktUaG1ZcXRMajBNbmw0ZVduLy9IbnVZMDJIRFZQNzJ5Ykk2dXVyL1BoNGVRWUZLZWZBZmgzOC9ITVZKQ2FvTUNIaHRNRkZjVWE2VnQwNVVYNFJrYkxuNTZtMHNQRGtpMHdtbFJVVnVVT0htbkE1SFBMdzlsWm91M2I2Ny9oeDd1T3RycnBhOGN1WEtYM0xGa2xTcjZlZVZrbG1wdGJlZjY5a05xdTBzSGJMVzg1MkRvZERPM2Z1Vkt0V3JSUVFFRkRmd3dHQTh4cEZHUUVBZnlsMnUxM3o1czNUMEtGRDljd3p6MmpUcGszS3pzNld6V2FUeStXcTcrSFZtbDkwdE5xTS9adEMyc1JLa2p5RGd0VGg5anUwNjcxM3RPMjFWOVZpNUdYcS9kenphdGl0VzYzNmNUa2NTdDI0VWJhc0xEVzY0QUxac25QY3dZRlhhS2hrTXFrd0tWRU9tODF3MnkydnZGSVdMeS90L21CT3BlTU51M1JWbzE2OXRIM202NVdPNzNydlhYa0ZCYXJmakpueWk0aXNWaDhldnI1cWZjMDFPcnBraVR1RWthVDRwVXUxWlBUVittYmtjSzJjZEljS2poL1g4UitXSzNIMUt1VWVQR2hvRmtSaFNuTFZZWUlrdVZ3cVRFbFd3ZTltUmhpMWYvNS81Qi9kdUZMZEJlK3dNQjFiVWw3eklhQnBNL2xGUmlwaDVRcEprc1hxb1laZHVxbjc0MDlvNEx1ejFXN2NiYlhxLzJ6Z2NEaVVuNSt2dzRjUGErN2N1YnI2NnFzMWZ2eDRKZGVnYmdjQW9HNHhRd0VBOEpkVVhGeXNiNzc1Um9zWEwxYVRKazNVdm4xN3hjWEZxV1BIam9xTmpaWG5LYllSUEJ1WlBUd1UyYWV2V2x4MnVWeHlhZHRyMDFXWWxDUnJRS0Q2UFAraWppejZWb2UvL2xxU3RPbTVxV281NmlyMWZ1NTVGU1lsS1hIMUtpV3ZYK2VlRW05VXhzNGQ2dnJRdy9LTGpOS2FlKytXSkRYbzNGbjJ2Rnh0ZWZrbHcrMzVOR2lvdUJ0dVVzS3FsWlhXLzN2NCtLakxBdzlxL3lmemxiTi9mNld2Y2RoczJ2VGNOUFgvMTVzYThQWTcyam5yTGNVdi9mNFArNG03NFVaNWhZUXFkZU9HUDd6T0x6cGE2ZHUySzZSTnJKcGVjb204UTBOMTZNdUZ5dGkrM2ZDOS9aNDlMMCtPa3RyVnNDaE1TbExtenAwS2J0TkcrUW5IRmYxLy9XVHg4cExuYjIvbVk4YU1VVmxSa1FLYk5WUC9OOStTVjNDSUlpNjhVTGtIRHloeDlTcWxiUGpqK3orYnBhU2thTXVXTFRwdzRJQjI3OTZ0WGJ0MnFiaU9hb0lBQU9vR2dRSUE0Qy9MNVhLcHJLeE1SNDhlMWRHalI3VjgrWElGQndlclljT0dHakZpaEFZTkdxU0dEUnZXOXpCUHllcnZyMTVUbmxad216WXlXenkwNjcxMzNNRkJnODZkMVh6a3BkcjUxaHZLL1BWWGVmajZLckJGQytVZk9hckRYeTVVMXU1ZDZ2bmtaTVhkZUpQaWJyeEpaY1hGeWoxMFVPbGJ0bWp2UjNPclBRWjdicTUrZmVkdHhkMTBrL3RZMUVYL3AxL2ZmVWUybkJ4SmttK2pSdkp2M0ZnbG1abW5MY3pZK2I3N2xYL3NxSnBkTWx5SnExZTVwKzEzdUdPU2lsTlRLNDNOWkRhcjExTlRsUHpUVDRwZityMTJ2UEV2ZGJuL0FYVjc2R0cxdVB4eUhmaGt2cExYcno5cHlVVkEwNlpxT2VvcTJiS3oxZkxLVVVyZHVMSFMrU1pEaHNycTZ5Ty95Q2haUEszcWNNY2RzdWZteVRNd1FJMTZYYURJdmhkcDlkL3ZWUGIrZmRYK1BsWEZhYmZMNHUwdDd3WU5WRlpZV09NQ21jZVdMVlg3Q1hmSUx6SlNTVCt1MWZLYmIxUmhVcEtDMjdSUmFMdjJXdmZvdzVMSnJHTkx2OWVBTjJkcDdmMzMxbWpYamJOQldWbVoxcTlmcjhXTEYydmZ2bjNLeXNwU1VWR1JlM2FSeStXU3lXU3E1MUVDQUNvUUtBQUEvdklxSGtac05wdFNVMU9WbHBhbVhidDI2ZVdYWDFiLy92MTEyV1dYcVczYnRnb01ESlMzdDdmTTVyTmpSV0JwUVlFT2YvV1ZtbzhZcWQzdnoxSGUwU095K3Z0TEpwTThmSHlWdUdxVkd2VzZRRzF2R2FmUWR1MWt0bHBWVmx5c25XKzlxV1BmTDlIS2lSUFUrT0tCOGc0TGt6MDNWN21IRHl0NzM5N1Q5aHZZdkhtbFlPRFlrdStVdUhxVnpKNmVDbXpSUXFGeGJaVjM5S2d1ZkhhYWd0dTBrWGRZbUNUSjVYUnF3K1FuVDNxQXI5RHE2bXZrRlJ5a2RZODhyT0VMUGxlakhyMlV2bVdMV28yNlNzRXhNZHI0ekJUMWUyMkdrbjlhci8zejU4dmxkTXFlbDZkdUR6MnN3cVFrSGZ0K2lRcVRrOVI0NENENVJ6ZFdpOHV2a0U5NEl4MzY0bk4zSHlheldkMGVlbGdaMjdjcGJmTXZhajd5c3BQR0VkYStnNXFQSEtuRm82N1F6cmRuVlRwMzJhTHZWRnBZV09zd29lTDc0UmNSb2I0dnZLaUFaczFWbkpHdXJGMjdkUEN6ejZyMTkxQWhZY1YvbGI3NUYzVzYreDQ1N1hZVkppWEpiTFVxNnFMLzA1cDc3NVk5TDA5UytmSVhTYlhlSXZUUFpMUFpWRnhjck9Ua1pDMVpza1RmZi8rOU1uOWJvdkpYV0tJRUFIOTFaMldna0pLU29vU0VoUG9lQmdEZ0hHU3oyWlNSa2VIK2M4WGJ6Qk1mVGs3ODU5V3JWMnYxNnRVS0NncFNwMDZkRkJjWHA4NmRPNnRqeDQ1LzNxRC9RUEs2SDVXODdrZEprbGR3c0laKy9CL2x4OGNyNWVjTktrcE9WdHFXelRxMjlIdlpjM0lVMXJHVExwdzZUWUV0VzBxU3lvcUtkSFR4SXNOOXh0NXdvNEpheHloait6YTVuRTc1aG9mTEx5cGFmcEdSNWR0RUZoUW9zazhmRmFXa0tuSDFLaFVtSlNvLy9yaHlEdXcvNWNOc2VNK2VpcnJvSXExLy9ER1ZGUldwdEtCQVJha3BpcnJvL3hUVXFwVitmUEIrbFpXVXlKNWZvTmFqeCtqQXA1L0s1WFFxNStCQk5aTmt6eTJmRFpHeGZmc2ZMa2VJdmY0R2VmajVhZjJUVHlpNlh6ODViQ2ZYUk1qWXZsWE5SNDZVWjJDZ0duVHFwSkM0ZGlySnpORGhyNzlTYVg2K2NvOGVNZnc5cTRySlpGTHU0U1BhUG5PR21nMGZycmdiYjFaMC93R0s3TjFILzcxOXZBcVRrcXJWanN2aFVFbFdsb3BTVXR5N1RqaExTN1g3L2NvMUtMeUNReVJKd1cxaUZkaWloWUphdDVadmVMalN0MjdWL2svbXkxbGFXaWYzVlJmMjc5K3ZMVnUyYU0rZVBkcXpaNCtPSHo4dXU5MHVxZW9nb2FwWkNidDM3MWJlYjJFS1VCTWhJU0ZxMWFwVmZROERPS2VkZFlGQ2FtcXFubnJxS1IwMXNKYzFBQUFWWEM2WENxcDRxRDN4Z2FTcWNDRTNOMWRyMTY3VnVuWHJGQlFVcElZTkc2cGp4NDRxUEZYUnZYcGd5OGxSNnFhTnlqdDhXSHMvbXVzdVVGaVlVajY5UFdOSCtZTjI4bzlyYTlWUHpvRURpdXg3a1RKLy9WVm1EdzlsN3RnaGUxNnVpak15Vlp5ZVptaW5CYW04Y0dCbzIzWmE5K2dqY3Y3MjBPZ3NLNU05UDEvWmUvY3E2WVR4MnZOeWxYL3NxTHZlUThsdjRaQzlHZytPalhyMFZLTUxMOVM2aHg5U2FYNituR1ZsY2xaUk5MSTRQVjJTMU95U0VYS1cycFYvOUloN3h3eG5XWmxzV1ZtRzd1K1V6R2FaekNhNW5FNGRYYnhZeDMvNFFTMnZIS1htSXk5VlNHemNhUU9GenZmY0s4L0FRTzJlUFZ1Rktja3FLeXBTbzU0OTFYL212MVNRa0tDVURSc1VFdGRXWG1HaDhvdUlsSC9qYURsTFN4VjM0MDBxeWNwVVNWYTIwaE8zeXBhVEk0dVhWNzBIQ2c2SFE2dFdyZEliYjd5aHc0Y1BLeXNyeXgwaVNDY0hDYWRiMnZDdmYvMUxGb3Zsakl3VjU0ZkF3RUE5OGNRVDZsYkxJcmJBK2V5c0RCU09IajJxek14TStmajQ4QjhLQUlCaHpob1VINnpnY3JsVVdscXF3c0pDMmUzMjhqWGJkVGkyMnFwNEdKYWtrTFp4NnY3WUU5bzc5OS9hTis5ajk4TzZQVCsvVm4yWUxSWVZwYVRvK1BKbHRXcW5Rbjc4TWUyZCsrL0tmWGg0eUdHenFUZ2p2Zkp4cTFVbEdmL2JsYUhzdDZLR3Azc1k5bzJJVUVqYnRscjM0QVB1blJwTVpvdWNWV3hwV1ZaVTN1YnU5MmRMa2p3REF5dnRWbEZXUnlHUzJXcVY2WVRsTXc2YlRRYysvVVFIUHYya1dsK2ZzWDI3ZXY1anN1S1hMVk5oU3JKY0RvZktpa3QwWU1Hbnl0aTVROTRoSVFwdDEwNGw2ZWxLWExsU2tYMzZLS0JaYzYyNTc1NDZHZitaVVBHelZWSlNVdW5udENiTEcreDIrMW16UEFubm5xS2lJdVhuNXlzK1BwNUFBYWlGc3k1UXFPRGo0NlBiYnJ0TkhUcDBxTytoQUFET0lUYWJUZlBuejlkUFAvMVU2ZmlwSGxncTNvSUdCUVdwYytmT2lvMk5kUzk1U0V0TDA2eFpzMVNZWFVkdnJPdkNDUTloaGNuSk1wbk5jamwvOTlCY3k3WG5QbzBhcWVENDhWcTFjVHBtcTFVTys4bXpCM3pDR3lsOTZ4YjNueXRDRXAzbWxvcFNVazRxTm1tMldPUnludnlGRmYxMnZ2YytOZXpjUlJZZmJ4MzU1aHZ0bi84Zm1Ud3NLcTJqblFUTUh0WmExUUZJWHZlalNvc0s1U3dyRDFOY0xxZlN0MjFWMnVaZkpFbEZxYW1WYWtCMHVHT2lQTHk5NVJjVlZlM2xGSDhtaThXaUlVT0c2SzY3N2pybGtvZFRMVTJxYXJiQ2d3OCtxTWFORy84cFk4ZGZTM1oydHFaUG42NmMzd3JMQXFpNXN6WlFzRmdzYXRPbWpYcjA2RkhmUXdFQW5FT0tpb3EwZlBseTk1OVB0eDY3VDU4K0dqWnNtTnEyYmF1d3NEQUZCQVM0WjhlbHBhV2QrUUViWlBIMmRzOUFNRnZMdDc3TTJyT24vSnlQVDUzMEVkUzZ0VkorRjhqVU5ZdVhWNlZ3cElKL2RMUU9mL1hseVY5Z05qNVB4R1NwK3UxMXhhNFErejcrU0wrK1BhdlM3QVNUeVZ6bE1vbWFNSHRhYXhYdU9NdktsTDFuVC9uMzZqY09tMDErRVpFS2JkZE9DYXRXdXBlR0JMVnVMZi9HamJWcDZyTzZZTW96MmpENVNSV2RoZi8rVm1qVHBvM2F0R21qb3FJaTVlYm1LakV4VWN1WEw5ZUtGU3VVOWR1U2s5T0ZDKzNhdFZPYk5tMyszSUhqTHlFMU5WWGUzdDRVL2dUcXdGa2JLQUFBVUZjcUhrQThQRHprNit1cmtKQVFYWGJaWlJvNWNxVEN3OFByZVhURytEUm9vUHhqeHlTVmI5Y29TYm1IRGttU3ZFUEtpL0pWRk82ckNhdXZuNEphdE5TT045Nm81VWhQeldTeGxLL3AvOTA0UStMYXlzUGJXNm1iTnAxd2NYa29VSk90QWkxZTNxcnF5eW9ld20zWjJRcG8zbHdOT25hU1BUOWZDU3YrSzVQWnBMSTZDaFE4dkgzY2ZkVlUvdkhqOGd3SWxGOVVsSUpqWWhYV29ZT0NXcmJVbm45L1dLbnREcmZmb2V3OXU1VzRaclhNbmxiMWVmRmwvZmpnL1NxcHEzb1FaNGl2cjY5OGZYMFZHUm1wSGoxNjZLR0hIdExxMWF2MTlkZGZhLy8rL2NyUHo1ZnRoTDhQSGdBQjRPeENvQUFBK01zeW1VeXlXQ3hxMHFTSjJyZHZyN2k0T0hYczJGR3hzYkh5OVBTczcrSFZpRS9EY0pYOU5pVS90SDE3NWNjZlUrbHZNeFlxM3JUYmNuTnIzSDVFbno2L0ZVdmNVL3ZCbm9KbllLQ2trK3NpdExqME1pV3VXYVBTL1A4VllMVDg5dmRVazhkSWEwQ0Fxa29VWEk3eUIvSHVqejB1bDhPaGd1UEgzZHM0bXN5V09pdGU2Qm5nTDBjTjJ6SlpMQXBxMVVwK0VSRnFNbkNneko1ZU9yYmtPNjIrKys4cVNrMnRkRzMwZ0FGcTBLV0wxdDUvcnlUcCtBOC9LTEx2UmVyNzBzdjY4YUVIWlR1SHBuVmJyVllOSGp4WWd3Y1BWbkp5c3JaczJhS0RCdzlxejU0OSt2WFhYMVZjUjh0UkFBQjFnMEFCQVBDWDVPM3RyUUVEQm1qbzBLR0tpWWxSY0hDd2ZIeDhhdlNtKzJ5U2MrQ0FDaEtPeTJ5MUtySlBYeDMrY3FIN1hGRnFxbzR1WHV3T0dHcWl5ZURCT3Jia3UxclhZZmdqL3RIUmtpUkh5Zi9lUEllMmI2OUd2WHBxeFIwVEtsM3JHUmhRL2c4MUdFOUEwMlpWSHErb09mSExQNTg3K2FUSjVBNFVUR2F6TE43ZWhuZTFrQ1FQWDE5NUJZZjhyd2FFQWI2Tkdtbmc3UGZsNGUwdGg4Mm13MTk5cVFNTFBxMXlwNHZROXUzVjdhRkh0UHY5T2NyYXZkdDlmUHZyTXpSbzl2dnFOL01OL2Z6MFU4bzdmTmp3T09wYlpHU2tSbzRjcWJLeU12ZXlpQTBiTnVqYmI3OVYwbGxZSXdJQXprY0VDZ0NBdnhTcjFhcnJycnRPRHovOHNQejgvT3A3T0hWdTU2dzNWVnBVcE5iWGpKYlpZdEdSeFl2VnNGczNkYjc3WG1YdTNLR2t0V3ZMMzhyWDRBRThwRzA3aGNTMTFlWVhuajhESTYvY2p5U1ZGcFh2cHVEYnFKRTZUSmlvbi83eHBHeloyWld1OVcwVUlVbHkxV0FaUjBEVHBpZnRJaUZKNXQ5bVBUVG8xRWxlSWFIeUNnMlZkMGlvZkJxRXljUEhSM0UzM2FSMnQ5NHF6NkJnbWN4bUZSdy9ybzNUbmpYMFVCN1NKbFl5bVdvVVJoU2xwbXJqMDFQVWROZ3c3Zm4zaHlwTVRLenl1dkR1UGRUamlTZTFhL1o3SjlXZHNPWGthT3YwVjNYQk04K3EvOHczdEcvZVJ6cTBjR0dsZWhIbkNnOFBENFdGaFNrc0xFeWRPblhTK1BIanRXM2JOalg2YmNrUEFLRCtFQ2dBQVA1U3JGYXI0dUxpNm5zWVoweHBZYUhDdS9kUXUzSGo5Y3R6MDFTYW42ZjBMVnUwYmNaMDlYeHlzcG9OSDZIOCtIaHRtdnFNOG80ZXJYYTdIdDdlNnZiZ2c5bzkrNzB6UGtYZWFiZkw1WFNxSkNORGt1UVhHYVgxano5YTVjTzNaMUNRWEU2bmV5dElJNngrdmlwSUtGRmd5NVpxUC81MmVRWUd5aWM4WE40aDVUTUhPdDl6cndvU2sxU2NtcUtTckN5bGJ6dXU1UFhyVlZaY0xHZFpxVHg4ZkdYMTlaV0hyNjlNSm1QYkUvcEZSMGxTaldzWXBHMyt4YjJidysrWnJWYTF2ZmtXUmZicHE1K25QS1hNWDNkV2VWM3krblhhTis5anhWNS9nOXFOdTAydHJycEdSNzc1V2djLy84eTliT1pjWkxGWTFMMTc5L29lQmdCQUJBb0FBSnhUV2w1eHBlSnV1a21icGo2cjVQWHIzTWN6dG0vWHlqc242b0lwVHlza3JxMjYzUCtnMXR4N2Q3WGFORmtzNnY3NGswcmJza1ZIRm4xN3BvYnVscmhtdFVMaTR0eEZHZE8zYlQzbHRZVkpTU3JKeXF4UlA5bDc5Nms0TTBONWh3OXJ6NGZ2cTBHWHJySmxaeXRuL3o0VkpDVFV1bURpSDhtUEw5OTJzekF4b1U3Yk5WdXRhblBkV09VZU9xamQ3ODg1N1QzcytmQURIZm5tYS9sR1JNaGt0cWlzcExoV1JUc0JBRGdSZ1FJQUFPZUFobDI2cXRVMW81Vi85SWorZTl2NGs1WUdTRkpKUm9iVzNuK2ZPa3ljcE1ZWEQ2eFd1MlpQVDNWOThDR2xiOW1zdzE5L1ZkZkRycEl0TzF1YlgzeWhXdGNtckZvbGk3Zlg2Uytzd3A0UFA1RFphcFZVWG5zaTU4Q0JHclZURTVrN2R5ajFsMDExM3FlenRGUjdQNXByNkd0S3NyTE8rdDBlQUFEbkpnSUZBQURPY2tFdFc4bFpWcW9OazU4OGJXMEVaMW1aZHJ6eEwrMStmMDYxMnZhTGlOU3ZzOTQ2YTNjQ0tNM1AwOEhQUHF2UjErWWVQbFRIb3pIbXA4Y2ZxOWYrQVFBNDB3Z1VBQUE0eTlYa3diaTZ4UUR6NDQ4WmJoc0FBRUNTakZVWUFnQUFBQUFBRUlFQ0FBQUFBQUNvQVFJRkFBQUFBQUJnR0lFQ0FBQUFBQUF3akVBQkFBQUFBQUFZUnFBQUFBQUFBQUFNSTFBQUFBQUFBQUNHRVNnQUFBQUFBQUREQ0JRQUFBQUFBSUJoQkFvQUFBQUFBTUF3QWdVQUFBQUFBR0FZZ1FJQUFBQUFBRENNUUFFQUFBQUFBQmhHb0FBQUFBQUFBQXdqVUFBQUFBQUFBSVlSS0FBQUFBQUFBTU1JRkFBQUFBQUFnR0VFQ2dBQUFBQUF3REFDQlFBQUFBQUFZQmlCQWdBQUFBQUFNSXhBQVFBQUFBQUFHRWFnQUFBQUFBQUFEQ05RQUFBQUFBQUFoaEVvQUFBQUFBQUF3d2dVQUFBQUFBQ0FZUVFLQUFBQUFBREFNQUlGQUFBQUFBQmdtRWQ5RHdBQWdMT2ZTY1ZlbnJLVytkVDNRSUJ6VHJHWHAxd21VMzBQQXdCd0JoQW9BQUJ3R2c2eldRbmhFYkk0bmZVOUZPQ2M0ekNiVldheHlGcmZBd0VBMURrQ0JRQUFUc0hmMzE4K1BqNHFLaXFTMDJvVmNjTFp4K0Z3eUc2M3krVnl5Y3ZMU3hhTHBiNkhoQ3A0U1BMMjlsWkFRRUI5RHdVQVVJY0lGQUFBT0lXR0RSdHEvUGp4eXNyS3F1K2g0QlQyN3QycldiTm1xYlMwVlBmY2M0L2k0dUxxZTBnNGhlRGdZRVZFUk5UM01BQUFkWWhBQVFDQVV6Q1pUR3JXckptYU5XdFczMFBCS2VUbDVlbkFnUU1xS1NsUlZGU1V1bmJ0V3Q5REFnRGd2TUV1RHdBQUFBQUF3REFDQlFBQUFBQUFZQmlCQWdBQUFBQUFNSXhBQVFBQUFBQUFHRWFnQUFBQUFBQUFEQ05RQUFBQUFBQUFoaEVvQUFBQUFBQUF3d2dVQUFBQUFBQ0FZUVFLQUFBQUFBREFNQUlGQUFBQUFBQmdHSUVDQUFBQUFBQXdqRUFCQUFBQUFBQVlScUFBQUFBQUFBQU1JMUFBQUFBQUFBQ0dFU2dBQUFBQUFBRERDQlFBQUFBQUFJQmhCQW9BQUFBQUFNQXdBZ1VBQUFBQUFHQVlnUUlBQUFBQUFEQ01RQUVBQUFBQUFCaEdvQUFBQUFBQUFBd2pVQUFBQUFBQUFJWVJLQUFBQUFBQUFNTUlGQUFBQUFBQWdHRUVDZ0FBQUFBQXdEQUNCUUFBQUFBQVlCaUJBZ0FBQUFBQU1JeEFBUUFBQUFBQUdFYWdBQUFBQUFBQURDTlFBQUFBQUFBQWhoRW9BQUNBYzhLeVpjdGtNcGtxL1cvQWdBRktTVWxSVGs2T0Jnd1ljTkw1UllzVzFmZXdBUUQ0eXlKUUFBQUE1NFIrL2ZxcFNaTW0xYjQrT2pwYWd3Y1BQb01qQWdEZy9FYWdBQUFBemduZTN0NjY5ZFpicTMzOTMvNzJOM2w3ZTUvQkVRRUFjSDRqVUFBQUFPZU1LNis4c2xvaGdiZTN0eTY5OU5JL1lVUUFBSnkvQ0JRQUFNQTVvM256NXVyYXRldHByK3ZhdGF0YXQyNzlKNHdJQUlEekY0RUNBQUE0WndRRUJPaUNDeTQ0N1hVWFhIQ0JHalJvOENlTUNBQ0E4eGVCQWdBQU9HZDRlSGlvVTZkTzh2ZjNQK1UxUGo0KzZ0Njl1enc5UGYvRWtRRUFjUDRoVUFBQUFPZVVQbjM2S0R3OC9KVG5Bd01EMWJObnp6OXhSQUFBbko4SUZBQUF3RGtsTmpaV3NiR3hwenpmdW5YclB6d1BBQURxQm9FQ0FBQTQ1OXg4ODgyblBEZGh3b1EvY1NRQUFKeS9DQlFBQU1BNVorVElrUW9MQ3p2cGVHaG9xRWFOR2xVUEl3SUE0UHhEb0FBQUFNNDUvdjcrdXVhYWEwNDZmdm5sbHlzZ0lLQWVSZ1FBd1BtSFFBRUFBSnlUYnJubGxrbzdPWGg2ZW1yczJMSDFPQ0lBQU00dkJBb0FBT0NjMUxKbFN6VnYzdHo5NTVpWUdJb3hBZ0R3SnlKUUFBQUE1NlNBZ0FEMTdObFRKcE5KSnBOSlhicDBVVWhJU0gwUEN3Q0E4d2FCQWdBQU9DZjUrUGlvZCsvZTh2THlrdFZxVmUvZXZSVVlHRmpmd3dJQTRMemhVZDhEQUFBQXFLbmV2WHNyUER4Y1JVVkY2dDA0TlFSSEFBQWdBRWxFUVZTN2QzMFBCd0NBOHdxQkFnQUFPR2QxNjlaTnJWcTFVbTV1cnJwMTYxYmZ3d0VBNEx4Q29BQUFRRFZrWldVcFBUMjl2b2VCS3ZUcjEwODJtMDM3OXUycjc2SGdkeG8wYUtDd3NMRDZIZ1lBNEF3aFVBQUE0RFF5TXpQMTRZY2ZLaVVscGI2SGdpcVVsSlJJa21iUG5sM1BJOEh2aFlhR2F2ejQ4UW9QRDYvdm9RQUF6Z0FDQlFBQVRpTWpJME1wS1NuS3k4dVRoNGVIVENaVGZROEpWU2d1THE3dkllQTNMcGRMWldWbEtpMHRWVnBhR29FQ0FQeEZFU2dBQUZCTm5wNmVhdCsrUFZzVEFxZVJtNXVyWGJ0MjFmY3dBQUJuR0lFQ0FBRFZaRGFiRlJJU29rYU5HdFgzVUlDem1zVmlrY1Zpa2RQcHJPK2hBQURPSUhOOUR3QUFBQUFBQUp4N0NCUUFBQUFBQUlCaEJBb0FBQUFBQU1Bd0FnVUFBQUFBQUdBWWdRSUFBQUFBQURDTVFBRUFBQUFBQUJoR29BQUFBQUFBQUF3alVBQUFBQUFBQUlZUktBQUFBQUFBQU1NSUZBQUFBQUFBZ0dFRUNnQUFBQUFBd0RBQ0JRQUFBQUFBWUJpQkFnQUFBQUFBTUl4QUFRQUFBQUFBR0VhZ0FBQUFBQUFBRENOUUFBQUFBQUFBaGhFb0FBQUFBQUFBd3dnVUFBQUFBQUNBWVFRS0FBQUFBQURBTUFJRkFBQUFBQUJnR0lFQ0FBQUFBQUF3akVBQkFBQUFBQUFZUnFBQUFBQU1jenFkWjZUZEkwZU9LQ1VsNVl5MExVbloyZGxhc21TSmJEYmJHZXZqOTlhdFc2YzMzbmhEOGZIeGYxcWZBQUQ4R1FnVUFBQ0FZY3VYTDljTk45eWcrZlBuMTJtN1AvMzBrOGFPSGF0cDA2Yko1WExWYWR1U2RPellNYjMwMGt1NjdiYmI2clQ5dlh2M2F0R2lSVlcyMmFaTkd5MWN1RkRQUC85OG5mVUhvT1lhTldxa0w3LzhVaHMyYk5DVlYxNVozOE1Cem1rRUNnQUF3TEIrL2ZvcEl5TkRuMzMyV1oyMk8zYnNXQTBmUGx6Ly9lOS9sWmVYVjZkdFM5S0tGU3ZrNmVtcFJ4NTVSQ2FUcWM3YVRVaEkwS3V2dnFycDA2ZWZkSzVodzRhS2lvcFNpeFl0NnF3L0FBRE9CaDcxUFFBQUFIQjJzTnZ0dXZQT094VVhGNmViYjc1WkRSczJQT1cxUGo0K2F0eTRzVUpDUXVwMERDYVRTWTg4OG9pR0RSc21TVnExYXBYMjdkc25oOE9oMGFOSC8rR1lUaWNwS1VuZmYvKzlIbm5rRVVWRlJXblZxbFg2OHNzdmRlVElFVjE5OWRXNjl0cHI1ZVBqVTZPMnQyL2Y3aDUvVmNMRHcyV3oyYlJnd1FMMy9VeVlNRUZSVVZFMXZoOEFBT29iZ1FJQUFKQWtlWHA2NnZMTEw5ZHJyNzJtclZ1M2F0NjhlWDk0dmIrL3YwSkRRMnZjMzdadDJ4UWJHeXV6MmF5TWpBd2xKU1hweUpFak9uVG9rUGJzMmFPRWhBUjVlWG1wWmN1VzZ0R2poN3k5dld2Y2w4UGgwUFBQUDYvWTJGaXRYcjFheTVjdmw5UHAxSTRkT3lSSm16WnRVdCsrZmRXNmRXdkRiUmNVRkdqRmloVnEyYktsN3Jyckx2ZnhCUXNXYVB2MjdUcDA2SkJTVTFQbDdlMnRsSlFVeGNURXFGV3JWdkwzOTYveC9RQUFjRFlnVUFBQUFHNlhYMzY1aW91TDlkMTMzNTMyV292RkloOGZIeFVVRkdqUG5qM0t6TXhVcDA2ZHF2M1dmZGFzV1VwT1RsWk1USXk4dmIwVkZCU2tzTEF3ZGVqUVFVT0dESkhaYkpiVmFsWEhqaDFyZTF2NjhNTVBGUjRlcmllZWVFSVdpMFdTOU5KTEx5a3dNRkFQUHZpZyt2WHJWK08yUC92c005bnRkajMrK09QeTlQUjBINy80NG92VnNHRkREUjQ4V0o5OTlwbUdEQm1pVWFOR3FiUzBWRmFydGRiM0JOU0Znd2NQeXQvZlh4RVJFWDlLZjF1M2JwWFpiRmJuenAzUFdCOEpDUW1LaUlpUWh3ZVBPc0NaUmcwRkFBQlF5Wmd4WS9UQkJ4OVVlUzRsSlVYcjE2L1gzTGx6RlI4ZnI2VkxsK3FLSzY3UTVNbVQ5ZUdISCtxZi8veW5jbkp5cXRWUGd3WU4xTDE3ZDczNjZxdDY5dGxuOWNnamoyajgrUEc2N0xMTDFLTkhEem1kVHQxenp6MWFzbVJKcmU1bitmTGxNcHZObGNLRTlldlhhOU9tVFhyenpUZHJGU1prWldWcHdZSUZ1dkhHRzArYTNkQ2dRUVBGeGNYSjI5dGJKU1VsK3ZUVFR6VnExQ2hkZGRWVldycDBhYTN1Q2FpSlYxNTVSZSs5OTE2bFl6Ly8vTE5Hamh5cGI3NzVSbEw1akp0bHk1YlYrVTR1THBkTFgzenhoU1pObXFSeDQ4YnB6VGZmUEdPN3hjeVlNVU1EQmd6UTY2Ky9YcU92ajQrUDE1MTMzcW1WSzFkV2VmN3JyNy9XdUhIanRHWExsdG9NczByVHBrM1R1SEhqOU9PUFA5WjUyNmZ6N0xQUGF1Zk9uWDk2dnppM0Vkc0JBSUNUbU0zbDd4ejI3dDJyLy96blAwcEpTVkZDUW9LS2k0c1ZFaEtpTm0zYXlHS3hxRisvZnJyNzdydHJOSDIvdExUVVhSUGhndzgrMEtKRmkvVFdXMis1WnpnRUJBUklLcS9Jdm5EaFFzWEh4NnQvLy83cTJyVnJ0ZnNvTEN4VTQ4YU5OV1RJRVBleHJLd3N2Zm5tbTVvMmJab3lNakswY09GQ0hUOStYSmRkZHBuaGNHSDI3TmxxM3J5NXJyLysrcFBPZmZubGwxcS9mcjNNWnJQeTh2TFVyMTgvWFhubGxXclNwRW1kRm9RRXFpTW5KMGVMRmkyU3crSFFEVGZjNEs0WE1uejRjRTJmUHQwOWErYmRkOS9WdkhuenRHN2RPajN6ekRPMTdyZWtwRVJMbHk3Vnh4OS9yTU9IRDBzcVh5NjFjZU5HRFJreVJHM2F0S2wxSDc4WEZ4ZW5sU3RYcXFDZ29FWmZIeDRlcnA5Ly9sbk5temZYeFJkZmZOTDUzTnhjYmQrK1hlbnA2VnE1Y3FVT0hEaWdJMGVPeU5mWFYvZmZmMyt0bGpNTkd6Wk1FeWRPMUVjZmZhU0xMcnFveHUzVXhMWnQyL1QxMTE5cnpwdzU2dEtseTUvYU44NWRCQW9BQU9DVTR1TGlkTjExMTJuZnZuMEtDd3RUWEZ5Y3dzUERKVWtQUC95d2ZIMTlhL3poT1NjblJ4MDZkSkFrWFhycHBabzNiNTdXcmwwcnA5T3BJMGVPNk1DQkE1S2tmL3pqSDRxS2lsTHo1czJWbHBabXFBOC9QejlaclZZZFAzNWNEb2REaHc4ZjFwZGZmaWwvZjM4dFhMaFFUWm8wVVdSa3BEWnYzcXdwVTZaby9Qanh1dUdHRzZyVjl0YXRXN1ZzMlRKZGV1bWw3cGtQSjdycXFxdDAxVlZYU1pJZWUrd3hCUVFFS0RFeFVaczJiVkpDUW9LT0hUdW10TFEwV2ExV0RSa3lSSC83Mjk4TTNSdGd4TFJwMCtUajQ2Ti8vZXRmbFlxUGhvYUd5dC9mWDE1ZVh2cnV1KzgwZi81OGpSczNUaE1tVEtoeFh5NlhTMXUzYnRWMzMzMm41Y3VYcTZ5c1RCZGVlS0hHamgyclhyMTZxWEhqeG5WeFM2ZFVVRkFnazhsVTdaL2wzL3Y1NTU4bFNVMmJOdFhzMmJQMXl5Ky9LRDA5WGErODhvcGF0R2loTld2V0tDWW1Sb3NYTDViZGJsZFlXSmhpWW1MVXZYdjNXdGRHaVl1TGt5UjE2dFNwVnUzODN2TGx5L1gwMDArcmUvZnVldXl4eDZwY21sWlNVcUxXclZ1ZjBlVW8rT3NoVUFBQUFKTEtId0lXTGx5bzFhdFhhK0xFaVdyWHJwMGtxVjI3ZHU1L3JrdEpTVWtxTFMzVlk0ODlwdVBIajh0c051dUhIMzVRbno1OTFMZHZYd1VHQmlvNk9sclRwazJyVlQ4clZxelEvUG56ZGQxMTE2bERodzU2NXBsblRpb21HUmdZcUJkZWVLSGFSU2FMaW9yMHlpdXY2SUVISHREQ2hRdTFaczBhZGV2V1RRY1BIbFJhV3BxU2twS1VtSmlveE1SRXBhZW55OGZIUnphYlRmSHg4UW9KQ1ZGZ1lLQjY5dXdwaThVaXU5MHV1OTJ1a3BLU1doV2VCRTVsNXN5WldyMTZ0VDc2NktNcUM0K0doNGRyd1lJRk9uRGdnR2JPbktuZXZYdFhPcjkrL1hyMTZkUG5EL3NvS3l2VHVuWHJ0SHIxYXYzeXl5OEtDd3RUMTY1ZEZSTVRvL3o4Zk4xKysrM3VoK1c2bEpTVXBCMDdkaWc2T3RwZGIyWGZ2bjNxMjdldm1qVnJWcU0yNTgyYnA5R2pSOHRxdGNybGNtbkVpQkhxMXEyYkdqZHVySjkrK2tueDhmSDZ6My8rbzdDd3NGclBObkk0SEVwT1RuYUhMSDUrZnBMS1oyYlZwU0ZEaGlnNU9WbXZ2LzY2WG5ycEpjMllNYVBTK1lLQ0FxV21wbXI4K1BITW9JSWhCQW9BQUp6bkNnb0tOSHYyYkczZXZGa0pDUW1TeWo5UVAvZmNjKzVyUHZqZ0ErM2J0MC8zM1hkZnBlSnRMcGVyUm4xbVpHU29zTEJRdlhyMTBwQWhReFFhR3FxNWMrZkszOTlmTjkxMGs2VHlyUmpyNGdHa1k4ZU9XckJnZ2U2NDQ0NVRYaE1aR1NsSmF0dTJiYlhhZk8yMTF6UnMyRENOR0RGQ3YvNzZxdzRmUHF3T0hUcG8xYXBWeXN6TVZOdTJiVFYwNkZBMWI5NWNEUm8wY0g5QTM3dDNyM0p6YzlXOWUzY0t4dUZQOGVHSEgycmx5cFc2N3JycjlOcHJyK21kZDk2cGRIN2R1blhLeXNxU2g0ZUhQdjc0WS9mUHdvbmVmLzk5WFhEQkJWWE94S25nY0RnVUZoYW1XMjY1UlU4KythVDcyaFVyVnVqaGh4L1cyMisvZmRKRGJFMjRYQzd0M2J0WHExYXQwcXBWcTNUdzRFSDUrUGhvM0xoeDZ0aXhvOHJLeXJSanh3NjkvUExMTldwL3c0WU55c3ZMMDVneFkyUXltZFM4ZVhQM3ViS3lNczJiTjA5dnZ2bW1BZ01EM1V1WUprK2VYT01BSURzN1cxZGNjWVgrL3ZlL2E5eTRjZTdsWm9HQmdUVnE3NC9jZE5OTjZ0Q2hneHdPeDBubk5tN2NLQzh2TC9lV3ZVQjE4Vjh5QUFET2MvNysvcnJ4eGh0MTIyMjNhZWJNbVRweTVJaWVldXFwU3RkY2M4MDF1dVdXVy9UQ0N5KzRId3BjTGxlTmk2b2RPblJJa3RTaVJRdjNGT0Z1M2JycGd3OCswT0hEaDVXVmxhV0FnSUE2MmVIQno4OVBYbDVlN2o5Lzhza255czdPMWpYWFhPT3U0VkF4TTZBNjA1Vy8vdnJyU25VVEFnTUQ1ZUhob2REUVVOMTMzMzN1NnlyZStPYms1Q2c5UFYzWjJkbkt6YzNWMGFOSEZSVVZwWmRlZWtuUjBkRzF2aitnS2s2blU2Ky8vcm9TRWhJMGQrNWNyVjI3VnJ0MjdYS2YzN1Jwa3o3NTVCTUZCd2VyUjQ4ZVNrOVBkLzg4bk9qWFgzL1YxcTFidFhidFdnMFlNT0NVL1hsNWVibVhNSjJvNHQveDZvWjFmK1RkZDkvVjU1OS9yc3pNVEVsU2NIQ3dwazJicHY3OSs4dlgxMWRTK1lOeHc0WU5LODJ5eU16TTFMcDE2NVNmbjYrQkF3ZFdHWnBJNVhWZC92T2YvMmpHakJrcUt5dlQ5ZGRmcjJ1dnZWWi8vL3ZmOWMwMzMyanIxcTE2N0xISDNMTUpwaytmcmdjZmZGQ0xGeS9XdUhIamFuUlBtemR2bGxSZThGYVNiRGFicFBJYU1pa3BLZHF5Wll0Mjd0eXA0T0JnWFgvOTliVmVVdEdsU3hmdDNMbFRiNy85dGxKU1VuVEZGVmVvYTlldVdyMTZ0WVlPSGNwMnRqQ01RQUVBQUNnc0xFeFMrWWZhWWNPR1ZYb0FsOG8vM0Q3eHhCUGF0R21UKzVqVDZheHhvTEIvLzM1RlIwZFgrdkRhdlh0MzJlMTJkZTNhMVYxdm9LbzNhVWJaYkRiM3c0WWtOVy9lWE8rODg0NnlzN1AxeEJOUFNKSzdJTjNwcHZwbVptWXFLaXBLUFh2MmRCOHptVXhWYmdPNWMrZE8rZnI2YXN5WU1mTDI5bmF2V1g3MDBVZTFjZU5HMmUzMld0OGJVQldiemFZUFAveFFuVHAxMHYzMzN5K3AvRTE0U0VpSXBQSmRESHg4ZlBUODg4L0wwOU5UQ1FrSnV2NzY2M1hOTmRlb1E0Y09zbGdzeXN2TFUzSnlzZzRjT0NDTHhhTDQrUGdhamFVaXJBc09EcFpVL3RDK2ZmdDJMVjI2VkttcHFicmtra3MwZlBqd2FrMnp2K1dXV3pSOCtIRDUrZm5wMy8vK3R6NysrR01OR0RDZ1VrMklSWXNXNmRwcnIxVldWcFkyYnR5b0pVdVdhTU9HRFhJNEhHcmJ0cTE2OXV4NXlrQmg4K2JOZXVLSko5eXpzTjU0NHcxdDM3NWRrdVRyNjZ0dnZ2bEd0OTU2cTV4T3B4SVRFK1huNTZkUFB2bEVKU1VsTmZyZTJHdzJ2ZlBPTytyWXNhTW1UWnFrclZ1M2F1dldyWkxLZjA4VUZoYkt3OFBEUGU2YS9zNklqNC9YNXMyYnRYSGpSdjM4ODgvS3pjMlZ2NysvZXZYcXBlRGdZQlVXRnVxLy8vMXZwZDE5OHZMeTlQMzMzeXMxTlZXWFhucXBXclJvVWFPKzhkZEhvQUFBQU56TVpuT2xoKzhUZGUvZVhkMjdkM2YvdWJTMHRNWVAvSnMzYno2cGlyalZhbFduVHAyMGUvZHVyVjI3Vmt1WExwWFQ2ZFNvVWFOMDExMTMxYWdmcWZ5RDhZblRoNXMyYlNwSnV2RENDOTNIS2o2b24rNSt3c0xDM09GTGhiS3lzaXFYTHdRRUJLaEZpeFpxMEtDQlJvMGFwWUVEQitySko1OVVURXlNOXUzYnh3ZDBuREZlWGw0bkxmRTVlUENnKzZHKzRtZWdRdVBHamZYWlo1OXA3ZHExeXNqSVVFbEppU0lpSXR3RkZMdDI3WHJhTjlkVi9Selk3WGFscHFaS2toWXVYS2l2dnZwS2RydmRQUk5pOCtiTldyZHVuVmFzV0tGWFhubmx0UGZsNmVtcEprMmFTUHBmQ0ZwV1Z1WStuNW1acVRWcjFtai8vdjJhTVdPR2ZIeDgxTEZqUjkxMjIyMGFPSEJnbGZValRuVGk3d1NwZkFaVldGaVlObTNhNUE0V25uMzJXZTNidDA5MnUxMk5HemZXekpremF6elRhUHIwNlhJNEhHclNwSWxHang0dEx5OHZkdzJGa1NOSGF1REFnZXJZc1dPTmFxdk1tVE5IYTlldTFiRmp4K1RsNWFVV0xWb29KaVpHRHp6d2dOcTFhNmNXTFZxNFE1d0ZDeGFvUzVjdWF0bXlwYlpzMmFMdnYvOWVpeGN2VmxsWm1mcjE2eWRQVDg4YTNSL09Ed1FLQUFEQWJjQ0FBZHE1YzZkR2pCaHgybXN6TXpQZEgrNk5LQzR1MXE1ZHU5eExCdXgydTk1OTkxMnRXclZLZm41KzZ0Mjd0NFlORzZZV0xWcm9qVGZlY0gvQXJxbERodzZwUVlNR0p4MXYxYXFWKzUrTGlvb2tuWDZHUWxXS2k0dmQ2NTVQbEplWEp4OGZId1VHQnNyZjM5OGRWdmo1K2RYNm5nQ2pmSHg4S3RVL3FWQldWcWFkTzNkcTJiSmxLaW9xMHZYWFgxK2pyUnhYclZxbDExNTdUYkd4c2JMYjdjck16SlRMNVhJWE91M1hyNS9HalJ0WGFUYkI2NisvcnJsejU3cG5UaGhSOFROMFlnRDYrZWVmNjY2Nzd0SjExMTBuU2JyMTFsdlZyVnUzR2kxSFNFbEowYXV2dnFxc3JLeEszN2RiYjcxVnpabzFVMlJrNUIvV2xEaWRpdVZsSDM3NFlhWDczN05uajI2NDRRYU5HaldxVmx0cWpoOC9YbGRlZWFYOC9Qd3FCUklPaDBObXM5bjl1ODdoY0dqZXZIa0tDQWpRd0lFRFZWQlFvTjY5ZSt2KysrL1g0TUdEM1NFVWNDb0VDZ0FBd0czQWdBSDY5Tk5QVDNuK3h4OS9WSFoydHV4MnU1S1RrOVczYjEvRGZXellzRUgrL3Y3cTFxMmJwUEszanAwNmRaTEw1ZExvMGFQZEg5NlhMVnVtNXMyYnU0czAxdFRPblRzcnZabE1TVW1SMld5dTlKQ1FsNWNuU1RVcWxKaWJtMXZsOFpTVUZQbjYrc3JsY3FtNHVOaTlEWnpKWktyeFVoR2dwc2FPSGFzMWE5Wm94WW9WS2lnbzBLRkRoN1JyMXk2bHA2Y3JMQ3hNZm41KzJyeDVzeFl0V3FUWnMyZXJhOWV1aHRvZk1HQ0FwazZkcXVqb2FOMTg4ODN1RUM4akkwUERoZzFUUkVSRXBUQkIrbDh4MU9yOEhqbHc0SUNLaW9yVXFWTW45eklqRHc4UFRaMDZWWnMyYlZMMzd0MFZHeHZyRGhPazh0Qmg2ZEtsTlFvVUlpSWlLaFYyUEhqd29GYXNXS0crZmZ2S2JyZHIyN1p0K3ZISEg1V1NrcUt4WThjYTJ1WngrL2J0NnRxMXErNjU1NTZUenVYbjUwdjZYejJYc3JJeTdkMjdWd2NPSEZCeGNiSDY5T2xUcVZEa0h3a0xDMU5hV3BwR2p4NnRxVk9ucWt1WEx2cm1tMjgwWThZTVhYWFZWYnIzM252MTdiZmZhdGl3WVpvNGNhSktTa3AwMVZWWHllVnk2WnBycnFuMi9lRDhScUFBQUFEY0FnTUQvL0R0K1lVWFhxaFhYbmxGUzVjdWxhVFRUaUd1eW9JRkMzVHBwWmRXZXJ0MzBVVVhLU3NyU3c4ODhJQ2VlZVlaK2ZqNGFObXlaWHJ1dWVkcTlSWlFrZ29MQ3l1OTZkdS9mNythTm0xYXFVNkV4V0tSMld4V1VGQ1E0ZllURWhJcUxRV3A2UFBvMGFOcTBLQ0IwdExTVkZwYXF2YnQyMHNxZjBCZ1d6YjgyWm8wYWVMZU52RHBwNS9Xc0dIRE5HSENoRW8vN3krKytLSVdMbHhZbytVNEhoNGVpb3lNVkVCQVFKVXpncXI2ZDc1aXVVSjFsZ3djT25SSVR6NzVwQ1pObXFUYmJydE5Gb3RGRm90RmNYRnhHalJva0hyMTZxV0VoQVFWRlJXNVp5MDRISTRhL1k0NlVVRkJnWTRjT2FJTkd6Ykk2WFRxM252dmxkUHBWTk9tVFJVU0VxSVZLMVpvMmJKbFdyUm8wU2xyTS94ZTU4NmRUOW5YN3QyN0pVbHZ2ZldXamgwN3BvTUhEOHB1dDh0c05pc3dNRkFiTm16UXpKa3pxejMrZmZ2MktTa3BTUnMyYkZDWExsMDBhdFFvSlNjbmE4NmNPUm8rZkxqOC9mMTE1NTEzU2lxZjdkR2dRUVBsNU9SVXUzMkFRQUVBZ1BOWWNYR3h0bTNicHYzNzkydlhybDN1TGRpZWV1b3BYWGpoaGVyZHUzZWw2YmdlSGg1NjZLR0h0SGZ2WGptZFRsMTg4Y1dHK3R1NmRhdU9Ieit1bDE1NnFkSnhzOW1zSzYrOFVtM2J0dFhreVpQbDZlbXAvdjM3cTBlUEhyVyt4MEdEQmxWYUc3MW16UnExYTlkT2lZbUpNcHZOaW95TVZJOGVQVTY3TFY1VmlvcUtGQjhmZjlMWDdkdTN6NzAyZXZQbXpRb0pDWEUvMk5qdDlqT3lKUnh3T24zNzl0WG5uMyt1RVNOR0tEOC9YN05temRKMTExM24zclVnSkNSRTRlSGhOWjdtN3VucFdhbW13WW1xQ2hUUzA5UGQvWjdPb0VHRDlNd3p6N2hyTXBoTUp2bjQrRlNha1dDejJUUng0a1M5OE1JTGlvcUtVa1pHUm8xK2gzend3UWY2L1BQUDFiTm5UNFdIaHlzcUtrb2hJU0h5OC9QVDY2Ky9YdW5hTDc3NFFxMWF0YXAybUNDVi85Nzk5dHR2bFpHUm9lenNiQ1VuSit2SWtTUEt6ODkzRjNpTmlvclNvRUdERkJFUm9mRHdjSVdFaEZTNXRPcVAyTzEydmY3NjZ4bzVjcVM3cGtaQlFZRkdqUnFsb1VPSHFrV0xGbHE2ZEttMmI5K3VCeDk4VUZMNURJbExMcm5FVUQ4NHZ4RW9BQUJ3SHN2THk5TzMzMzZyMHRKU1hYSEZGYnJ3d2d2bDRlR2g3T3hzclYyN1ZvOC8vcmdzRm90NjkrNnQzcjE3cTFXclZ2THc4TkN6eno0clgxOWZROFc2SEE2SDNucnJMZDE4ODgwS0NBaW84aHBQVDA5NWVIaTRkM2hZdm55NUJnMGFaUGlEOUlrcWFqVkkwdTdkdTdWbnp4N2RkOTk5OHZYMTFhUkprOVNoUXdmZGNzc3QrdWMvLzJtNDdmMzc5OHZwZEo1VU5NMXF0U282T2xvaElTRmFzbVNKaGc0ZHFsOS8vVld4c2JGcTNicTEwdExTYW53L1FFMmRHR1Q1Ky92cjIyKy8xZUxGaTdWeTVVcEo1WUZoVFFvQVZzak56VDFwT1U5RmtGRFZ6L0NSSTBka3NWaXFGU2hZclZhMWF0WEt2UlRBWkRLZHRFU3BYYnQyZXZ6eHgvWFFRdzlwMXF4WlNreE1yRlFycGJxR0R4K3VOOTU0UXhNblRuUXZqVHA0OEtEN2ZNVWIvTkxTVXFXbHBXbjgrUEdHMnZmMjlwYkw1ZExQUC84c0h4OGZkZS9lWGJmZmZydmF0Mit2VzI2NVJaSjArUEJoOTh5Qm1wbytmYnBhdG15cHA1NTZ5djMzc0g3OWVqMzMzSE42NzczM1pMRllkT2VkZDJyQ2hBbGF1blNwK3ZmdnI4VEV4Sk1LNWdKL2hFQUJBSUR6V0tOR2phcDhrQTRKQ2RIbGwxK3V5eSsvWEFjT0hOQjMzMzJuKys2N1Q1NmVudXJhdGF2aTR1TFVxbFVydVZ3dUJRVUZ1WU1GcDlNcG04Mm1rcElTQlFRRVZQckEvOFVYWHlnc0xLekt0Yms1T1RsYXNHQ0J2dnJxS3cwYU5FZ3pac3pRbkRsejlNOS8vbE1mZi95eFJvNGNxVUdEQnAyMHc0SVJwYVdsZXZYVlZ6VjA2RkQzRW9ocDA2YnB2dnZ1MDVvMWEzVExMYmRvN05peGhwWWpWTXhNK1AxU2lRNGRPdWpwcDUvV3FsV3JkUERnUVUyZVBGbnIxNi9YVTA4OXBkR2pSK3UyMjI2cjhYMEFOWFhpY2h1VHlhVFEwTkJLeXhzcTF1L1hoTVBoVUZKUzBrbkJ3WW45U2RMY3VYT1ZuNSt2Nk9ob2JkeTRVVTJhTktuMnpLQ3dzTEJLSVdaVk5VL2F0bTJyU3krOVZKTW1UWkxOWmxPN2R1ME0zMHZGREkwVHQ0T3MySFhHNFhESXo4OVBUejc1cEg3ODhVZFpyVllOR0REQVVQc21rMGxqeG96Um1ERmpLaDFQU1VuUm5qMTdOR1hLRksxWnMwWWZmL3l4YnJqaEJzUGpsNlQ1OCtjcklDQkFEei84c0JZdlhxelkyRmpGeHNicWl5KytVSEJ3c01MRHd5V1YvdzZiUEhteTdyampEdGxzTnZmdmVLQzZDQlFBQU1BZmlvbUowYjMzM3F0Smt5WnB6Wm8xK3U2NzcvVFdXMi9KNVhLNXIvSHk4cExUNlZScGFhazhQRHpVdjM5L1RaZ3d3ZjJoOWRDaFE5cTZkV3VsTjJXNXVibmF2SG16VnE5ZXJZU0VCUFhzMlZOejVzeHhUeDErOU5GSDFhbFRKODJjT1ZPelpzM1NPKys4bzVpWUdIWHUzRmx0MjdaVjY5YXRGUjBkWGEwQW9LU2tSRk9uVGxWSVNJaDdhcTlVWGdOaTZ0U3BldlRSUi9YZWUrK3ByS3pNVUJISXRtM2JLaWdvU00yYU5hdDAzR1F5S1RzN1c2Kzg4b3FlZmZaWkJRY0hhOFNJRVVwS1N0Sjc3NzJuWmN1VzZhV1hYbkovZjRBL1ExWldWcVVIY3B2TnByaTRPUGVmYzNKeWFseXp4T2wweW1LeG5EVDdxQ0pncUdoM3pKZ3h1dXV1dS9UKysrOUxPbm1yeGovaTQrUGpicWRpaG9MVDZWUjhmTHp5OHZMY2hSSEhqaDJyVHovOVZLR2hvZTR0S28ybzJQV2xZdXcvL1BDRFB2amdBM2w2ZXVyUlJ4L1Z6VGZmcktsVHArcW1tMjdTMVZkZlhXWE5pSnFZTjIrZWdvT0ROV1RJRVBYcDAwZGp4b3hSNDhhTkRRY1c4Zkh4YXRldW5idFd3d1VYWEtCeDQ4YXBSWXNXK3VXWFh6Um56cHhLeTFxYU4yK3VrU05INnJubm5sTy9mdjFxTlVzRjU1K2F6eDhFQUFEbkZVOVBUdzBlUEZqVHAwL1hSeDk5cEp0dXVra3RXN2FVMld5V3pXWlRkSFMwYnIvOWRuMzY2YWY2eHovKzRYNVlkamdjMnJGamgzdVpoRlQrcHZUUW9VT0tqSXpVdmZmZXF6bHo1bWppeElrbnJVTWVQbnk0M252dlBRMGZQbHdSRVJGS1NrclNtalZydEhEaFFuMzY2YWZhdW5YcmFjZTlZOGNPUGZEQUE0cU5qZFZMTDcxMDBqS05ybDI3YXNxVUtiSllMUHJoaHg4TWZVODhQRHowNXB0dnFsR2pSdTVqVHFkVEN4WXMwR3V2dmFZWFgzelJ2WnVGVkw2VjIrREJnM1hzMkRITm5qM2JVRjlBYlNVbUpycUxNTnBzTnFXbHBTazJOdFo5M3RQVHMwWmJPRXJsU3hLR0R4OWVxVDNwZnpNVEttWVRlSGw1NmRWWFgxVlFVSkM4dmIwckxVbXFUaDltczFsMnUxMkhEaDFTYW1xcWhnOGZycmx6NTFaYXp2SDk5OThySVNGQitmbjVldkhGRnl1Rm45VVJHaHFxY2VQR0tTb3FTdXZXcmRPVUtWTTBZY0lFZVh0N2E4cVVLWm8zYjU2ZWZmWlpUWjgrWGRkZWUrMy9zM2ZmNFUyVkRSdkE3NHlPZE85RkI3UFFNZ290czRDQVRBRmxLQ2lLTWdVRTNLQVVRYkNBTEFkcVgyVUpmc3BTUkpDNkdRcktGbWhwR1cyaGU2OTBKODM4L29pTmxKYTJweTJHY2YrdXk4czBPVG5QYzVLUW5ITS9TOUMrYnljeE1SRjc5KzdGODg4L0Q1bE1CaGNYRjd6eXlpdFl2SGh4Zzc3bmJ1YnI2MXR0NGtkM2QzY3NYNzRjcDA2ZGdwZVhWNjBUVmZibzBRTWFqUVpxdFZydzYwVVBOdlpRSUNJaUlzRmF0R2lCYWRPbVlkcTBhVkNwVk5Cb05OWFdnNytaUkNMQnVISGpxdDBubFVxclhXalh4ZHZiRzIrODhZYmdPaVlsSmVIUFAvK0VoWVVGMXF4WlUrZEVpSDM3OXNYU3BVdng4ODgvQ3k3bjVobnFvNk9qRVJrWkNYOS9mMnpidHExR1M1OUlKTUtiYjc2SjR1TGlKblV2SjJvTUp5Y25lSGw1QVRBRWJTS1JxTnB5aDZHaG9VMGFWblJ6RDZRcVZYOVhUVFlJR09aeWVPdXR0MkJtWm1hc1QzMHFLaW9nbDh0eDVjb1ZmUFhWVi9EMjlzYUNCUXN3WXNRSTQ3d0tnR0dPZ1BEd2NFeVpNZ1Y5K3ZUQjNMbHpvVmFyc1dqUm9tcDFxTSs4ZWZPTUs4Mjg4ODQ3Y0hWMXhaNDllMkJyYTRzMWE5Ymd1KysrdzlOUFA0MGhRNGJndWVlZXE5RkxTWWpTMGxJc1hyd1luVHQzeG9RSkU0ejNQL3Jvb3poOCtERG16NStQOWV2WEl6UTB0Rkg3cjZ5c3hQLys5eitFaElRZ0pTVUZjK2ZPeGJadDI0d2hUMjV1THBZdlg0NCtmZnJnNU1tVDJMeDVzM0VTUjZMNk1GQWdJaUtpSmpFM054YzBPZU4vcFZXclZvS1d2eHN3WUFBR0RCalFwREpidG15SkpVdVcxTG1OVkNyRnUrKytpNUtTa2lhVlJTVFVvRUdENE9Ua0JBRDQ4Y2NmMGJ0M2J6ZzZPaUloSVFGdDJyVEJnQUVEMEs5ZnYwYnZ2N2JoUjFYREJtNjltQjg4ZUhDOSt5c3JLOFBxMWF1Ums1T0QyTmhZU0NRU1BNTStIeUlBQUNBQVNVUkJWUExJSXhnL2ZueXRjeVBzMmJNSEVSRVJtRHQzTHA1OTlsa0F3TXN2djR3UFAvd1FDUWtKV0xseUpYeDlmZXN0VjYvWFkrUEdqVGg0OENBKysrd3pCQVlHNHVUSms5VzJHVDkrUElLQ2doQVdGb2J4NDhjakpDUUVqenp5Q0FZTUdHQjhqUnRDTHBmajVaZGZobHF0eHBvMWEyb01PVm15WkFrbVRweUlWMTk5RmErKyttcTFWUzBhUXFQUklDd3NERktwRkI5Ly9ER3lzN014ZS9ac3hNZkhJekF3RU1uSnlYanh4UmZSclZzM3JGcTFDcDkvL2prMmJkb0V1VnlPQlFzVzFEcFBCZEhOT09TQmlJaUlxSm5jT2puajdVaWxVa0VYSFVUTlFTYVRvWGZ2M2toSVNNRFBQLzlzbkMvazFLbFRHRGx5SkQ3OTlGUEk1ZkptTGJQcUFya3g0L0p0Ykd6ZzRlR0JtSmdZUFAzMDAvanh4eCt4Wk1tU0dtSEN1WFBuTUdmT0hNVEd4dUxMTDc4MGhna0FNSG55Wkl3YU5RcVhMMS9HaEFrVHNIcjE2bW9yTnR5cXNMQVFyN3p5Q3JLenM3Rm56eDVqV1ZVck85eXNUWnMyeG9rVEwxeTRnSlVyVjJMbzBLR1lOR2tTVnExYWhSMDdkdUR5NWN1M0xldlNwVXVZUEhreVpESVp0bXpaVW12dkVGZFhWNFNGaFVHajBXRDkrdlY0NmFXWGtKS1NVdTlyQnhpV3AxeXdZQUYwT2gwaUlpSmdhV21KbGkxYll1L2V2ZkQxOWNXMmJkdXdlUEZpekp3NTB4aG16Smd4QTkyNmRjUGV2WHZ4OU5OUDF3aFNpRzdGeUltSWlJaUk2QUVobDh2eCt1dXZZK1RJa2VqUm93Y0E0TG5ubm9PenN6UEN3OFB4NVpkZjRwbG5uc0VMTDd6UUxLM1RWVDBUYmg2V0lNU0xMNzZJbVROblFpYVQxZnA0VmxZVzFHbzFObXpZY052UVl1blNwYkN5c3NMKy9mdng3YmZmNHZ2dnY4ZWdRWU1RRmhaV2JTalVUei85aERObnptRHExS2sxVmpySXlNaW90U2VXdWJrNVhuMzFWUXdiTmd4YnRteEJXbHFhY1o0S0p5ZW5XbnRFRkJRVVlPdldyVGg2OUNpbVQ1K09DUk1tMUxrMDdyQmh3M0R5NUVsRVJrYml4SWtUT0gzNk5BWU5Hb1F4WThhZ1o4K2V0YjVQT1RrNWVQdnR0OUd2WHo5TW5qeTVXdThST3pzN0pDVWw0WkZISHNIMDZkT3JQVThpa1dEMTZ0V1lQSGt5YnR5NGdSZGZmQkZ0MjdiRjJMRmpNWHIwNk5zdStVc1BMZ1lLUkVSRVJFUVBnT1RrWkx6MDBrdm8wNmNQRmk1Y1dPMnhVYU5Hd2QzZEhRc1hMc1FYWDN3Qk16TXp6Smt6cDhsbFNxVlNTQ1NTSnZYSXVWMllBQUNlbnA0MUpuTzlsWm1aR1JZdFdvUkZpeFpCb1ZEQTB0S3l4dkNNek14TUJBVUZZZVRJa2JYdUl6czd1ODU1V0RwMjdJZ05HemJVV1ErOVhvOURodzRoTGk0T1BYdjJ4R3V2dmRiZ2VSMFdMMTRNbVV5R3c0Y1BRNkZRNE96WnM3aDI3UnBhdG15SmVmUG1HWmZDclhMdDJqVjg4TUVIeG5EalZuVU5CM04xZGNWWFgzMkZYMzc1QmJtNXVSQ0x4VkFxbGNqTnpXV2dRRFV3VUNBaUlpSWl1bzhwbFVwczM3NGQ1OCtmeDZKRmkyNDd1Vi8zN3QzeDVaZGZZdUhDaFlpT2ptNjI4bDFkWFJ1MWZPT2RjTHR3b3I3SklkdTNiOS9raVZSRkloR0dEUnVHWWNPR0NYNXUxWktWYjc3NVpvTzJiK3A4TUc1dWJvS1cwS1VIRndNRklpSWlJcUw3bEZxdHh0R2pSekY4K0hDODhNSUw5Vzd2NCtPREhUdDJvS0Nnb05ucU1IZnUzRHE3OU44TEhudnNNWFR1M05uVTFTQzY2ekJRSUNJaUlpSzZUNW1abWQyMkcvL3RTS1ZTdUx1N04xc2RSbzBhMVd6N01oVkxTMHNFQkFTWXVocEVkNTE3T3lva0lpSWlJaUlpSXBOZ29FQkVSRVJFUkVSRWdqRlFJQ0lpSWlJaUlpTEJHQ2dRRVJFUkVSRVJrV0FNRklpSWlJaUlpSWhJTUFZS1JFUkVSRVQwd01qSnljRzRjZVBRdTNkdkhEaHd3TlRWSWJxbk1WQWdJaUlpSWlJaUlzRVlLQkFSRVJFUkVSR1JZQXdVaUlpSWlJaUlpRWd3QmdwRVJFUkVSRVJFSkJnREJTSWlJaUlpSWlJU2pJRUNFUkVSRVJFUkVRbkdRSUdJaUlpSWlJaUlCR09nUUVSRVJFUkVSRVNDTVZBZ0lpSWlJaUlpSXNFWUtCQVJFUkVSRVJHUllBd1VpSWlJaUlpSWlFZ3dCZ3BFUkVSRVJFUkVKSmpVMUJVZ0lpSzZWK2gwT3NqbGNsTlhnK2l1VjF4Y0RLMVdDNUZJWk9xcUVCSFJIY1JBZ1lpSXFJRlVLaFV1WDc0TXNaZ2QvSWpxb3RQcG9GS3BJSlBKVEYwVklpSzZneGdvRUJFUjFjUGUzaDcyOXZaUXE5V21yZ3JkUXEvWFE2dlZBZ0FrRWdsYnhPOFNFb2tFTXBrTWRuWjJjSFIwTkhWMWlJam9EbUdnUUVSRVZBOTNkM2ZNbURFREpTVWxwcTRLM1NJK1BoN2J0MitIUnFQQjg4OC9EMzkvZjFOWGlXNWlZMk1ETHk4dlUxZURpSWp1RUFZS1JFUkU5UkNKUlBEMDlJU25wNmVwcTBLM3lNckt3cWxUcDZCVUt2SGFhNitoZmZ2MnBxNFNFUkhSQTRPRFFJbUlpSWlJaUloSU1BWUtSRVJFUkVSRVJDUVlBd1VpSWlJaUlpSWlFb3lCQWhFUkVSRVJFUkVKeGtDQmlJaUlpSWlJaUFSam9FQkVSRVJFUkVSRWdqRlFJQ0lpSWlJaUlpTEJHQ2dRRVJFUkVSRVJrV0FNRklpSWlJaUlpSWhJTUFZS1JFUkVSRVJFUkNRWUF3VWlJaUlpSWlJaUVveUJBaEVSRVJFUkVSRUp4a0NCaUlpSWlJaUlpQVJqb0VCRVJFUkVSRVJFZ2pGUUlDSWlJaUlpSWlMQkdDZ1FFUkVSRVJFUmtXQU1GSWlJaUlpSWlJaElNQVlLUkVSRVJFUkVSQ1FZQXdVaUlpSWlJaUlpRW95QkFoRVJFUkVSRVJFSnhrQ0JpSWlJaUlpSWlBUmpvRUJFUkVSRVJFUkVnakZRSUNJaUlpSWlJaUxCR0NnUUVSRVJFUkVSa1dBTUZJaUlpSWlJaUloSU1BWUtSRVJFUkVSRVJDUVlBd1VpSWlJaUlpSWlFb3lCQWhFUkVSRVJFUkVKeGtDQmlJaUlpSWlJaUFSam9FQkVSRVJFUkVSRWdqRlFJQ0lpSWlJaUlpTEJHQ2dRRVJFUkVSRVJrV0FNRklpSWlJaUlpSWhJTUFZS1JFUkVSRVJFUkNRWUF3VWlJaUlpSWlJaUVveUJBaEVSRVJFUkVSRUp4a0NCaUlpSWlJaUlpQVJqb0VCRVJFUkVSRVJFZ2pGUUlDSWlJaUlpSWlMQkdDZ1FFUkVSRVJFUmtXQU1GSWlJaUlpSWlJaElNQVlLUkVSRVJFUkVSQ1FZQXdVaUlpSWlJaUlpRW95QkFoRVJFUkVSRVJFSnhrQ0JpSWlJaUlpSWlBUmpvRUJFUkVSRVJFUkVna2xOWFFFaW91WlNXVmtKaFVKaDZtb1EwWCtvckt3TWVyM2UxTlVnSWlKNklERlFJS0w3Z2x3dXg2cFZxM0QrL0hsVFY0V0kva05GUlVXUXkrV3dzckl5ZFZXSWlJZ2VPQXdVaU9pK2NPUEdEZXpldlJ1Wm1abW1yZ29SbVlDZG5SMGNIQnhNWFEwaUlxSUhDZ01GSXJvdmFEUWE2SFE2eUdReVBQZmNjK2pRb1lPcHEwUkUvNkUyYmRxZ1U2ZE9wcTRHRVJIUkE0V0JBaEhkVnl3c0xEQjI3RmlNR0RIQzFGVWhJaUlpSXJxdmNaVUhJaUlpSWlJaUloS01nUUlSRVJFUkVSRVJDY1pBZ1lpSWlJaUlpSWdFWTZCQVJFUkVSRVJFUklJeFVDQWlJaUlpSWlJaXdSZ29FQkVSRVJFUkVaRmdEQlNJaUlpSWlJaUlTREFHQ2tSRVJFUkVSRVFrR0FNRklpSWlJaUlpSWhLTWdRSVJFUkVSRVJFUkNjWkFnWWlJaUlpSWlJZ0VZNkJBUkVSRVJFUkVSSUl4VUNBaUlpSWlJaUlpd1Jnb0VCRVJFUkVSRVpGZ0RCU0lpSWlJaUlpSVNEQUdDa1JFUkVSRVJFUWttTlRVRmJncjZYUkFYaDZRbmc2VWxRRWVIa0RidG9CRTh1ODJGeThDSlNVTjIxLzc5b1o5VkZHcERNOVhLaHYyL0c3ZEFEdTdmLy9PemdhdVh3ZTAydnFmYTI1dWVMNmw1Yi8zeGNVWjl0RVFQSFllZTVXNy9kaXZYREdVbzlVYS9uK3orLzNZcXp5STczc1ZIdnU5ZSt4dDJnRGUzZzNibG9pSWlPNHFEQlJ1VmxvS3JGOFBSRVlDQ2dWUVVRR28xY0NUVHdMdnZndFlXZjI3N1pJbHdJVUxEZHZ2Kys4RFR6Lzk3OS9GeGNDTEx3SnBhUTE3L284L0FzSEIvLzU5N0JqdzFsdEFlWG45ejNWekEzNzRBZkR4K2ZlK3padUJYYnNhVmphUG5jZGU1VzQvZHBVS0tDb0NSQ0pEZVRlNzM0Kzl5b1A0dmxmaHNkKzd4eDRlRGp6L2ZNTzJKU0lpb3JzS0E0VXFzYkdHRTVyVHB3MS9tNWtCRmhhR0ZodVZ5dEJyNFdhVmxZYlFvU0UwbXVwLzYzU0dscHVHUHYvV0ZpcXQxdkRjaGp4ZnFRVDArdXIzcVZRTkw1dkhYdjArSG52RG5tK0tZOWRvL2ozbUIrM1lxenlJNzNzVkhudjErKzZsWTcvMStTcVZvWHhiMjRZOW40aUlpRXhHcE5mZmVoWmlXcGN1WGNLQ0JRdFFXVm1KMWF0WEl6UTA5TTRYV2xvS0RCdG1DQk5zYklCSmt3d3RSUzFhR0U1b1BEeUFkdTJxZHdlOWNFRllkMUJQejMvL1Zxa016MjlvZDlEZzRKcGRZUk1TR3Q0Vk5qaTRabGZZckt5R2xjMWo1N0ZYdWN1UC9mU1ZLeGkzZENtVWFqVjI3OWlCRVk4OTl1K0Q5L214R3oyQTc3c1JqLzNlUGZhMmJmOGQ4cUJTQVo5K2F1aWhzV2VQSWRnbkltcG1PVGs1bURObkRyS3lzckJvMFNLTUhUdlcxRlVpdW1jeFVBQ0F0OThHVnF3d2hBazdkd0tEQndQVzFuZStYQ0pxTnFkUG44YTRjZU9nVkNxeGUvZHVqQmd4d3RSVklpS2hzck9Cdm4yQmxCUmd6UnBnd1FKVDE0aUk3a01NRklpYUQxZDUwR3FCZ3djTnR5ZE5ZcGhBUkVSa0tvNk93SkFoaG1FVC8vdGZ6YUVZUkVSRWRGZGhvSkNWWlJqbmFXWm02RExLTUlHSWlNZzBMQ3lBSGowQW1jd3cvQ0UzMTlRMUlpSWlvam93VUVoTk5jeWliV0ZobURPQmlJaUlUTWZYMXhEdVYxWUNHUm1tcmcwUkVSSFZnWUZDMWJyMUVnbG5sQ1lpSWpJMWMzTkFMRGI4TnBlV21ybzJSRVJFVkFjR0NrUkVSRVJFUkVRa21OVFVGU0FpRWlvOVBSM256NSt2ZGw5Y1hCd3FLeXVoVnF0eDZ0UXBWRlpXVm51OFc3ZHU4UFgxL1MrclNVUkVSRVIwWDJPZ1FFVDNuTnpjM0RxWGVBb1BENjl4MzVrelp4Z29FQkVSRVJFMUl3NTVJS0o3VG5Cd01BSURBeHU4ZmZ2MjdkR3paODg3V0NNaUlpSWlvZ2NQQXdVdkwrQzU1NEJwMHd5M2llaWU4TUlMTHpSNDIrblRwOS9CbWhBUkVSRVJQWmc0NU1IZkgxaTcxdFMxSUNLQmhnMGJCa2RIUjhqbDhqcTNzN1cxeGNNUFAvd2YxWXFJbXN6TkRSZ3pCdEJvRExlSmlJam9yc1ZBZ1lqdVNSNGVIdWpmdno4T0hqeFk1M1pCUVVHY080SG9YaElZQ0d6YVpPcGFFQkVSVVFOd3lBTVIzWk5zYkd3UUdob0tzZmoyWDJOaXNSZ2hJU0Z3Y25MNkQydEdSRVJFUlBSZ1lLQ2cwUUFsSlVCeHNlRTJFZDBUeEdJeE9uYnNDRHM3dTl0dUk1UEpFQndjREttVW5iR0lpSWlJaUpvYkE0WFlXTU9Fak04OFk3aE5SUGVNSGoxNndLMk9NZGIyOXZZWU9IRGdmMWdqSW1veXBSSklTelA4cDFTYXVqWkVSRVJVQndZS1JVWEF5WlBBWDM4WmJoUFJQY1BkM1IzZHUzZS83ZU1oSVNHY1A0SG9YaE1kRFV5Y0NJd2RhN2hOUkVSRWR5MEdDa1IwVDVzMmJkcHRIeE95dENRUjNTVVVDaUFwQ1VoTU5Od21JaUtpdXhZREJTSzZwejM4OE1Qdzh2S3FjYitIaHdlR0R4OXVnaG9SRVJFUkVUMFlHQ2dRMFQxTkxCYmoyV2VmclhIL3hJa1Q2MXdCZ29pSWlJaUltb1puMjBSMHozdnFxYWRnWldWbC9OdlMwaEpQUFBHRUNXdEVSRVJFUkhUL1k2QkFSUGM4YjI5dkJBWUdHdjl1Mzc0OVdyZHViY0lhRVJFUkVSSGQveGdvRU5FOXo5YldGbjM3OW9WSUpJSklKRUtIRGgzZzRPQmc2bW9SRVJFUkVkM1hwS2F1QUJGUlUxbFlXQ0EwTkJSYnQyNkZWcXRGbno1OVlHMXRiZXBxRVJFOUVMSnpjcENja21icWFoQTFtRnhlQ0tWU0NiMWVqOFNrWkp3Kys3ZXBxMFRVSURZMjF2QnYxeGJtWm1hbXJvb1JBd1VpdWk4RUJRWEJ4Y1VGRlJVVjZOKy92Nm1yUTBUMFFNakt6c0ZieTFZaTl1cFZVMWVGcU1GME9oMmdWUU5pTSt6KzludnMyZitEcWF0RTFDQldNaGxlbmpjSDR4NGJaZXFxR0RGUUlLTDdRdnYyN2RHbFN4ZVVsSlFnT0RqWTFOVWhJbm9nWkdmbklPRkdJdkx6QzJCcFlRYXBoS05wNlY2ak1YVUZpQnFrUXFGQ3ZsNlA2emNTb2RQcDdwclZ6QmdvdEcwTGhJY0RHbzNodGtDRmhZWEl5OHU3QXhVaklxSDY5ZXNIbFVxRnVMZzRVMWVGNklIbjR1SUNaMmRuNFU4VWl3RUxDMEFrTXR5bWU0TE13Z3d6eHZSQnB6YWVwcTRLRWRGOWFjMy9IVUp5WnFHcHExRURBd1Z2YitENTV4djFWTGxjanUzYnR5TTdPN3VaSzBWRWphSFJHRm9adG03ZGF1S2FFSkdUa3hObXpab2xQRlR3OXdmV3JRTzBXc050dWlkSUpHTDQrN3FpZTZDdnFhdENSSFJmc3JPMk5IVVZhc1ZBb1Fua2NqbXlzN05SVWxJQ2lVUnkxM1E3SVhyUXFkVnFVMWVCNklHbDErdWgwV2lnVnF1Um41OHZQRkR3OEFDZWZQTE9WSTZJaUlpYUZRT0ZaaUNWU3RHeFk4ZkdkZTBrSWlLNmo4amxjbHkrZk5uVTFTQWlJcUwvQUFPRm9pTGc2bFZEMThwT25ZQkdyRjB2RW9uZzRPQUFkM2YzTzFCQklpS2lld3Q3N0JFUkVUMFlHQ2hjdVFLODhBS2dWQUxidHdPaG9hYXVFUkVSMFlPcnRCUklUQVQwZXFCTkc4RFcxdFExSWlJaW90dGdFNEpLQmVUbUFqazVodHRFUkVSa091ZlBBOE9IQTRNR0dXNFRFUkhSWFl1QkFoRVJFUkVSRVJFSnhrQ0JpSWlJaUlpSWlBUmpvRUJFUkVSRVJFUkVnakZRSUNJaUlpSWlJaUxCR0NnUUVSRVJFUkVSa1dBTUZJaUlpSWlJaUloSU1BWUtSRVJFUkVSRVJDUVlBd1VpSWlJaUlpSWlFa3hxNmdxWW5GUUsyTnNENXVhRzIwUkVSRVJFUkVSVUwxNUJkK29FYk5zRzZIU0cyMFJFUkdRNmxwYUFqdytnVWhsdUV4RVIwVjJMZ1lLREF4QWFhdXBhRUJFUkVRQUVCUUhmZkdPNDdlRmgycm9RRVJGUm5SZ29FQkVSMGQxREpnTmF0VEoxTFlpSWlLZ0JPQ2tqRVJFUkVSRVJFUW5HSGdxWm1jQ1JJNEJHQXd3ZkRuaDVtYnBHUkVSRVJFUkVSSGM5QmdyeDhjQWJid0FLQlhEZ0FBTUZJaUlpVThyTkJVNmRNa3lXM0xjdjRPWm02aG9SRVJIUmJUQlFJQ0lpb3J2SGxTdkE3TmxBWlNXd2Z6OERCU0lpb3JzWTUxQWdJaUlpSWlJaUlzRVlLQkFSRVJFUkVSR1JZQXdVaUlpSWlJaUlpRWd3QmdwRVJFUkVSRVJFSkJnREJicmpGQW9GenA4Ly81K1dxZFZxLzlQeTdwVDc1VGp1aEx5OHZQKzh6T3pzYktTa3BQeW5aZTdjdVJOZmZmVVZTa3RMbTNXL3g0OGZoMGFqYWRaOUVoRTlDQzVmejBCWmhmSS9LKy9ZMzNISXppLyt6OG9qMC9rdlAxZEV6WVdCQXQxeGxaV1ZXTEJnQVY1NjZTVmtaV1UxMjM0MUdnMFVDa1d0ajAyZlBoMkxGaTFDZm41K2s4c3BLU2xCUmtaR2svY2psRjZ2eDdoeDQ3QjY5V3JJNWZML3ZQekd1SExsQ21iTW1JSGR1M2REcjlmZjBiTEN3c0x3Mm11dm9hU2twTmJITXpNemNlalFJU2lWemZmamZQejRjVXlkT2hYTGxpMXIxdjBlUG53WVVWRlJ0VDdtN3U2T2JkdTJZZGV1WGMxV0hnQ3NXYk1HMDZaTlEwRkJRYlB1OTNZMEdnM2k0dUx3elRmZllNV0tGVGgwNk5BZC80dzBoVUtoUUhGeDlSUDRpb29LVkZaV21xaEdSR1FLcjY3Ymd6TXhpZFh1Ky9xWHMzaHk0VWFrWmhjQ0FGSXk4eEdUa043c1pWY29WZmhrMTJHczNQd0Rab1YvaVQvUHh6ZDZYeGV2cFNJcnI2Z1phMWZUeHpzUFk5ZFBaMUNoVk4zUmNreEJyOWNqTTdjSWYxMUl3T2Y3LzhUU2lQMTRjZlV1N1AzdFhMT1ZvZFpvTVhYSk5zeGJ0UU9Yci8vMzU1My9CYTFXaDZpNFZCUVVselhML240N0dZdnZmNDlDY1dsRnMreVBHb2ZMUnRJZFYxWm0rTktJalkxRmFtb3FQRDA5bTJXL0Z5OWV4TEpseS9ETU04L2dtV2VlcWZaWTE2NWRjZkRnUVdSbFpjSEZ4YVZKNVVSSFJ5TThQQnd6WnN6QVUwODkxYVI5Q1NFU2llRGc0SURmZnZzTmJtNXVtREZqeG45U3JrNm5nMWpjdUt3eElDQUF4Y1hGMkw5L1B5Wk9uQWlKUk5MTXRmdVhxNnNyenA0OWkrTGlZdGpaMmRWNDNNcktDdSsrK3k3YzNOeXdhOWV1WnFsTFdsb2FBTU5ucjdDd0VGNWVYazNlSjJENGpQMzQ0NDlZdkhneGhnd1pVdTJ4b0tBZ0FFQ3JWcTJhcFN3QXVINzlPaFFLQlpSS0phVFM1djBaMkxScEU4ckt5dURrNUlTeXNqSVVGUlZCSkJKQktwWEMzZDBkZG5aMlNFaEl3TkdqUi9IcnI3OWkxYXBWc0xDd2FGS1pKMDZjd042OWV6Rml4QWdNSFRxMFdkN3J1TGc0aElXRjRkVlhYOFd3WWNNQUFGRlJVVmk5ZWpXR0R4K09tVE5ud3RMU3NzbmxFTkhkNitLMVZNUmV6OEMzdi8yTlhwMWJHKzkvdUZjQVRsMUtoSldsT2JSYUhkWi84U3Zpa3JPeFlNcHdETy9icWNubEZoU1Y0YWMvTHhrdWxNb01EU2N5Q3pQOCtPY2w5T3pjQ2hibVpvTDNlZmw2QnQ3OGNDOWVtRGdJNHdZSDE3bHRabDRSek0ya2NIR3dFVlNHdGN3YzJ3LzhCUXN6S1I0ZkdpSzRqdlU1ZlBvS1RseThqaWVIOTBDSDFyYy9sd3o3YUI4MFdpMm1qZW1Id0RhTi81M09MU3pCbDVHbmtKSlpnSlRNZkNncTFSQ0xSV2pWd2dXZDJyYkE2QUZCQ0Fud2EvVCtiMlVtbFdCUXp3NDRjUFFpVGtYZlFNZTJMWXlQYmZuMkdBcExLdENobFFjZUc5Z1ZJcEdvMmNwVlZLcHdMU2tiUGg1T2d0L3ptNm5VR3VUTHkrRGw1bERqTWExV2h6TXhpZGo1NDJuRXArUkFMQlpoN01QZDhNTEVRVTJwT3FSU0NTSysrQldmNy84VDM3dzNCNWFOK0xkQlRjZEFnZTY0di8vK0d3RGc1ZVdGYnQyNk5kdCtzN096b1ZBb2NPN2N1UnFCUXN1V0xRRUFQajQrVFM1bi8vNzkwT2wwY0haMnJuTzc4dkp5WExwMENiNit2bWpSb2tXZDI5NHFPam9haVltSkdEMTZOTXpNL3YweUxDc3JnMFFpd2NpUkl4dFY5L3BvdFZxa3A2Y2pJU0VCc2JHeE9IMzZOQW9MQ3pGdzRFQk1tVEpGOEhHSVJDTDQrUGpBM2QyOVFSZDFHbzBHNWVYbHNMZTNGMXozckt3c0RCbzA2TGJ2c1lPREE4ek16R0JuWjljc0Y1Z0toUUxIangrSGs1TVRQdmpnZzJZTEV3REQrNi9YNjJzOVFYQjJkb1pZTEVaV1ZoYTJiOStPeE1SRU9EbzZZdjc4K1RBM04yOVVlVHQzN29TNXVUbFdybHdKVzF0Yi9QMzMzemgxNmhSNjkrNk5IajE2Tk9sWU9uWHFoQ1ZMbG1ETW1ERjQvUEhINGVYbEJZbEVVdTM0Q2dzTHNXdlhMaFFVRkVDajBUUTVVT2pUcHc4aUlpS3dkdTFhS0pWS2pCMDd0a243QXd6Qm1sS3BSRVJFQklZTUdRS3hXSXhldlhyQnpNd00rL2J0dzRBQkE5QzVjK2NtbDBORWQ2ZlNjaVUrK1BKWGRHM3ZnN2ZuUEZidE1XOTNKd0NBbVVTTVQzWWRRVnAySVJiUEhJVkJQVHMwdXJ4S2xScW5MeVhpeU9rck9CdWJERnRyQzRSMmJZc2VIVnVpczc4M0hHeXRtblE4M1RyNDR2OE9ub1JhVTMwb1pkVjNzMDZuUTN4eUR2NjhtSUFEUnk5QXE5WGo1Y2xEOEVpL2huL1B0ZkZ4QXdENGVqbzFxYTYzRTlxMUxUN2FjUWhwT1lYWXVuenFiYmZyRTlRR24rdzZndjIyRjVvVUtMZzUyV0hPaEFISXpDdkdwZmcwYk5sM0hOdFhUSWVYYTgwTFpyVkdpOXpDRW5pNU9qVHBZcjlES3c4QVFQdVdIdFh1N3gzVUJ1OTk4U3NPbjc0Q1cydExQTnd6UU5CK05Sb3Rpc3NVS0M2clFKNjhEQms1Y3FSbUZTSWhMUWVKYVhuUWFIV3d0NUhoZjI5TmhydHp6VWFhT3ZldDFlS3ZDd25ZdHY4dlpPVVhvM083Rm5oeitramtGcGJnLzc0L0FVc0xNNVFyVkdqdDdZTEhCbmJGbDVFbmtWdFlDcFdxNmNNdWcvd041NEN1ampZTUUweUlnWUtEQXhBYUNsUldHbTVUczR1TWpJU0xpd3VtVEptQzVjdVhJenc4dkZsYVJVK2VQQW14V0l5WFhucXB4bU5PVGs0UWk4VzF0bHdMOGZQUFB5TTZPaHBMbGl6Qm9FSFZVMVN0Vm92TGx5OGpLaW9LVVZGUmlJMk5oVmFyUmQrK2ZSRWVIaTZvSEpsTWhvOC8vaGkvL1BJTE5tellBSmxNaHVMaVlzamxjb1NHaGpaYnI0NnFpMUJiVzF0SUpCSm90Vm80T1RuQjNkMGQzYnAxdzhDQkF4RVJFWUZEaHc3aDJMRmoyTEZqQjF4ZFhRV1ZZV3RyQ3pjM3Qxb2ZrOHZsU0V4TVJHeHNMTTZlUFl0cjE2NUJwOU5oOE9EQldMSmtTWVBMS0N3c1JFcEtDdDU0NDQzYmJxUFJhS0RSYUJBYUdpcW8vcmR6NE1BQmFMVmFiTml3QVg1K3pkY2ljZUhDQmFTbHBXSDA2TkVZUEhnd0FFQ3BWR0xMbGkxSVRrN0c5ZXZYb2RQcHNILy9mclJyMXc1dDI3YUZ2NzkvbzBPU2MrZk80WTgvL2tCQVFBRFdyMStQdkx3OFdGbFpJVHM3Rzk5OTl4MWVmLzExakI0OXV0SEgwNmRQSDdpNnVpSXZMdzluenB3eHZ0OTVlWGw0NzczMzBMRmpSeVFsSmNIUzBoSnIxcXlCdGJWMW84dXFJaGFMMGFWTEYyUm5ad3NPd1c3bjh1WExBSUFGQ3hZWWUreElKQkswYWRNRzBkSFJDQWo0OTJRdU9Ua1pQajQrZDdSSERoSDlkeXBWYXJ6ejJmZlFhdlVJbno4V01vdnE0YTJya3kwQTROMnRQNkdvdEJ5ZkxYMjJ4a1htdWRnazlPaFVkOCt5Y2tVbC9qd2ZqMU9YRW5FOU5RZCtuczdvMU00YlY1T3lFTmltQldhTTd3OTdHMW16SEpPVHZlRzd0bk83NnQrUkgrMDhqSk5SMStIdDdnZy9UMmUwODNPSGc2MFZWR29OZ2dXMnZ0di9FM3E0dXdodkpHZ0lLMHR6K0hvNXc5ZWo3Z2FldHY4RUc2MjloWjIvMU1iR3loTCtmcFl3bDBxd2FlOHhGQmFWd2RQRkhqa0ZKVWpPTEVCaVdpNnVKbVVoT2k0TmlrbzEvUDNjOGNhMEVmRHphbHp2V09kL2VnajRlRlFQWlRxMzg4Ym43MHpGMzFkUzBOYTM5bk9zdXB5L21vSWZqMFVqcDdBRU9RV2xBUFRvMmFrMWVuZHVnd2xEdTZPMXR5dTgzUjBGOVZEOTV0ZHpPQkYxSFdVVlNvUUV0a1E3UDNkazVSZERKQkxCeHNvQ05qSVh4RnpQd0xJNWp5RzBhMXZqOC83NE93Nmw1VXJNR045ZjhISGN5c25lR2lJUjRPL24zdVI5VWVNeFVBZ01CRFp1QkhRNndOSFIxTFc1NzV3NmRRcUppWWtJQ3d2RDBLRkRrWk9UZy9Ed2NDeGJ0cXhKSjkvWjJkazRlL1lzaGc0ZGl0YXRXOWQ0M01yS0NqWTJObzN1dWc4QUtTa3AyTGh4STVZdFc0YUhIbnFveHVOLy9QRUhmdm5sRndDQW41OGZoZzhmamw2OWVzR2hFY0dVdjc4L0JnOGVqQ05IanVEMzMzL0h5SkVqRVJNVEF3REdpOHptMExseloremJ0dysvL2ZiYmJiY1pPSEFnYnR5NEFYdDdlemc1Q1c5bHFBb3NibFpSVVlGbHk1WVplNnU0dWJtaFhidDJtREZqQmtKQ1F0QytmWHRCWmZ6NTU1OXdkM2RIY1hFeFB2dnNNK1RtNW1MaXhJblZMdkx5OC9PaDErdlJwVXNYd2Nkd3EvejhmT3pac3dmaDRlSE5PdlFBQUw3ODhrdDRlbnBpN3R5NXh2c3NMUzN4eUNPUElEazVHZWJtNWxpMWFoVSsvUEJEdEdyVkNscXR0dEgvZG9xTGk3RjI3VnFNSGowYXI3MzJHbEpTVXVEdTdvN1kyRmk4OGNZYjZOMjdOd1lPSE5pazR4R0x4ZWpidHkrdVg3K09WcTFhd2MvUER4TW1URUNMRmkxZ2JtNE90VnFONk9ob1RKbzBDZTd1elhjQ1VOVmpwS3AzVWxNZFBud1lRVUZCTmY3dE96bzZ3dFhWdFZvb3VuSGpScFNYbDJQdDJyV3dzbXBhS3lJQnNMVUZnb0lBbGNwd214b3NQVDBkRlJVVjhQZjNOM1ZWN2xrYXJSYXJOdjhBSzB0eitIazU0OXZmL3NhemovNGJUR3MwV2h3NWZRVUE0R0Fyd3p0eng4RFNvbnJMYUdtNUVnZi9pS28zVUZCcnRHanA1WUx1SFZ2Q3hmSGZ6M3BoY1JtKy96MEtuZHA2WWNLd3B2VWFxMkp1YnZqT3VyVkwrNkFlSGZEajhVdjRiTW16eG92Wm5UK2V4dkRRVG9KYnFxMHNEY0dMclZYZHZjNHljNHNRbjVLTmZzSHRJQlg0ZTJadkxhczNaTEg3NTNGbmUrR0JkVUpLRHRyNnVobDdHZVFYbGVGNmFnNWlFZ3h6R256dzFTSElMTXpnN213SEh3OG5lTHM3b1l1L04yWTlNUUQvZC9Ba2p2MGRoL252N3NLN0w0OUg1M2JlZ3N1dmFtVjNxcVh1VXFrRXZidlVQT2R0aUY2ZFd4dUg3VVRzUG9LZi9vekIvRWtQRzErcnh2RHhjTUtWRzVuNGV2MGNPTmxiWThPT1EzQzJ0OGF5bktZd3VnQUFJQUJKUkVGVU9ZL0JXbWI0RExSd2M0U1ZySG9nVjFoY2p1NGRXOExHcXVuREJrVWlFY3lrRWpqYU5iMXhnaHFQZ1lLNU9TQ3dCWllhUnExVzQ5TlBQMFdYTGwwd2RPaFFBTURreVpPeFlzVUtyRml4QWt1WExtMzBoZEh1M2JzaGs4a3dhOWFzV2grWFNDU3dzckpDWGw0ZW9xT2pjZW5TSlZ5N2RnMGlrUWpUcGsxRDc5Njk2OXgvZm40KzNudnZQYXhjdVJLZE8zZkc2ZE9uRVJJU1VtMDR3dURCZzV2MVl2K2xsMTVDZkh5OHNZeW9xQ2lZbVpuVld0Zkd6bk5RRlNqVXBXb0lRVkJRVUtQZUg0bEVZaHhiWHRXVjBzcktDdXZYcjBkNWVUbkVZakZrTXVFL1lKY3ZYOGFaTTJlUW5KeU02T2hvbEpTVTRJTVBQa0JBUUFBNmRlcFU0K0swYXI2RGt5ZFA0cnZ2dnNPTkd6ZGdhV21KVmF0V0NXN0YvdkRERHpGejVrd0VCOWMrN3JTc3JBeFhyMTdGbFN0WG9GYXJNWExreUFZTmlUaDU4aVF1WGJxRUR6NzRvTVpyNHVmbkI0bEVndVRrWk9qMWVpeGZ2aHg1ZVhtd3Q3Zkh5cFVyMGFaTkcwSEhvRktwc0hMbFN2ajQrS0N3c0JEZmZ2c3R4bzhmRDRWQ2dRMGJOcUJUcDA0SUR3K3Y5aGx2ck5EUVVGeStmQmtoSVlZeHRBcUZBc25KeWNqSXlNQzFhOWRnYTJ1TEo1OThzc25sM0t3cXlITnNobUQ0L1BuelNFMU54V3V2dlZiak1Rc0xpMnFoWVhGeE1XSmlZbEJSVVlGang0N2hrVWNlYVhMNUQ3eVFFT0RYWDAxZGkzdlN0V3ZYc0h6NWNyaTR1R0RNbURFWU5HZ1FuSnljWUcxdHpSNDBEVkJXb1VUNHhraDBiT3VGWjBmM3dZWWRoNDFEQkRSYUxZNmV1WXJEcDYraVkxc3YrSGs1dzhYQnBrYVlBQUEvL3hXRHFHdHBLQ2d1ZzdQOTdjZWtPOWhhMVRxVW9hcTNRN3RtYkhVVi8zT0JiRzFsaWJJS0pjek5wREEzazhMUnpsQytWR3I0ZkZRb1ZjZ3RMSzAyZnIraEpQK2NsNWhMSmJoOFBRTzIxcGJ3ZG5lRVJxdUR1WmtVYW8zaE5kejA3VEdVbGl2aDdlNkl0YTgrQVRlbmhnY1hsaFptTURPcitWbCtadEZtakg0b0NCT0dkNGRVWXFqSHJUMUw2cVBYNjdGNjY0K3dzVGIwU0RBems4TFozaHJlSGs0SWFHWG9LVHIzeVVIbzNyRWxVck1LVUtGVXdkL1BIV0t4R0JxTkZuSEpXUWdOYW9NK1FXMXE5REJvS0xOLzNvZVNjaVVPbjc2Q3pMd2lEQXZ0MUt3dDhPV0tTcGliU1NDemJOeXd5U3BWd3pOMC8weXdIQjJYaHVuaitsVUxLWnpzclBERHNVdll2UGNZSEd5dDhPN0xqeU8zc0FSRGVnc2JzbEVYc1VnTTIyWUlKNmp4R0NqUUhiTmp4dzdrNWVWaHpabzExY2FUTFZ5NEVQUG56OGZ5NWN1eGRPbFN3ZVBBYzNKeThQUFBQMlBldkhuR0Z2VGk0bUprWkdRZ0l5TURTVWxKaUkyTlJVNU9EcDUrK21tNHVibkIzZDBkL3Y3K2FOR2lSYjBYSEJVVkZUaHc0QUJXcmx3SmUzdDdxRlFxdlAzMjIyalhyaDMrOTcvL0NYOGhHc2pPemc3YnQyODNudlQ5OWRkZkNBb0tncFdWRlhRNkhaS1RrM0hod2dVY09YSUVOMjdjUVAvKy9URno1a3hCd3lIcW13Zmk1bTBhMDNxY2taR0J6TXhNeE1mSFk5T21UZkQxOWNXbm4zNXFmTHdwM2RzN2RPZ0FqVVlEYzNOelhMaHdBVjk5OVJXOHZhdW4vMVdUODZXbnA2T2dvQUQyOXZZb0tTbEIrL2J0amIxWmhJWUozMzMzSGJ5OHZQRG9vNDlDcTlVaUl5TUR5Y25KU0VwS3dvMGJONUNZbUFpMVdnMG5KeWZJNVhMazVPVGd1KysrUTNoNE9McDM3MzdiL2FyVmFtemV2QmxQUFBFRXVuYnRXdTB4bFVxRnpaczM0L3IxNjhiMy82bW5ua0tQSGowYU5jbW9XcTNHTysrOEF4OGZIOHliTnc4Nm5RNGJOMjdFckZtellHbHBDYTFXMjJ4aEFnQjA2OVlOaFlXRldMeDRNVFFhRGNSaU1UdzlQZUhsNVlXOHZEd3NXTENneWZNbTNLcnFncWs1aGxOOThjVVhDQTRPTms2SWVUT0pSRkx0Yy96cHA1K2lvcUlDVTZkT1paaEFkNDIwdERSRVJFVGc4ODgvaDcrL1A0S0RneEVZR0lqQXdFQjRlSGpVdjRNSFVHNWhDZllmdVlEbkgzL0llQ0ZmVkZLT2xsNkczOFNFbEJ4MGFPV0pJYjBESVJhTDBkTExCYXUyL0lETE56TGgrVThYLzZJeUJkS3lDNUZUVUFKcm1RWFNzK1YxQmdxM1V6WHBvcjIxNGNLc1hGR0p2eThuNDQ5emNaQkt4Qmd6cUNzNkNXejlUc3MyckJhMThQMXZjQ010RDlQSDljUEU0VDFRb1ZCQktoSEQrcCtMUzhVL0t6UlU5UUpJelM2RXRjeTgzdU9vVktrUmU5Mncwc1hVcGR0UVZLcEE5NDR0OGRiem96RDk3ZTJ3c2JLRXVaa0VJUUYrR1Bkd04zd1plUW9lTHZhQzU0YlE2NEVURjY5REloWmpXSitPeGdrQXRWb2RkdjEwR29ON0JVQXNOcHh6MWhZODFPWDQrWGlrNThxeDc0TjVzTFd1Zm9GYXRTcFJWVEJ6K2xJaUR2NFJoWW5EZStDeGdWMlJrbFdBTjZZOTBxaGVDWUFoeklxOW5vbS9MaGhXOHBpMmRCc0F3M3dVUGg1T3pSb29aT1FXSWNqZnh4aGVOSmJkUDU5UG5VNEh3TkF6NTZHUTZqMU9MUzNNRU5UZUczTW1Eb1NMZ3cwVWxTcVVWVlRDMzYvNXZvZjBlajBzekhsSmEwcDg5ZW1PaUkyTnhZNGRPL0RLSzYvVXVJQ3p0TFJFZUhnNFpzK2VqUVVMRm1ENTh1V0N1dFpIUkVUQTBkSFJlUEplVUZDQWxTdFhJajA5SFQ0K1ByQzJ0a1pNVEF3a0VnbGVmLzExakJneFFsRGRMU3dzTUhQbVRPUGZodzhmaGxxdHJyZEZWYTFXSXlVbEJYRnhjYmgyN1JwaVltS1FscGFHb0tBZ0xGdTJyRUVURDJxMVdxU2xwZUhTcFV2SXljbUJyYTB0WG5ubEZlVG01c0xGeFFYZTN0N28yclVyMHRQVGNmVG9VWncvZng3NzkrOXY4QVJBTjE4SVpXUms0T3JWcTRpTmpVVnljakpDUTBNeGNlSkU0M0NGVzRjdDNFNVVWQlRPbkRtREN4Y3VJRDdlOEVNWUVCQ0EyYk5uMTlsOVhxZlRJU2NuQjJscGFVaExTNE5jTG9kWUxFWm9hQ2c2ZEtnNXNaVkVJa0ZRVUJCKy8vMTNqQjA3RmdjT0hFQk1UQXpXcmwxcmJESHUyN2N2dkx5OG9OUHBjT0RBQWNoa3NtcERDZXFqVkNvUkdSbHA3S1dSbXBxSy8vdS8vME5JU0FqbXpac0hrVWdFRHc4UCtQajR3TWZIQjZHaG9mRDI5amIyTHREcGRIajk5ZGNSRlJXRmlJZ0lmUEhGRjdjdGE4ZU9IVWhQVDhmVXFUVW5sakkzTjhmOCtmTUJHSDRvUjQ0Y0NXdHJhMXkrZkJrWkdSbElUMDlIYW1vcTh2UHo0ZVRraE9lZWU2N09YamZmZnZzdEprMmFoRTZkT2hsZnkwbVRKdUg0OGVOSVRFeEVTRWdJdEZydGJaOHZsRlFxeGF1dnZvclEwTkFhbjAyVlNvV2twQ1JFUmtiaTJyVnJTRWxKZ2FlbkorYlBuOStveVRtcm1KdWJOMHNnY3ZyMGFjVEd4bUxwMHFXMVBxN1g2NDMvamc0ZVBJamZmdnNOa3laTndwUXBVNXBjTmxGenFicjRVU2dVaUk2T1JreE1ER3hzYk9EZzRBQi9mMzhNSFRxMHhvb3lEem8zSnp2TW5sRDlOeXM1c3dBUGRUZGNJQVcwcnQ3cmJFRDM5dkJ5ZFVCTVFqcUt5aFRRYVhYd2RITkF2MjV0NGVQaGpJRFdudlZlc0drMFdtUFBnQ3JsaWtvVS9iTUUzc2U3anFDMFFnbUpXQXduZTJ1VWxDa1FuNUtEUC82T3c5d242MSt0SVRFOUQzOWRUTUR4OC9GSXlUUXNFZHlwWFF1RXpSd0ZiM2RENDBwaVJoNzhXM29ZNitIc1lJUHVIVnRpMFVmN1lDMHpSNzY4REc1T3R0aTVwbWFQMEhKRkpTNWVUY1dKcUFTY2pMcGhYQzZ5ZDVjMkdOQzlQVUlDL1NBU2lUQ2dlM3NjT0hvUmh6YS9EZ0RHWlRoblB6RUE1bWIxWDRva3B1ZWl0YmRoM2dBOTlCalVvejNPeENSaDM2SHoyTDV5T2tRQUNvckxNWDFjUDdnNTJ5RzN3TENjdEZna1FtWnVFYzdFSkNLN29CaWorbmVCcjJmdERTdDZ2UjVmL1hBSy9uNGVzTFcyaEVhanhmdGYvb2FvdUZTc21EY09iWDNkWUNhVkdGK25VUTkxd2VEZUFjYWdwV3BDU2lIU2MrVDRLdklrcnFmbElqV3JFQ0lSak1OTUZzOGNoYUQyUHNhaER4dStPZ1NacFJtbWpPbmJwTWtIOVhvOWtqUHkwV05ZRDJUa3lwR1VrWStrOUR3a3B1Y2pKYXNBTWtzempIczRHRU42QjlhN0w0bEVES2xFREkzV0VDaDR1VG1ndUV4UnJkZU9tVlJhYmZXSWpKd2lpRVJvMUR3UXQ2UFNhSXpoa2J5a0hFa1orYmllbW9zYmFibklrNWVpalk4YnBvN3BheHlHUWMyUGdjTDE2OEJYWHhuR2FzNllBYlJ0Vy85enFFNkZoWVVJRHcvSDBLRkQ4ZWlqanlJK1BoNUxsaXhCcjE2OU1HM2FORGc1T2NITHl3dUxGaTNDa2lWTE1HdldMQ3hZc0tEZVlRaUFvZFgrN05tejZObXpKOExDd3ZEKysrL0QyZGtaSDM3NG9YR2JxaDRSWGw1ZU9IUG1ETHAwNlNKb1J2NmJ1NFdXbFpWaDI3WnRlUHp4eDQxanFmVjZQWEp6YzQydDFGVXQxZG5aMlhCMGRJU2pveU9jbkp3UUhCeU1BUU1HMU5taXZIUG5UbHk2ZEFtbHBhWEl6OCtIWEM2SHI2OHY1SEk1Ykd4c01HZk9ITFJxMWFwRzRLSlVLbkhnd0FFTUdqUkkwR3pDSXBFSVdxMFdjK2ZPUlZsWkdlenQ3ZUh1N283ZXZYdGp3SUFCQUdDOE9HNW9DN0s5dlQyOHZMemc3KzhQS3lzcmhJV0Y0YkhISHNPSUVTTlFWRlNFR3pkdW9LaW9DRGs1T2NqTXpEUUdDT25wNmREcjliQ3pzNE9scFNYRVlqRjBPaDJPSERtQ2p6NzZxTmJYcmJpNEdNZVBIOGYyN2R0eDhlSkY3TnUzejVpTVY2bWE0eUFyS3d1UFB2cW84ZjZ5c2pLa3BhVWhLeXNMYXJVYVhicDBxZEc3dzlMU0VpZFBua1JVVkJRZWYveHgrUGo0WU1XS0ZmRHg4V25RNUpSaXNSaGR1M1pGVkZSVW5jTmhFaElTY09EQUFheGJ0dzVoWVdIbzBxVUwxR28xVWxOVGtaMmRqY3pNVEdOdmorTGlZbmg1ZVNFeU1oSk9UazZ3czdPRHU3czcvUHdNSjJvS2hRTFoyZGwxMW12U3BFblYvazVLU2tKWVdCajgvUHlNLzQ2bVRKbUN5Wk1uNDRrbm5taVdDL00rZmZvZ096c2JLU2twU0V4TVJHSmlJcEtTa3BDU2tnSzlYZzlYVjFkNGUzdWpRNGNPQ0FnSWFQQXdtT3pzN0ZwYldHL1hNK0g5OTkrSHJhMHRubmppaVhxRFM1VktoVTgrK1FSang0N0ZKNTk4VW10cnJrNm5nN1cxTlM1Y3VJQlBQdmtFdzRjUHYrM1FLMm9rbmM3d215d1NBV1ptUUJQbXdublFWUVVMV3EwV3hjWEZLQzR1Um1wcUtnNGZQZ3dyS3l1TUdUUEdPRVRMMnRxNjJYb3AzUzhzTGN5TUY5NDNLMWRVSWlvdURjZk94Y0hWMFFiamg0UVk1eDhRNHJOdi9rRHM5WFI0dWpxZ3JGeUo0aklsekc5cVZYOXlSQTkwRDJ4WkxYU1k5KzRPeENmbndONjIvdS9NQ2tVbGJLMHNNZTdoYnZEemRNYXI2Ny9HOCtNZk11NVBxOVhocHo5ak1IdkNnR3JQZS9lbDhiaWVtb3VDNG5LWW0wblF2cGJXOGZOWGt2SEJsNzlCbzlYQjM4OGRNOGIzeDQvSEx5RXhQUSt2UFRlczJybUpyNmVUY1JnQ0FPVEx5K0RxYUl1V0xlcnZjYWZYNjdGeTg0LzQvSjJwRUlsRTBHaTBjSGF3d1lkdlBJWGo1K05nWjIySnZiLzlEVmRIVzR4N09CaGFyUTRKYWJrQWdBKysvTTE0REgyQzJ0WVo4RnlLVDBkS1pnSGVlbjRVQU1NUWtEZW5QNExDNG5MWS9ETW5oSjIxSlN3dHpLRFg2N0YxMzNIOGV2SXkrZ2UzUTlqTVVmVWVSMjI4M1IweGVrQVEwcklMNGVYbUFIOC9EMlRuRjJGMitGZm9IOXpPK0Q1bDVNcHg1TXdWaU1SaWRHemJBdjI2dFd2US9wUFM4NUNaVjRSeVJTVUtTeXFRSnk5RmVyWWNpa28xZHYxMEdvZE9YWWFIaXoyYzdhM2g2V3FQRHEwOFlHY2pFelJjdzhKY2Fnd1Uydm02NFl2di84S2IwLzlkbVV3c0ZxR3d1Qngvbm8vSDMxZVNjVFV4QysxODNXRmhKa1Y1aFJMV0FvWXE2UFY2VktvMEtDbFhJSyt3Rk5rRnhjak1MWVplRCt6NStTeStPSEFDSmVWS1dNdk00V1J2QTBjN0s3ZzQyRUptYVk3aU1nVURoVHVJZ1VKNk9yQjVNNkJRQU1PSE0xQm9vcXJoQVMxYXREQ09QL2IzOTRlTGl3dCsrT0VIUFBUUVE4YVQrcjU5KytMSko1L0UxMTkvamJDd01QVHYzeDlUcDA2dGRaSkZBTWpMeThQNzc3K1BoUXNYd3M3T0Rvc1dMYW94UVYxV1ZoYU9IajJLVWFOR0lUbzZHdE9tVGNPNmRldncvdnZ2TjJyODZFY2ZmUVFIQndmTW1qVUwxNjlmeDVvMWE1Q2VuZzRMQ3d0MDZOQUIvdjcrNk51M0w2S2pvOUdpUlF0czJyUkowUDVIalJvRnJWWUxjM056QkFRRXdOL2ZIenFkRGhNbVRNRG8wYU9OWTlCdlZUVkhRVU5DbUp2cDlYcElKSkpxd3hCdUpiVExlS3RXcll3WDhaOSsraW4wZWoyVVNpVUE0TXlaTTlpNmRTdEVJaEhhdEdtRE5tM2F3TjNkSGNlUEg4ZjgrZk14YnR3NFFYTkJmUGJaWnhneVpBanM3ZTFoWVdFQnNWaU1kZXZXUWFWU1lkV3FWWkRKWk5Cb05FaExTME5DUWdKKysrMDNmUHZ0dDBoUFQwZFJVWkZ4UGdjckt5dTR1TGhnL2ZyMU5ZWmhqQnc1RWxGUlVaZzZkU3BzYkc1L2dwaVltSWpTMHRJYTNlS3Jla3ZVMXNzQ01MUVlybDI3Rmt1WExrVndjREJjWEZ5UW1wb0ttVXlHWDM3NUJXS3hHQjA3ZGtUZnZuM2g1K2RuN0NtaTBXaHc4ZUpGMk5qWVZKdDhVcWlmZnZvSm4zenlDVWFNR0lINTgrZERJcEZnMDZaTldMZHVIVFp2M296SXlFaE1tVElGRHovOGNMMFhGd3FGQXJtNXVjakx5ME4yZGpheXNyS01vVkY2ZWpvcUt5dlJ1blZyZE8zYUZRRUJBUmc4ZURCYXRHZ0JEdytQUmk5NStlNjc3K0xqanordWNiOVlMRFplUE4xczBxUkptRFZyRmc0ZVBJZ1hYM3dSdzRjUHYrMitkKzdjaWRhdFcrUGxsMS9HbFN0WGNPTEVDVHorK09QVnRsR3BWTWpMeThQU3BVdlJyMTgvTEZ5NHNGSEg4U0FvTHkvSGxTdFhVRnBhS3V5SnFhbkE5OThEV2kwd2Zqemc2M3RuS25nZnVuSGpScldRdGVxaTd1Wi9HMVczS3lvcXNIdjNidXpkdXhldFc3ZEd4NDRkMGFwVksvVG8wUU90VzdkdWx1RkQ5N281RXdZaUlUVUhCVVZseUM4cVExSkdQaEpTY2xDdXFJU3JveTMwZWoxK1AzY05QeHkvaEsvZm15TzQ1WGhvNzBBYy9DTUtUNDdvaVY2ZFd4c3ZlSDQvZXczdmJ2MFJYcTRPTlhvd2VEamJJejQ1eHpqQlhsMDZ0Zk0yRG8wb0xsTVk3NjlVcVZHaFZPSFFxU3Q0WmxUdmF0MzB5eFdWK1BiUTMvQnd0c2ZnWGdFMXlxOFNFdGl5V3ErRjlCdzVQdGwxQkZLSnVFWkRoNFc1V2JXZUNDVmxpZ1pmdE1ZbFp5TXR1eENsNVVyWTJjaWdVbXNoRVl0aEpwVmdjSzlBbEpZcnNmL0lCZmg1T1dQMTV6OGhOaUVkSmVXR2M1Q0ExbDRZMGljUXdRRys5YzZuNE9QaGhCbmorMk5nRDhOdjk5WEVUQncvSDQrMnZtNFkzTXZRV3UvcjZReFhSeHVJUkNLOFBIa29wby9yWCsxMWJZek83YnpySENhUkx5L0ZXeDkvaC80aC9wZzlZYUNnVlQ5RUloRWlqMFdqb0tqY09IVEN3VllHQ3pNcDlxeWYzU3lUSWtyRVltai9tV2ZFMWxxR2czOUVZOUlqdll3OVFjUmlFWDQ2ZmdtZC9iM1J1MHNiakg0b0NEa0ZKVGdibTRSMTIzL0dnaWtqMEMrNC9vRGsrOStqc1BHYjM0M2hoVVFzaHFlcnZiRUh4Nk1EdTZKUGw5WndkN0huOHBFbXdGOExhalphclJZclZxeUFVcW5FbWpWcnFsMHdkT3pZRVZldlhxMHhRLzd6enorUCtQaDRYTHg0RVgvKythZHgzb0NoUTRkaTRNQ0J4aG5UMVdvMVZxeFlnU2xUcG1ESWtDR0lqWTJGazVOVGpaQWdJaUlDblR0M3h1REJneEVkSFExZlgxOEVCZ1ppM2JwMVdMUm9rYURXL01qSVNCdytmQmhidG15QnViazUyclp0aTlXclYwT2xVc0hMeTZ2YXZrNmZQbTFjWms0SUJ3Y0hQUGZjYzlYdSsrYWJiNkJTcVRCKy9QamJQcSs0dUJnQUJLODRVRmxaV2U4MmpaMjRLeWNuQndjUEhvUzF0VFcyYk5tQ0kwZU9ZT25TcGRpN2QyKzE3WlJLSmZidDI0ZXJWNi9XdUZpclMyUmtKSDc5OVZjRUJnWmk3dHk1U0U5UGgxUXF4WkFoUXhBU0VvSU5HemJnNnRXcktDa3BNWVlFRHozMEVOemMzT0RxNmdvSEJ3ZFlXMXZYK3hubzJMRWpBS0NvcUFnMk5qYW9yS3hFY1hFeG5KMmRvVkFvY1BueVpSdzZkQWhIang0MXJpTHgxbHR2R1pmS3JMb0l2MTFyZUVSRUJPYk1tV09jWDZGcUNjLzI3ZHNidTlrWEZ4Zmp3SUVEaUlxS1FrRkJBZkx6ODFGUVVJREN3a0xrNU9RZ09EZ1lhOWV1RlhUQ241ZVhoMDgrK1FRWExsekFLNis4Z2l0WHJtRHo1czJZT0hFaW5KMmRFUjRlanQyN2QyUHIxcTFZczJZTlB2MzBVd3dkT2hSRGh3NUZ1M2J0YWcxK0ZBb0Z0bTNiaHFTa0pFZ2tFc2psY3N5YU5jdTRxc016enp5RHJsMjc0c1VYWDZ6eHZCczNiZ2llV1BMOCtmT0lpWWt4VHZaNUs3VmFYZU0rTHk4dnZQTEtLMWkxYWhYV3JWc0hCd2NIOU9yVnE4WjJseTVkd3JsejU3QnUzVG9BaG4rYlZjSGR6VlFxRlM1ZXZJZ0JBd1pneVpJbG5PaXVEcG1abVlpSWlCRCtHcWxVUUZHUlliQjBlcnBoOG1ScWtNcktTcWhVcWhyMzF4VXNxTlZxeE1mSEl6NCtIbEtwRkM0dUx2RHg4Y0d3WWNNd1pNaVFKaSsvZkM4TER2VERwdkEvb05IcU1IMXNQM1J0N3dNdk44ZHFMZDNQTC84L1NDWGlSbDNFZUhzWWVqKzRPTmpXMm5wYTIvZWNScU9GalpWRm8xdGJJNDlGSXoxSGp0a1RCbUI0YUVkWVdwZ2hOYXNBVnhPemNPRnFDdEp6NU1ndExFRlJxUUpSY1dsNGMzckQ1b2JaZitROFpCWm10L2x1MWxTYkFMQ3NRZ2xYeDRiMTZEaHhNUUVpRVl4ajVGVnFEU1EzOVhiWXRQY1BET2p1ajFFUGRVRkp1UkpqQm5hRlRxOUgyRWY3TUxKLzUzcFgycWppWkcrTnAwYjBOUDdkeHNjTkNhbTVPSDQrQVgyN3RZT2x1Um5lZW40VTdHMnRvS2hVSVM0NUd4Wm0waHBEWVJwcTA5NC9FQjJYaHBCQVAwd2QwKyttWS9yMzlVdkxMc1RtYjQvaGxXZUhvbXQ3NGNGcXl4WXVXUFBLRTlYdVcvelJQdlR0MWhhVmFnMFdyOW1GK1pNZWJ2SjhCam1GcGZoazl4SGpTaGhIemx6RnRMSDlBQmg2d1hSbzVZbHhEd2NiSjJ2MDhYRENxK3Yyb0ZLbFFWcE9ZWVBLR0RPb0svb0V0VVpDU2c0OFhlM2g2K2tNcVVTQ21JUjB2TGIrYTRSMmJRdmZSazZFU1UzSFFJR2FoVmFyeGRxMWExRmFXb29OR3piVWFObXRHbkp3YTJ1d1JDTEJtalZyY1Bqd1lWeTllaFVLaFFJU2lRU3BxYW1JajQ4M1RsWVhFUkdCTVdQR0dMdVJxMVNxR3VPdFQ1dzRnZWpvYUd6YXRBbDVlWG5HKzU5OTlsbE1tVElGbXpadHdwdzVjeHAwUEJjdVhNRFdyVnN4ZE9oUUhEbHlCRzMvNmJseXUyN3ZMaTR1dFY1OENLVlVLdkgxMTE5anhJZ1I4UER3d0w1OSsyQmpZNFBRME5CcWN4b1VGaGJDd3NLaVFkM3diMVpib0ZCWldRbTVYQTVYVjFkSUpCTGp5Zit0UXducXMyblRKclJxMVFvZUhoNElDQWpBa1NOSEVCa1ppUmt6WmxUYnp0TFNFalkyTm9JbmFKUklKSEJ3Y0VEdjNyM3gwRU1Qb2FTa0JLdFdyVEtPQTE2d1lBR0tpNHZoNHVLQ25UdDM0c2FORzNXMlJ0K091N3RoeG1hNVhBNXZiMitVbHBaaTVzeVpVQ3FWNk4yN053SURBekZ5NUVpRWhvWml4WW9WeU1qSXFQVzFxdTM0cmx5NWdxZWVlc280UndOZ2FGbS90YlhlenM0TysvYnR3NVFwVXpCNjlHaTR1TGdZSndoOS9QSEhrWlNVMU9Cd3JMS3lFdDk5OXgzMjdObUR2bjM3NG9zdnZvQ0xpd3N1WExpQWd3Y1BvbFdyVmhneFlnVHk4dkl3YnR3NHRHblRCdSs4OHc1S1NrcXdiOTgrN051M0QzWjJkdWphdFN2NjlPbFRiVTRTSnljbnZQUE9Pd0NBNU9Sa1RKczJEVnF0RmdFQkFkRHI5ZkR3OElCSUpJSmVyMGRPVGc3aTR1Snc3dHc1SEQ5K0hLV2xwUmc5ZWpSZWYvMzFCaDJIVHFmRGxpMWI0T3pzWE91eGkwUWk2SFE2YURTYUdrSExrQ0ZEY09MRUNmenh4eCtJaUlpb0VTakk1WEw4OE1NUGVPKzk5NHdocGs2bnF6R1B5TVdMRjNIcTFDbjA3Tm16U2F2VVBDaDBPaDFVS3BYd0ZXazBHc1AvUlNKQXJUWUVDOVFnR28ybTFwNDZEVlhWdzZ5OHZCeVZsWlZOMnRmOW9tZm4xcmllbW91KzNkb2hOaUVkM3g3Nkc0OE9DREsyN3RyYldNTERWZmh5MFFDTVN5WnFiak9IVGRYa2dqY3JLQzZIbzhDSkRBRWdKdDR3WVdLK3ZCVHpuaG9Fc1ZnTVphVWE0UnNqa1NjdlJhZTJMVEI2UUJBNnQvUEdaOS84anArT3grRHBrVFhEMTlvVUZKWGhseE94R05Hdk0zNzlLeFp6VjM0Rlp3Y2JQUHRvS1B6OTNGRlNycXpXc2w2dVVEVjR1Y0lURjYralZRdFg0MFNWS3JYR09Iemk5S1ZFZEdudmcyRjlPbFo3VGw1aFNZUDJYUmR6TXlrZUc5Z1ZqdzNzQ3BWYWc1aUVkTVRFcCtQaXRWVEVYcytBaGJrWituUnAzZWhBNGRHQlhSRjdQUk43ZmptSEx2NCt4dUJEKzA4TGZHSkdQa3JLRkhobjdwZ21MWUYrcy9RY09jNWZUY0g3cjArRXM3ME5NbkxrK1Azc3RTWUhDbzUyVnZoZzRWUDQrM0l5UHYzNmQrT3FENEJoQlFpRlNvMFhWKy9DMHRtUHd0ZlRDU3MyUlVJa0FqWXVmUlorWGcyZmFOck55YTdHaWlCcDJZWkFJajQ1bTRHQ0NURlFvQ2Fyckt6RXFsV3I0T2pvaUhYcjF0WGFsYm5xeEx5MkUzQnpjM09NSERrU0kwZU9yUEVZQU1USHgyUDgrUEh3OC9NejNxZFFLS3F0OTE1UVVJRDMzMzhmWVdGaGFOR2lSYlZBUVNhVFlmNzgrVmkyYkJta1VtbTFDUmRyRXhVVmhROC8vQkR2dmZjZVNrcEtzSFRwVXN5ZVBidk81NWlibXh1NytUZkZuajE3VUZGUllaemdUYWZUWWMyYU5YQnhjY0ZISDMxa0RHWXlNek5yOUpKb2lKS1NFdWoxZW56enpUZkdGcW1xQytLRkN4ZGk1TWlSMVNiemFxaFRwMDdoeElrVDJMaHhJN1p1M1FwN2UzdEVSRVNnb3FJQ09wME9GeTVjcUxiaXdjMUxTemJVeUpFak1XVElFT1BuS3lZbUJ0Ylcxamg5K2pST25Ub0ZjM056ekpzM0R3Qnc3Tmd4akIwN0ZnQlFXbHFLbzBlUFFpS1JZTml3WWZWMnRaZElKTEMzdDBkUlVSRUFRMWcwZHV4WTQ4b05WYXA2NUR6enpEUFZ4dGxYdFpMWGRueUJnVFVuT1ZLcjFUWCtYWWhFSXRqWTJLQkxseTdJenM3RzdObXo4ZEpMTCtHeHh4NUR5NVl0NGV6c1hPL0ZiR1ZsSlNJakkvSExMNzhnSkNRRVc3WnNNZmFpcUhwZHBGSXBVbEpTTUdmT0hNVEZ4Y0hHeGdhelpzM0N0bTNiOFB2dnY2T3dzQkF5bVF6T3pzN3c5UFEwQm11MThmSHhnVmdzeHFGRGg3QjkrM1lNR2pRSU1wa010cmEyU0V4TXhHZWZmUVkvUHo4TUhqejQvOW03Ny9Db3l2U040OS9KSkNHTk5FZ2hoQnBJSVBUZW00dGlvWXBnUTFkVUZuVjFMYml1WmUxbHJUOWRkeFg3cW9oaXcwSVJrYUFVQVFWRVdnZ0JFaUFoZ1FUUzJ5UlRmbjhNR1FscE13a3dBZTdQZFhGNW5ITE9rMlNTbVhPZjkzMWVQRDA5K2VhYmIralJvMGVkWDhPSnZ2MzJXM2J2M3MxRkYxMVU1K09LaW9xcUxPdFk2ZmJiYjJmanhvMmtwNmRUVkZSVUpmUk1UMC9uNzMvL2U1VXBIcFVyaWxUYXZuMDdEejc0SUI0ZUhuVHUzRmxoZ2hPaW82TzU5TkpMcXdSb1R2bjlkM2ppQ1h1WThPU1RjTklxS0ZLN3paczM4OEVISDFSN1A2b3BHS2g4Ly9EMDlLUmp4NDdFeDhmVHNXTkgrdmZ2VDB4TWpLWThISGZpY25UTnZMMTQ3NnUxN041L21NZHVuUVRZM3pNYTJtRytxTVQrY3pvNWxLNThhemRROVQzZWFyV1NmaVNYemk0MHRNdk9LZURkcjlheVladTlFZUlOazRjN1RsQ3ROaHY5dTdXbmY3ZjJWYVlnL0paNGtFdEc5SEI2V3NMSFN6Y1FHdVRQc0Y2ZFdMVnhOemRQSGNtLzNsbkN4MHMzOE5pdGs4Z3JMSEUwNVFQN3RJcWFsdHVzeWRIOFlxWmQrTWYwejVLeWNzY0lrY0U5NjU3MmtYemdDSnNTOTVOWFVNS3NxU05wR2VKY3MybXdyMjd4emNyZjJMMy9DUHZTc2pBZnY5SStvbTluYnJwOEJKM2JSbFFaS2VHcXFMQmcvdlBBTmFTa1o5UDYrRW9WeC9LTHFQeE4vZmY4SHhnN0tKNSs4ZTFxMzRtTFBsNjZnVTV0d3gzVFlQeDh2UmxVei9ld1BoYXJ6Zkg2N2QrdFBlODhWclZCY1VXRmhaRjlZL25Ud0s0OCt2b2xINkJTQUFBZ0FFbEVRVlRYdElrTXBXZm5hS2FQRzFEcmRCcFhKS1VlcGtXUVAxOGwvRWFQenRHT3BwWnladW5kUWhvbFB6K2ZEei84a0N1dnZOSXhWTHdtZGMxRnIwOXNiR3kxMjRxTGl4MGYvczFtTTA4Ly9UU1hYMzQ1dzRZTnEvSTRtODNHMGFOSEdUbHlKTU9IRDJmKy9Qa2NQbnlZT1hQbTFOZ0VidE9tVFN4YnRveC8vL3ZmaElhR3NuWHJWcWRxYk5hc21ldnpoRTl5OE9CQlB2bmtFMjY2NlNiSHlJTnAwNlp4NE1BQmxpeFp3cElsUzVnMWF4Wm1zNW1NakF4SEUwVlg1T1RZazl6QXdFQzZkdTFLOSs3ZENRc0xvM1Buem82VHpjbzNCbWNEaFlLQ0F2N3YvLzZQZSs2NWh3NGRPbEJhV29xSGh3ZGVYbDRFQlFXeGF0VXFWcTllWFcwSnhjb1Rzdkx5Y3U2NTV4NEdEQmpBaEFrVDZteWM1KzN0VFU1T0RoczJiR0RGaWhWa1ptYXlhZE1tSmt5WTREalpYYkZpQlh2MjdHSDE2dFVzWDc2Y2lvb0tVbEpTSEZNdFhubmxsWHBYRXpneFVBQVlNV0lFOCtiTm83Q3cwQkdPVlk3MkdENThlSlhuVnQ3dWJGUEx5bEU1Snlzb0tNRFgxNWVvcUtncUt6QlU5b0NvVDNKeU1uMzc5dVh5eXkvSHc4T0R6ei8vbkYyN2RwR1ZsWVhaYkNZNU9aa3VYYm9RRXhQRDZOR2pTVXRMNCttbm4rYVZWMTVoNGNLRlhIWFZWVTdWWDZreWlPbmZ2ejhQUC93d1lXRmgzSEhISFhoN2V4TVJFVUZNVEF5WFgzNDVFUkVSckYrL25sYXRXdFViRGxTcXFLamczWGZmQldEU3BFazFQcWJ5aEttd3NMREdRS0ZGaXhiY2VlZWR2UHZ1dTlWR2o5UVViSmdycjVJRGE5YXNZZTdjdVR6MDBFUDg4TU1QVHEySWNlalFJWmVYS0QzWCtQdjdFeDhmVDF4Y1hQMFBQbEZSa1gzYWc4bGs3MnRVeC9LclVsVmVYbDZWcTVsMUJRbCtmbjZNR3plT2l5NjZpRFp0MmhBY0hPeDBjOVR6U2VVVlk0RFFZUHZmanA0bnpIa3ZLbTM0eFlUMExQdFNqclZkZ2Zid3NEY2gvTzhuSzRrS0Q2YWtySnppVWxPTmpTSlBscG1keDhLRTMxaTZaaHVqK3NmeDZnUFhjTk1qLzhOc3NUaE95SU9iKzlHcGJUaFB2TEdJV1ZOSE1MQkhSMzdmZlpBRG1VZDUvTGFhLzlhZWJPL0JMSmF1MmM1VGQweWh3bUxCWUlDK1hkdnh3ZE0zWXo0K3QzN1BnU09PcFRnQmJGRGxLcmJqZHB1TnpZa0g2Tit0dmVPMk82LzlVNVYrRWNXbHBscFBSSXRMVFNUdXkrRG5MWHNCZVArYm4ybmJLcFRSL2VNSThIZnRJa2JieUZDdW16Q1Vrckp5RXZkbDhOcUNsVHgxKzJTQ2FoZ2RrcEdkUjJpUWY0T212WFNNRHVPM3hBUDhucHpHbGVNR09ONWZIcDA5a2FmZVhzeUdiU244ZmViRlZRS1podGk2TzQwZjFpZnkzTjEvVElFd2xadHBWOHVxRjg2eVdxMVlyWC84TEU5K0xaZWF5akVZRE1USFJQSElMUk81LzVVdjdLOEYxNjZIMVhyczlWdjNNcmhuRFAyN3RlZkpOeGZ4OG4xWE5YbzVUSEdkQWdWcEZHOXY3MnJ6bzJ0U2VmSi9xb1pQbHBTVTRPbnBpYzFtNDlsbm42Vm56NTdNbURFRGk4WEMzcjE3V2I5K1BVZU9IR0hTcEVrVUZoWXlkZXBVL3ZhM3Y3Rmx5eFlTRWhMWXRXc1hzMmZQWnNTSUVWWG1sdnI1K2ZIUGYvN1RjUnlMeGVMVS9GRVBEdytLaW9vYS9QV1VscGJ5eEJOUDBLTkhENjY0b3VwOHQzdnV1UWNmSHg5SHNMSnYzejRzRmt1TlFVdDkwdExTTUJnTWRTNmxXZmxtVmx4Y1hPLytMQllMVHozMUZGZGRkWlZqZWtGeGNiSGpEY1Ztcy9IeHh4L1hXYXUzdHplelo4OW16cHc1ZlBycHA4eVpNNmZLQ2drcEtTbXNXN2VPSTBlT2tKaVlTR1ptSnFOSGo2Wi8vLzVZTEJiSDhvcVYwdFBUR1RWcUZKTW5UNlo3OSs1NGVub3ljK1pNRGg0OHlPalJvNTM2d096djcxOGxVSWlKaVNFd01KRHM3R3dNQmdPN2R1MWk0OGFOZUhoNFZBdGVpb3VMTVJnTVRvL0FxT3lIY2FMQ3drS0tpNHZ4OC9Nak16TVRnSjQ5ZXdJNHBoRFU1K1NUNUNsVHB0Q3RXemZDdzhNNWN1UUl0OTkrTzlkZGR4MURoZ3dCN0ZNOUFBWU5HdFRnNVJzREFnTEl5OHRqL3Z6NWpvREhhRFFTRUJEQUJSZGN3SU1QUHNqTEw3OU1jbkl5QXdjT3JHZHZmekNielpTV2xqSjI3TmdhUjNsVVBnYnNmeHRxYytHRkZ6SnExQ2luUnZaVWpqVFpzR0VEbVptWnZQMzIyL2o3KzVPUWtFQnVibTY5ejErelpnM1RwazNUU0FaeE80UEI0UGliNU8vdlQrZk9uZXNjRlNoVjVSYVdPQm9LbWt6MnZ6TW5MaEZZV0ZTR2g0dWpCU3Q1R096dmxTYzN4NnVjNnVCaE1PRHBhV1Q2dUFIYzg4SUNqdVhiMzVkUFBPRStXV0Z4R1ErK3VwRGQrek5wNXVYSm5EK1A0NEtCWGNrNS90d1RULzdBM2hUd3hYdW44L2pjYjhqTXptZlI2cTBNNjkyWnFQRDZwM0ZZTEZaZS9tZzVsNDNzU2IvNDl2eTBNUW5qOGZkL3YrTTlFOHdXQzNzUFpqRng5QjhqalpyN05TTTdwL3BGbVBRanVhU2taMWY1K2lvYklsWXFLakhWZU1Kb3M5bjQ5UHVOSE1nNDVsaVY0Y0diTDJQTXdKb2JKRHNqdUxrZndjMzlXTGhpTXpkTUhJYS9Yek1PSHM3aFlPWXhEbVljWTE5Nk5va3BHUnpOTGNMZnR4a3pKdzFqMGdWOW5ONS84b0hEdkx0d0xkRVJJZHgyNVJpTUp5ekI2T1ZsNUY5M1R1V2hWeGN5NjdIM3VmcVNRVXdhMDlzeDljTVYrVVdsdlBqQk1zWU82a3Jmcm4rTWVDZ3BMWGVxeVdQYTRaeGFSNnRZck5ZYXc2Rkt4YVVteDRpYnVQYVJQUEhYeVR6d3lwZjh1ajJWdTYrN2tDNGRXdFg2M1Bwc1RqeEFYbUVwb3dmRTBTKytQVi84c0puWEZxemtyaGtYTm5pZjBqQUtGS1JSbkwyYVVUbjg4bFN0ZForZG5ZMlhseGNmZmZRUkkwZU9kTXlwLys5Ly8wdEtTZ3FscGFWNGUzc3pkZXBVNHVQajZkMjdOMTVlWHJ6MDBrdDgrT0dIN04yN2w1ZGZmcGtWSzFidzhNTVA0K1ZsYnlSMDhzbEtVVkdSVTErajJXeW1vcUlDazhuazlKWHBTbGFybGFlZWVvcnk4bkllZnZqaGF1bXVoNGRIbFpQbTdkdTNBemo2UzdoaTE2NWQ5VDZtc3FHWE15TXVQdjc0WThhUEgrOVlVaFBzSjhpVkoxR3JWcTF5VEZtcFM0OGVQWmd6Wnc3UFB2c3N6enp6RE8zYXRYT2NrTFpvMFlMVnExZVRsWlhGTmRkY3c2V1hYa3BBUUFDclY2L20xMTkvcmJhdkcyNjRvY3IvcDZhbWN2RGdRUjU1NUJHblIzWDQrdnBXQ1JROFBEem8yN2N2RHozMEVON2Uza1JGUlJFVkZjWHMyYk9ydlQ3eTgvT2RhdjVZK2RpaW9xSnFqOTI1Y3llZW5wNEVCd2V6Y2VOR0FnSUNhSHU4MDczRlluRjVxZ3ZZaHpWWHZyN256WnRIUkVSRWxaUDZ5Z0RKbFdrSUovUHo4eU0zTjVmQmd3Y3plUEJndnYvK2U4ZnJPUzR1amlsVHB2RHd3dytUbUpqSXRHblRuTjZ2cjY4dlR6NzVKSDM3MXI3bWVtV3dVMS9qVVdkWGw2Z2N6VlA1dFZRS0RBeDBhdVRTaGcwYkdEOStmS05HWjRrMFZPWGZDRjlmWDJKalkrbmJ0eTlkdTNZbFBqNisybks1VXJmTTdEd0NqamRBekR4cWYxL29kTUtVQTA5UFk0TjZHZ0IwaTRtaVkzVExhaU1PS29PR3lpSDFVZUhCUERoclBITmUvSlFPclZzeXVHZnREVzJiKy90dzhiQnVXQ3dXN3IzaFlqcEcyMGM4Vm80V09ISEVSYVdnQUYrZXZIMEtmMzM2SXc1bDVYSC9qYzZGVGU5Lyt6TmhJYzI1ZGZvWUFBcEx5cXA5aGxtMWFUY0dnNkZLYzhTMnJWcXdldk42VE9VVlZVNlE5NlZsa1ZWSC80UGlVaE5taXhYdkdnSUZnOEhBamNjYkFXYm5GTEI4M2M0R0xlVzVjKzhoMGc3bjRPVmw1RmhlTVFjemovSGp4aVRhUjdWazVjWWtrdmNmcGtmbmFDNGUzcDIrOGUySWFCSEl6MXYyOHUvNUs1aTNlSDI5Z1lMVmFtVnJjanBmcjl6Q3I5dFR1UFhLTVZYQ0ZsTzVQY3d1TTFVUUV1alBNM2RPNVovL1djamJYNjdteXhXYnVXaElQS1A2ZDZueUdxeExlWVdaSjk3NGxwQkFmKzY0ZHF6amRvdkZpcW5DN0ZSL2h1OS8zc0hOVTBkV3U3Mjh3a3g1UmQyZjYvTUxTNnNFYnJIdEl2am43UEU4UHZkYi92YnN4NHdaMElVWjQ0ZTR0RlJscFhtTDE5TTZQTmdSa3R3eWJSUjNQYitBNklnUXJyaFFJOXZPSkFVS2NrWlVmc2gzdGRGZmJmYnQyNGVmbngvWFhIT040K1ExTURDUUJ4OThFTERQNlo4N2Q2NmpGMEdsdUxnNG5uNzZhYWVQYy9Ub1VhZlc1YTY4T2xwWVdPaFNvR0N4V0hqeHhSZkp5TWpncFpkZWN1cks4T3JWcXdrT0RtN3dDQVd3ZjExNWVYbGtaV1dSbVpuSmtTTkhNSmxNREI4K25KQVErd2NiWjZZOFRKNDh1VXJqT292RlV1Vjd0bUhEQmdJREE2dWR5SmVYbDFkN0xZd2JONDYwdERUbXo1L1B1blhySElGQ1VGQVFiN3p4UnJVNTdUazVPVTdOOFowL2Z6NDMzWFNUUzFORWpFWmp0WkVENDhhTlkrYk1tWTRUKzlwa1ptWTZ2b2YxcVF4NFRyNktuWmlZU0hSME5CNGVIbXpmdnAxKy9mbzUzdlJOSmxPanVxN241ZVdSa0pEQXpKa3pxeTI1Q3E2dkhISWlIeDhmQmcwYTVCaXRZckZZV0xKa0NUdDM3dVR2Zi84NzQ4ZVBaL255NVpqTlpscTJkTDRSRStBWVNWR2JvMGVQQXM0SEJuVXBLeXZqMkxGak5iNis0dUxpK1BiYmIxbTdkbTIxNlM2VmZ2MzFWN1p1M2NxaFE0ZGNIKzR2Y2dwRVJVVng2YVdYTW5Ma1NDSWlJZ2dLQ25McXZVeXFDMjd1NXpneDNiN25FQjJqdzZxc3NEQ2dXM3ZIbkhSWEdZMGV6UDNuZGRWTzZpclB2MDY4RXQ4ek5wb2JKdzluUkwvWWV1ZnVYemF5RjVlTnJMcWtjWDFUTTM3K2ZTOFoyWGtFTi9mbHRRVXJlV2pXWlhYMkhQaDFld29sWmVVOE5HdThvNTZzbkVLOFBQK296V3Exc2pEaE42NjhlR0NWNzFuL2J1MlorOW1QUFBQT1VtNllPSlEyclVJcEtDcmo2NVZiSEZmb2ExSTVxc0hMeTduVGx4T0RCNnZWU3FtcG90N1ZNVXBONWJ6MDRYSW1qT3JGaUg2eDdEbHdoT2lJVUY1N2FBWUFWOTc3QnIzajJuREJ3RCtXYjY0Y3pYSHBpTG9EK2VKU0U5ZmUveGJGcGVYNGVIdnk1TzFUcW8wMktUcytDcWFrekg1eHg4L0htNmYvZGptUHZ2WU5XNUlPc21EWlJoWXMyMGlndnc5ZE9yUWlwbTA0azBiM3JqRThLU3V2NEpIL2ZvMkhoNEhuN3I2aXhxVXpzM0lLcWpVNlBOSFIzRUoyN3N1bzhiN01iSHZBVnRzbERsTjVCY2Z5aS9GcDVvV3B2SUlQdmwzSGhGRzlHTnd6aHZ0dnVwUm4zbG5DeWwrVFdQbHJFdDFpb2hqVlA0NFIvV0tkbXQ3eDA4WWtkcVZrOHZEczhZNEF0VnVuMW93ZDNKVTNQMStGeldaajJrVUQ2dDJQbkJvS0ZPU01PUEZxYjJQWmJEYTJidDNLaFJkZVdPdHc0dHpjM0ZNU1h1emR1OWVwRVFxVlYvVmRtZEpSWEZ6TVk0ODlSbEJRRVAvNXozK2N1cEtabXBySzl1M2J1ZlRTU3h0MGxUb3dNSkM4dkR6dXYvOSt2THk4cXZ5eldDejg2MS8vY2d5dGQ4YkpYZkRUMHRLd1dDeU9rN3IrL2ZzemNPREFLc1AvSzRldjE3VEUzODAzMzR5WGx4ZDkrbFJOK0d0YUNXSFBuajAxbmp6dTJMR0RlZlBtY2VtbGx4SVdGa1pKU1FsWFgzMjEwMThUMkgrZUowLzVPUEVxOVltc1Zxdmp3NkRGWW1IMzd0MTA2ZUxjRU11a3BDU2dlZ05IYjI5dnVuWHJSbWxwS2F0V3JXTE9uRGtrSmliU3RXdFhPbmZ1VFB2MnRROTNyYy9iYjc5TllHQWdFeVpNcUhMN25qMTdBQnExYjA5UFR6SXlNdmpvbzQvNDRZY2ZPSFRvRUpNbVRlTDIyMi9IWUREdysrKy9rNXljVEhCd01QZmRkeCtQUFBJSS9mcjFxMy9IdGZqdHQ5OUlURXdrSmlhRzlldlhBL1lSTFkzMSsrKy9ZN1ZhYSt4Vk1XellNTjU2NnkyZWV1b3BycjMyV2dZTUdFQlFVQkJsWldWa1ptYXljZU5HbGl4WkF0ajdXQ2hRa0RNcE5qYVdkOTU1eCttL1FWSy9xV1A3NGVWbHhHS3g4dU92dTdoMFJFOUtUZVVjeXlzbU9pS0V2MXd4cWxITitXcTZRbHo1L3U3bFZmVXp6dFZPcnJwd29yekNFb0tiKzdFM0xidkdmWmFWVi9EMkY2djUvdWNkM0RmekV2cDBhY3Q5TDMvT0xVL080K2JMUjNEaGtHNDFmbjFSNFNIY2NYWFZobjY3VXc5WEdYRXdiL0Y2V29lRmNOWEZWVS9zMmtTR2N1MWxnL2xvOFFiVy9iNjMycjd6QzB0cTdGV3dQK040Y0Z6SEhQbFNVem43MHUyUCsvckhMWlI5L3l1SGp1U1JrWjFMZVlXRjhORG0zSHJsR0liMzZWemo4M3QwanNaZ2dPNmRXOU9uUzF1U1VqTWRKL2NBbnA0ZUJEV3Yrcm13Y2pwSm42NTFOMUQwOTIzR25kZGV5SDgrU2VEUld5YlNLNjU2dzlyOEl2dkZuS0tTUDBiYitUYXpod29mTGxySHI5dFQ4VzNtUmNmb01McDJqS0ozWEhTTllVTDZrVnllZlhjcG5kdUdjK3VWWXh6VGRpb1pqUjZFQnZtemRNMTJicGcwck5yekszMyt3eWF5YzJzZXNib3ZQZHV4cjVxa0hMLy84TkY4L3UvRDVWdzB0QnV0anErSU1xcC9ITTM5ZlZpNFlqTVZaaXZSRVNGNGUzbldPSUxtWklleWNubDUzZzljTUxBTEkvdFZmWSs5WmZvWU51N1l6MXRmckNZaks0L1owMFk3M1FCVUdrNkJncHdSeDQ0ZEEycGU1Y0ZWRlJVVldLM1dLaDNyVDVhUmtlSHkxSU9hL1BiYmI3VitNRE9ielNRbEpkR21UUnRTVTFNQjU1dFA1dVRrOE1rbm56Qmp4Z3g2OWVwVjYrT09IVHZHKysrL1QrdldyWW1JaUdEZXZIa0FYSGJaWlM1K0pYYVZKeit2dlBKS2pmY2ZQWHFVbVRObkFsUlpWY05aKy9idEEvNVlNckZ5U1Vld0w3bTNaODhlaW9xS3NGcXR0WTR1T0hsVVNXM1MwOU5yZkExMDc5NmQ0Y09IODloamoyRTBHbm4rK2VkZERsOXNOcHZUejhuTHkrUEZGMStrUjQ4ZTVPYm1rcCtmNy9SVi9oTkgxNXhvMHFSSkZCY1hPNWJpSERWcUZNOCsreXd2dlBBQzA2Wk40NElMTG5EcDY2bTBmZnQybGkxYnhnc3Z2RkF0akZtN2RpMGhJU0ZWVnF4d3h1Ky8vMDVTVWhKNzkrNGxLU21KNU9Sa3hvNGR5Mk9QUGNhTEw3NUlSRVFFTnB1TmhRc1hzbWpSSXA1NTVobENRa0s0Kys2N3VmZmVlL25Ubi83RTlkZGZYKy9JajVyMDdkdVhkZXZXT1VZbWhZYUd1cnlVYWswcWY1OXIybGRRVUJDUFBQSUlqei8rT08rOTl4N3Z2ZmRlamZ0bzNicDFuVk0wUkU2SGh2d2VTZDNhdDdhUHB2cjJwOThwTERGeDhmQWVlQm1OdkxOd05ZZVA1blBaeUo1Y09MamJLVDFwcWV5aDBNekpLL0YxMmJoalArOTl2WWI4d2xJQy9YMGNWNmx6QzRwWnNTR1JMMy9ZVEZ5SFZyeit6eG0wUGQ2Zzc4VTUwN24vbFM5NTZjUGxmTEZpTTFNdTZNT1lnVjBkZlJHQUdodERKcVZtT3FaWWJOaTJENXNON3B0NWNZMmh5WjhuRHFOM1hGdFdiZHJOb2F3OC9IeThpV3daeU5EZW5Xb01Fd0RTRHR2NzExVDJTUGhwWXhMYjl4Nml1TVJFZG00aGg3THlPSlpYUktDL0Q3SHRJekJickxRTURxaTZuS0RoNUxVenFtcm03VVdBbncrRnhmWVJIV0VoelFrN1lhU0dsNmV4MmtvQ1IvUHNQYlNpbkZnK2RNekFMb3dlRUZmdE04YlIzRUphQkFld0s4VStHc0R6cEpOMEwwOGpOMDBad1UxVFJ0UjdqT1hyZHJCNy8ySHV2SFpzbFdhWUp4dld1eFB6bDJ6Z3lMRUNodmZwUkdUTElMeTlQQ212TUhQa1dBRWJ0cVh3M1ZyN05OdERXYm0wRGo5NWFvNzlhNmh0MU1lUEczY0Q4TmpjYitrWDM0NUpZNnBlTE9yYnRWMlZuZzdPT0poNWpBZisvU1g5NHRzeDU4L1Zsd1lQQ3ZEbHIxZGR3RFB2TEdIeDZtMXNTdHpQTGRQSE1LeDM3YXRVU2VNcFVJaUtndXV2dDNlVWptcllXckpTdjh6TVRBd0d3eWs1eWZmMjl1YUNDeTZvczRkQVRrN09LWm03SEJBUVVPdkpvYWVuSi92MzczYzBwWXlNakhTNnAwUm9hS2hqaWNPNnRHalJnaHR1dUlFNWMrWnc0TUFCd0w2cVFHMk42ZXB6OWRWWDE5bFFybVhMbGt5Yk5vMFBQL3lROGVQSHU3ei95aUcxTlYwbDd0MjdONnRXcmVLYmI3NEJxSE1KUW1lMGI5KysyZ2lKU2hNbVRLQzB0SlM1YytmeTdMUFA4c0VISDdqVXZYemd3SUdPSWZUMUNRME41Y1liYitUMjIyOTNUTzF4dHVIZzRNR0RXYlpzV2JYZmkrYk5tL1BOTjkrd2J0MDY1czZkaThGZzRONTc3K1h2Zi84N0w3endBaHMyYk9DUlJ4NXhhVm0zN094c25uamlDV2JObXVVNDBVMUlTS0JseTVZa0ppYVNtSmhZWjdQTzJ1emJ0NDgzMzN5VGR1M2FjZGRkZHpGeTVFaEhXR0V5bWJCWUxHemR1cFcyYmR2eTdydnZPa0tVbDE1NmlUbHo1cENRa0VCQ1FnSzlldldpZi8vKzlPclZ5NlUrRG4vOTYxL0p5TWhnL2ZyMTFVWmRORlNIRGgwSUNBaW9kVnBHMzc1OVdiQmdBUnMzYm1UZnZuM2s1ZVZSVVZHQmo0OFBZV0ZoZE9uU2haNDllNm9obzhnNVl1ZmVRN3p4MlUvY2RkMkZqaVoyRC85bEFxOS85aU92emsvZ3cyL1hNWHZhYU1ZT2J0aDc4OG04UEkzNCtuZzdOYis5UGhjT2lhZVp0NUVuMzF6TWlMNzJxL0xGcFNZMjdrZ2xza1VRY3grK2pwREFxaXZmaEFUNjg4STkwM2o4alcvWmxwek9LeCt0NEkzUFZqRzBkd3gvdTNac3JTZVFucDVHZ2dQdFlVRHZ1TFoxOW5vQTZCWFhwc2FyOUxYeDlmSEN3OE5BOFBGNmgvWHBUSFp1SWZuZXBmVG8zSnEyclZyUU5qSzAxa0RDV1VFQnZwU1o3S01vbzhORHFsdzE5L1B4cG1OME9DVmw1Zno0Nnk3YXRtckJqNzhtRVJUZzYvU1NoVFZkc0ZqNWF4THZmYlVXeS9IUnRTRkIvdFVlNHd5enhjTEkvbkZjTkxSN3ZZLzl5N1JSbEpWWHNQS1hKRlpzU0t6MWNYMjZ0SzJ4ZVdPUDJHZzhqUjZFaGRiOFdTengrRlFKZjE5djdxM2g1TjlWcXpmdjVyMnYxako5M0VBbWp1NVY2NFdmTVFPN3NIN3JQbjdjbU1UaG93VTg5dm8zZEdqZGtxbGorekZxUUZ5RFZ1T1F1aWxRaUkyRjU1NXpkeFhuUEM4dkx3SURBMC9KbXlQQVAvN3hqenJ2Nzk2OWU0MUQ2bDAxY2VMRU9xY0FqQjgvbm9NSEQvTDU1NTh6Y2VMRVJoK3ZKaTFhdE9EUlJ4L2xwcHR1b2tPSER0eDc3NzBOM2xkSVNFaTk4L3V2dU9JSzJyUnBRMVFEQXJiQmd3ZlR2bjM3R3Evc0dnd0c3cnJyTGc0Y09NQ1JJMGNZUFhxMHkvcy8wZFNwVTZzczdYZXk2ZE9uazVPVHc2ZWZmc3JhdFd1NThFTG51LzVPblRyVjBaVFBHWjA2ZFdMR2pCbTgrKzY3ZE92V3JkcVVqZHAwN3R5WjU1OS92c3B0eGNYRnZQenl5eHc5ZXBUWFgzL2RFYzU0ZVhueDVKTlA4cmUvL1kwMWE5YXdmUGx5cDd1MFoyZG44OUJERDNIdHRkY3llZkpreCsxOSt2VGhyMy85SzRjUEh3Wm8wQW41MUtsVEdUUm9FRkZSVWRWK3Z5dFhYS2pwK3hFVEU4TWJiN3pCNHNXTE9YYnNtR1BhamF1cnBWU0dMYSsvL2pyVHAwOTN1ZjZhREJnd2dOdHV1NjNPVVNxK3ZyNk9ockJ5aW9XSHc2UkpZRGJidDBYY2FPMldQYno0L2pMdXZIWXNGdzM1WTNsc285R0RPNjcrRTFFdGczbnJ5MVU4OTk1M3RBZ09vRStYeG84U2FlYmwyZUJHanpVWjJTK09LOGNkY1FRZS9yN042ajNoREF6dzVjVTUwOW14OXhENVJhVkVoNGNRRlI1Y2JlajhpUzRhMG8zbXg1ZG5QQjNEelB0MGFVdWJ5RkJIYndrdlQrTnBtU2ZmSmlLRTRPUGYveTRkVzlHbDR4K05UQzhlM29QUTR5ZjdGV1lMOTd6d0tRRGpodFYvQWwrWDZlTUdFQnpveHd2L1cwYkg2RENuUmp2VXhOTm94TlBKTU52SDI0djdabDdDcktrajJiVHpBSWVQNWxOaHNlRHI3VVV6YjA5Q2cvenAwcUVWa1Mxcjd1L1ZJaWlBUjI2WldHTnZCb0FMQm5aaDkvN0QzRHA5VEozOU9PcGp0bGhZdXNZK1V1SzFoMmJVMndjRDRMNGJMNlpENjVac1NUcElXWGtGRnF1VmIzLzZuWlcvSm5IZCtNRU43bnNpTlZPZ0lHZkVtREZqeU1yS09tUEhHemR1WEtQbVpsZHlKaVNZTVdNR2hZV0ZwK3hrcGlZZE9uVGdwWmRlb212WHJrNHZSOWhRZm41K2pCa3pwa0hQOWZiMjV2WFhYNjh6T0xyMzNudkp6ODl2ZElNd1o0YjJ6cDQ5RzR2RjR2SzhlbTl2YjVlSC9rK1lNSUZmZnZtRlJ4NTV4S1hudFc3ZEdyRDNZdmpoaHg5WXYzNDlGMXh3UVpVbFRTczFiOTZjNTU5L25qdnV1TU9wVlRqQVBvLy81NTkvNXRGSEgzVWNxMUpvYUNoMzMzMDMvL2pIUHhnM2JseURSNzVFUjlmOHhod1VGRlRuOXpFeU1wS2JiNzY1UWNjOFVXaG9hSlhsWGh2TGFEUnl5U1dYbkxMOWlZdmk0K0hOTjkxZGhaem5zbzRWOE81WGE2Z3dXM2oxL21zYzB3Rk9OdlhDZnJTSkRPRzU5NzVqMTc2TVV4SW9CRGIzcS9Va3JxRnE2dEpmSDRQQlFBOFhUcnh1dm54RW5Vc0lObFpNbTNEdVBHR2xndFBsNXFranE0M2FxSFRpaWd5VEwrakxxazNKSE1ySzVlYkw2NStLVUorTGhuUmo5LzdERE9qVzhPYklEUkVTNk0rRlF4cjIvaitrVisyalVDWmYwQWQvMzJhTkRsczhqY1lxMzNkbm4zUDFwWU1hMUhkRVhLZEFRYzZJd1lNSEV4TlQ5OUMzVThsb05CSVJVZnU4c1ZNcE1EQ3czaEVUcDRLelY3M2RyYjZwQmExYnQ2NTJZbnU2R0F3R3A2YVduQXFWelRVYnltS3hNSHo0Y01jS0NiVUpDd3ZqcmJmZWNqcVFpWTJOclhORmtQNzkrL09Ydi95Rks2NjR3cVY2blRGa3lKQ3o1blVySWxMcFdGNFIyL2FrTTN2YWFNZlY2TG9NN05HUkQ1KzVHYXYxMUp4TVI0VUZjWEVqVDhMY3diT09ab21uaWlzQlIwUFZGaDdWNU40Ynh1RmxORHBHTkRUV0hWZi82WlRzcHludzhQQm9kSmdnWndjRkNtWXpsSlNBelFiKy91RENuR1J4emFsb2xpWnlycXBjYmNNWmpWazI4bVFlSGg0dXI0TGhyT3V2di82MDdGZEU1SFJxRVJ6Z2NqOEVaNFpoTzh2VGFHVE1RSzNVY1RZNHVWR2h5UG5vMUV4b1A1dnQyQUV6WjhLMTE5cTNSVVJFeEgzS3lpQXR6ZjZ2ck16ZDFZaUlpRWdkRkNqazVjRzZkYkIyclgxYlJFUkUzR2ZyVnBnK0hTWlB0bStMaUloSWs2WHgvU0lpSXRKMGxKWkNhaXFZVFBadEVSRVJhYkkwUWtGRVJFUkVSRVJFWEtaQVFVUkVSRVJFUkVSY3BrQkJSRVJFUkVSRVJGeW1RRUZFUkVSRVJFUkVYS1pBUVVSRVJFUkVSRVJjcGtCQlJFUkVSRVJFUkZ5bVFFRkVSRVJFUkVSRVhLWkFRVVJFUkVSRVJFUmM1dW51QXR5dVV5ZDQ0Z2t3bSszYklpSWk0ajRlSHRDc0dSZ005bTBSRVJGcHNoUW9SRWZEckZudXJrSkVSRVFBWW1QaCtlZkJZckZ2aTRpSVNKT2xRRUZFUkVTYWpzaEl1UEpLZDFjaElpSWlUdEJZUWhFUkVSRVJFUkZ4bVVZbzVPWEJybDMyb1pYZHUwTndzTHNyRWhFUkVSRVJFV255RkNna0pzS3R0MEpaR2Z6dmZ6QjBxTHNyRWhFUk9YOFZGa0pLQ3Roc0VCTUR6WnU3dXlJUkVSR3BoYVk4bEpkRFZoWWNPV0xmRmhFUkVmZlp2Qm5HallNeFkremJJaUlpMG1RcFVCQVJFUkVSRVJFUmx5bFFFQkVSRVJFUkVSR1hLVkFRRVJFUkVSRVJFWmNwVUJBUkVSRVJFUkVSbHlsUUVCRVJFUkVSRVJHWGFkbklVOEJtczVHWGw0ZlJhSFIzS1NJaUltNlZtNXVMMVdyVmU2S0lpTWg1UUlIQ0tXQTJtMGxNVE5TSEp4RVJPZTlaclZiS3k4dng5ZlYxZHlraUlpSnltaWxRYUlUbXpac1RGQlJFUlVXRnUwc1JPZTlaclZZc0Znc0FScU1SRHcvTjZCSnhCNlBSaUsrdkw0R0JnUVFGQmJtN0hCRVJFVG1ORkNoNGVrSlFFSGg3MjdkZDBLSkZDMjY2NlNZS0NncE9VM0VpNHF4RGh3N3gyV2VmWVRhYnVmenl5NG1KaVhGM1NTTG50WUNBQUNJaUl0eGRocHdoRm91VjVJUFplSHZwbzZXSXlPbFFVRnptN2hKcXBMLzYzYnZEZSsrQjFXcmZkb0dIaHdldFdyV2lWYXRXcDZrNEVYRldlWGs1S1NrcG1Fd21Ra0pDaUl1TGMzZEpJdElRUGo3UXBnMlVsOXUzNWF4UVpxcmdnOFcvNE9XbDZaOGlJcWREZnFFQ2hhWXBPQmlHRG5WM0ZTSWlJZ0xRcXhkODlwbDlPekxTdmJWSXZWcTBDQ1V5SW95Q3drSUFLcXh1TGtoRTVCemw1KytQdDVjbmtSSGhUV3BxcndJRkVSRVJhVHA4ZmFGREIzZFhJVTZLYmgzRmMwODlSbGIyVVhlWEl1S1NqUnQveFZ4UndaQ2h3OXhkaW9qVG1qVnJScWVZcHZVZXFVQkJSRVJFUkFhMTlva0FBQ0FBU1VSQlZCckV3OE9EamgzYTA3RkRlM2VYSXVLU0x6NWJRSEZ4TVhmZmRhZTdTeEU1cXlsUXlNaUFoQVF3bTJIY09JaUtjbmRGSWlJaUlpSnltcVNtcHJKNzkyNUtTMHRKVFUybGcwWkZpVFNZQW9Ya1pManZQaWd0aGErL1ZxQWdJaUxpVGxsWnNINjl2Vm55c0dFUUh1N3Vpa1RrSEpPWW1FaGVYaDRXaTRYRXhFUUZDaUtOMEhTNk9ZaUlpSWdrSnNMczJYRGpqZlp0RVpGVHFLS2lnaTFidGxCU1VvTEpaR0xMbGkyVWxwYTZ1eXlSczVZQ0JSRVJFUkVST1M4VUZSV3hjK2RPeC8vdjNidVh3dU9ybElpSTZ4UW9pSWlJaUlqSWVTRTNONWVEQnc4Ni9uL1BuajBjT1hMRWpSV0puTjBVS0lpSWlJaUl5SGxoeFlvVmxKV1ZZYlBac05sc2xKV1Y4ZE5QUDdtN0xKR3psZ0lGRVJFUkVSRTVMM3o3N2JmVmJsdTJiSmtiS2hFNU55aFFFQkVSRVJHUmM5N216WnZKek16RVpyTTViclBaYkJ3K2ZKaGZmdm5GalpXSm5MMFVLSWlJaUlpSXlEbHY4ZUxGdGQ2M2NPSENNMWlKeUxsRGdZS0lpSWlJaUp6VGNuSnkyTFp0VzYzM2I5dTJqWnljbkROWWtjaTVRWUdDaUlpSWlJaWMwN1pzMlVKT1RvNWp1b1BCWU1CZ01BRDJhUStGaFlWMUJnNGlVak1GQ3NIQk1IUW9EQjl1M3hZUkVSRVJrWE9HMVdwbDkrN2RGQlVWMWZvWWs4bkU3dDI3c1Znc1o3QXlrYk9mcDdzTGNMdjRlSGpqRGJCYUlTVEUzZFdJaUlpYzM1bzNoMTY5b0x6Y3ZpMGkwa2lscGFVa0pTVmh0Vm9CSENNVEtyZHROaHRXcTVXZE8zZFNVRkJBaU00SlJKeW1RTUhiRzhMQzNGMkZpSWlJQVBUckI5OS83KzRxUk9RY2twdWJ5L2J0Mit0OTNQYnQyOG5PemxhZ0lPSUNUWGtRRVJFUkVaRnoxcVpObXlnb0tLaXlYT1RKYkRZYkJRVUZiTjY4K1F4V0puTDJVNkFnSWlJaUlpTG5yQysrK01LeGZlSjBoNXB1VzdSbzBSbXBTZVJjb1VCaDcxNTQ5RkY0NEFIN3RvaUlpTGlQMVFwbFpXQXkyYmRGUkJvaEpTV0ZYYnQyQVRXSENaVXE3OXU5ZXpkNzl1dzVJN1dKbkF2VVF5RTlIZDU2QzBwTFlkdzQ2TlRKM1JXSmlJaWN2NUtUWWU1Y01KdmhqanVnU3hkM1Z5UWlaekVQRHcvbXpKbFQ1YmEwdERTV0xGbUMyV3htMHFSSnRHblRwc3I5UnFQeFRKWW9jbFpUb0NBaUlpSk54K0hEOE9tbjloRUswNllwVUJDUlJtbmZ2ajN0MjdldmN0dm16WnRKU0VqQVpESXhkdXhZK3ZYcjU2YnFSTTUrbXZJZ0lpSWlJaUlpSWk1VG9DQWlJaUlpSWlJaUxsT2dJQ0lpSWlJaUlpSXVVNkFnSWlJaUlpSWlJaTVUb0NBaUlpSWlJaUlpTGxPZ0lDSWlJaUlpSWlJdVU2QWdJaUlpSWlJaUlpNVRvQ0FpSWlJaUlpSWlMdk4wZHdGdUZ4VUYxMThQNWVYMmJSRVJFUkVSRVJHcGx3S0YyRmg0N2psM1Z5RWlJaUlBNGVFd2FSS1l6Zlp0RVJFUmFiSVVLSWlJaUVqVEVSOFBiNzdwN2lwRVJFVEVDZXFoSUNJaUlpSWlJaUl1MHdnRnN4bEtTc0JtQTM5LzhOUzNSRVJFUkVSRVJLUStHcUd3WXdmTW5BblhYbXZmRmhFUkVmY3BLNE8wTlB1L3NqSjNWeU1pSWlKMVVLQ1Fsd2ZyMXNIYXRmWnRFUkVSY1ordFcySDZkSmc4MmI0dElpSWlUWmJHOTR1SWlFalRVVm9LcWFsZ010bTNSVVJFcE1uU0NBVVJFUkVSRVJFUmNaa0NCUkVSRVJFUkVSRnhtUUlGRVJFUkVSRVJFWEdaQWdVUkVSRVJFUkVSY1prQ0JSRVJFUkVSRVJGeG1RSUZFUkVSRVJFUkVYR1pBZ1VSRVJFUkVSRVJjWmtDQlJFUkVSRVJFUkZ4bWFlN0MzQzdUcDNnaVNmQWJMWnZpNGlJaVB0NGVFQ3pabUF3MkxkRlJFU2t5VktnRUIwTnMyYTV1d29SRVJFQmlJMkY1NThIaThXK0xTSWlJazJXQWdVUkVSRnBPaUlqNGNvcjNWMkZpSWlJT0VGakNVVkVSRVJFUkVURVpScWhrSmNIdTNiWmgxWjI3dzdCd2U2dVNFUkVSRVJFUktUSlU2Q1FtQWkzM2dwbFpmQy8vOEhRb2U2dVNFUkU1UHhWV0FncEtXQ3pRVXdNTkcvdTdvcEVSRVNrRnByeVVGNE9XVmx3NUloOVcwUkVSTnhuODJZWU53N0dqTEZ2aTRpSVNKT2xRRUZFUkVSRVJFUkVYS1pBUVVSRVJFUkVSRVJjcGtCQlJFUkVSRVJFUkZ5bVFFRkVSRVJFUkVSRVhLWkFRVVJFUkVSRVJFUmNwa0JCUkVSRVJFUkVSRnltUUVGRVJFUkVSRVJFWEtaQVFVUkVSRVJFUkVSYzV1bnVBdHpPMHhPQ2dzRGIyNzR0SWlJaUlpSWlJdlhTR1hUMzd2RGVlMkMxMnJkRlJFVEVmWHg4b0UwYktDKzNiNHVJaUVpVHBVQWhPQmlHRG5WM0ZTSWlJZ0xRcXhkODlwbDlPekxTdmJXSWlJaEluUlFvaUlpSVNOUGg2d3NkT3JpN0NoRVJFWEdDbWpLS2lJaUlpSWlJaU1zMFFpRWpBeElTd0d5R2NlTWdLc3JkRlltSWlJaUlpSWcwZVFvVWtwUGh2dnVndEJTKy9scUJnb2lJaUR0bFpjSDY5ZlpteWNPR1FYaTR1eXNTRVJHUldpaFFFQkVSa2FZak1SRm16d2FUQ2I3NlNvR0NpSWhJRTZZZUNpSWlJaUlpSWlMaU1nVUtJaUlpSWlJaUl1SXlCUW9pSWlJaUlpSWk0aklGQ2lJaUlpSWlJaUxpTWdVS0lpSWlJaUlpSXVJeUJRb2lJaUlpSWlJaTRqSUZDaUlpSWlJaUlpTGlNZ1VLSWlJaUlpSWlJdUl5VDNjWDRIYkJ3VEIwS0poTTltMFJFUkVSRVJFUnFaY0NoZmg0ZU9NTnNGb2hKTVRkMVlpSWlKemZtamVIWHIyZ3ZOeStMU0lpSWsyV0FnVnZid2dMYzNjVklpSWlBdEN2SDN6L3ZidXJFQkVSRVNlb2g0S0lpSWlJaUlpSXVFeUJnb2lJaUlpSWlJaTRURk1lOXU2RmVmUHNjelZ2dWdrNmRYSjNSU0lpSXVjdnE5WCtubXd3Z0pjWGVPamFoNGlJU0ZPbFFDRTlIZDU2QzBwTFlkdzRCUW9pSWlMdWxKd01jK2VDMlF4MzNBRmR1cmk3SWhFUkVhbUZZbjhSRVJGcE9nNGZoazgvaFk4L3RtK0xpSWhJazZWQVFVUkVSRVJFUkVSY3BrQkJSRVJFUkVSRVJGeW1RRUZFUkVSRVJFUkVYS1pBUVVSRVJFUkVSRVJjcGtCQlJFUkVSRVJFUkZ5bVFFRkVSRVJFUkVSRVhLWkFRVVJFUkVSRVJFUmNwa0JCUkVSRVJFUkVSRnptNmU0QzNDNHFDcTYvSHNyTDdkc2lJaUlpSWlJaVVpOEZDckd4OE54ejdxNUNSRVJFQU1MRFlkSWtNSnZ0MnlJaUl0SmtLVkFRRVJHUnBpTStIdDU4MDkxVmlJaUlpQk1VS0lqSVdhZTB0SlM4dkx3cXR4MDllaFNMeFlMTlp1UFlzV05rWm1aV3VUOG9LQWcvUDc4eldhYUlpSWlJeURsTmdZTFpEQ1VsWUxPQnZ6OTQ2bHNpMHRRbEp5ZHo0NDAzMW5yL280OCtXdTIydDk1NmkzNzkrcDNPc2tSRVJFUkV6aXRhNVdISERwZzVFNjY5MXI0dElrMWV0MjdkaUhLaGlXcXJWcTNvMmJQbmFheElSRTZac2pKSVM3UC9LeXR6ZHpVaUlpSlNCd1VLZVhtd2JoMnNYV3ZmRnBFbXo5UFRreWxUcGdCZ3M5bXcyV3pWSG5QaTdaZGRkaGxlWGw1bnRFWVJhYUN0VzJINmRKZzgyYjR0SWlJaVRaWUNCUkU1SzQwZVBScC9mMzhNQmtPdGp6RVlEUGo0K0RCczJMQXpXSm1JTkVwcEthU21Ra3FLZlZ0RVJFU2FMQVVLSW5KV0Nnc0xjMm9hUTZkT25WeWFIaUVpSWlJaUlzNVJvQ0FpWnlVL1B6OTY5ZXJsK1A4VHB6MmN1QjBiRzB0UVVOQVpyVTFFUkVSRTVIeWdRRUZFemtwR281Rk9uVHJoNys5ZjYyTjhmSHpvMXEyYitpZUlpSWlJaUp3R0NoUkU1S3dWSHg5UFNFaElyZmY3Ky92VHQyL2ZNMWlSaUlpSWlNajVRNEdDaUp5MUlpSWk2Tnk1czZNeDQ0a3JPeGdNQmpwMjdFamJ0bTNkV2FLSWlJaUl5RGxMZ1lLSW5OVW1USmhRNjMxWFhISEZHYXhFUkVSRVJPVDhva0JCUk01cVE0WU1JVFEwdE1wdEJvT0I0T0JnUm80YzZhYXFSRVJFUkVUT2ZRb1VST1NzNXUzdHpkaXhZeDNUSGlxTkhqMGFiMjl2TjFVbElpSWlJbkx1ODNSM0FXN1hxUk04OFFTWXpmWnRFVG5yVEp3NGtXKysrWWF5c2pJQXZMeTh1T1NTUzl4Y2xZZzBpSWNITkdzR0JvTjlXMFJFUkpvc0JRclIwVEJybHJ1ckVKRkdpSXlNcEczYnR1elpzd2VBNk9ob29xT2ozVnlWaURSSWJDdzgvenhZTFBadEVSRVJhYklVS0RSU1J1WmhEcWFsdTdzTWtmTmFSVVVGWVJHdFNFeEtCc0MvZVJCSnlYdlpmMUMvbXlMdUV0MDZpdWpXVWE0L01USVNycnp5MUJja1oweHhjUWs1ZWJuazV1WlJVbExxN25KRXF0bVRuRXhGUlFVV2k0WEVYYnVwc05qY1haSklGVWFqa2VDZ1FFSkRRMmtSV3ZzUzZVMkJBb1ZHeUR4OGhEbjMvNU45cWZ2ZFhZckllYzlrTWxGY1lmOUE4TnVPSkhiOTh6RTNWeVJ5Zm90cUZjbC9YM3FlNk9nR2hBcHlWaW9wS2VYZDkrZXhaTmx5VE9YbGxKZVhVMkUydTdzc2tXcXM1Z3BzcG1KczJQajM2Mi9pNGVubDdwSkVxdkF3ZU9EdDdZVzN0emR0bzFzejU4Ni8waTIrcTd2THFwRUNoYnc4MkxYTFByU3llM2NJRG5iNnFZY1BIMkZmNm42T0hqMkd0N2MzUnFQbWVvcTRrNCtQRHdCV3E1WGk0bUkzVnlOeWZySmFySmpLeXpHWnlrblB5RkNnY0o3SVBIeUVSNTc4RnordVdvUFZhc1hvWWNEYnkxT2ZqYVJKc3Rsc0dQQUFHOWhNWlJqS1RlNHVTYVFLbTgxR250bENlWVdGbE5UOWJFL2N4Y1AzLzUwSmw0NnIxb2pjM1JRb0pDYkNyYmRDV1JuODczOHdkS2pMdTJqbTdjMkVTeTZpWTRkMnA2RkFFUkdSczhmQnRFTjgrOTMzRGQ5QllTR2twSUROQmpFeDBMejVxU3RPVG91eXNqTHVmZkFSMW0vNEZVOVBEMGIzaTZWUGJHc2lXd2JTM00vSDNlV0ppSngxekJZTDJibEZITXJLNStldEtTUWZ6T0lmLzN5TTRLQWdSZzRmNHU3eXFsQ2dVRjRPV1ZsUVdtcmZiZ0FQb3dkdG9xUG9FcXRWSWtSRVJEeU5ualI0UnZMbXpYRFZWV0F5d1ZkZndlalJwN0kwT1EzbWYvb0ZHMzdaaUxlWGtidXVIczNGUStOcDd0ZXN5VjFGRXhFNTIxaXRWaTRiM28zL2ZMYWFsUnVUK2IvL3ZFYVh1TTZFaDdWMGQya09Hb2NtSWlJaUlnMVNWbGJHc3VVcnNObHNqT2dkdzhWRDR3bjA5MUdZSUNKeUNuaDRlTkFtTW9TSkk3b1RGT0REZ1lOcC9MNTFtN3ZMcWtLQmdvaUlpSWcwU0c1ZVBpV2xaWGdhUFlqdkdFbWd2Nlk0aUlpY2FySHR3Z255OThWa0t1ZFlUcTY3eTZsQ2dZS0lpSWlJTkVoZWZqNmxwU1Y0ZVJwcDFTTFEzZVdJaUp5VFFnTDk4UGIyeEdReWtaT3JRRUZFUkVSRXpnRmxwV1ZVVkZnd0dqMEk4R3ZtN25KRVJNNUpYcDVHL0h5OHNObHNsSlNVWXJWYTNWMlNnd0lGRVJFUkVSRVJFWEdaQWdVUkVSRVJFUkVSY1prQ0JSRVJFUkVSRVJGeG1RSUZFUkVSRVJFUkVYR1pwN3NMY0R0UFR3Z0tBbTl2KzdhSWlJaUlpSWlJMUV0bjBOMjd3M3Z2Z2RWcTN4WVJFUkgzOGZHQk5tMmd2TnkrTFNJaUlrMldBb1hnWUJnNjFOMVZpSWlJQ0VDdlh2RFpaL2J0eUVqMzFpSWlJaUoxVXFBZ0lpSWlUWWV2TDNUbzRPNHFSRVJFeEFscXlpZ2lJaUlpSWlJaUx0TUloWXdNU0VnQXN4bkdqWU9vS0hkWEpDSWlJaUlpSXRMa0tWQklUb2I3N29QU1V2ajZhd1VLSWlJaTdwU1ZCZXZYMjVzbER4c0c0ZUh1cmtoRVJFUnFvVUJCUkVSRW1vN0VSSmc5RzB3bStPb3JCUW9pSWlKTm1Ib29pSWlJaUlpSWlJakxGQ2lJaUlpSWlJaUlpTXNVS0lpSWlJaUlpSWlJeXhRb2lJaUlpSWlJaUlqTEZDaUlpSWlJaUlpSWlNc1VLSWlJaUlpSWlJaUl5eFFvaUlpSWlJaUlpSWpMRkNpSWlJaUlpSWlJaU1zODNWMkEyd1VIdzlDaFlETFp0MFZFUkVSRVJFU2tYZ29VNHVQaGpUZkFhb1dRRUhkWEk0MlVuSnhNYW1vcXc0Y1B4OS9mMzkzbG5CSUhEeDRrTEN3TVgxOWZkNWR5VmtoS1NzSmdNQkFYRitmdVVnU3dXcTBZREFZTUJzTnBQYzZlUFhzd0dBekV4TVNjOW1QSmFkYThPZlRxQmVYbDltMFJrVHFzM2JLSC9NSVNSZy9vZ3I5dnN6TjJYS3ZWaW9lSEJudUw2TGZBMnh2Q3dpQWl3cjR0WjdYZHUzZXpmUGx5RWhNVEhiY1ZGeGRqc1ZoTzJURlNVbEo0Ly8zM1dibHlKU1VsSmFka255VWxKUnc0Y0tERys3Nzc3anNlZi94eE5tN2MyS2hqZlA3NTV5eGR1cFRjM053YTd6OTA2QkJyMXF5aHZMeThVY2R4dHoxNzl2RFdXMjlWZVEyY0N3b0tDbGkxYWhXYk4yOTIrZlZjV2xxSzFXcXQ5ZjZ0VzdleVpzMGFqaDA3MXRneXEwbEpTZUh4eHg5bitmTGxwL1QzOEdTcHFhbk1uVHVYMTE5Ly9iUWRRODZRZnYzZysrL2h4eC90MnlKeVZpb3JyNmozTWZzUEhTVXpPNjlSeCtuUXVpWHpGcTNuam45OTdMak5hclZpc2RUK3ZuY3FyTmlReUo4ZmVvY0Z5MzV0OEQ2S1M4cE9ZVVVpN3FGQVFjNDZGb3VGb3FLaWFyZFhWRlR3MjIrLzhhYy8vWWxldlhxeGMrZE9QdmpnQXg1OTlGR2VlT0lKZnZubEYydzJXNk9QMzZGREI0eEdJMHVXTE9IVFR6OXQ5UDRBamgwN3hxdXZ2c29YWDN4UjdiNlNraElxS2lvSUN3dHIxREdpbzZOSlNFaGcwYUpGTmQ1ZlhsN08xMTkvemF1dnZ0cW80N2lpdExTVXRMUTBkdTdjU1dKaUlubDV6bjJveU1qSTRKVlhYdUh0dDkvbXlKRWpWZTVMU1VtaFRaczJ4TVhGblpLZjk1bFdYbDVPU1VrSk9UazVKQ1ltc256NWNsNTc3VFZlZlBGRmxpOWZ6c2NmZjh5cnI3NUtRVUdCMC90Y3MyWU5MNy84TWprNU9UWGVIeElTd3FKRmkvalh2LzdGL3YzN1Q5V1hBa0M3ZHUwb0xDeGsrZkxsanVQbjUrZno0NDgva3BTVWRNcENodGpZV0lBYS96YUlpTWlaWmJQWm1QWFkrL3p6UHd2ckRBeVNEeHptK29mZTVZRi9mMGw1aGJsQngyb2RIc0l6ZDA3Rnk5UElPMSt1NXA0WEZqRCs5bGU1NGVGM01Ua1JhalRVOEw2eEhNc3JadUdLelEzZXgvUHZmODg5THl3Z0k2djI3OUdqcjMzTmpZLzhqNCtYL29MNU5BYnpJZzJsS1E5eTFzbk16T1RWVjE4bElDQ0F5eSsvbk83ZHV3T3djdVZLQUk0ZVBjcUNCUXVJaW9waTZOQ2hCQVFFOE1zdnY3QnAweVlpSWlKbzM3NTlvNDV2TUJpWU1XTUdyVnUzZG94UXNGZ3NaR1ZsWWJGWWFOMjZ0Y3REcnRQVDB3RW9MQ3lzY250UlVSR0hEaDNDeDhlbjBjTzQyN1p0QzBEbnpwMXJ2RDgvUHgrQVN5NjVwRkhIT1puSlpDSTNONWVjbkJ5eXNyTEl6czRtS3l1THJLeXNhaWQvQm9PQmlSTW5NbkxreUdyN1dibHlKWjZlbnFTbnA3Ti8vMzdLeXNySXlNaWdxS2lJaUlnSXdQN2FPSGp3SUpNblQyYkZpaFZzMkxBQm85SEkrUEhqNmQyNzl5bjl1azZYcFV1WHNtYk5Hanc4UE9qVXFSTmR1M1psNnRTcGhJV0Y4ZHBycjNIZ3dBRk1KaE5Iang0bE1ERFFxWDBXRmhhU2taRkJhbW9xb2FHaDFlNXYyN1l0VjE1NUpaOTg4Z2xaV1ZtTi9oMDVVV1dvMDdkdlgwY29GaGdZU0VGQkFZc1hMNlpseTViY2Z2dnRORy9rMFBhUTQxUFdhbnQ5aTRqSW1mTy9yOWR5K0dnQmg0OFdrSjM3RFc4Kzh1Y2FIemVpWHl3dnovdUJYU2taVG4vT0tTdXZZUDdpOVJRV216aWFWMGhHVmg0VkZnc2RvOE14R09EaVlkMzV5OVJSdEk5dVNUTnZMNWZxTnBWWDhMZG5QeWF1ZlN1dUd6K1lzTkRhMzJmOWZMeHBIUkZDU0tDZlM4ZW93bVpqKzU1RExGMnpqWnVuVnYvc2s1U1N5YTg3VWpGYnJQeWVkSkNMaDNVbk5PamNtTklyNXc0RkNudjN3cng1OXJtYU45MEVuVHE1dXlLcFIzUjBOTE5teldMKy9QbDgvLzMzZE8vZW5iUzBOTFp0MjhiZGQ5L04xcTFiYWRHaUJmSHg4WmhNSnJadDI4WUREenpnT09Gb0xLdlZTazVPRGkxYnRpUTlQWjI1YytkeTRNQUJLaW9xTUJnTVRKczJqVUdEQnJtMHo5OSsrdzEvZjMrdXV1cXFLcmRYVG5PWU5Xc1dTNWN1WmZMa3liUnExYXBCZFFjZmJ6cGFlZko5c3A5Ly9wbmV2WHZUclZzM1NrcEsyTEJoQTkyNmRhdjE4V0MvbXA2U2tvTEZZcUcwdEpTaW9pTHk4L1BKemMxMS9Dc3VMZ2JBMzkrZnNMQXd4My9idFd0WExTaXgyV3kxbmlTWGxaV3hkZXRXYnJ6eFJpSWlJbmovL2ZmcDJMRWpNVEV4anNlc1c3ZU9uajE3VWxaV2hyKy92Mk82UzBaR1JwTUxGRDcvL0hOU1UxT0pqNDluM0xoeGVIblpQL1JNbmp5WjBhTkhZelFhcTV4a0wxcTBpUHo4ZlA3ODV6L1RzMmRQcDQ5anRWclp1WE1uZ3djUHBsOGR3OGY3OWV0SG16WnRDQW9LQXV3aHhNNmRPekdiemZUcDA4ZnBuaVNMRmkwaUt5dUxxNjY2Q245L2Y4ZW9reDQ5ZWpnZVl6QVltRFJwRW1GaFlTeGV2SmdEQnc0NGdrRm43ZDY5bXpadDJ1RG5aLzhnNStscGZ6dXJLVENSczR6VmFuOVBOaGpBeXdzMFIxbmtyRkZZWE1aTEgzN1ArcTM3R05rdmx2R2pldEd6YzNTdGovZHQ1azJyc0dDQ0Fueng4alE2ZFF3ZmJ5K0c5ZTdNcnRSTWh2ZnR6TFB2THFWTGgwZ2V2V1VDT1FVbHRBd09jRHgyK2ZxZEZCV1hNV0YwYjZmMjM4emJpL0dqZXZIcS9BUitUenJJaDgvY1hPZmovWDI5Q1FsczJBbSsyV3hoeDk1RFJJVUZjL1dsMVQ4M2J0eVJ5dE52TDZacngxYk1tanFTcmgyakduUWNrZE5OZ1VKNk9yejFGcFNXd3JoeENoVE9FcDA3ZCthQkJ4NGdKeWZITWJkODl1elpCQVlHc25uelpnb0xDNG1MaTZOWnMyWk1uVHExVWNjNmZQZ3dhOWFzb2FDZ2dMeThQTEt6czZtb3FLQkZpeGEwYnQyYTdPeHNSb3dZUVV4TURPM2F0WE81ZVdKYVdob3BLU2xNbVRLbHluUE5aak0vLy93ei9mcjFvMzM3OWt5Yk5vMTMzbm1IRzIrOGtmRHdjSmUvRHUvalBVSUNBZ0txM2Jkbnp4NVNVbElZTUdBQUgzLzhNY25KeVJRV0ZySnMyVEp1dSsyMldxOVlHNDFHTm0zYXhKWXRXd0I3YUJBWkdVbEVSQVNkT25VaUlpS0N3TUJBL3YzdmYrUHY3ODl0dDkyRzBlamNCNGFUdFcvZm5qMTc5amdDanZ6OGZBWVBIdXk0djdDd2tOMjdkM1AzM1hmajYrdExZbUlpRm91RkNSTW1NSHIwNkFZZDgzUWFQMzQ4YjcvOU5qLysrQ01oSVNFTUd6Yk1jVjl3Y0RBVkZSWE1uVHNYUHo4L1FrTkRLU3NyNDc3NzdxTlpNOWNhVHUzY3VST2J6Y2I0OGVNNWNPQUFoWVdGanBQM3RMUTAyclJwQTlqRG9ieThQRFp0MnNUZXZYc2R2VFlLQ2dwWXNtUUpVNlpNWWVEQWdmVWV6OS9mbjhURVJKS1NrdWpYcng5cGFXbU9ab2tuR3pwMEtQMzc5M2VFQWE1WXZudzVodzhmNXU2Nzc2Wmx5NWFPeGxnK1BqNHU3MHVhbU9Sa21Ec1h6R2E0NHc3bzBzWGRGWW1JRTFac1NPVDliMzZtc0xpTVYrKy9ocmoya1U0OUx6VFFEejhmMS9xWWRlbllpaTRkVzdFckpRTlRlUVhUeHcxa3o4RXM3bjUrQWJkZU9ab0pvK3dYRWI1WnVZVjlhZG40K25oenlmQWU5ZXpWYnNLbzNwU1dWYkRzNXgzMVB0Wm85TUMzbVJmRnBTWjJwV1J5TEsrSUhwMmppUXF2ZitXNFg3YW5VRkJjeGwwekxxelNUTkpzdHZEaDR2VXMrTzRYSmwvUWw5dXVIT05VM1NMdW9rQkJ6bHJObWpXalZhdFdsSmFXY3UyMTEySXdHTWpKeVNFOVBaM1kyRmcyYnR6SXdJRURHOTJCTnpJeWtrR0RCbkh3NEVHOHZiMEpDd3NqS2lyS2NXTDMybXV2c1hidFducjI3Tm1nbFJnU0VoSUlEdzlueUpBaFZXNWZ1M1l0eGNYRlhIYlpaUUMwYk5tU2l5KyttTGx6NTNMTExiZlVPWEtnSnBWWHdFK3UwV2F6c1hqeFlpNjY2Q0xhdEdtRGo0OFB6WnMzNTZlZmZxSlhyMTZPRTg2YUdJMUdac3lZd2NTSkV3RnFIVjNRb1VNSGR1L2VUWGw1ZVlOWHF6aDVTTHpOWm5PRUpBQXJWcXdnSkNTRTVPUms0dUxpK09xcnIralpzMmVUREJQQS9uTzQ1WlpiV0xac21XTlV3SW04dkx5WU5tMGE3Ny8vUG1WbFpkeDQ0NDNzMnJXTDlQUjBldlRvVWVmUDVVUUpDUW1Pc09ybm4zOW04K2JOVEo4K25mNzkrN05nd1FMYXRHbERjWEV4NWVYbFJFVkZFUjBkelpBaFF3Z0pDV0hwMHFYODlOTlBkT3ZXemVtUk1lbnA2YlJ0MjVZK2Zmb0E5cDRXclZ1M3hzL1B6ekZhSkQwOW5heXNMSHg5ZlJreFlrU1ZuNk16S3FjWWhZZUhPMFllVlk1MHFYeWR5MW5zOEdINDlGUDdjczdUcGlsUUVEa0xaR1RsRWRFaWtQZWVtTWwxRDd6RHV3dlg4UHc5MDZvOTdzN25QaUU0d0pmWjAwY1RGV1kvNmZiM2JlYlVaN1duMzFxTTFXYmo5cXN2SUNUUW42S1NNbDc1NkFjZW5EV2VuckhSelAzc1IvdG5nK01oOWFKVnZ4TVZIc3hEZnhudk9KYXpwbzhid0JVWDFqeXE3OGl4QWxMU3M5bVhsa1hhNFZ5U1VqSlp2SG9yM3A2ZUJEWDNwVVZ3QUUvOGRUTEJ6ZXVlQ3ZIWjhrMTBqRzdKOEw3MnFYcS83VHJBTnl1M2dNSEEwRjR4WEQ5aEtCOHQzc0QwaS9yVE1rUXIza2pUcFVCQnpscEZSVVZzM2JvVkR3OFBCZzBhaE0xbTQvUFBQNmRIang1Y2YvMzFKQ1FrOFBMTEx6Tml4QWo2OU9uVHFCT050bTNiRWhRVXhFY2ZmY1NFQ1JPcVhDWE96OC9IejgrdlFWTXFEaHc0d1BidDI1azFhMWFWSy9kRlJVVWtKQ1J3eVNXWFZEbEo3OTI3Tjd0MzcrYlZWMS9sdXV1dW80dUxIN1E5UER5cVhRM2VzR0VEZm41K1hIVFJSWTZUc3UrKys0N282R2l1dXVvcXAwWVUxRGVYdjNKNlNHT1d2ano1dVdWbFpaak5aanc5UFNrb0tLQnQyN1pNbkRpUnhZc1g4K1dYWDJJMEdwaytmWHFEajNjbWVIdDdPOEtZU2xsWldZNFJDcm01dWZUczJaUFUxRlMrK09JTHJGWXJ2LzMyR3drSkNUend3QU8wYk5teXp2MnZYYnVXME5CUWV2YnNTVjVlSHR1MmJhTlBuejcwNzkrZjc3Ly9ub3FLaW1yVGJDb1ZGUlZ4NU1nUjdydnZ2bnFQYzJMdE8zYnM0SVliYnNERHc4TnhUSDkvZjE1NzdUWFMwdEt3V3EyRWhvWVNFaEpDWUdBZ1dWbFp0R3ZYenJsdjJISDc5dTJqcEtTRXlaTW5WM3Q5R2d3R1RDWVRxYW1wSERod0FGOWZYNFlORzliZ2tURWlJbEsvcVBCZ3gxWDV0cTFDYSswcjBLZExXK1l2MlVEZitIWk1HbU1Qbm4yYWVWRmVVWCt6d1JuakIzUFg4d3Y0YnUwT3JybDBFTGMvTTUrYy9HSStYNzZSYjM3Y3dyYmtkQjZhTmQ1eGd0NnZhM3ZIU0lXR3FBdzVrbEl6V2JEc1Y0NGNMZUJRVmk2bHBncENBdjNvM0RZQ280ZUI0WDA2Yy9zMWYzSnB5Y3B0eWVrazdzdmc0ZG5qSForOXVuUm94YU83dnViT0dSY3lkbkE4aDdKeStlRGJkUncrbXE5QVFabzBCUXB5MWtsTlRXWGR1bldrcDZjelpjb1VZbU5qc1Znc2ZQNzU1M2g2ZW5MTk5kZGdNQmdZTzNZczdkcTE0Nk9QUG1MeDRzWDA2dFdMSGoxNjBMNTllNWV2aUFJRUJRVmhzVmg0ODgwM2VmREJCeDN6dzQ4ZE84YnMyYk5ybkVwUUY2dlZ5c0tGQ3drTEN5TXVMcTdLZlY5KytTV1JrWkVNSHo2ODJ2TW1UNTVNYW1vcTc3enpEaU5IanVUaWl5K3U5K3V4Mld5T3hvL3Z2LzgrMmRuWlhINzU1WVNIaDdOdDJ6Yk1aak9iTm0xaXdJQUJKQ1lta3BxYXlwMTMzbm5LVHNMOC9QeGNIcXAvTWc4UGp5cExId1lHQnBLVWxFVDM3dDBKREF4MDlBZnc5L2Vub3FLQ2lvb0tQdmwvOXU0N1BNb3kzLy80ZXpJMW1ZUVVTQ0FoQ1NXRjNxVVhDeW9vb21MajUrcmlLaXJ1Y1hVdGU5emRzMjV6eXpucjl1THF1cnV1N2xxeG9JQUZBUVVVRUREU2F5QUZDT205VE1tVTN4OWpSbUlDeVlReUFUK3Y2L0s2Ym1hZVBNODNrNG1aKy9QYzVhV1htRE5uVHNpak9jSnB5NVl0ZlBEQkI4eVlNWU4rL2ZxeGR1MWF4bzhmejdYWFhnc0VwdUJVVmxaMnVGYkFhNis5eGllZmZNTDgrZlBKeTh0ajNicDFwS2VuYy9QTk53UHc0WWNmTW5mdTNCTitmV1JrSkxmZmZudW42M2E3M2Z6em4vL0U2L1d5WWNNRzNuMzNYU29xS25DNzNZd1pNNGJNekV5U2s1TkpTRWc0NWZmVmhnMGJHRHAwS1AzNjlRc3V6cG1mbncvQTh1WExlZW1sbC9ENWZCaU5SZ1lOR3NTWU1XTk9lZEZIRVJIcG5DaWJCWXZaeE5wUDkvUHA3Z0pLSyt1NDVwSXhUQjJkeWVBQmdXa1F4MCtITUp0Tm5Rb1UrcVgwNG5mZm1ZL1Zhc2JsYm1iSWdHVEcyUDNJdkFBQUlBQkpSRUZVREVsbjNMRCsvUGR2Rm5QbmRkT1pOR29nQUxYMVRmejFsUStZUENxVG1aT0dZQXR4Y2NiakRSNlF6UHhaNHpsUVVFcENySjFCL2Z1UTFETndJK1Y3ZjNpTnFDaHJTR0VDd0ROTFBpSWpMWkhwWTdPRGowWFpMQXhJL1dKSHI3NUo4ZlR1MllPQ1k1VU16MHFsMmVQbHd5MzdPRkpjeWRVWGpUN3BncEVpWjVNQ0JUbG5MRjY4bUwxNzkxSlhWOGVrU1pONDRJRUhzRnF0VkZWVnNXTEZDZ1lPSE1pRUNSUHcrWHdVRkJRUUZ4ZEhWbFlXRHovOE1DKzg4QUliTm14Z3c0WU5SRVJFMEtkUEg5TFQwN255eWlzN3ZkZ2N3QTAzM01DZi92UW5HaHNic2R2dDdOaXhnM0hqeGdXM3JHdHNiS1NrcEFTRHdVQy9mdjFPMm5GYXMyWU5UVTFOdU4xdVZxeFl3ZXpac3dISXlja2hQeitmQng1NG9OVVF3R1hMbG1HMVdybnd3Z3U1OWRaYmVmTEpKMW03ZGkxYnQyN2w0b3N2WnZ6NDhhM3U0aDg1Y29URGh3OVRXRmhJYm01dWNKdkJmdjM2Y2RWVlY1R1dsa1pOVFExMzNYVVhIbytIMTE1N2pjMmJOMU5SVWNINDhlTTdQYVMrTXl3V0MzNi9uK3JxYW13Mlc1ZDJyV2g1TGFxcXFzalB6dy9lL1Q1K01iOGRPM2F3ZXZWcTdyampEdUxqNDNubGxWZDQvUEhIeWN6TVpPTEVpUXdaTXVTVVJrbWNibVZsWmNURXhMU3FhY2lRSVh6d3dRZk1uajBicTlYS3lwVXJXNzJQVWxOVGNidmRIUTRQM2IxN043MTY5ZUxJa1NQczM3K2ZvcUtpVmlIUmRkZGRoOHZsWXVuU3BjeWRPemY0ODNBNm5SdzZkSWg5Ky9aeCtQQmhZbUppdU9HR0c0S0xlcDVJZFhVMUZSVVZ4TVhGa1oyZHpmRGh3L253d3cvWnZYczMxMXh6eldrTHA4ckx5OW0xYXhjeE1USDg5S2MvRGI2dlcrcnYyYk1uRXlaTUlEMDluWUVEQjJwTkJSR1JNOFRwYnFhK3dVRkZUUU9IaTZzNGVLU01BNFdsNUJhV0VoTmxvOUhoWW1CcUl1T0c5aU16TGJEMlUrTG5kOXA3MkwvNHUyZU02UHpuQWJmSHk3dnJkM0hIdkdsOGQrR1ZlTHhlSHYzekVpNFlQb0FaNDdMNTJuZWZadmEwRWR4eDdUU3V2V1FNUDNyaUxWNTlmd3VQUDNRalNaM29nUHY5ZnBhcy9veVBQc3ZsN2h1K1dBaHh5TUNVMDdZbzRwb3QrOWhmVUVKU1FnK09sbGFUMXVlTEd3UTk3SzMvWmczTFNHSFR6andhSEM2V2ZyaU44dXA2eGd4T0o4S294V3FsKzFDZ0lPZU02ZE9uVTE5ZnoralJveGszYmh3TkRRMllUQ1pLU2tvWU0yWU1SVVZGUFBQTU0rVGw1ZUYwT2dHWU5Ha1NOOTU0SS9mY2N3ODdkKzZrcUtpSXlNaElrcEtTNk5ldlg0ZGhRbGxaR1FrSkNjRnBBaWtwS2Z6a0p6L0JiRFpUVmxaR1RrNE9tWm1aUFAvODh4dzllcFR5OHZMZzExNXl5U1hCOVErK3JLQ2dnTFZyMS9MTmIzNlRwVXVYc25mdlhtYlBuazFoWVNITGx5L256anZ2WlBueTVVUkdSakpyMWl5aW82TkpTVW5oeFJkZnhPLzNNMnZXTEI1ODhFRTJiTmhBVVZFUk8zZnVwTFMwbEhuejVtRXltWEE2bmF4ZnY1N3k4bkxpNHVLNDVKSkwyTFZyRjRjT0hlTEtLNjhNMXRIU1NiUllMRngvL2ZYODhwZS9wS0doQWF2Vml0ZnJQVzJkUUlQQlFITnpNNis5OWhyNzl1M0Rack9SbHBiR3hJa1RnM1B0TytMeitmQjZ2Y1RHeHVKMnUzRTRIQlFYRndlZjM3bHpKMHVXTEdIUm9rVnMyTEFCdTkzTzNYZmZ6ZWJObTFtMmJCa0hEeDdFYURReVlNQUEwdExTNk4yN055TkdqRGpySFU2MzIwMWhZU0ZidDI1bDA2Wk4yR3cyYnIzMVZvWU1HUUo4c2YyaHgrTUpibys1WWNNR1B2dnNNNzc3M2U4U0d4c2IzSXJ4Wkw3em5lOWd0OXVwcXFyaWlTZWU0TTQ3NzJ3MWltYnk1TW44NVM5L3dlbDBzbmZ2WHZMejg4bkx5K1BZc1dPa3BLU1FrWkhCN05tejZkZXZYM0FuaFpQcDNidDM4UHV3Mld4NHZWNjJiZHZHOU9uVGcrOGp2OS9QcGsyYk1CZ01YSERCQlYxNmY2MWN1WkxKa3lkejFWVlhVVkZSZ2NmandXNjNZN2ZiZWZUUlI1azFheGFaV2x4WFJPU01lL0h0VDNqNXZjMzQvWkNabHNURWtRTVpQNncvZXc0ZFk5YlVZZHd4YjNxYnI3R1lBNStuL0h6eGQ4elVpYzd4UnprSFdMcG1Hd1hIS25qaUI3ZGlzNWlwcVcvaThXZmV4ZDNzWWNiWUxEN1prVWRjVEJRdnZiT0pzVVBTdVdEWUFINXgvM1g4L0cvTGVPZWpuWHpqbXFrblBIOURrNU5ubG56TVozc0xLU29MN0U3MDBqdWJlT3hiODRMSFBMZDBQZnZ6UzdqL2xrdnAweXV3OXBIZkQzNWZ4MytUVzlRMU9IaHE4UnB1djNZYVpWVjFQTDk4STkrLzg0dlBpaEhIM1d6Wm0zZU1zcXA2ZGgwc0l1OW9PVFBHWlhQNWxHRU1QRzRVZzBoM29FQkJ6aG5KeWNrc1hMZ3crTysvLy8zdjFOVFVNSDc4ZU9MajQwbEpTV0hvMEtIRXhNVFEzTnpNcjMvOWF3NGZQZ3dFT3JRalI0NE1hYnM5Z0FNSERyQml4UW9HRFJwRVpHUWs5ZlgxVkZaV1VsWldoc2Zqd1d3MjQzSzVpSStQSnlNamc0a1RKNUtZbUVqZnZuMVB1S1pDZFhVMXI3LytPbmZkZFJkOSt2UWhLaW9LaThWQ2VYazVxMWF0NHQ1Nzc2VlhyMTZrcEtUdzl0dHZNMkhDQktLam8rbmJ0eS93eFM0TnZYcjFhalAvdm9YTlptczFONzZob1lGbHk1YWRjR3FFeitmamhSZGV3R3ExTW5IaVJGYXZYczNCZ3dlWk8zZHVtK2tZWGVIMys3RmFyZHgxMTEzazV1YXlmUGx5Y25OenljM054ZWZ6blhRN3crTnJiQm5HUG5ueVpESXlNdGk1Y3ljQTY5YXQ0OU5QUHcyK2R0dTNiK2VUVHo1aHpwdzVUSjA2bFVHREJ2SGhoeDlTVWxLQ3hXTEJaRElSSHg5L3l0TXd1dUx3NGNQazVPVFFyMTgvOHZQemNUcWRyUlk4Yk9sa1YxUlVCTmNjbURScEVsZGNjUVVXaTRXb3FLamdWcHduWTdmYmNUZ2MvT3RmL3dwdU4xcFRVME5UVXhNcEtTbnMyTEdEeXNwS0huendRYXhXSzJhem1lYm1ac3JLeXJxOEc4Zng0ZERPblR0eE9wMk1HREdDUTRjT2taK2Z6N1p0MjRJaDBKNDllMEthVWdHQjNVaEtTa3I0MXJlK2hjVmlDZjVPQUxoY3JwRHJGUkdScnJ0ajN2VGdPZ2c5UDkrcThkRS92d0hBa1pKcWNndEx5VXhQYXJNOU5JREQyWHpjbVRvZW9lREh6N2I5Ui9qWnQ2NGxLYUVIRlRVTkxQelJ2Mmh5dXJGSFd2bnVIMTdqdXBsamVXakI1Ynp5M3BiZ25mNHhnOU41OHRHdjQrc2dpSStPc25ITFZaTzRZOTQwbm5qNUEvS0xLdmlmdTY1cWRjeDFNOGR4NTQrZjVkZlB2c2R2dnpNLytQMzRRZ2dVL3Z6aWFzWU1UdWVtV2VONTlmMHRIRHBTM3VwNTcrZm5lbWJKUit3dktDVzdmMjkySFN6aWV3dXZaTVJKdHQ4VUNTY0ZDbkxPR2pkdUhEdDM3dVNxcTY3QzRYQlFVVkhScW1PV21KaklzR0hEVHVrYXFhbXBORFUxa1ppWVNJOGVQVENielVSRlJSRVRFME44Zkh6STZ5WTRIQTdXcjEvUHdvVUxnNk1ESWlJaWdxSENIWGZjRWZ6RGE3ZmJNUmdNd2UrcFpTZUF6dHd0L3JLUFB2b0lDTndkZitxcHB4ZzFhaFFUSmt3SWRocVhMVnRHUVVFQjk5OS9QNzE2OVNJMU5aV1hYbnFKcDU5K21yUzBOS1pPbmNybzBhTzd2TENseitjTGZvakl5c3JpZ1FjZVlQdjI3YXhaczRhQ2dvSk9CUXBlcjdmVkdncEpTVWxNbkRpUnhZc1hFeGNYeDMzMzNZZlpiTWJqOFdBMEdyRllMQ3hkdXBTNnVqcW1UNS9PalRlMlhXMDZIREl6TTROMzBOZXRXOGRsbDEzV2FqcEJjM1BnUTFacWFpcjkrdlZqOSs3ZEpDVWxVVnhjVE0rZVBiSGI3VGlkVGx3dTEwa0RrZExTVXA1Ly9ubXNWaXNIRGh4ZzllclZEQmt5aEJrelpsQlRVOFB5NWNzWk9uUm9jRUhOckt3c05tM2F4TXlaTXlrdExlWGd3WVBrNWVXUm1abko1TW1UUXc0WTFxOWZ6OENCQS9ub280OXdPcDBNR1RLRTIyKy9uWGZmZlpldFc3Y3llblJvQzJXNTNXNDJiTmpBblhmZTJhazFVQ29xS25DNVhLMUNCeEVST2IxYWdnUUk3Rkt3ZVZjK0ExTVRNUmtqZU94dlMzRTNlM2w0d2VWTUdCRlkyNkRKNlFiQTNld0pmcDNYNjJzMVlxRTlNOFlONG5mL2JROTJxcU9qckdTbUp6SDN3bEZNRzV2Rm9zZit6UnVyUCtPNlM4Zng0MisydnRuU3N0NUJoOTlMYk9CN0thbW80L0xKdzdCWlczL21pYkhiK080ZFYvRHBub0xnWTM2L3Y4T3dvc1VicTNJd200MDh2R0FXQUNhanNjMTJtVzVQNEhVNWZuVEhvY05sdkw0cVI0R0NkRnNLRk9TY2Rmd0lnT2JtWnY3d2h6K1FuWjNOb2tXTGdNQ2QzbE9kTDkvU2daMDRjV0tIYzhnN3cyYXpjZFZWclJOdm44K0gyV3h1czNWZ2MzTXpkcnM5T04yaXBSTVZhcWUrcHFhR2RldldNV1hLRkhKeWNraFBUK2UxMTE3RDYvVXliZG8wM24zM1hiWnQyOFk5OTl3VFhNMS81TWlSSkNZbTh1eXp6M0xreUJGZWZ2bGxsaXhaUW5aMk51UEhqdzg1cVBGNFBLMkc2UnNNQmthUEhoMVNwOUx0ZHVQMXRsNjB5V0F3Y1AzMTEyTTBHbG0xYWhXYk5tMml1cm9hZzhHQXpXWWpJaUtDMGFOSGQ5dEZHWTFHWTV0UW9LR2hBWVBCUUdGaElaOSsraW1scGFXOC92cnJwS2VuTTNQbXpHQ0lWVk5UYzlMdmEvWHExUnc3ZG96NCtIaEdqaHpKVlZkZEZaeks4dnJycjdOZ3dRSldybHhKYlcwdHNiR3hQUEhFRXpnY0RzeG1NdzZIZzRTRUJPeDJPMHVXTE1Gc05qTng0c1JPZjE4RkJRWGs1ZVV4Zi81OElpSWlHRE5tVERDUThIZzg5T3paTStSQXdldjFjc3N0dDdUWnBRUUNRVjFlWGg0UW1CTHg4c3N2VTExZERjQk5OOTBVVXUwaUloSTZwNnVaUHo2L2lxc3ZHbzI3MlV1VXpjTHZIN21aSC8xbENVKy92aTRZS0xSMG9IdEVmL0g1ek92ejRmUDYyajN2OFk3dlVOc3M1dUFvQVlCZWNURTRYYzNFOXdoTVpmVjR2RlRYTlZKUjAwQnBaUjNIeW1zNVVsS0p3OVhNWlpPR01uVk0xZ212RXhGaGFOUFJiekYyYUQvR0R2MWlaeUszeDR2WDEzSHRSV1hWUkVkWmVlVDJLNzc0Mm1aUG0rczB0N000NVRVWGorRm5UeS9qY0VrVjZYMU92aUN6U0Rnb1VKQnoxdkZENkhyMDZORnVSeVBVaGYrK3JHVVJ3UzkzOXJ1cXZYcGF0ajVzNzlySGI5ZG5OQnE3OVAwc1g3NmN4TVJFSmsrZVRFNU9EbGRlZVNXOWUvY21JaUtDNTU5L251cnFhdTYvLy81V0FZM2Y3OGRrTXZIUVF3OVJXRmlJeStYQ2JyY0h0L29MbGRmclBlV2ZoY3ZsYWhNb3RLeUJzWFBuVHZyMTY4ZW9VYU93Mld4czNicVY3ZHUzQjNkRzZLNnlzN1A1N0xQUFdvM1FLQzB0SlRJeWtyNTkrK0wzKzhuTHkyUE9uRG1NR0RFQ0lOaHhycXVyTzJtZ01HblNKQVlOR3NUbzBhTmJqUzZvcjY5bjNyeDUyTzEyTEJZTDFkWFZ3UjFNTHJ2c01rYU5HaFU4dG4vLy9uenl5U2NoQnpMdnZmY2VvMGFOWXVUSWtiejY2cXRzMjdhTmIzempHeGlOUnZMejg1azhlWExJNzRjdmg0UHIxcTFqMzc1OWxKZVhVMVZWRlh5OG9xS0NqSXdNQmd3WVFGWldWcWUzdkJRUmthNzcyNnRyaUxaYnVmdUdDL250Y3l1d21JMzBpb3ZtRDkrOW1WMjVSY0hqMHBON01tMU1GbjJPR3pYZzhmcUNRLzFQeHUvM1U5L29wS3Eya2ZMcWVzcXI2Nm1vYWFDc3NvNzhvbkthSEc3dStPRXoxRFU2cVcxd0FHQTJHYkdZVFpoTkVaaE1SaXdtRTgrK3RZR0JxWWtrSjdaL28yakd1R3gySGl4aTlyUVJIZFpVVmR2UWFsSEZFK21iRkUvZnBOWlRZVnVtYXh6UDZmNWlLa2h4ZVEzTlhoOVRSbWVTa2hqSHY1ZHU0Tkc3VzkrVUV1a09GQ2lrcE1DQ0JlQjJCOXB5empoK3BmdVdCZnVPMzgvZTdYYWY4aldLaW9wSVRVMDk1Yzd3eWJqZDduYUhrMWRXVnJiYmtldk1nbnd0ZHV6WXdlN2R1M253d1FkYnZSN3g4ZkY4K09HSDFOWFZjY1VWVjJBMEdpa3ZMNmU0dUpqRGh3K3plL2R1eXNyS2lJNk9adWJNbWN5WU1hTnIzOXpuUEI1UHh3ZDFvTEd4OFlUZmUwTkRBKys5OXg3Ly9kLy9IWHpNNi9WU1ZGUkVaV1VsbFpXVldLMVdMcmpnZ2k1dEdYcW1aR1JrQkxjN2JGRldWa1pzYkN4V3E1V01qQXdpSXlQYjNmTFE0WENjOU53REJ3NXM5VytmejhlT0hUdkl5OHZqbW11dUFRS3ZVY3ZQcGxldlh0VFcxckp4NDBacWEydVpNbVZLY01IS2pyYW9QTjZ1WGJzb0xDems0WWNmeG1hemNjc3R0L0RpaXkveTdMUFBNbVhLRkJvYUdoZy9mbnluejNjaVU2Wk1JVFUxbGNiR1Jrd21FMDFOVGJ6NDRvdmNldXV0REJndzRKVFBMeUlpbmJQcWt6MTh1cWVBM3o5eU14YXppYnBHSjlHZnIyRmdNWnRhM2RFSDJreEpjRGQ3Y0xtYmFVL09uZ0orL2V3S0hFNDNEcGNiWTBRRXlZbHg5RTJLSTZsbkQzckdSak1pSzVYOG9ncWFZN3g4YitHVldDMG1iQll6OWtocm0ya0xuWEhoQllONDlmMVBUL2o4eDF0enFhMTM0SEkzVTFKUng1VFJYZnRjVVZYYjJHcWtCa0JGZFFNQTczMjhrNXk5aFh4LzRaVkVSRVJ3MjlWVCtlVS8zdWJhaTBjei9MaVJHblVOampibkVEbmJGQ2hrWjhPdmZoWHVLcVFMYW10cmc4UEZhMnRyOGZ2OXBCd1hDdFhYMTUveUxnWDUrZm1udkE1RFIxd3VWNXM2UFI0UHVibTUzSExMTGEwZUR5Vk1xS2lvWU1tU0pTeFlzSUNrcENSeWMzT0R6NldscGJGdzRVTGVmZmRkL3Y3M3Y1T1ptVWxxYWlvSkNRbGtabVl5WWNJRS92M3ZmMU5jWE16eTVjc1pQbng0U0ozS0wrdk1Ob2NkcWE2dVB1RTU4dlB6c2Rsc3JGcTFpbVBIanBHWGwwZDlmVDEvL3ZPZnNkdnRtTTNtNEZEK21UTm5ubElkcDVQWmJHN1Q4WStMaTJ1MUZnZ0UxczhvS1NtaHVycWFBd2NPQUhRNkdIRzVYT1RrNVBEUlJ4OHhjT0RBVmxzNE9wM080SHNxSWlLQ1E0Y08wYjkvZjVLVGs3SFpiTUhRb3JQdnU0YUdCbDU5OVZWbXpab1ZIQmtRRVJIQnpUZmZ6RFBQUE1Oenp6MUhabVltUFh2MjdOVDVUc1prTXJWNjdTb3FLb0RPdnk3U2pTVWx3VFhYZ01jVGFJdEl0N1V6OXlpdnZyK0ZYejF3STcwK1gwK2h2THFlbEJQYy9XK1B3K25HY1lKQVlkelEvdnp6cDkrZ3VMd1dtOVZNbjE0OU1MWHoyZTZqenc3Z2F2YWNsaDBRZXRodGJVWU9IRy9TeUlIODd0L3ZzM0xqSGdBeXVuak5rc3BhZWg4M1VxTzR2SWJhQmdmL2VPTWplc2JhK2MxM2JncCs3cmw0d21EZS9YZ252L3ZQU3Y3NmFHQ1hDNENOMnc4eGErcndkczh2Y3JZb1VKQnpWazFOVGZBT2FrRkJZSUdjL3YzN0I1ODNtODBkYmd0NU10WFYxUncrZkxqVmJnbG5RbE5UVTV0QVlldldyZGhzdGxZN0xMVGNTZTVNNTY2eHNaSC8vT2MvM0h6enpXUm5ad09CRGxmTFNJdVdkUmpHalJ2SHFsV3J1UFRTUzhuS2FqMmZzQ1dzdWZIR0cwOHBUSURBM2ZSVERYZEtTa3BPdUg3RTRjT0hTVXhNeEd3Mk0yblNKSHIxNmtWK2ZqNzMzbnR2bDY1VlhGeE1kSFIwdXlNRFRvWEQ0V0R6NXMzVTFkVlJWbFpHY1hFeFJxT1Jzckl5c3JLeXlNN09adlRvMGEwV0VveU5qU1UrUHA3bTVtWldybHpKdG0zYk1CcU5yY0t6TC9ONFBCdzZkSWh0MjdheGZmdDJyRllyTjkxMFUzQnJ5aFoxZFhYQjk1WEJZQ0FySzR0cDA2WUZuNit2cncvVzNabHBQNis4OGdvcEtTbE1uOTU2cXpDRHdSQmNNTE84dkp6UzB0SXp0cTVGZTlPSDVCd3pkQ2o4N1cvaHJrSkVPckF2djVnVkczYnptNGZuRS9QNWlBU1AxMHR4ZVEwVGhuZCtwRmg5a3d1bnEvMUFBY0FlR1ZpQThXUU1CZ05SdHE3dDNOVGtkTFBqd0ZGeUMwdlprM2VNUTBmS3NGbk0vT1RKdDVnMFlpQVRSdzRNcnMwQWdjVVVIMXB3T2Z2eVM4RHY1Nkx4Zzd0MDNZS2lDcWFNK21LYjQyZmZXdi81K1NQNCtYM3p5TmxkeUdkN0N4blV2dzhYVHhqTWQ3NHhpN3QrOGh6Lzk4OTMrT0hkY3pFYUk5aVplMVNCZ29TZFBubkpPU3MxTlpXYW1zQmV3ZHUyYldQUW9FR3Q1dmVQSHorK1ZjQVFxcHljSFByMzczOUdGL1R6ZXIxVVZWVzF1cXZhME5EQU8rKzh3OWUrOXJWV25mQ21waWFnYyt0Q2JOdTJqZHR1dTYxVkVGQmFXdHFtVTUrVWxFUlVWQlFORFExdHpsRlZWY1dnUVlOT3kvRDBpb3FLTHU4UTBhSzR1UGlFaTJ3KzhzZ2pyVVl2bEpTVWRIbWF5aXV2dk1MbXpac3hHbzNjZmZmZHdSMFpUZ2VyMVVwRFF3UDc5dTFqeG93WkxGaXdJTGoxNko0OWUxaTJiQmtsSlNWa1oyZFRWMWRIZG5aMmNIcUMyV3ptbGx0dW9hS2lndDY5ZTU5MExZdnk4bktlZSs0NVhDNFhRNGNPWmY3OCtXMTJKUEg1ZksxQ0pxUFJ5UDc5KzZtb3FLQzh2QnlmejBkNmVqcnd4WHZ2WkpZdlgwNWRYVjJiTFNmZGJqY3Z2L3d5Qnc0YzRQYmJiMmZseXBYODhZOS9aTjY4ZWFmbHZmVmxYcStYNnVwcTZ1cnFxS3lzcEtxcWl0cmEydURVaUlTRUJDWk5tblJhRmxrVkVmbXE4dnY5ZUR4ZXZuUGJyRmFQNXhhVzRtNzJFbjJTTy93QWpVMU9JbTBXSEU0M1IwcXFTSWp0K2cwZ2dBakRpUmRTN0VoRGs1TzMxMjJuMmVQbHFndEhNV25rUUV4R0k5VjFqWHk4TlpkSC83d0VvekdDeVNNem1EaHk0T2U3V0JqNXlUZXZKaXJTaXNVY2VuZnFjRWtWTmZVT29xTnN3Y2YyNWhWanM1aDQ3TjVyaU85aForelFmaXhidTUxbGE3ZHpvTENVKzc0Mms0Y1dYTTdQbjE3T3o1OWV6cmR2dlpTZHVVZTc5RDJMbkU0S0ZEd2VhR29Ddngvc2R0RGRyWFBHMkxGamNidmRGQlFVc0h2M2J1NjU1eDdxNnVwNDZxbW5TRXBLWXRpd1lTZmRWdTlrSEE0SDY5YXRhelBsNEhRcktpckM0L0VFUjFwNFBCNWVldWtsNXN5WjAyYkVRTXVxOVoyNTB6OTE2dFEyajdXc0kvQmxhV2xwMU5UVVVGTlRRMjF0TGRYVjFkVFcxbEpmWHgveVN2enRhVzV1cHJpNCtKVG50U2NuSjU5dzNZQXZUNFV3R0F4ZEhoR3hiOTgrSU5BeDNidDM3MmtORkNJaUlwZ3padzV6NXN4cDlialZhbVhNbURHTUdUT0d5c3BLUHY3NFl4WXZYb3piN2FadjM3NzA2OWVQeE1SRUVoSVN1UERDQzRtUGo2ZWlvZ0tyMVVwRVJBUW1rd21MeFJJTUI1S1RrNE1MYW80ZE83YmRjS1crdnA3bTV1WmdTSk9VbElUWmJHYlVxRkhCMTI3cDBxWEJ1azltelpvMUZCVVZjZmZkZDdkNmp4VVdGcko0OFdKc05odjMzWGNmeWNuSnBLZW44NmMvL1ltWFgzNlpuSndjNXN5WlExcGFXb2V2bmN2bHd1RncwTmpZU0cxdGJmQzlldno3RnVDM3YvMHRFUkVSd1YwKy9INS9jTXZSbG5WRTFxNWR5N2UvL1czNjlPblQ0WFZGUktRdGc4SFFhaTUvaTBhSEMraDRxOGFTeWpwKzlNU2IxRFU0Y0xvOURFdzl0UVYwSXlJaWlJN3EybWUrcElRZS9PeGI4OW84SHQvRHp0d0xSelAzd3RIa0ZwYnkzb1pkUFBUcmw3R2F6WXdhbE1iZ0FYMFlrSnFJMytlalIzUWsxcytuSWZoOFBsek5IcHl1Wm1Mc3RuYW5hT3c4Y0FTQXVKZ3ZicFQ4dnlzbVlESVpHWmdhR0kwUlpiUHdpL3Zuc2ZURGJTVEdCMFpNWG5qQklBNGVLZVBsZHplemFXZGdrV2EvMzM5RzEvb1M2WWg2ejd0MndjOStCaTRYL1B6bmNCbzZVSEoyR0kxR25FNG56ejMzSE5PbVRRdDIvTzY2Nnk2ZWUrNDVYbjc1WlpZdVhjcDExMTNIbURGalFqcjNtMisrU1ZaV1Zxc3BCMmRDeTEzN2xoMFd5c3JLdU82NjY5cWRZOTR5aXFDcmM4UWpJaUxhSGJZK2NPQkFWcXhZUVU1T0RyR3hzY1RFeEJBWkdjbk1tVE83dEtQRGwxVlhWK1AxZWsvNVhCTW1UT0Rnd1lPZE90Wm9OSGI1ZFpvNWN5YnZ2UE1PTHBjckxIZXhlL2JzeVRYWFhNUHMyYlBadUhFajY5YXQ0K09QUHo3aDhUYWJqU0ZEaGpCOSt2UldpNUwyNnRYcnBEc2NSRVpHWXJWYWd5Tnd4bzhmVDBSRVJLdEE0TUlMTDZTd3NQQ2tvM1MyYk5tQ3orZmo3cnZ2RG42Z0tTNHVadjM2OVRRME5EQm56aHlHREJrU2ZLNUhqeDRzWExpUXYvemxMK1RtNXZLSFAveUI0Y09ITTJYS0ZESXpNOXNFUVE2SGd6Lzk2VStVbFpVRkg0dUtpaUl4TVpGZXZYcVJrSkJBUmtZR2NYRnh4TVhGRVJNVFExUlVWTHUxSGo5NjRYU3M0eUJuaU5NSjVlV0JkbUlpMkd3blAxNUV1bzNSZzlNWjBMY1gyZjFQSHRobXBDWHg4Mi9ONDc5KzhUd0FrMGRsbk5KMXpTWWpQZXhuN3Y4VldmMTZrOVd2TjNkZlA0T1BQc3RseGZwZFBMbDRUYXRqckdZVFhwOFBqOWVIeVJqQjlMSFozSG5kOUhiRGxaYndvU1VvQUxoeStzZzJ4NW1NUnE2N2RGeXJ4KzY0ZGhwTkRqZEwxMndEb0tpc2h0VGU4VzIrVnVSc1VhQlFVd01iTm9EREVXakxPZVBnd1lNOC8venpUSnc0a2Rtelp3Y2ZqNCtQNTk1NzcrV05OOTVnOCtiTnZQTEtLd3dhTk9pRW5Zd3YrK0NERDZpb3FPRHV1KzgrVTZVSEpTY25NMkxFaU9BZDJwUE5pMi9wSEhhMWs1dVJrZEdxVTlaaTJMQmhKQ1FrTUhiczJDNmR0eU54Y1hHWXpXWVNFMDl0b2FTQkF3ZTJXY0R3UkV3bTB3bW5SM1JrMnJScHBLV2w4Y1FUVDdUYVF2RnNzMXF0WEhUUlJVeWZQcDF0MjdheGFkTW1DZ29Lc0ZxdEpDVWxCYmRGYks4VDNoa1dpNFgvK3EvL0NvNk9hZS8xeXNySzR2TExMei9wYXpsczJMQTJ2MXZ4OGZGY2YvMzFKN3hqa3B5Y3pJTVBQc2p5NWN2SnpjMWwxNjVkN04yN2w4VEVSR2JQbmgzY0lyT2xyZ2NmZkpCZHUzWmhzOWxJU1VucDh1K0EwV2pzTUdpUmJtRDdkbmpnZ2NEdVMzLzlLMHljR082S1JLU1RURVlqVC96Z1ZzeW1qdjh1RFVoTjVNcnBJOWh6cUppNUY1N2FEVDJMMlVpditOTzc3bEY3ckJZemwwNGF5cVdUaG5Lc3ZJYVZHM2V6ZnV0QkNvNVY0R3Iya0o2Y3dLV1RoakpyeXZDVFR1T1lQQ3FEbE1RNCtuWWhDREFZRE56M3RabU15T3JMeSs5dHByaGNnWUtFbHdJRk9lZVVsNWV6YXRVcXZGNHZkOTk5ZDd1ZGNMUFp6UHo1OCtuWHJ4OXZ2ZlVXTlRVMW5Rb1VWcTFhUlUxTkRZc1dMVHBycThWLzR4dmY2TlJ4dlh2M1p1Yk1tVjIrc3pwKy9QamdtaFBIUzA1T2JyT3J3T2xrc1ZpWU1XUEdXZDNLejJhem5kSkNrbXZXck9IeXl5OC9MU00wVHBYUmFHVGN1SEdNR3pldTQ0TkRsSnJhZHJqcThheFdLNWRlZXVsSmoybnY5OHJXaVR2S3ZYcjE2dlI3MzJLeG5MSEFTN29oaHdQeTh3TWpCenZZSGxWRXVwL09oQWt0N3JyK1F2ejR1N1M5NC9GaVk2TE9lcWM2SlRHTzI2NmV5bTFYVDhYbGJzYmo5WjEwZDRqajJTT3QvUE94YjdRN0hhS3pMaG8vdU1zTFFvcWNUZ29VNUp4U1YxZEhlWGs1MTE5L2ZhYzYvSk1tVFdMTW1ER2RPcmF4c1pGaHc0YWQwYzcxcWJyeXlpdTcvTFdSa1pGZHZtdC9xazZsN3E1SVRrN3VjaGl3ZXZWcWpFWWpsMXh5eVdtdVNrUkVSSTUzcWtGQ2krbGpzenJjQ2VKTXNsck1oTHFDdzZtRUNTTGRpUUlGT2FmMDZOR0RvVU9IaHZRMW5WMlkwVzYzbjlJMms5SjlKQ1ltZG1tS1JXMXRMZkh4OFZ4eXlTVmE0RWhFUk9RY01YaEE5NzBaSkhLK1U2QWdJdks1Mk5oWURhMFhFUkVSRWVta2srOEZKaUlpSWlJaUlpTFNEZ1VLSWlJaUlpSWlJaEl5QlFvaUlpSWlJaUlpRWpJRkNpSWlJaUlpSWlJU01nVUtJaUlpSWlJaUloSXk3ZktRbVFtUFBRWWVUNkF0SWlJaTRSTVJBVllyR0F5QnRvaUlpSFJiQ2hSU1UrR3V1OEpkaFlpSWlBQmtaOFBqajRQWEcyaUxpSWhJdDZWQVFVUkVSTHFQUG4xZy92eHdWeUVpSWlLZG9MR0VJaUlpSWlJaUloSXlqVkNvcVlHOWV3TkRLNGNQaDdpNGNGY2tJaUlpSWlJaTB1MHBVTml6Qjc3NVRYQTY0Vi8vZ2lsVHdsMlJpSWpJVjFkOVBlVGxnZDhQR1JrUUV4UHVpa1JFUk9RRU5PWEI3WWF5TWlndERiUkZSRVFrZkhKeVlOWXN1UGppUUZ0RVJFUzZMUVVLSWlJaUlpSWlJaEl5QlFvaUlpSWlJaUlpRWpJRkNpSWlJaUlpSWlJU01nVUtJaUlpSWlJaUloSXlCUW9pSWlJaUlpSWlFaklGQ2lJaUlpSWlJaUlTTWdVS0lpSWlJaUlpSWhJeUJRb2lJaUlpSWlJaUVqSlR1QXNJTzVNSlltUEJZZ20wUlVSRVJFUkVSS1JENmtHQ0lrWVBBQUFnQUVsRVFWUVBIdzdQUEFNK1g2QXRJaUlpNFdPelFWb2F1TjJCdG5ScmtWR1JXTXdtZkQ0ZmpVNTN1TXNSRVRrdmVidytITTVtREFZRGtaR1JSRVIwbjRrR0NoVGk0bURLbEhCWElTSWlJZ0NqUnNIaXhZRjJuejdoclVVNjFETWhBYnZkVHJQSFIxbFZmYmpMRVJFNUwxWFZOdUpxOW1DeldVbEs3Qlh1Y2xwUm9DQWlJaUxkUjJRa0RCZ1E3aXFra3hMaTQ3RGJvMmoyZURsd3VKd21wNXNvbXlYY1pZbUluRmR5ajVSVDErZ2swaGJaN1FLRjdqTldRa1JFUkVUT0tVYWprZG1YemNSZ01MQW1KNWROdXdwd3VwdngrLzNoTGsxRTVMeFFVZFBBTyt0M1UxUHZJQ1dsRDZOR2RxOXAraHFoY093WXJGNE5IZy9NbWdVcEtTR2Z3dWYxY2VUb01jeG04eGtvVUVSRTVOeHgrRWdSSHE4SG8xRWZNYjRxNXQ4d2ozZFdyR0pMem1mODlPbjNtRFptSU1NRzlDRTVNWmJvU0d1NHl4TVJPZWY0Zkg0YW5XNnE2NXBZOGNsZXR1MHZ3bVF5OHREOTl4SWZGeGZ1OGxyUlgvc0RCK0NSUjhEaGdEZmY3RktnNEhLN2VlZjkxWmkwUzRTSWlIekZlYndlSEE0bjBkSFJYVHRCV1JsczNCaFlMSG5xVkVoS09yMEZ5bWxuczluNDVXTS81RWMvL1NXZmJQbVU5emJzWmRXbS9VVFpMSmhNR2d3ckloSXlmMkFoUmxlekI1ZmJRMXhzTEE5LysxNm1UNWtVN3NyYVVBLzRGUFRzbVVCU1lpOWNyc0NxeGhyY0p4SStnZUcxTGIrRkJnd0dRempMRWZuS01ocE5SRWRIMDZ0bkFvbGRtZWU1Wnc4c1dnUXVGeXhab2tEaEhKRXhvRDkvKzh2ditmTlRUN1A4blJVMGV6eDRtajAwKzN6aExrMmtqZWJtWnB4T0p4QUl4RFRLV0xvYmd3SE1WaXVSZGhPcEtTbjg0SHNQTTNya2lIQ1gxUzRGQ3FjZ3RXOEt2Ly9WTDZpc3FnNTNLU0pmZVNYRnhTeGQraVplcjQ4cnJyeVMvdjIxcUp0SU9NWEh4ekdnWDNxNHk1Q3pLRHJhenZlLzh5RDNmM01SVlRYVlZGZlgwTlRrQ0hkWklxMTRQQjVlZnZsbDFxMWJCOENNYVJPNTZhYWJzRmkwbUtoMEgwYWprZmk0V09MajQraVprQkR1Y2s1S2djSXBpSWlJSUNzemc2eHdGeUlpN055NWs2TkhqdUJ5dWVpWGxzcWtDUmVFdXlRUmthOGt1ejBLdXoyS3RMNTl3MTJLU0JzMU5UVlVWNVpqTmdaR01qYlcxekprVUJhSmlZbGhya3prM0tTSmJTSWlJaUlpOHBWUVUxTkRZV0ZoOE4rNXVibVVsWldGc1NLUmM1c0NCUkVSRVJFUitVcDQvLzMzY1RnYytQMSsvSDQvRG9lRER6NzRJTnhsaVp5ekZDaUlpSWlJaU1oWHd0S2xTOXM4OXQ1Nzc0V2hFcEh6Z3dJRkVSRVJFUkU1NzIzZnZwM2k0dUxQZDRZSzhQdjlsSlNVa0pPVEU4YktSTTVkQ2hSRVJFUkVST1M4dDJ6WnNoTSs5OFliYjV6RlNrVE9Id29VUkVSRVJFVGt2RlpWVmNXT0hUdE8rUHkyYmR1b3FxbzZpeFdKbkI4VUtNVEZ3WlFwTUcxYW9DMGlJaUlpSXVlVkhUdDJVRjVlSHB6dVlEQVlNQmdDVzBmNi9YN3E2dXJZdFd0WE9Fc1VPU2Vad2wxQTJBMGRDazg5QlQ0ZnhNZUh1eG9SRVpHdnRwZ1lHRFVLM081QVcwVGtGUGw4UHZidDIwZERROE1KajNFNm5lemJ0NCtwVTZkaU5CclBZblVpNXpZRkNoWUxKQ2FHdXdvUkVSRUJHRGNPVnF3SWR4VWljaDV4T3AzczM3OGZuODhIRUJ5WjBOTDIrLzM0ZkQ3Mjd0MUxmWDA5Y1JxMUxOSnBtdklnSWlJaUlpTG5yWnFhR3JadjM5N2hjZHUzYjZlOHZQd3NWQ1J5L2xDZ0lDSWlJaUlpNTYzUFB2dU0ydHJhVnR0RmZwbmY3NmUydHBhdFc3ZWV4Y3BFem4wS0ZBNGVoQi8vR0w3Ly9VQmJSRVJFd3NmbkE2Y1RYSzVBVzBUa0ZMMzIybXZCOXZIVEhkcDdiUG55NVdlbEpwSHpoUUtGbzBmaDZhZmh5U2NEYlJFUkVRbWZBd2ZndTkrRmh4NEt0RVZFVGtGaFlTRTdkKzRFMmc4VFdyUTh0M3YzYnZMeThzNUtiU0xuQXkzS0tDSWlJdDFIU1FtODhrcGdoTUtOTjhMZ3dlR3VTRVRPWVc2M20wV0xGclY2N05peFk2eGF0UXF2MTh1c1diTklTVWxwOHpVaTBqa0tGRVJFUkVSRTVMeVVsWlZGVmxaV3E4ZHljbkxZc0dFRExwZUx1WFBuTW03Y3VEQlZKM0x1MDVRSEVSRVJFUkVSRVFtWkFnVVJFUkVSRVJFUkNaa0NCUkVSRVJFUkVSRUptUUlGRVJFUkVSRVJFUW1aQWdVUkVSRVJFUkVSQ1prQ0JSRVJFUkVSRVJFSm1RSUZFUkVSRVJFUkVRbVpLZHdGaEYxS0NpeFlBRzUzb0MwaUlpSWlJaUlpSFZLZ2tKME52L3BWdUtzUUVSRVJnS1FrdU9ZYThIZ0NiUkVSRWVtMkZDaUlpSWhJOXpGMEtQenRiK0d1UWtSRVJEcEJheWlJaUlpSWlJaUlTTWcwUXNIamdhWW04UHZCYmdlVFhoSVJFUkVSRVJHUmptaUV3cTVkY1B2dGNNc3RnYmFJaUlpRWo5TUpSNDRFL25NNncxMk5pSWlJbklRQ2hab2EyTEFCUHY0NDBCWVJFWkh3MmI0ZGJyb0pycjAyMEJZUkVaRnVTK1A3UlVSRXBQdHdPQ0EvSDF5dVFGdEVSRVM2TFkxUUVCRVJFUkVSRVpHUUtWQVFFUkVSRVJFUmtaQXBVQkFSRVJFUkVSR1JrQ2xRRUJFUkVSRVJFWkdRS1ZBUUVSRVJFUkVSa1pBcFVCQVJFUkVSRVJHUmtDbFFFQkVSRVJFUkVaR1FLVkFRRVJFUkVSRVJrWkNad2wxQTJHVm13bU9QZ2NjVGFJdUlpRWo0UkVTQTFRb0dRNkF0SWlJaTNaWUNoZFJVdU91dWNGY2hJaUlpQU5uWjhQamo0UFVHMmlJaUl0SnRLVkFRRVJHUjdxTlBINWcvUDl4VmlJaUlTQ2RvTEtHSWlJaUlpSWlJaEV3akZHcHFZTy9ld05ESzRjTWhMaTdjRlltSWlJaUlpSWgwZXdvVTl1eUJiMzRUbkU3NDE3OWd5cFJ3VnlRaUl2TFZWVjhQZVhuZzkwTkdCc1RFaExzaUVSRVJPUUZOZVhDN29hd01Ta3NEYlJFUkVRbWZuQnlZTlFzdXZqalFGaEVSa1c1TGdZS0lpSWlJaUlpSWhFeUJnb2lJaUlpSWlJaUVUSUdDaUlpSWlJaUlpSVJNZ1lLSWlJaUlpSWlJaEV5QmdvaUlpSWlJaUlpRVRJR0NpSWlJaUlpSWlJUk1nWUtJaUlpSWlJaUloRXlCZ29pSWlJaUlpSWlFekJUdUFzTE9aSUxZV0xCWUFtMFJFUkVSRVJFUjZaQjYwTU9Id3pQUGdNOFhhSXVJaUVqNDJHeVFsZ1p1ZDZBdElpSWkzWllDaGJnNG1ESWwzRldJaUlnSXdLaFJzSGh4b04yblQzaHJFUkVSa1pOU29DQWlJaUxkUjJRa0RCZ1E3aXBFUkVTa0U3UW9vNGlJaUlpSWlJaUVUQ01VamgyRDFhdkI0NEZac3lBbEpkd1ZpWWlJaUlpSWlIUjdDaFFPSElCSEhnR0hBOTU4VTRHQ2lJaElPSldWd2NhTmdjV1NwMDZGcEtSd1Z5UWlJaUlub0VCQlJFUkV1bzg5ZTJEUkluQzVZTWtTQlFvaUlpTGRtTlpRRUJFUkVSRVJFWkdRS1ZBUUVSRVJFUkVSa1pBcFVCQVJFUkVSRVJHUmtDbFFFQkVSRVJFUkVaR1FLVkFRRVJFUkVSRVJrWkFwVUJBUkVSRVJFUkdSa0NsUUVCRVJFUkVSRVpHUUtWQVFFUkVSRVJFUmtaQ1p3bDFBMk1YRndaUXA0SElGMmlJaUlpSWlJaUxTSVFVS1E0ZkNVMCtCendmeDhlR3VSa1JFNUtzdEpnWkdqUUszTzlBV0VSR1Jia3VCZ3NVQ2lZbmhya0pFUkVRQXhvMkRGU3ZDWFlXSWlJaDBndFpRRUJFUkVSRVJFWkdRS1ZBUUVSRVJFUkVSa1pCcHlzUEJnL0NmL3dUbWFpNWNDSm1aNGE1SVJFVGtxOHZuQy94Tk5oakFiSVlJM2ZzUUVSSHByaFFvSEQwS1R6OE5EZ2ZNbXFWQVFVUkVKSndPSElBbm53U1BCKzY3RHdZUERuZEZJaUlpY2dLSy9VVkVSS1Q3S0NtQlYxNkJGMThNdEVWRVJLVGJVcUFnSWlJaUlpSWlJaUZUb0NBaUlpSWlJaUlpSVZPZ0lDSWlJaUlpSWlJaFU2QWdJaUlpSWlJaUlpRlRvQ0FpSWlJaUlpSWlJVk9nSUNJaUlpSWlJaUloVTZBZ0lpSWlJaUlpSWlGVG9DQWlJaUlpSWlJaUlUT0Z1NEN3UzBtQkJRdkE3UTYwUlVSRVJFUkVSS1JEQ2hTeXMrRlh2d3AzRlNJaUlnS1FsQVRYWEFNZVQ2QXRJaUlpM1pZQ0JSRVJFZWsraGc2RnYvMHQzRldJaUloSUoyZ05CUkVSRVJFUkVSRUptVVlvZUR6UTFBUitQOWp0WU5KTElpSWlJaUlpSXRJUmpWRFl0UXR1dngxdXVTWFFGaEVSa2ZCeE91SElrY0IvVG1lNHF4RVJFWkdUVUtCUVV3TWJOc0RISHdmYUlpSWlFajdidDhOTk44RzExd2JhSWlJaTBtMXBmTCtJaUloMEh3NEg1T2VEeXhWb2k0aUlTTGVsRVFvaUlpSWlJaUlpRWpJRkNpSWlJaUlpSWlJU01nVUtJaUlpSWlJaUloSXlyYUVnSXVjY2g4TkJ6WmNXVWEyb3FNRHI5ZUwzKzZtc3JLUzR1TGpWODdHeHNVUkZSWjNOTWtWRVJFUkV6bXNLRkVUa25IUGd3QUh1dU9PT0V6Ny80eC8vdU0xalR6LzlOT1BHalR1VFpZbUlpSWlJZktWb3lvT0luSE9HRFJ0R1NrcEtwNDlQVGs1bTVNaVJaN0FpRVJFUkVaR3ZIZ1VLSW5MT01abE16SnMzRHdDLzM0L2Y3Mjl6elBHUHo1a3pCN1BaZkZackZCRVJFUkU1M3lsUUVKRnowa1VYWFlUZGJzZGdNSnp3R0lQQmdNMW1ZK3JVcVdleE1oRVJFUkdScndhdG9aQ1pDWTg5Qmg1UG9DMGk1NFRFeEVSR2poekp4bzBiVDNwY1ptWm1TTk1qUkNUTUlpTEFhZ1dESWRBV0VSR1Jia3VCUW1vcTNIVlh1S3NRa1JCRlJVVXhhdFNvWUtEZzkvdURveFdPbndLUm5aMU5iR3hzV0dvVWtTN0l6b2JISHdldk45QVdFUkdSYmt1QmdvaWNrNHhHSTVtWm1kanRkaG9hR3RvOXhtYXpNV3pZTUsyZklISXU2ZE1INXM4UGR4VWlJaUxTQ1JwTEtDTG5yS0ZEaHhJZkgzL0M1KzEyTzJQSGpqMkxGWW1JaUlpSWZIVW9VS2lwZ1kwYjRlT1BBMjBST1dmMDd0MmJyS3lzVmxNZFdxWTdHQXdHQmc0Y1NIcDZlamhMRkJFUkVSRTVieWxRMkxNSDdya0hGaTRNdEVYa25ESjM3dHdUUG5mRERUZWN4VXBFNUxTb3I0ZnQyMkhidGtCYlJFUkV1aTBGQ200M2xKVkJhV21nTFNMbmxNbVRKNU9Ra05EcU1ZUEJRRnhjSERObXpBaFRWU0xTWlRrNU1Hc1dYSHh4b0MwaUlpTGRsZ0lGRVRtbldTd1dMcjMwMHVDMGh4WVhYWFFSRm9zbFRGV0ppSWlJaUp6L0ZDaUl5RG52NnF1dnhtcTFCdjl0TnB1NTRvb3J3bGlSaUlpSWlNajVUNEdDaUp6eit2VHBRM3A2T2dhREFZUEJRR3BxS3FtcHFlRXVTMFJFUkVUa3ZHWUtkd0hudW1QRkpSdytjalRjWlloOHBUVTNONVBZTzVrOSt3NEFZSStKWmQrQmd4UWMxdSttU0xpazlrMGh0VzlLdU11UXM2Q2t0SlNDd2lQaExrT2swM0lQSEtDNXVSbXYxOHVldmZ0cDl2ckRYWkpJcDBSSDI4bk95c1JpTm9lN2xDQUZDcWVndUtTVWg3LzNLSWZ5QzhKZGlzaFhuc3Zsb3JFNThJRWdaK2RlOWo3Nmt6QlhKUExWbHBMY2g3Lzg5bkZTVXhVcW5NK0tTMHI1d1k5L3pxNjllOE5kaWtpbitUek4rRjJOK1BIeng3LytqUWhUOSttY2laeE1WR1FrMzc3M0h1WmRQU2ZjcFFRcFVEZ0ZKU1dsSE1vdm9LS2lFb3ZGZ3RHb0dTUWk0V1N6MlFEdysvMDBOamFHdVJxUnJ5YWYxNGZMN2NibGNuUDAyREVGQ3VlNWtwSlNjZy9sVVZGUmljMXF4cVRQUW5JTzhQdjlHSWdBUC9oZFRneHVWN2hMRXVsUWs4Tk5oZC9Qd1VONStIdytJaUs2eC85dkZTaWNCbGFMaGJsWFhNN0FBZjNDWFlxSWlFaFlIVDVTeE5KM1Y0UzdERG5MSXExbUZsNHptZUVaeWVFdVJVVGt2UFIvejYyazRGaFZ1TXRvUTRIQ2FSQmhqQ0F0TllYQjJabmhMa1ZFUkNUc1RFWVRtcEg4MVdJMFJwQ2Ruc2dGUTlQRFhZcUl5SG1waDkwVzdoTGFwVURCWklMWVdMQllBbTBSRVJFUkVSRVI2WkI2ME1PSHd6UFBnTThYYUl1SWlFajQyR3lRbGdadWQ2QXRJaUlpM1pZQ2hiZzRtRElsM0ZXSWlJZ0l3S2hSc0hoeG9OMm5UM2hyRVJFUmtaTlNvQ0FpSWlMZFIyUWtEQmdRN2lwRVJFU2tFN3JIWGhNaUlpSWlJaUlpY2s3UkNJVmp4MkQxYXZCNFlOWXNTTkYrMlNJaUlpSWlJaUlkVWFCdzRBQTg4Z2c0SFBEbW13b1VSRVJFd3Ftc0REWnVEQ3lXUEhVcUpDV0Z1eUlSRVJFNUFRVUtJaUlpMG4zczJRT0xGb0hMQlV1V0tGQVFFUkhweHJTR2dvaUlpSWlJaUlpRVRJR0NpSWlJaUp3WDN0KzRtOHJhaHJOeXJZS2lDdW9hSEdmbFd1ZWk0dklhM3Zwd0t4WFY5ZUV1NWJRcHI2b2o3MmpaV2J0ZWFXVWRhei9kajkvdlAyUFhxS2hwb0xISmVjYk9menI1ZkQ1cTY1dk95clZxR3h3NDNjMW41VnJuT2dVS0lpSWlJbkplV0xWeER3dis1eDlzMjMvNGxNLzExZ2RiK1dUSG9STSt2MzdiUVc1NCtLKzh2akxubEsvVkhvL1hTMFhOMlFsSHpvVFltQ2plV0pYRGJZLytrNzE1eDA3TE9UZHNPOGcvWGwvSHZ2emkwM0srazFuNzZYNSsvTVNidUk3clZGYlhON0hvc2YvdytML2VEVDcyd2VhOU5EcGNwLzM2T3c0YzVZSEhYK0xuVHkvbjBUOHZvYjd4ekhUNlA4bzV3UFVQUGNuMy8vZzZUbGZYT3REZis4TnJMRjZ4QmEvWDErYTV3OFdWM1BtVFoxbTZadHVwbG9xcjJjUFh2dmMwUC9qVEd6UTUzYWQ4dnBOWnMyVWYxejN3QlA5ZXRxSERZOWQrdXA4MVcvYmg4WGpQYUUzZGxRSUZFUkVSRVRsditIeCtlc1hGblBKNTloZVc4TU8vdk1tZVErMTNobWVNeThidkJ6OWR2M3RjVzkvRWpnTkgyMzJ1MGVIbWpoOCt3NEwvK1FkVnRZMWR2a1pIL0g0L3g4cHFXUHZwZnY3ODRpcCs4dVJick5teUQ1K3ZiZWN3RkZFMkN6LzcxanlpSTIza0hhMW9kYjNEeFpXODljRlcvck5zSTlWMW5mL2VFbnJZZVdYRkZoNyt6U3MwbitITzIxc2ZibVhEOWtQc3l5OEpQcGJkcnc5cGZSSXdtNHdBYk54K2lQLzl4enQ4NjVjdm5KWjYvSDQvbis0dTRQdC9mSjJIZi9NS0ZkVU5XTTBteXF2citXUkgzaW1mdnoyWjZVbDRmVDVLSyt1d1dycTJ2RjU5azVQVm0vWmdNTFI5enVGcXB2QllKV1dWZFd6ZW1jZHJLei9sOFgrOXl5Lyt2anprMFI2UlZndUQrdmRoNjc3RDdZWVhwOU8wc1ZrMGU3enMySCtrdzJNdFpoTy8rUHZiM1BlL0w1N1Jtcm9yTGNvb0lpSWlJdDJlMDlXTTFXTEMwRjZ2QlhBM2U5aFhVTUxjaTBhVDJqc2V2OTlQV1ZVOU5xdVoyT2pJa0s5WGVLeVNJUU9UR1R5Z1Q3dlA5K2tWQzBCcTd3UWdNS0xBWkRTR2RJM2k4bG9lL3MwcnpCaVh6U08zejhacU1RZWZpNDJPWk9xWUxGWnYya09relh5U3M1eGMzdEV5aWl2cTZCbHJ4OTNzcGFxMmdlTHlXZzRYVjlMZ2NPSHorZWtSSFVsQ3JKMG1wNXRQdHVleGZ1dEJYbC8xR1QvOXIydElpTFYzZUkyZHVVZUpqWWtpdlU5QzhMSDZSaWZOSGk5M3pKdEdSVTBEdjNsdUJZZUxLNmxyY0JBZFpTTWl3c0RldkdMZStuQXIzMXQ0QlJjTUc5RGhkUVlQVE1ZZWFXRjRadDlncC83TFB0dGJ5TTdjbzN6OXFzbEVSSFR0M3VrYnEzTFltMWZNRCs2YXc2aEJhYTJlUytzZGo5bGtwS0NvZ2w4Lyt4NlRSZzdrb1FXWG43Q2V6amhjWE1ucVRYdFp2V2t2WlZWMURNdm95NTNYVFdmc2tINE1URTNFYUR4ejk0QmJSbGZjZVBrRkovemRPcG5hQmdkNVI4cTVjdm9JM3Z4Z0t6dHlqNUovdEp6YnJwbktKUk9Hc0hIN0llSmlJaWtxcStGQVlTbFJrUmJTK2lRd2RHQUthWDE2aG55OXBJUWVSQmdNeE5odGJaNnJiM1FTWmJPY2x0ZXJaMncwUGV3Mk10STdYaGg0M05CK21Jd1JPRnhuZHRSRWQ2VkFRVVJFUkVTNnZiZlg3ZURsOXpZeFo4WW92bjdWNUZhZGhwcjZKdDVadHdPSDA0M0Q2ZVlIZjNxRHZmbkYxRGM2aVl1SjVJa2YzRXBTUW85T1grdEFZUWw1Ujh0NTh0R3Z0OXNwYlhTNHlEdGFEc0RpRlp0NThwVVBLSzZvWmZyWWJINjRhRzZucjFQWEdGaURJYitvZ21hUHQxV2dBSkRXSjRHRUhuWWlyWlpPbi9QTElxMFdmdkxYdCtpZjBvdkxKZytsZDg4ZWpNanF5OGRiYzhFQWp6OTRJL1pJYS9ENFlSbDkrZU1McTlpWFg4eSsvR0ttak03czhCb3Z2Yk1KZDdPSEdIc2tEcGNiajhlTFBkSktZa0lNZlhyRjBpK2xKeGF6a1VzbkRXSDBvSFFnRU1ETS9kYWZxRzF3OE1PL3ZNbmZmclNBOU9TT081aTk0bVBvbjlMcmhNK1BIZEtQMTFmbThNTGJtL2o2M01tZGVJVmErMlJISGsrL3RvNTdicnFRaThZUGJudjloQmoyNWhXelpzdCs1czhhejAyenhyZnFpRy9kZDVnUldYMDdESmYyNWgxai9kYURiTjZWajk4UHd6SlNHRDA0blUrMkgrS2FpMGUzZSsxVFZkL29aRWR1WUVUTTFNOS9ybmxIeXVsaHQzSEpoSzVkNzYwUHQ1S1ozcHNSV2FrY0xhMW16T0IrL0wvWkV4alV2dy9WZFkyODllRldmcmhvTG1NR3AzY3BzUGd5cThWRW44UzRkcC83N2I5WGtGdFl5Z08zWHNiNDRSMEhWRisyOXRQOWJOdDNtQnRualNjbE1ZNmVjZEVrOU9nNFVMT1lUU1FueHBIZHIzZkkxendmS0ZBUUVSRVJrVzV2M3N3eHJOK1d5d3R2ZjBKaWZEUnpab3hpL2JhRFBQSFNCNVIvdnZCZlFnODdkUTBPTXRJU3VXenlVQWIwN1VWcTc0U1E3MWorWjlsR2JwdzFudjU5ZTFGZVZjZjdHL2Z3LzJaUDRORFJjbjd6N0hzY0xxNmlSM1RnRG1sY1RCUVhqaHZFa0l3VXNqcHhOL040Mi9ZZndXQ0E3eTI4Z3Vpb3RuZGM3WkVXb213V0RoU1dzUGRRTWR2Mkg2R3l0b0VycDQxZzlyUVJuYnBHY21JY0tZbHhEQm1ZekUyenhnY2ZUMG1NWTIzTy9qYnp2aWQ4M2hHTGk0bGs0b2lCSFo1LzY3N0RiTmxkd0ZNLy9Eb1phVWw4dWpzZmU2U1Z3UU9TVzNVZy8velNhcDU3YXdPdi91NmJSRm90Yk42WlQ5L2U4ZHg0MlFWTUdER0ErRTUwM0FBc0ptT0h4OTUveTZVc2V1emZYSGhCZHFkQ2loYmI5aC9tTjgrK3h4M3pwdkd2TjlkejJlUmhyY0tXd3lWVjdNc3JwcmlpTnRoSi9ySlBkaHdpMG1wbThJRGtrMTdMWkRReWMrSVFicjFxTWpacklFaXFhM0N3WXYwdWZ2K2ZsVng0d2FEVDBnRXZyYXhqdzdhRGJOaDJrQjI1Ui9INy9Vd2ZtODM0WWYyeG1FM3NQRmpFRmROR3RBbXpPcU8ydm9tMzErM2dGL2RkUjVQVDNTWUVlZUh0VDdqL2E1Y3lka2cvZnZIMGNnNlhWUEZmOHk5dU0rb2pGTWFJQ0d6V3RtSE5vU05sYk5xUmg4VnM0a2hKVlpjQ2hmeWlDcGF2MjBGNmNrL216UnhMcE0xQ2RKUU52OTlQUVZFRkRsY3pRek5TMnYzYXBJU1lWdStWcnhJRkNpSWlJaUxTN1VWRVJQRGpiMTdELy83amJlSmlvb0RBWGRieHcvclQ2SEN4NEgvK3lRL3V2b3JZYUJ2cHlUMjczQm43Wk1jaGlzcHFnaU1OTnUvSzU5bTMxcE9SbHNpa2tSazgvZVBiZ3NmT3V1ZDNmT1BhYWEyRytuZFdrOVBOZSt0M2NjVzBFV1QzQzB5cktLdXNJNitvbklKamxSUVVWYkQ3VUJFbEZYVTg4cnRYU2UyZFFQK1Vub3pNSHR4aFovWExvdTFXVEY4S1ZlSjZSTkc3Wnc5aVAzOHRXeVQxN0lISkdFSC9sRjZkQ21MKy90cGErcWYwSWlNdEVLWnMzWHVZeGU5L3lvOFd6V1g2dU96Z2NmdnlpcGs2SnBNUE51MGx2NmlDQzRiMTUrOC92aTNrbjVNaHdrQjBWT3VPVzNWZEk4YUlDSHA4UHJXbGQ4OGVYSDN4YUg3L241VTgvdENOblpxT3NHYkxQaGF2Mk1KdkhyNko2Q2dyZjM5OVhYQk5nU01sVmJ5K01vZnF1a2JHRGtsbjJkcnRwTFh6TTYrdGIrS2puRnlBRG45R1dlM2N6ZTRSSFlrOTBrcEdXdUlwaHdrZmI4M2xtU1VmYzZTa0t2all3dXVtTTNQQ1lCSS9INjNUME9Sa1YyNFJEOXg2V2ZBWXA2dVpuRDBGRkpYVk1DS3JMME1HdHQrQkJ2ajNzZzA4Y3Z0cytxZjA1RnYvK3dLUlZndS9mK1Qvc1Mrdm1QYzM3bWIwNERSbWpCc0V3QU5mdjR5ZlA3MmNGOS9aZEVxQmdzRmdvTkhoWm0vZU1UTFNrb0lCd28rZWVKTTVNMGF5WU82VTRQc0FBaUhOK3M4RGxTRURrcm42NHRIdGhuY1FtQzR6YWVSQXJyMWtETFgxVFRRM2UxaXhZUmYvV2JhQlJvZUxpeWNNWWZDQVBrUkVSSEM0cElyZUNUSEJJS2FIUGZLTVRrM3B6aFFveE1YQmxDbmdjZ1hhSWlJaUl0SXR4VVpIOG44UDNORHFNWXZaeEpzZmJLVi8zMTRNeTBqaDloOCtRN1BYeTc4ZXV5TjQ1N2V6OG82Vzg4Y1hWdkdMKzY3RFlqYmg4WGg1YldVTzA4WmtNZjRrYy96MzVoMWp6NkZpTnUzTXcrUDFjdHZWVXp2c05DMVovUmtlajVjRmM2Y0VIOXQyNEFnZmJ0NUhYRXdrR1dtSjJDT3Q3Q3NvNW9uL3VUV2s3K1BMSWd3Um1MN1VxYmFZakVSSDJxaHZkT0p1OXRBekxqcjRYRnlQcUU2L2RnMU5MaDVjY0RsZXJ3K0h5ODNNU1VONDg4T3Q3TWs3eHRIU2FnNlhWSEs0dUlxOG8rVTRYTTFVMWpRUTM4Tk9lWFY5bHpyTkJneFlMU1lxYXhxd1dreEVSOWs0ZUxpTVIvK3loS3N1SE1WOU44OEVZUDZzOGJ6NzBRNSs4K3g3ZkcvaGxTZTkxb3IxdTZodGNQREg3MzBOczhsSWJtRXA5a2dMSnFPUitrWW5sYlVOM0huOWRLS2piSGk4WG5MMkZMTG9wODh4ZW5BNlZvc0pwNnVaaXBvR0RoMHB3OTNzcGFTOE51VHZxNFhOWXFLSFBkQWg5dnY5NUJlVnMyYkxmdllYbERKNlVCclhYREtHS0Z2SFUyQ21qczRrSXpVUlkwUUV1VWZLK01sZjMySkEzMTdCTUFGZzdhY0hHRHNrblI3Uk5qN2RYY0NhTGZ2NDZMTmNtcHh1ZXNWSGs1UVFjOEpBNFZoWkRkUEdaZ2RIYWZ6eS91dDU0ZTFQQUVoT2ltUFoydTFrcENVQ1VGRmRUNU9ybWYvOTl2V1VWOVYxNlhVcHI2cmo0NjBIK1hSM1BzZkthL2tvNXdBL1hIUVZuKzA5VE83aFVoNjc5OXBncVBYU3U1dlljK2dZdFEwT2V0aHQ5TzRaeTZFajVYeXlJNDlsNjdiejNNOFhZakczN2didk9YU01mZm5GREI2UXpPMC9mSWFpc2hvQUxyeGdFTGRkUFlYaG1YMWJqZUpZdkdJTGE3ZnM1N0Z2WGN1WXdlbEVSVnJ3bnVKQ3B1Y3FCUXBEaDhKVFQ0SFBCL0h4NGE1R1JFVGtxeTBtQmthTkFyYzcwQmJwUUtQRHhXc3JQK1doQlpkak5FWnc0UVhack55NEI1dlZqTi92cDhuaHduNkNPNUxITzFKU3hiZi83Nlgvejk1NUJrWlZZUDM3bVpwTUpyMlhTUytrQjBJSWdZVGVCQ2tpZ2dGQkVSVmxYZlZkWGJlNCtyN3Ixcis2dTdvb3E2S2lpS2hZY0VHS0lBSUJRcEFXZWtudmRkSXpTYWIvUHd5NVprZ2dCZHhGbmVlTFpMeHoyOXc3Yzgvdm5QTTdSSWY1Y3JHb2lsT1h5aWlxVktOVTJQSHJGVE5wYUdtbnRiMkxHclhGMExDNFNvMWNLdVdGZFR0UWVidmg1cXlrdHFHVnF2cG1udjdISnp5N2NyYVFuYjJheGhZTm0zWWRZOG50YVZhQi9QUXhjVXdmRXlmOHZlUGdHWW9yNjdsUVdNWFovQXIySGJ0RW02YUxSVE5TdVgxY1FpK1I0SHJJcm1SUGRYb0QrYVcxbEZZM1VGQmV4NTIvV0lPamd4My8vTTBTb2RKQ1lUZHdZN3YzLy9JZ05lb1dIdmkvZDZsdGFDWEl6d05YSndkcTFLMUVCZnRlOFdzb1lFWjZQSE1uRGgvdy9sNk53V0RrUWxFMXpXMGR2UDdKZnBwYU5keDlXeW9QekIrSFJDekdaRElUMnNOYlFhbXdZOFg4Y2Z6ai9kM1l5V1U4bWpucG1tWDlNOUxqcmY0dXFXb1FqRHlkbFBhQzd3TllXaFgrL3ZUZFpPY1dVTmZRaXFaVGk4Uk5RblNvSHd1bWppUW16Szlmdnc2ejJZelpiTGJ5NXpDWlRGU3JXMEFrNGxKSk5ZLy92dyt2ZUlCWXhKMjgwaHBPWGl4bCs4RXp2UG5jc242dmFaRkloTjhWcjRIR0s1TTBycDVFc1hWL0xrYVRtVHYvWncwU3NaaXdRQzl1UzQ5bmRHSVl3NGNGWHRmVTB0L2JGWC92NzVLeERnbzVtYmVONG1KUkZTVlZEWURGOStUOXJUazB0bXJ3ZEhQazU1bVRTUjhSZWQzOXZwb3RlM1BaY2Vnc1JSWDF1RGdxRUl0RnBDV0c4ZlR5MjNCMlZQREJ0aU0wdFdvRU1RRXNuLzJSTTBWOC9PTER3djBWNU92T2F4L3ZSU0dYOWFwWU1SaU5iTnAxakRlZXV4Y2ZEMmRCaUhqK2phMmtKWVl4TXRaU0JWVlVWSVhLeHgwbnBUMmo0MFBabFgwTytaVjF5YVFTdERyRG9JN3R4NEpOVUpETHdjdnJ2NzBYTm16WXNHSERoZzJBa1NOaDE2Ny85bDdZK0lGZ01CcjU4OXB0S094a1JBYjVrTi8wTDlvQUFDQUFTVVJCVkh1cGpKcUdWcnAwZXY3bmhZOG9xV3BBcHpld1pOWm9sczYrdmtGZlI1Y09zVmlFVENLaHRxRVZSd2Q3c25QeitkZnZsaUlXaTlqMDFURUt5dXNJQy9Ba090U1BNVW5oVEV3WnhzaTRFT3l2QktybkNpcHgxeWxaTUhVa3lUSEIxOXpXVzU4ZndHZzBNalV0Vm5pdFRkUEZ6a05uY2JDWDA5cmVTVWxWQTVlS3F6RVlUUnc1VzBTQWx5c3BzU0dXd09lVGZVUUZlMSszSFAxcVpESXByZTJkclAwc2k3ckdOaHBhMnZIeGNPWTNLMllTSGVwbkpVNDQyTXNSTWZEcUFWOVBGOTc5NHdxTVJoTlNxWVQ5eHk2aE41aVlkTVhvejJBeUlaZEtPWk5YUVdLVWFzRHJQWnRmd1lrTHBWd3VxZUZpVWJVd2tXREcyRGdXenhwTmdMY2xHWGl1c0pLb0VCOW1qYlAybGJndFBaNnZjODZ6ODlCWnpoZFdzbXJSeEFGTmsxRFl5WVRwSFZkVFdxWG1VRzRCK1dXMXpCZ2J6NWlrOEFFZlR6ZU5yUm9lZnY1OUlvTjlrRXJFTkxabzBPb051RHRiSm0zRWhQcngyd2RuQ2EwOUFOK2VMZUxaVjc5QUxwUGlNTWhlL2U2S2hwNDkvcWN1bCtIbjVjcnZWODNEYkRiejVxZFoxRFMwOE5DQzhZTVNxc0FpOXJ6OStRSHlTbXZ4ZEhYRXpka0J1VXpDdU9RbzBoTEQ4UE55SFhTMVVEZHpKaVl4Ym1RVUNuc1pDanM1LzlxMEQ3bFVJclExakIwZXdWdWZIMENyMHd1Q1VXaUFSVmdTaTcrN2hydlAyYnpKeWIycVZWcmFPL25WOGhtQ1NDT1hTU21wVk5QYTNzV09nMmZZdk9jRWhWY0VqUkhSUWZ6MndkdnhkTE1JRmQzVFh1UXlLZTJhcmlFZDR3OGRtNkJndzRZTkd6WnMyTEJoNDVibjRJazgzdndzaThtalkxZzJld3d5cVlUVGw4czVkcjRFZ0h0Lzl6YUJ2dTZZeldhVUNqdnVtcFpDcU1vVFh3K1hBV1hiaDRYNHNtWDFZNEFsZy96TTZzMDhlT2M0SWN2NzJKSXA1RjRxbzZOTFIycDhLREtwaEwrOXY0dC92TCtiMTU5YlJwZFdUMHlZSHkvTVhYRGQ3SEh1cFRKeVRoY3daWFFzVDc3NE1Xdi83ejdzN1dRb0ZYSjI1NXpIVGk1bDFjS0ozSmFSd001RFp5a3NyMlBGSFJtQXBiVmkwNjVqL0h6eGxFR0pDV0FKZUp3ZEZmeHkrVzJBcGY4OTkySVo4Wkc5QTN5NVRJTEpiQjdVK3NGaWFxZDBzQ1BFMzVQSyttWTI3em5CcGVJYXpoZFcwdGlpd1dBME1TSTZpQmVmWERpZzlSbXV0RkZFQmZzd2YvSUl2dGlieS9IekphUWxoUXRpZ3Nsa0lqdTNnTjgrTUt0WFJsMGtFdkhiQjJieGh6ZTNjYW00bXQvK2N6UEpNY0U4dW5qeWRYMHZVdUpDcUtwdlp2K3hTNWpOVUY3YlNGNUpEZVUxVFRnNjJPSHNxS0NrU2sxMmJnSEw1NlZ6eisxcGd6cFBIaTZPUkFYNzBOR2w0OWNyWnVMdDdpeGNveXVlVzRlejB0NUtUQUR3OWJCVVBZeUtEK20zVmFTeFJVTlJSVDN4a1FIWTk4akliOHM2emI4KzNvZkJhT1NPeWNuOGVzVk00VHk1T0NuNGZNOEpPcnAwVmg0RUEwRXFsZkR6SzYwbTNldy9kcG5oMFlFRSszdFFYS25tK1BrU0xoWlhrekVpa2ltall3YmM3aUlXaTN1TkxqV2FUT3pLUGtkR2NpUytuczdJcEJLcjZoT2xRaTRjVnpjNnZhVjZJQ0hTK3I2cHFHMmlwRkpOUlYwVHBaVnFpaXJWbEZWYktsUzZkQWJHajR4aXl1Z1lRZ0k4cmNiUGRrL3g2RDYzWWhIb2piYVdCeHMyYk5pd1ljT0dEUnMyYmluK3ZmY2tXL2VmeHNGZVRsMWpLM3R5TGpBelBSNC9MMWVpUS8zNGVlWmtFcUlDQ1Bhem1BaCttWFdLM1ljdmtKRTh1Tkxxbm55NDQxc2M3T1hjUGo0SnNCalYyZHZKOFBWdzVqZXZmTTYyck5QODlZa0ZxTHpkS0N5clIyRW54OXZkbVVjekoxOTN2WnBPTFMrL3Y1dW5sOStHblZ6S3prTm5xV3UwdEFtSXhXTG1UeDdCNTErZkVJSjh2Y0dJWFk5ZTd6Wk5GK0dCWHIweThmMmgwK3R4c08rZEllN3VJKy9VNmhBaEVyTEkzZjRSZzBFa0V2SFh0N2RqTUpxWU9pWVdYdzluSW9OOUdKOHlEQThYSlpWMXpkei8zRG9oZXp3UVJrUUhDVDM2alMwYVRsMHE2N1hNbG4ybldEUWpoWkFBVHpxMU9wNTZhUk9MWm93U0pnNTR1VHZ6Nm0rWDBORFNUbE5MQnlhenVWOFBBbnM3R2Y3ZXJqei8rbGFXekJyTnlOZ1FabzlQc2dwc0Q1N0k0dzl2ZmptbzQrbUp5dGVkNG9wNlFiRHFTVi9CdHQ1Z0NWWjlQVno2WGJmUmFPUjNyMjRtTVVyRlMwOHVRbkpGYVBIemRDRjlSQVFqWTBQUTZ2UjBkT21Fa2FSbWt4bDNGK1dneFFUcmZUUlNVZE5JWVVVOU9yMlJ0emNmUkNhVjRPWG1oSitYSzRYbGRXVG5GbUF5bTYxYWV3YUQwV2hrVi9aRmZuWC9iU2dWZHRqSlpiZzVXNHN2Zlkzc2JHbnJBTURYMC9wOFh5aXNaT1AySThoa1VoSWpWU3liUFlhWWNEODhYQng1K2grZmtCaWw2dE1QeFdBMFh2bnZGUkZCSk9yVlV2SlR3U1lvRkJUQWhnMldYczBISG9DSS9tZnQyckJodzRZTkd6YStKMHdteTIreVNBUXlHVnluaDlmR1Q0TjVrMFl3TlMwV2haMmN1WSt2NXJtSFp3dEJtRkpoeDd6SkkvcDhYM05iQjZWVkRaUldOMUJhcGFhOHBnbUF6Sm1wMTJ4SE1CaU1mTHI3T085dHlXYnh6RlQrdm40WFhUbzlZNUxDOFhGM1J1WGp4aXUvem1UZjBVc0FtRXhtd2dPOWNGTDI3OUZnTnB2NSsvcGRMSmc2a3ZRUmtad3ZxQVRBbzBlUU9uRlVORzkrZG9EajUwdW9iV2psMkxsaW10czYrSjhYUHFLbHZST2owVVN3dndkbXMzbFFob1l0N1YxV1pmTHFwamJLcXhzcHFxamovdWZXVVZIYmhNckhqWGYvdUFLd1pGMjdkUG9CcjcrYnRLUnd5bXNhdVhmT1dJNmZMK2F0encvdzg4VlQ4SFIxeEtkSGhuMG9mUDcxY2R5Y2xUZ281S3pldUlmY2k2VXNtek9XbURBL1lhSkNUWDBMK1dWMWJObDNxdGNJUXc4WFJ6eGNIUHRhZFo5MGo4OU1Td3dqSnN5ZmRmOCtSRXBzaU5DeTBSMTRSd3h5VkdnM01vbjR1MkQwS25xVzZuZlQyTklPMEt0eW9TKzgzSjFKakZUUjBOUnV0YjVwWTJJSnZ1SXowZFJxNGk5dmJlZXU2U21NVGdpam9WVkQ4Q0JHYkhaekpxK0MvL2ZPRHNJRHZWRDV1T0hyNlNKVVhQdzhjektocXU5YXk4dHJHdWpvMURGdUNHSmZsMDdQdTE4Y1l0dUJNOXc1SlZud1lqQVlqQ2l1Q0VTWGlxdHBiTkdnOHJGVXIvUzhSOHBxR2xIWXkzdUpTZFBIeGpOOXJMV0hSaythMnpyNDZ0Qlp0aDg4UzVDZk8wdXV0Tm8wdFZvRUN0TVZJMGJSbFgzNUtXSVRGQ29xWU8xYTZPeUVHVE5zZ29JTkd6WnMyTER4M3lRdkQxNS9IUXdHZU93eGlJN3UvejAyZnRTSVJDSWNIZXlwcm0vR1VXRXZsUHFmdUZCQ1kwc0hIWjFhV2pWZE5EUzNVOXZZU25HbG11YldEbjcrbDQyNE9TdHhjMUxnN0tnZ01zZ2JWMmNISE95dW5aM2VtWDJXZGY4K0JFQkJXUjEzVFU4UnhJZnMzSHgrODhybnpCcWZ3S3BGa3dCbzYrZ2lURFV3TDY3TmUwNHlmbVNVRU9qcXJnUWZQUU45cGNLT1JkTlRPSGd5ai9nSWxjVWJJamlVaHhkT0VETEpnOFZnTk5MYzJvRkNMdU5mbS9aeC9IeUpNRXJRMGNHT0VkRkJQTHh3Z2xBSkFKWUtoVzYvZ3NIZzdxSWt2NndXZ0NCZkR5NFdWWFBxVWhsUndUNkNBNzZUY3ZBWjhCcDFDMS9zemVWM0syZno0WTRqekptUXhOYjlwM0IxVXJKc3puZmVHRjhmdVlDZnB3dC9lUFNPUVcvamF1UXlxZUNOQVZCU1VjOUhPNzdsemYrOWx6Q1ZsekNHODFwR2ovM1IxcUh0ZXlxQXFHLzNpdEpxaTlGaFR4UFA2eEVSNUUySFZpZXNFMERTSTNQdjVxemsvMWJONVpkLy93UVBGMGZLcXhzSlZRMisyaUl4U29WVUltYjh5R0ZNRy9PZEo0amtpb2loTnhpcGIyekR6OHVGeXlXMUpNY0dEL3BhUG5hdW1OVWY3aUU2MUk5cFkrS3MybkhxbTlxb2Iyemo1UTI3cVcxbzVmbWZ6YU95emlJZWlyQlVraGhOSmc2ZkxrVGxmZjJKZnRzUG5FR3BrTlBZb3FHNFVrMXhoWnFPVGgzeGtRSG85SHAySHo2UGk2T0NsWGROb0xXOUUvaXV5Z2VSU0dpcitLbGhFeFJzMkxCaHc0WU5HN2NPTlRXd2FaTmxuUFBDaFRaQndZYUFvNE05bWs0dDZ1WjJQRjBkcWF4clpzK1JDN2k3S0FsWGVURWlKb2dBYnpkT1hpd2wrMVFCLy96MTRrRnZJelUrakJsamE3aHo2a2dyb1VDcjA1TStJcEtYbm5Ma20yOHZDcTlYMWpVUkVlak54YUlxeXEvMFlxdWIya2thcG1KbVJvSlZULy9rMGRHNE9YOVhqV0M0MHM3UW5VWE5MNjNsZysxSEdKY2N5VDIzcHlFU2lmajMzcE9FQm5nTldVd0FxS3h0d21neUVSN29UWEpzTUZQVFluQjBzR2ZqOWlOb09yVThmcy9VWHUrUlNzVG85SVBQdG9wRklveFhzdTYxVjhZRFRoNGRBeUFZMXNrSGFmZ0g4UG9uKzVtY0drMzY4QWcrK0RLSGlDQWYxanl6RkcyUEFLNitzWlh0Qjg3dzRwTUxjVkpheG1IKzVlM3QzRGQzckZEQk1GaTZ5OW9CM0YwZGNWTGFFK0p2eWVLM0QwRnc2VWxsWFpQUWluQTFvaXZCK0xGenhlU2NMaVE2MUpldnNzOEJDTm4zL25CelZscTF5d0NDQ05LTm80TTlUOTQ3Z3orKytTVnRIVjNNU0I5YUc0S3pvd0p0ajRxV0V4ZEthTlYwb1RjYWtVa2xaSi9LNS8ydE9YVHA5SUlmeUVBb3FxaGovZFljanB3cDVLRUY0N2xyV2dxdmZ2aU5WU1hBc1hNbGRIVHBLSzlwNUM5UExNQk9Mc05vdEFnT1lyRUlsWThiVC81dEU1MWRPaktTbzY2N3ZaelRCVFMyYUhqb3JnbE1HeE5IWlYwVHQ0OVBaTXJvV0habG4rTnY2M2N4T2lFTXNQaHNKRVdwaEVvVnM5bE1SNWR1d01mMlk4SW1LTmo0anpIWThqd2JObXpZc0dIRGhvMXVuSlQyaklnSllsdldhWmJQUzJmdXhPRjlqaUU4VjFBeHBLQVZ3TWZEV1RBdDFCdU03RHQyaVF1RlZhVEVoZENtNmFKTjA0VkVMT1lQYjJ5bFJ0MUNqYnFWbllmT2tuWGlNdlp5T1FwN0dYWnlLVWZQbFJBZDZtYzF5cTZubUFDV0NvV2VacEdSd1Q0OHVXd2FiMzZXeGJhczA2eVlQNDdDOG5xaVEzMkhkQ3pkNUpmVllTZVQ0dXZwakZnc0ppcllzajZ6Mll4YzJuY29JQmFKMEJzR24yMXQxWFFKL2VzNXB3dEppQXlnc3JZSmlWaEViWU5GWUZEMDQxOXdOVi9uWEVEZDFNWnZIckFZQ0dyMUJzUmlFZDRlMXFNWlgvOWtQNW0zcFRJc3hISjhUa3A3d2xWZVBQNy9QdVN4SlZPWU0yRndJeXZiTzdvd0dFMUNCbHFyMVJNVzRDbUlSSzN0Rm9GRVBNUm5XN0ZJaElORDczTWhGb3VFZFk2S0QrWDA1WEplZXM4eStTWk01ZFhMb1BCYTJOdkpCTUdpZXhlbEVqSHFwallxNnBxSURmTkhMcE1TRmV4RGZHUUF1dytmSnpMSVowakgwdEdsRTdaUlVkdkVYOTdhRHNEYVQ3T1lrWjdBd3VtaktLMXFRS3MzRE5qYjVPbC9mTUtwUytYSVpSSit2MnFlTUUzRGFESmh2bEtoMEtYVmMvUmNNZDd1VGp6L3N6dUVpaEpqanphRVVKVVh5K2Rsc08vb1JSWk9UN251TmxVKzdrZ2tFcUZhUjZzeklCWlpuME8vSzFNZFBOMmMrTnN2N3hiZWF6S2E2TFFKQ2pac2ZMKzg5dHByaEllSE0yUEdES3VTS3hzMmJoWmZmUEVGY1hGeFJFVmRYNEgrb2REWjJVbDlmVDFCUVVIOUwzd0xVRk5UZzBna3dzZm4yZzhrWldWbFZGWldNbXpZTU56ZHIrMndmU00wTlRWaE5wdS90L1hic0dIanYwZkdpRWpPWGZFZXVCWmlzUmlsdytERzZ2V2t2ckdWbmRubitPclFPZVpNU09LeHhWTm9hdFh3K1o0VE5MZDFFT1RyUVh4RUFKZExxaW10Ym1ERFh4L3ExK1N2THpxdmpLbnNpWXVUQTcrNmZ5YjdqMTNpMmRlK1FDU0N3T3RNSXhnSWwwdHFpQW56NnpVQndXUzZqam1oaUNGbFc0MG1FNTV1am1oMWVyN09PYytEZDQ1bjM3RkxIRGxUeEhNclp5T1hTZkFjWU1rK1FGVmRNMTltbmVLUFA1OHZWR2wwZE9tUVhmVWMrY1UzSjZtdWIrRjNEODNHWURSU1VGckgyWUlLYWhzdDR6OVhiL3lHRUg5UEV2cVlhSEhOYmRjM0F3amJyVkszRUIzeW5iZ2prNHFSU3NUQ1JJSEJNbjFzUEJXMWpiMWVGNHRFVnFhQ0R5NFlUMTVwTGJtWHlsZ3lhL1NBMXkrVFNrQmtFWTd5U3kxdEtJLytaU05oS2kvdW1qWlNFRXJLcWhzNGVDSVBtVlRDUysvdDR2ODljZWQxcDVUMFJlYk1WS0tDZktoUnQvRHJsejlsWmtZQ1gyYWQ1bWVaazhrNVhjai92UEFSRDl3NWJsRG5mOFVkR2F6NWVCOTN6eGhsTlpwVHE5VWp2aUxFMmR2Sm1KQXlqS2xwTVZZK0ppYVRSWEFRWGJubTUwMGF6cnhKL1F0S1VvbllxdnBCMDZrVjdsRjFzOGF5ekRYRVNwT3RRc0dHamUrWGdvSUNTa3BLVUt2VnBLYW00dW5waVU2bm82dXJDMmRuNS81WE1BQnljM054ZFhVbE5MVC8rY0kvTk5ScXRXVnN6azBPa0lxS2lqaHc0QUJCUVVHa3BhWGg0TkMvMGMrdGlsYXJKVHM3bTd5OFBKNTg4a2xrTWhsR281R09qZzZjbkp4dTJuWSsvL3h6QUJJVEU0bU1ITHFEZUU4S0N3dFJxVlRZMlZrL0FOZlcxdkxxcTY4U0dCakl6MzcyTStUeW9UMjBsSmVYczN2M2JrYU5Ha1ZpWW1LZnkremJ0NCtJaUFnQ0EzczdHUStVeXNwS1B2endRNUtTa3JqMzNudjdYRVltay9IWlo1OGhrVWg0OXRsbmgzVC81K1hsVVZOVFEzcDZlcC9pWkZOVEUydldyQ0VoSVlIbHk1Y1BldjIzRXA5ODhnazZuWTdKa3lmajd6KzRFWEUyYlB3WWtVakUvUm9nT3RoYkppNE1ocnpTR25ZY09FdFJaVDJYaXFzSlYzbno1OGZtQzRaeW5tNU9QTHh3b3JDODBXamlyYyt6R0o4Y1JYMWpLKzR1amdNeVp1eEpZNHZtbXRudDVKaGdsQW81RFZvZGovNzVBMzU1M3d6aUlnSUd0ZjV1VGwwcVowSktiNkhkWkRKZnN4Ky9TMnVnVFRQNGt2NTVFNGZUMktwaFc5WVp1clI2eG8yTW9scmRRbkpNRU1OQ2ZWbTFhRktmQWRtQkU1ZkpHQkZwSlhwMGFuVjhzZmNrZi9yNWZLR3MzR1F5MGRMV2dWejIzVHBlMzdTUHpkK2NKTkRIamFmLzhRbmxOWTJreElVd0lXVVk4NmNrYytaeUJiLzU1MmNjT3BrL3FJRFd6Y2tCcVVTTXA1c2pYVm85K2FXMUxPcVI0VTRhRnNqdzZLQmVRczFBbVRZbVZqRDA2NGxJSkVJcXRWN256eGRQNXZEcFFpYWtEQnZRdW8xR0UvVk5iWlJWTlhMdjc5N0dZRFN4ZEhZYXQ2VW5DT2FZQU5YMXpUeXplalBEUW56NXhiTHBQUG5TeC96NmxjOTUvbWZ6QnV6VkFEQjlUQnpGRmZYOHo0c2ZNemsxbWdjWGpPZnpQU2NRQWZmY25rWlNsSXEvdnJNRGxZODdtVE5UcmZ3NnJrVk1tRCt2UFhOUHI5ZWIyanB3NjJGTStleksyYjJXMFYycHJybTZ4YU0vbXRzNkJPK0g3citOSmhOL2UrOHJEcHpJQThEWnNlLzdYR2N3MmdRRkd6OXRHaHNiS1N3c3BLaW9pSnFhR3VSeU9YUG56aVVnWUdnL1hqMVJxOVZzMkxBQm1VeUdqNDhQWDM3NUpXMXRiVlJVVkdBMEdoa3paZ3p6NXMxREpodWFxVTAzRnk1Y0lEYzNsM3Z1dVljUkkvcDJmTDZaN055NWs4N09UaVpObW9TYjI4RDYyWVpLWVdFaG4zenlDY09IRDJmWnNtVTNiYjJob2FGa1oyZXpmZnQyU2t0THVmLysrMi9hdXI4dk5Cb05jcm04MS9YeTdiZmZvbFFxV2JseUpVMU5UWnc1YzRhY25CeWFtNXRKU0VoZzd0eTVOMFdRU1VsSjRjMDMzK1R3NGNNOCtlU1ROK1VlMmI5L1AxVlZWU3hmdnR3cW9OZG9MR3E0ZzRQRGtNVUVnSUNBQUNvcks3bHc0UUsvK3RXditxd2d5TXZMWTl1MmJkeDMzMzNYRkIzNm8xdGd1Vm9ZNlltZm54K09qbzdvZERxVXlvR1ZiVjVOYzNNelc3WnNRYWZUTVhWcTc5N2ZzTEF3bkoyZE1Sci9NMjdMUnFPUnBxWW1tcHFhNk9ycVFxbFVFaHdjZkZNcXNXSmpZM24zM1hleHM3Tmo0Y0tCelcyM1llUEh4Tkd6Ulp5K1hFNUZiUlA1WlhVNEtlMHdteUU3dDRDRUtCWEpNWmF4Z2ozYkNZTDlQSVRaOEFQRjM4dVZpOFZWRkZlcXVXdGFDaXZtWi9RNWVxNmJEN2JuME5qU3diSzVZK25zMHJIc21iZVltWkhBa2xscEF4WVdLbXFiK25UemIrL280dmszdHVMdXJPU2xKeGZ4ai9kMzhZdVhQbWJHMkhqdW5UTUdyMEdJSldVMWpaUlVxWGxtK0t4ZS8wOGtBbmVYdmhNSnpXMGRhRHExNkEzR1FaMUxUemNuZEFZajczOTVtRVV6UnVGZ0wwY3FFYVB5Y1VjcWtUQjdRbEtmN3p0OXVZSVFmMCtDZWt3WmFHcnQ0SkdGRTYzYVFrcXExQmlNSnF1MmlhMzdUd0VXUThqYk1oSklIeEZoNVRtUkhCdE01bTJwVnVzWkNGN3V6dnh1NVd6a01pbTdENTlETHBNd0tqNlU4cHBHdk55ZGNITlc4cWVmengvVU9xK21MekZDTEJKOVovUjNoU0EvRDZ0emN5M2UvdndBQmVWMTVKZlcwdGJSeGVpRU1HWm1KREE2SWF6WDhlZGVLdU9GZDNZd0lqcUlKNVpOdzE0dTQzOGZtY3RUZjl2RXFqOXQ0RmYzenlRbGJtQVRPYkp6ODNsNXc5Yzh0R0E4TTlMajBlcjBWaE1zNGlOVnZQSGN2ZnpqL2QzODZoK2ZFdWpyenJTMFdOSkhSQXpvdUxRNlBlditmUWlEd2NUcHkrWE1TTC8yVkFiNGJ0ckNZTDhIVEdZemZsZU1HMXZhT3RCMDZuQ3dsL1BBbmVNNGZyNkV1SWlBYTM0dnRHdTZodVE3OG1QQUppajhCTkZvTkpTVmxWRmRYVTFwYVNsbFpXVzB0bHI2Mmp3OFBBZ0xDeU02T2hwZjN4dnIyUU9vcTZ0ajdkcTF1TG01c1dMRkNreFgrcDdNWmpOLy92T2ZBZERwZEJnTWhoc1NGSXhHSTNsNWVZaEVvcHRXOGRBZkFRRUJyRisvbnVQSGovUHNzODkrcjluOXhNUkVQdm5rRTdxNnVtN3Fla1VpRVV1WExpVWdJSUNPRHN2NEc2UFJTRjFkSFVhamtZQ0FnRnZPOStMenp6L243Tm16eE1iR2NzODk5eUNYeTlGb05PelpzNGVBZ0FDMmJObUNrNU1USVNFaDNIdnZ2YXhaczRieThuS3lzcktZUC8vR2Z2Z0Jnb09EZWVLSko5aTZkYXR3emJhMXRhRldxL0gyOWg1MGtHdzJtNm1vcUVDajBRZzlnZDNrNStjRG9GUXFNWmxNUTg2Q2lNVmlBZ01ETVp2TjEyeEhhR2xwSVRnNG1MaTRvUmt5QVRnNldySVpLdFgxTTBCT1RrNUlwZEloQjl5MXRiWFkyOXVUbXBwNnpXWGMzTnp3OHJKa0ZydS9kMjRrd0RlYnpiUzJ0dExZMkloYXJhYSt2cDdhMmxycTYrdFJxOVc5eEFzZkh4OVdyVnAxdzlVeDNXSmxTTWpReHF6WnNQRkRKekxZaDdQNUZVUUcrL0RZa2lsNHVsbnVxUzZ0bmpONTVlU2NMbVR0cDFsSUpHSWlnMzJJRFBJaHhOK0RRRjgzMmp1NmNMeXFkRnVuTjFDamJxR2hSV09WSlhWMHNHZk43NWJTM05iWmIwbisxemtYK0hESHR6eTkvRGI4cjR5dnZIZk9XRjcvWkQvN2psM21oZjlaSUl6bXV4NGxWV3BjbmF4L00zSXZsZkhQRDc1RzVlUEcvejQ4QnhjbkIxNzh4VUxlMm55QXpYdE9zdS9vSlNhT0dzYTBNWEhFUndUMEd5UnYyWmRMV21LWTFlaStibVJTQ1FFOURQNktLK281ZHI0RW85SEVwZUpxd0JKVWRaL3pnVkRmMk1ydlZtOG1OU0dVZTI1UEF5eFRDYjdPT2MraUdTbDlCbU90N1oxa255ckF5OTNKS3Jqc1ByYzl1VmhVQTRCekQ5Rm00ZlFVeGlaRkVCMTJiZVBGKysvSUdKSURmOGFJU0RxNmRHemNmb1E3SmljamwwbHBhR25ubDMvN2hGSHhJZHd4T1huSVl5T3ZoVmdzd2s0K3RCQXRKdHlmZisvTkpTVStoQlh6eHhIVVI3dE1lVTBqSDI0L1FrT0xocWZ1bThHbytPOHFlMlBEL1huaW5xbjgvZjNkL1BhZm41TVNGOExDNlNrTUh4Ylk1ek9JL29wNGRDYXZnci8vY3BGdzNiZHBlait2T2ludCtiOVZjOW1WZlk3WFA5blB1bjhmWXQyL0QrSHQ3a1JDcElvZ1gzZUNBenhKSDk1NzRwNmRYTWFpNmFQNHhZc2ZZekNhQ0EyNC92MWxNSnFSeXlTRGZvYk52TzI3NTRxeUs1TlE1RElwYnM1S2ZyZHlkcStxallhV2R0NzRaRDhCM202Y3VGQ0t3djdHa3FNL1ZHeUN3aytRbHBZV3Z2MzJXem83TzFHcFZKU1VsQkFlSHM3OTk5K1BRakg0VVQ3WG9yUzBsSGZlZVllNHVEanV2UE5PSzhGZ3o1NDlBRXlhTkluWnMzdVhLZzJXWThlTzBkN2VUbkJ3TU5YVjFZU0hoL2YvcGtIUTBOREF6cDA3U1VsSklmcUs0M2ozQTc2enMvUDMzaXFnVUNpd3M3TzdLU0pQVDB3bUU0Mk5qWGg2ZWxKUlVjSHJyNzlPYVdrcGVyMGVrVWpFd29VTEdUMTY0UDE2L3dreU16T3hzN1BqNk5HajVPWGxFUjhmejZlZmZzcmt5Wk9KalkzbHpKa3pqQjQ5R2ljbko0NGVQY3FpUll0SVRrNGVjakIrTloyZG5XZzBHbUpqWTltN2R5L0Z4Y1dvMVdvQXZMeThlUHJwcHdjVnVCWVVGTkRhMnNyTW1UT3R2QkwwZWowblRwd2dLU21KNk9ob1B2Lzg4eHZLVUx1NnVxTFY5bDIrbXArZlQxMWRIVTg5OVJRU2lZUUxGeTZnMFdoSVRrNGUxTEdJeFdJa0VrbS9vb3BNSmhQRWg4R2kxK3M1ZHV3WXMyZlA3bE04TkJxTjFOVFVvTlZxdVh6NU1pKy8vRExWMWRXNHVycnkxRk5QWGJONm9ycTZtcGFXRnJSYUxSMGRIYlMxdGRIVTFFUmpZeU5OVFUwME56Y0xvb0dmbng5T1RrNG9sVW9pSXlNWlBueTQxWGt5bTgySXhlSUJWVWpVMWRYeDFWZGZrWitmejRRSkU1ZzBhWkxWdXJyMzE4Tmo4TFBCYmRqNE1lRG1yT1NCTzhmM2V0M2VUa1pxUWhpcENXRThmczlVemhkVWNqQTNueDBIejFEWDJDWXNKNU5LVUNya2lFVmlPblY2T3J0MHhJVDVzWEpCNzNWS0pkZnY3emNhVGJ5MzVSQmI5NS9tdHcvTUVzWS9BdHc1ZFNUNXBiWHMrZllpYXo3ZXg0dFA5djk5M2Q2aEplQktOdlRraFZKMlpwK2xvMVBIUTNkTnNBcXFwRklKcXhaTklqTEloMWMyZk0ydXcrZlpkZmc4Y3BtRUlGOFBJb045K0ZubUpLc1Jod0FsbFdweUw1YngwalgySlRMWWw4Z2VwcEdoS2k5YU5aYnFDSVBSaEwxY2hvdlR3Sjl2anB3cDVOVVB2K0gyOFVrc25wa3FCSE1aSXlMWjhHVU9ELzErUFdPVHd2SDJjRVlxRWFQVkdhaFd0M0RnZUI2TnJScHlMNVpaQlhSOUlSYUxrRXJFVmhVcEsrYVA2M2ZmUkNMUmtNWTdHbzBtWG54M0p4S0pSUEF2R0Q0c2lEODlOcC9uWHZ1Q1hZZlBrejRpZ3NlWFRCMndXV0ovU0tVU2xJcWhlWUNrRDQvZzAzK3N1dVpVa0M2ZG5yTHFCaDY2YThJMTkvZTJqQVQwUmlQdi9qdWI0K2RMT0hteGxPaFFQeDVmTXNYS1pQUmlVUlZiOTUxaVJHd3c5ODlMdDNyT3FsYTNBQ0R2UXhpWmtSN1B5TGdRM3Q5Nm1JdEYxWUo0NHFDUUUzNmRFYXdlcm83ODR0N3AvUEhOTDVtYUZudk41Y0R5TERDVWM5aFQwT28yZHV3V0pmdHFsL0Z3Y1dUT2hPRTgvWTlQTUpuTURJOGVldHZvRHhtYm9QQVR4Ti9mMzZxdnVLR2hnYnE2T2hRS0JVYWprYXFxS29xTGl3a05EUjFTUDdYWmJPYmd3WU1jT25TSXUrNjZDNFBCd09iTm04bkl5Q0FnSUlEVHAwL3oxVmRma1pxYXl1MjMzMzdEeDlQWjJjbXVYYnZ3OS9mbjBVY2ZaZlBtelh6MTFWZmNkdHR0Tjd6dWJ0emMzQ2dwS1NFM041ZVpNMmN5ZGVwVW5KMmRrVWdrL1daakIwTlZWUldYTGwzQzBkR3hWL1pWSXBGWVpUdmIyOXNCQmhXWTFkVFVjUERnUVZwYlcybHVicWErdmg2OVhvK0hod2NCQVFIVTE5Y3pidHc0d3NQRENRNE92cWtDMDgxQ0xwZHo5OTEzTTJIQ0JOemMzTWpLeWlJbUpvYlJvMGR6NGNJRmR1N2NpVktwWk15WU1kZk5ZQStVZmZ2MlVWVlZSWE56TTJxMW10YldWdXpzN1BEejgwTXFsZUxnNE1EaXhZdFJxVlQ0K1BnTVdnMC9jT0FBTGk0dWpCOXYvWEI3L1BoeHRGb3RNMmZPeE12TGk1S1NFclpzMmNLOGVmT0dkQnh5dWZ5YTE4cnUzYnR4ZDNmbjZOR2pWRlZWVVZCUUFNQ1pNMmQ0NElFSEJyVWRzVmg4M1phSDdtVk1KaE1uVHB5Z3RyYVcyTmpZQVdmZ3M3T3o4Zkx5SWkzTmt2bmF0bTBiRXlkT1JDUVNzWEhqUmdvS0NwREw1ZWoxZXZ6OS9ZbVBqMmYyN05tRWhJUmN0d3FxdmIyZGp6NzZpUGIyZHNSaU1aNmVudmo1K1JFYUdrcGFXaHJlM3Q2Y09uV0t2WHYzTW1uU0pFYU9IRG53azlLRHVybzZEaHc0Z01GZ0VNNlZqNDhQcDArZkppc3JpN1MwTkJ3ZEhTa3ZMeWN3OEx1TTBGRGJRMnpZK0NrZ0VvbUlqMVFSSDZsaTdqcWRTUUFBSUFCSlJFRlUxYUpKWENxcTVzREpQQTZjeUtPMm9aWG1Oc3U4K0JIUlFTeVlObElZK3pZWWpwNHRZdjNXdy9oN3VmTG0vOTZMN3hXbjk1NDh0WHdHN1oxYUt1dWFCN1RPNkZCZnZLNWsvK01pL0VtT0RiN3U4bFBUWW9rTjkyZlBrUXRDNVVCa2tEY0prYXBld2JMSlpPS2JieS93dDZjV1hUTnc3TXVrTG1sWUlMKzhid2IvOTY4dFRFMkxHVkRKK09uTDVYeVZmUllIaFIzLy9NMlNYcUtNazlLZTE1OWJ4dmFzMCtSZUttUGZzY3QwZE9tUVNzUW83R1dFQlhveEwzSUVzOFlsOUx1dDVKaGdFcU1DcjJtTWR6UFJkSFR4cDdlMjA5R2w0KysvWEdUVmhoQVo3TVBxM3l6aHVUVmZrSjFiUUd0N0ovOTRPdk9tYk5kT0pzVjFFRUxPMVZ4dnhLaTlYRWI2aVA3OW4rWk1HTTZjQ2NQUjZ2UklKWkplbFRDYVRpMFNpWVJmUDlDN2xRWVFKbm80WGlPbzkzUjE1TWw3cC9lN0gxY3pJanFJTjU1Yk5pQ3h3TTM1eHBKOTBhRitPQ250QmRIdldpUkdxWmcySm81ZDJlZTRZOUwzMzNKOUsySVRGSDdDNkhRNktpb3FhR2xwb2EydGpYLzk2MStJUkNLVVNpVU5EUTFzMmJLRnRMUTA3cmpqamdHM0k3UzN0M1B3NEVHcmJLQldxeVVuSjRmWFgzK2RlZlBtOGVtbm41S2VuczRkZDl4eFU4cnB0Mi9mVG50N095dFdyRUFpa2JCZ3dRTGVmLzk5UHZyb0l4WXRXblJUK3BqRllqR3hzYkZrWjJmajR2TGRRNFNEZzRQVjMwT2hxYW1KYytmT2NmejRjU29xS3ZEMjlpWWpvL2VNWHJGWWpGZ3NGcndpVHA4K0RjRDA2ZFA3N0NQdkMxOWZYMGFQSGsxWldSbHl1Und2THkvOC9mMkZBSERObWpVY09uU0l4TVRFVzFKTTZFbDN0VVpLU29vUWJKMDlleFozZDNmS3lzcUlqSXpFMDdQL2t0UCtTRXRMNDhLRkMyaTFXcHljblBEejg4UER3d09SU0VSK2ZqNXZ2UEVHSGg0ZXBLUmNmeFJSWDFSVlZYSGh3Z1dXTEZsaTVaR2cwK25ZdlhzMzZlbnBRdG4rdkhueldMMTZOVnUyYkdIdTNMbUR2bmVrVW1tZm4rbTVjK2RvYkd3a016TVR2VjVQYW1vcXI3enlDbEtwbEVtVEpnMzZtQ1FTQ1dLeG1MYTJOdXp0N1lYdmp0YldWdkx5OHNqTHk2T3lzaEs5WGs5NWVUbHhjWEVEcnZCcGJtNG1LeXVMUng1NUJKRklSSDE5UGZ2MjdjTnNOak5uemh4V3Jsd3BMUHY2NjYrVGxKVEUyTEZqQjdUdXlNaElubnZ1T1pxYm0zRnhjZW56Tzg5b05MSjM3MTRxS2lxR0xDaTR1N3RUV0ZoSVJFUUVDeFlzQUN6ZkFidDM3MmJod29VNE9qclMxTlRFSzYrOHdwUXBVd1JSN0ZhL0gyM2NHbFJVVk5EUjBmR2ptWFF6VktMRC9JZ084MlBsWFJPb3FtdW11YTBESHcvblFabk05U1RyK0dXNnRIcis4T2dkMTEySFZHSVpiMWRlMDl1NXZ5OVczSkdCNklxSHdrQ3o1LzVlcnR3N3AvL3ZOYkZZM0dkbHgwQVlPenlDdVJPVHVHOXVlci9MMWplMjRtQXY1MWYzejd6dTc1S0xvNElsdDZleDVFb2J4RkR4OFhEbStaOE5UVmdmS0dhem1UMUhMdkx2ZlNlWk1UYWVXZU1TK216VjhQWnc1cFZmTCtidjYzZVRuWnQvMDdidjRxUVFSaFArdDduV2RhbFUyQkVWZk8ySlRoR0Izcmc0S2daVjRUSlFCbUs0YW04blErVnpZNzVaOW5JWnJ6MXp6NERFaS92dlNDY3l5R2RBWXMyUEVadWc0TzhQOTk0TE9wM2wzejlpamg4L3p1WExsekdiemNoa01pUVNDZDdlM2pnN095T1h5MW0xYXBXd2JGMWRIUys4OEFKSGpoekIzdDZlT1hQbURHZ2JqbzZPekp3NTArbzFPenM3bGk5Znprc3Z2Y1NubjM3Sy9QbnpHVE5tekUwNXByeThQSEp5Y3JqdHR0dUVhZ3F4V013OTk5ekRXMis5eFJ0dnZNSHk1Y3R2U25iUHo4L1NtOWV6SXFFN1E5Mk5UcWREcjljUGVIdjc5KzhuTnplWDV1Wm1JaUlpV0xod29iRCs1dVptbkp5Y2FHcHFvckN3RUoxT3g4bVRKMGxJU0NBakk0T3dzREErKyt3emR1N2NpVnd1NzVYaHZoWkJRVUc0dUxqd3dRY2ZNR2ZPSEt0c2NrdExDdzRPRHQrN3llVE5vS2lvaUlLQ0FwS1NrbEFxbFJRV0ZwS2JtOHVqano2S1FxRmd3NFlOcUZRcXhvOGZmOTB4aHYyaFVDZ1lPWElrTzNic29LV2xoWmlZR09HaHFkdDdaS2p1K3p0MjdDQWtKS1JYY0xwMzcxN0VZakV6WnN3UVhwTktwU3hkdXBTWFgzNlpscFlXTWpNekIyWFVLSkZJa0Y0MWIxeW4wN0Z0MnphV0xGa2l0QW5sNStkak1CaFl1blFwWVdFRHkrSVpqVWJ5OC9NNWYvNDhPcDJPdDk1NkM2bFVTbVptSnNPSFd6SmdkWFYxTkRjMzQrN3VqcU9qSXlFaElkeHp6ejBERmtZNk9qcFl2MzQ5MDZkUEZ6N1B2WHYzNHVYbHhjU0pFL3Q4ajBRaW9hYW1odExTVWk1ZnZreDlmVDFqeDQ2OTV2ZVBWQ3E5cmdqVi9mKzZSWjZoMEMzVVpHZG5DNisxdExTZ1ZDcUpqN2VZVEYyNGNBR0pSRUpTVXBMZ0FKNlRreVA0M1V5ZVBQay9ZanhyNDRmSHBVdVgrUDN2ZjQrbnB5Zno1czFqMHFSSnVMdTdvMVFxZjdMam12MjlYZkh2SjhQWUh3TjExZ2ZMRklxUWZ2cTd1eG1NTjhGL21zZVdEQ3hSNGVYdVBDaVR5SnVCdmQzMzI2Zis3ZGtpZkR5Y2VmVTNTL3B0bDFUWXlYbDI1V3hxcnBUNDN3elNoMGNRZVoxZy9ZZEFTSUFuLy92STNQL2E5Z084M1VpTnYvR3BiMzM1ZVBTRmg0dmpnTVpTL2xpeENRcFJVZkRDQy8vdHZmaVBFQk1UdzY1ZHUxQW9GRHo1NUpQQzY4M056WlNYbDNQOCtIRmNYRnlJakl5a3Fxb0tzQVNmVTZaTXVhSHRuajE3bGkxYnRxQlFLRmkyYk5sTjh6ZG9iVzFsNDhhTlJFZEg5OHJReTJReTdyLy9mdGFzV2NQTEw3L01raVZMQmh3Y1hZdnVmdTJlbWNLcnk3dUxpNHQ1Ly8zM1diUm9FVWxKZlRzWjkyVGl4SWxNbkRpUmQ5NTVoOExDUWpJenZ5dVhXNzkrUFZWVlZTUW5KeE1TRW9KRUltSFNwRWxDa0xGMTYxYlMwdElZTm16WW9JL054Y1VGbzlISW0yKyt5VFBQUElOU3FhUzV1Wm1HaGdZZWZ2amhJZmUzZjk5MGRIUncvUGh4Y25KeWlJaUk0UGJiYjhmZTNwN3k4bkkyYnR4b05TV2h1LzNseFJkZkpDd3NqS1NrSkdKaVlvYmNpeDRlSHM3YXRXc3htODNNbW1VcDhTc29LQ0FzTEd4SW1meXpaODl5OGVKRmxpeFpZdlY2WldVbGUvZnVaY1dLRmRqYlc1dUplWHQ3TTNmdVhENzc3RE9xcXFwWXRHalJnRDc3am80T0dob2FLQ3dzRkZvQ0hudnNNYlp0MjRaS3BlTFFvVU40ZUhqZzVPVEVqaDA3aUkyTkpTR2gvOUpUc0l6cmZPT05ONmlwcWNIWjJSbXBWTXJvMGFPWk1tV0tWWXRPUkVRRUVSR1dudUQ4L0h5VVNxVWdKblIyZGxKUlVVRmpZeVBCd2NHOXZFSk1KaE9yVjY5R3E5VWlGb3M1ZVBBZ25aMmRuRHQzamllZWVBS3oyVXhOVFEzTnpjM1UxdFpTVTFORFRVME5XVmxaZUhsNTRlcnFTbnQ3TzFWVlZYejIyV2ZVMU5RTXlhRFR3Y0hCMG9mYlQwdEhmeVFsSmJGMTYxYjBlajMxOWZWOCsrMjNtTTFtdXJxNnNMT3pJeXNyQzA5UFR3NGNPRUJSVVJGZ0dZc2JFQkJBZEhUMGozSTByaFhlM2pCdkhoZ01sbi9iR0RUbDVlVzg5dHBydlBQT08wUkZSWkdjbkV4c2JDeXhzYkUzM1l2SGhvMGZHMm1KZzM5Tzdhc0ZacWowOU9iNElaTVlkZk5hZ2dlTHI2ZkxUZjFNYkZ3Zm02RHdFMEtwVkhMNzdiZnp3UWNmME5uWmlWcXRKanM3bS9QbnoyTTJtN2w0OGFLUXVUdDY5Q2dLaFlMbHk1Y1B5WERRWkRKeDZkSWw5dXpaUTFOVEUxT21UQ0V0TFkyMzNub0xtVXpHMHFWTGV3VkxnMEduMDdGKy9YcWNuWjFadG13WklwR0lJMGVPb0ZhckdURmlCQUVCQVNnVUNsYXVYTW5xMWF2NTE3Lyt4ZFNwVTVreVpjcUEyamRxYTJ1UnlXUldZd2E3aFlTZVdkN3Vhbzl1OHZQejZlcnE0cU9QUGlJOFBIeEFnYmxXcTZXZ29JQ0lpQWlyZFNVbEphSFZhcm43N3JzQlN6YTdPNURSYXJYY2Q5OTlOelRSNHE2NzdtTDE2dFZvTkJxVVNpVm56cHhoNU1pUlFxbXNScU9ocHFZR2tVaDAwMGJnRFpXaW9pSzJiTmxDVlZVVnpzN09aR1ptQ2lNS3V6TzNqejMyR0c1dWJqUTNOOVBjM0V4Z1lDQ1ptWm1FaFlXeGVmTm1pb3FLK09LTEwzQjBkRVNsVXBHU2tqS29MTyt3WWNOSVRrNm1xYWtKc0dUbEwxMjZ4S3BWcXhDSlJKaE1KbXByYTJscWFrS2xVbDMzczJsdmIyZno1czBFQndlelpjc1dJaU1qY1haMlJxZlQ4ZkhISHpOeDRrVEIvQk1zMStQT25Uc1pOMjRjWThhTW9hU2toT1BIajdObXpSb1NFeE9aT0hFaXdjSGY5ZDVxTkJxS2lvb29MeStudUxpWWtwSVNUQ1lUS3BXS2NlUEdFUmNYaDlsc0ZrYWVGaFFVOE9xcnIrTHY3MDlsWlNXLyt0V3ZCbnhlN096c2VPS0pKNFMvWDN6eFJXSmpZNm12cjhmQndjSHF1akVhamFqVmFyUmFMWVdGaGF4ZHU1YTZ1anJobklLbHF1RFJSeCsxT2g2ejJVeG5aeWNlSGg3VTFOVGc3ZTFOVGs0T0N4Y3V4TlBUayt6c2JFNmNPSUc3dXp0QlFVR2twcWFTbEpTRXY3Ky84RGw4K2VXWGxKYVdNbmJzV05MVCt5L2p2Ull5bVF5TlJrTnJheXNLaFdKSTAybnM3T3lJajQvbnJiZmVvckN3a1BuejV6Tjc5bXdjSEJ6SXlzckN4OGVIbVRObm90ZnJDUWtKWWMrZVBmem1ONzhaOGo3LzRJaU5oVGZmL0cvdnhRK2E3b2t4bloyZG5ENTltck5ueitMbzZJaXJxeXRSVVZGTW16WnR3SzF5Tm16WXNHSER4dld3Q1FvL01SSVNFbkJ4Y2FHNHVCaVZTc1hZc1dOcGJXM0Z3OE5ENk9mTno4L244dVhMWkdabUR0b2ZRS1BSY1BUb1ViNzk5bHRjWEZ4SVQwOG5NVEVSbVV4R2NYRXhCUVVGdUxxNm90Rm9zTE96bzZxcWl0T25UK1BrNU1TWU1XTjZsV1QzaGRGb1pQMzY5UUNzV3JWS0VDYTh2THo0OU5OUHljbko0VTkvK3BNd1F2S0JCeDdndGRkZTQrdXZ2K2JFaVJOTW16YU40Y09IWDdkY3ZLR2hnUTBiTmpCLy9ueWhoN2s3Y0xqYXpiMTdQVnF0bG1QSGptRnZiODlERHowMDRDei9vVU9ITUJxTnZjejI3TzN0ZTJWQzdlM3RhV3Bxd3MzTmJkQTkxWFYxZGJpN3V3dm4yTi9mbjkvLy92ZklaRExxNnVvNGNlSUVFUkVSZlBEQkIxUlVWRkJmWHkrOGQvTGt5VGZGUUhPb2hJYUdrcENRZ0tlbkovUG56MGN1bDZQVDZZUVNlcGxNeHI1OSt5Z3FLcUs2MmpMcXlzM05qV1hMbHBHYW1rcEVSQVNuVDU5R3I5Zmo0dUtDU3FYcXQwMUJwOVBSMnRwcVZRS2ZtWm1KMFdpa282T0QwNmRQNCtMaVFrNU9EcFdWbFZSV1ZncGpQZTN0N2ZuMXIzL2RwNmhnTnB2WnRHa1RjWEZ4akJvMWl0V3JWMU5SVVVGMGREUWJOMjVFcFZJUkhSM05talZyR0RkdUhJbUppZmo0K0ZCVlZjV2JiNzdKWC8vNlZ4WXZYa3g0ZURpWExsMmlyYTJOWGJ0Mk1XSENCSVlOczVUbEZoVVZjZWpRSVVRaUVTcVZpcVNrSkw3NDRndmk0dUtzdkI2Nlcxc2lJaUxJeU1oZzI3WnRPRGs1b2RmcmIranoyckZqQjM1K2ZtZzBHbXByYTZtdXJxYXFxZ3ExV28xVUtzWFB6NCttcGlhNnVyckl6TXpFMmRsWmFNTVNpVVM5UkV5SlJNTHp6ejh2L0wxbnp4N0N3OE5KVEV3RUlEMDluYWlvS0lxTGk0bU5qY1hSMFpGdDI3YXhidDA2bGkxYlJueDhQRzF0YlR6OTlOTTN4VmVqb0tDQXI3LyttbzZPRHJ5OXZZbUlpR0RhdEdtREV2aG16WnFGUXFIZytlZWZSNmxVQ3Q0MWVyMmU1Y3VYQzk4elRVMU4zL3NVR1JzL1hycUZCYVBSU0V0TEN5MHRMWlNWbGJGbnp4NGNIQnlZTjI4ZXMyYk53dC9mSDZWU2VVUGptMjNZc0dIRHhrK1RXMVpRTUJxTjVPWGxEYXBIZUlnYmdpdEJBUGIyTUlnc2JINUJJU2FESHN3bURJYkJ6N2I5YnlDUlNFaE5UYVd3c0pEWTJGamhBZGhzTm5QbXpCbXFxNnM1Y2VJRThmSHhqQm8xYXREcjcrenNKQ1ltaHZIangxc0YzczNOelh6d3dRZTR1cnJpNE9EQXVuWHI2T2pvd01uSmljYkdSam83T3psOCtERExseSsvYnIrN1RxZGp3NFlOU0NRU0huNzRZYXZySXp3OEhBY0hCL3o5L2EzNnN2MzgvTGpubm50NDk5MTNhV3hzWk5PbVRXelpzb1dZbUJqaTQrTkpURXpzMVNNM2JOZ3duSnljMkxScEUwYWprVEZqeGdqTDlGeldaRElKQWZxMmJkc3dHQXc4OHNnakE1Nk9vZFZxeWNyS1l0eTRjWGg2ZXFMVmFnVVJRYWZUQ1dKSmRYVTFCb09CVFpzMlVWZFhSMmhvS0N0WHJoelUvWkdYbDhldVhic1lObXdZQ29XQ3RyWTJZY0tId1dCQUpwT2gxV3B4YzNNalBEeWMwYU5INCtYbFJVQkF3SC9kVTBFa0VsbGwweTVjdU1BNzc3eERiR3dzd2NIQmVIaDRNR0xFQ0NaTm1vU0Rnd083ZCs5bS8vNzl0TFJZZWhyZDNkMEgzWllna1VoWXMyWU5ibTV1QkFRRVlEQVlhR3hzcEs2dVR2Qk9jSFIwUkNRUzRlN3V6dGl4WS9IMDlNVEh4NGVBZ0lCclBwanYzTGtURnhjWDdyenpUbUhjcEp1Ykd6dDM3aVFrSklSSmt5WmhNcGtvTHkvbjJMRmpRdENzVXFuUWFyWENmWldhbW5yTktSWUpDUWxXTFF0YnRtd0J1T2IxVWx4Y3pGZGZmY1drU1pNNGQrNGNMNy84TXVQR2pXUHk1TW1EOGg5cGJXMUZvOUV3Yk5nd01qSXkrUExMTDlGb05BUUZCUkVmSDA5Z1lLQmdhTGw3OTI1MjdkcUYyV3pHZXhCbDdRVUZCWnc0Y1lMSEgzOGNRQmpONk9ycXl1blRwL255eXk5NTl0bG44ZkR3d0dnMENpTEYxYTBsUThWc05wT1VsTVRpeFl2WnMyY1BodzRkNHZEaHcrVG41dzlxWkdqM2Q2K0hoNGNnRG5wNGVQVEtHbXMwR2tRaUVlZk9uYU9xcW9yeThuSjBPaDJwcWFsRE5vYjhqMkUya25mNU10S2JNN0hWeGdBb0xDd1VmRGNBNGJld1cxam8rZStPamc0Kyt1Z2pQdjMwVThMQ3dvaUxpeU0wTkpSUm8wWVJGaFkySUlIZmhnMGJObXpZdUdWL0xicTZ1bGkvZnYzM3I1WWJETkRlRG1Zek9EbkJJSDVBRFFZRFpxMEdHUWlaeVZzVnRWck5xVk9uOFBYMUpTRWhnWGZlZVFlTlJvUEpaS0trcEFTSlJFSlhWeGNoSVNHMHQ3Y3plL2JzSVcybnIreGZlWGs1NzczM0hnRUJBU3hkdXBTdXJpNTBPaDN1N3U2SXhXTFdybDNMNWN1WE1ScU5WZzg5VjlQZTNzN0dqUnRKVEV3a0xTMnRUek0zTHk4dm9VMUJyOWZUMHRLQ3A2Y25zYkd4UFBQTU01U1VsR0F3R0xDenMwTXVsK1BrNU5TbjRZNUVJbUhXckZsczJMQ0JyVnUza3B5Y0xHeXY1L0xkRlFybnpwM2o1TW1UUFBUUVF3TVdFNXFhbWxpM2JoMWRYVjA0T0Rpd1pzMGFpb3FLaUl5TTVQNzc3NmVqb3dPZFRzZXJyNzZLazVNVGl4Y3ZadGl3WVVLYndtRHZEWlZLUlVkSEIxNWVYa0pHMk1IQkFTY25KOXpjM0c1WjM0UytpSW1Kd2NIQmdRa1RKaEFSRVVGRlJRWHU3dTVDSmpjc0xJeURCdzhTRnhjMzVHMUlKQkw4L1B4b2JXMFZqREtqbzZOUktwVzR1cnBlY3hMQTlUaDc5aXdlSGg2Q0IwTjM4R2xuWjhlNGNlT0VJRk1zRnFOVUtxMnFLSnlkblllVXFlNnVHcEpJSkJ3NmRBaTFXazFHUm9iUVI2MVdxM24zM1hjWk8zWXNzMmZQWnNxVUtYend3UWZzMzcrZm5Kd2NVbEpTR0R0MmJMOTkxM1YxZGF4ZHU1YjI5bmJCcTZMbmVOcXI2UllPeTh2TE9YdjJMRWFqa2RUVVZLdFdoNnU1Y09FQ0d6ZHVKQ1ltaHQyN2Q5UFEwRUJvYUNnUkVSRW9GQXBXckZqQnZuMzdyTzdSRy9WT3VacnVZRTJoVURCbnpod3lNakxZdTNjdlo4NmNvYlcxOWJyaW05Rm81STAzM3NESHg0ZjU4K2Nqa1VpUXkrVmtaMmV6WmNzV3hvMGJSMWRYbDVCSlZxdlZxTlZxWkRJWkJ3NGN3Tm5aR1E4UGp4L01DRW1SeWNDNzY5NGUydTk0ZDFEY2p5R2FEV3UwV2kwNm5hN1g2OWNURnZSNnZUQ0JwZHVZTkRBd1VKZ2dkQ090ZFRaczJMQmg0OGZQTFNjb3VMdTdDNWxhazhtRVZxdjlmamRvTUZnbVBKak5vTlZhS2hZR2lORm94SXdaRUYwM0VMNFZjSGQzWjlpd1ladzdkNDRkTzNhUWxwYkd0R25UME9sMDVPYm1rcDZlTHZSc2Q1ZE4zeWdtazRtc3JDejI3dDNMNU1tVG1UQmhBbUt4MkNwTGV1N2NPUzVmdm95dnJ5OC8rOW5QcnZtZ3JGYXIrZmJiYjduNzdydHhkYlU0cnBhWGw2TlVLcTE4RHJvTit0NSsrMjBLQ3d2UjYvVXNYcnlZa1NOSDR1Ym1OcWhNKy9EaHd6bDU4aVRuejUrbm82T2pUMEhCWUREUTBOREFOOTk4dzBNUFBVUklTTWlBMTI5dmIwOWRYUjNCd2NIWTI5dVRscFpHVVZFUlJxTVJxVlJLVzFzYmtaR1JCQVFFSUpmTGhjOUZyOWNUSHg4LzZMR0IzWUhRNk5HamhYUDRRMFVrRWxtMTQrVGs1SER5NUVudXUrOCtvcU9qa1VnazJOblozYkR2Zzhsa0lpZ29pTkdqUjkvb0xnUDArdHk2cyt2Mjl2YTl4QUs5WG0vMUlDK1h5NGVVTWR5OWV6ZFNxWlRvNkdpY25aMDVjK1lNWjg2YzRROS8rQVAxOWZXc1hidVdFU05HTUhldXhZMVpvVkR3d0FNUDhOVlhYL0hOTjkrUW5aMU5kblkydnI2K3hNWEZNV0hDaEY3MzZkbXpaL240NDQ5SlNVa2hMeSt2MXo3b2REcnE2K3VwcWFtaHVycWF5c3BLS2lvcUFEaHo1Z3orL3Y3NCtQaGM5L09xcTZ2am5YZmVBYUNtcG9hb3FDaHV2LzEycEZJcGRYVjFyRm16Qm5kM2R4NTU1QkhCNThERHcrT0d2RnI2d21nMFdtV0EzZHpjV0xCZ2dkQXlkajBrRWdtK3ZyNGNQbnlZT1hQbUlKRklrRWdrdUxtNU1YWHFWSUtDZ2lndUx1YkVpUk9DMzhYbXpadUppNHNUUktnZkZHWXplcjNlNm53TkNLTVJPam9zLzNad0dGVGw0RThkZzhGd1E4OGozZWFnR28wR3JWWjd5ei9iMkxCaHc0YU4vejYzbktEZzcrL1BuLzcwSnhvYkJ6YkQ5NFk1ZFFyKytFZUxtUERZWXpCODRDTS84Z3NLK2Z2cWY2SHQ2cnJsWjRTTHhXSUNBd01KREF4azFLaFJ2UGZlZTdpNHVPRG82SWpaYkw1dVZuQW9WRlpXc25YclZ0emQzWG55eVNlNWNPRUNPVGs1REI4K1hBaEc2dXJxMkxScEU2NnVycXhjdWZLNldUYzNON2RlUGZ4bnpweGg3OTY5cEthbUNzYUZVcWtVSHg4ZmhnOGZ6c1NKRS9IMzk3K2gvdVBGaXhlemJkczIzTnpjcUsydEJlaGxNbmZ3NEVFZWZQQkJZYXprUU5tMGFSTUdnNEdrcENUUzA5TXBMeTlISXBGdzk5MTNJNUZJcUs2dUppd3NqSmlZR05hdFc0ZkpaQ0k2T3BxV2xoYXIwWlVEcGFtcENYdDcrMEg3WXR5cTlCUjJQRHc4ckZwRWJoYU5qWTFXNW9nM3l0VWlVSGVyVkYvakhEVWFqVlhGajB3bUc3U0lWRk5UUTA1T0RrdVhMaFdxSTU1NDRnbXlzcks0ZVBFaW4zMzJHWk1tVFNJakk4UHFmWjJkbldSa1pKQ2Fta3AxZFRWU3FSUVhGNWRlM2gyZG5aMXMyN2FOSTBlT01INzhlT2JObThjTEw3d2dCQ0Z0YlcyOCsrNjdsSmFXWW1kblIzQndNRUZCUVdSa1pLQlVLbm4xMVZlNSsrNjdCM1R2ZUhoNGtKYVdSbHhjbk5Yb1RyMWVqN2UzTjcvNHhTL1l1WE9uMEw3VDBOQ0FxNnNybFpXVnFOVnFhbXRycWF1cnc4dkxpL0hqeHcvcE83dGJBQnJzNTlDVGtTTkhjdmp3WWVFekY0bEVqQmd4UXZnT0Rnc0xFNm9xV2xwYXFLbXBRYWxVb3RQcHZ2OFd3SnVNV1NKajVjT3JpSTBacEVoOTZoVDg0UStnMTF0K253Znh1L3hUNThTSkU2eGZ2NzVYMVdSZndrRDNkU3lWU2drTEN5TTJOcGF3c0RCU1VsSUlEdyszdFR6WXNHSERobzBCY2N2OVdvakZZcXNIcXUrZDluWkxoVUpYRjBSRVFBL0RzdjZRU09XSXBUSVE2WDVRUDd5ZW5wNDg4c2dqckZtekJyMWVUMkJnNEUwVFJBd0dBOGVQSDZlam80UEZpeGNMbVhDVlNzWHJyNy9PbmoxN2VQcnBwekVZREx6OTl0dElwVkpXclZyVmI1RGJWK1l5T1RtWnZYdjMwdG5aS2J3bWxVcng4UEFZOE1pNy9sQW9GQ3hjdUZENHU2K0FjTUdDQllNV0U3S3lzbWhzYkJUbXpvT2w5elU0T0JoUFQwK01SaU5WVlZXb1ZDcWtVaWxMbGl4aHpabzFORFkyb3RQcGhpUW9WRlpXb2xLcGJpZ1l1cFhRNlhTQ3FLRFg2eEdKUkVLN1NWOGx2NE9scTZ1TGhvWUdnb0tDYm5oZDE2SjdQNisrdnJ1OUZhNzJFeGxNcHRkb05QTFJSeDh4YXRRb0VoTVRPWGJzR0dDNXBrVWlFVjk5OVJValJvd2dLaXFLMXRaV0dob2FxS3lzcEtpb2lIUG56bUUwR29tT2ptYisvUGw5dGpMdDNidVhyNy8rR3AxT1IwWkdobUFxMm5NZm5aeWNlUHp4eDJsdmI2ZXNyQXgvZjMvaE82SDd2dTE1LzE0UGlVUmlkUy9tNStkejh1UkpJaU1qTVJnTWRIVjE0ZVRreEJkZmZFRkRRNE13K25iZHVuVkNpNU5jTGtlcjFYTHg0a1dTazVNSGZDNjc2UmFBYnVRZUNnd01GRXhGZTA2T0tTOHZwNjJ0amRqWVdHSFpVNmRPWVc5dno5aXhZM252dmZlNC8vNzdmMWltZVNJSlVjT0dXUm1CRG9qdTMyV3RkdEMveXo5MW1wdWJlN1hsWFUzMzlldmc0TUNNR1RPWVBuMDZnWUdCdUxxNjN2TEpFUnMyYk5pd2Nldnh3NG1DYmR4VUhCMGRXYmh3SVd2V3JDRWdJRUF3TDd0UnBGSXBhV2xwdlY0UERnNW01Y3FWdlBQT094dzhlSkRqeDQ5ak5wdDU5TkZIaCt5Njd1M3RqVWdrc25xL1NDVDYzc1liaWtTaVhuNExScU54MEJVUVo4K2U1ZFNwVTZ4Y3VaTGR1M2R6N05neGpoOC9qa1Fpd2NQRFF3aDRuSnljaElEUzBkR1J1KysrbXpWcjF1RGs1RFNrYzFaY1hIeERuZ0szRW1hem1aYVdGc0hBc3JtNUdWOWZYK0d6YjJ0cnUrSHJvS1NrQkxsYy9yMEtDdDB0WFZmdjY4V0xGMUdwVkZhdEtTYVRhVkNCN0xadDI3QzN0MmYrL1BuQWR6NHZZckdZbVRObk1tWEtGUDc0eHo5eTdOZ3hZbUppOFBUMHhOUFRVeGhadVduVEppNWR1c1Rldlh0WnRHaFJyL1hIeDhlVG01dExZR0FnZDl4eGgvQzYwV2dVTXZuZE9EbzYwdG5aeVYvKzhoZVdMbDBxVEg0Qml6SGNRTkZxdFp3OGVaSkRodzdoNStmSC9QbnprY2xrSERwMGlLcXFLcUcxU3lRU3NYSGpSaDU1NUJGaHZPak5vUHZ6dWhGQlFTS1I0Tzd1VGtkSEIzVjFkVFEzTjdOaHd3WlNVbEtZT0hHaXNGeG5aeWZmZlBNTlk4ZU9aZmp3NFZ5NmRJa05Help3MzMzMy9WZEh1TnI0NFNFU2lSQ0pSTmpiMjZOVUtvbU1qR1RXckZrL3pEWWFHellHU0pkV3o0R1RlYlMxZHpGdFRDek9qZ01YeS9RR0l3YWpFWVZkMzFWaGVhVTFuRGhmeW9qb0lLTERCcGRRc21Iang0aE5VUGlKb3RGbzJMSmxDMEZCUVJnTUJ0NTQ0dzB5TXpQeDhQRDQzcllaRmhiRzFLbFQyYlp0RzM1K2ZqejQ0SU0zMU12ZmJXaldjN1JpWDBIL3plTHFkWGVQMXBOS3BlajFlbHBiVzJscGFhRzF0WldPamc1a01oa1JFUkZXdmcybHBhWFUxdGJ5NktPUEN1WlhFUkVSZ3BOL045bloyYjBjM0RVYURXQUp3STRlUFhwTmgvKythR3Bxb3F5c2pNek16RUVmOTBDcHJxN0cwZEVSSnllbjcyMGIzWFFiVm5aLzlzWEZ4VmFCbzF3dXYyR1R5ZE9uVHhNVEUvTzlWaDkxZG5iMkNnNk5SaVBIamgyekNpNjdYeDlvUC9PQkF3ZG9iR3prd1FjZkZQWmZyVlpiQ1c0S2hZTFkyRmhhV2xwNlhSZmQ0b092cjIrdmNhYmRlSHQ3ODlSVFQvVjZYYWZUOVJJVXdGTHFYMWhZU0VsSkNZbUppVUpRM2wrRlFrZEhCMTkvL1RVMU5UVVVGeGNqbDh0WnVIQ2hWUlhTNU1tVHJkN3o4Y2NmQzM0OGFyWDZwb3lLaE8vT3kxQ3ZDYTFXUzJscEtYcTlubGRlZVFXcFZNcjQ4ZU1aTTJaTXIzYWQ3ZHUzSXhhTGhla2tkOXh4QnkrOTlCSWZmdmdoUzVZc3NZa0tOcTVMOS8ybFVDaUlpb29pT1RtWm1KZ1lZdjkvZTNjZUZkV1o1My84QTFYc0tBS3lDQ2lyNG9KUjR4cGNvaEZqTktZN2FYVGFFRzA5SnByMlpKbnBKTk9aN2xsN2V1WjNKbW45VFp6cG5QVDBsbTRUdTJQTXFOMngxUTR1dUNUR3VCQlJFWkVJQVNJZyt5WnJWYzBmRmNvdVdhd0N0RkRmcjNNOHArcFM5OTduZ1VyZ2Z1cTUzKy9Zc1U2dnFBTUdzbmFUU1MydDdXcHViZE5YWlRYS0t5eFQxcVZpbmJ2MGxRenU3cXFxYTlUdjl4elhqNTkvWEdQaWVtNFgzU0VudjBRL2V1dVArc0VoWWZHQkFBQVlNa2xFUVZReml6VjViT2ZhV0pHaGdmclJXMy9VcjNjZTFkclVPZnFyaGM1M1JRUHVKZ1FLOXhpTHhhTHM3R3h0Mzc1ZG9hR2hXcjE2dFl4R283WnMyYUlOR3pZb0pTVkZzMmZQN3ZkN2RVMG1rL2J0MjZmMDlIUk5uanhaUzVjdTdaZHplSGw1ZFFvUS92SVA3WWFHQnRYVjFhbTF0VlgrL3Y2OXVyRG82QlpSV0Znb3M5bXNBd2NPcUxLeTByWXNmZE9tVGQxMitUQWFqVnExYXBWdEdYTjRlTGhkdllvcFU2YllCU0tTOVVLMnRMUlVhOWFzc1czTHpzN1dPKys4bzRjZWVzaldQcks0dUZpUFB2cG9wLzI3Y3VyVUtjWEV4UFRZa3JNdnRtN2RhdXNrc0c3ZE9pVWtKTnlTODNUdzgvTlRXRmlZN1I3NTh2SnlQZm5razdhdkp5WW0ybjQrdmRIUzBxS3NyQ3l0V3JXcVA0YmJyZkx5OGs1TDJBOGVQS2pCZ3dkM0NvdzZBcVdidVhyMXFyeTl2YlY2OVdxN2kvYTZ1cnBPRjZIUjBkSDY1Sk5QT2gyanNySlNrclJzMlRLSDNsODFOVFZxYkd6VTRNR0RleHhuYW1xcUxXem91RFhpWm9WM2ZYMTlkZTNhTmVYbTVpb3hNVkhMbHkvdnNlcDhibTZ1VHA0OHFiUzBOUG42K21yanhvMktpSWpRb2tXTCt2eis3M2hQOVNaUXlNek0xTHZ2dml2SjJyRmowYUpGbWpadFdwZkhPblRva0Q3NzdET3RXN2ZPdGdMSzI5dGJ5NWN2MTg5KzlqTmR1M1pOSzFhc3VHTzZQZUQyaTRpSTBPTEZpelZuemh5RmhZWDFxaXNOY0NmSU9IRlIvN1ZsbjVwYTJwUXdQRlFQVEl6WDBwVEorb2QxUy9UMmpxTjYvNk9Ua3FTOG9xc09Cd3BWdFkycWJXalNvWk81WFFZS2ZqNWUrdkh6VCtqNy8zK2JDcTcwL204TjRHNUJvSEFQYUcxdDFaVXJWMVJZV0toang0N0owOU5UVHp6eGhOMzkreXRXck5DT0hUdTBlL2R1SFQxNlZOT25UOWVrU1pQNjVRSTBQejlmMjdkdlYxVlZsWjU0NGduTm5EbXp6OGZzNE9ucHFacWFHcDA5ZTFZVkZSVXFMaTVXY1hHeFRwOCtyY3JLeWs3MzBrZEhSMnZ0MnJYZDNpZDY4dVJKN2QrL1g1STFTR2hxYWxKemM3UDgvUHdVR0Jpb3NXUEhxcWFtUmtGQlFZcU9qdGFERHo0b2IyOXZlWHQ3eTJBd3FMMjlYYTJ0cldwcWFsSjFkYlZxYTJ2dHhuRGp4ZG1OdDB2VTFkWHBEMy80ZzFhc1dDRWZIeC9WMXRZcUl5TkRGUlVWV3JkdW5lTGk0bVEybTFWU1VxS1BQLzVZNTgrZjE3eDU4elJ0MnJSdUE1cW1waVlkUG54WVR6MzFsTlBmWDBmbDVPUklzZ1pIRnk1Y3VPV0JnaVE5Ly96ek1oZ00yck5uaitMajR4VWRIYTMwOUhSbFpXVXBNVEZSa3laTjZ2V3hqeHc1b3JDd01JMGFOYW9mUjl4WlFVR0IzU2ZUMmRuWnVuejVzbGF1WE5rcEtLdXVybmJvVStuUTBGQ0Zob2JhYmVzSUNHNThqNHdZTVVKNzkrNVZVMU9UclZWaFRVMk5zckt5NU8zdDdYQzd1RUdEQnVuRER6L1VtVE5uSkhWK1gzZm82R29nV2NNK1J6MzU1Sk5hdUhDaFhVZVhybHk1Y2tXLy9lMXZOWDM2ZEZ1TmhLZWVla3B2dnZtbXNyT3psWmFXcG9sOUtQQlhXRmdvU2IwcS9qbHAwaVRWMTllcnZMeGNqejc2YUpmSHNGZ3N5c2pJMElFREIvVGQ3MzYzVXkyaGtTTkhhdmJzMlRweTVJZzJiTmlneHg5LzNHNjFCekJxMUNqOThwZS83TmRpc3NCQThORW41N1Q1dzJOS1NvalVtc2RuS1RUWSt2c3BaY1pZUFRBaFhyVU5UWW9JdWI3cTlkT3N5L3J3MEJrOTg2M1pldnloU2ZMeWREeFEremd6VHpFUlEvVkMydnh1WHhNWEZhSmYvbWkxMnRxc3RYV2FXOXQwOG55QmlzdXFsVHd4UVNQQ2UvNTlCZHhOQ0JUdVlnME5EYnA0OGFLcXE2dHRWZHJYcjEvZjVVV0N1N3U3VWxOVEZSSVNvbDI3ZGlrOVBWM3A2ZWtLREF4VVltS2k0dUxpYkFVREhWVmNYS3g5Ky9icDNMbHptajU5dXA1OTl0aytMVU12S3l0VGVucTZXbHBhVkZkWHArcnFhclczdDZ1NHVOajI2ZWlVS1ZOc0YvaEdvMUZHbzFGdWJ0YTJuaDFMeG51NktKc3laWW9DQWdKVVZGU2t3TUJBaFlXRktUZzQyS0ZQYWZ1cW9hRkJtemR2MXJKbHkyd3RJbzFHbzVZc1dXSTNabmQzZDYxY3VWSmJ0MjdWcFV1WHRHdlhMaDA4ZUZESnljbWFOMjllcHd2Um5UdDNhdVRJa2YzV0RyUXI4K2ZQMSs3ZHU5WFMwbkxiV2xMNit2cHE3OTY5eXMvUHR5MjlYN0JnZ2J5OHZHemZrOUdqUjl2Q0dVZVZscFlxSXlORDY5ZXZ2MVZEdC9IdzhMQzdKY1ppc1dqdDJyVmRYaUEyTmpiMituM1ljYndiaTU5R1JVWEpiRFpyNDhhTkdqSmtpQVlOR2lSL2YzOUZSa1lxTmphMjI1VTNOeklZREVwTFMxTjVlYmxxYW1xNnJUdlJzVklpS0NoSTU4K2ZsNlNiaGdRZGJ2YTZ6TXhNZmZEQkI1b3hZNGFXTEZsaTJ4NGRIYTNVMUZTOS8vNzcyclp0bThhT0hkdnIxVkVkS3hRY0RWcHVOR2ZPbkc2L1ZsZFhwL2ZlZTA4V2kwVXZ2ZlJTdHkxdWx5eFpvcEtTRXVYbDVXbno1czBLQ3d2VDNMbHpOWFhxVklJRjNOS2FMNEFyTFhoZ25DNFdsT3FQR1dmVTJ0YXVmL3J1TjJ4ZjgvUHhrcCtQbC83N2QvdFZYRmF0Q2FPaWRDRy9SUC96VDkvUnNCRG4vaWFwcW0zVUo1L242U2N2TDFOalU0c09uYnlvUmJQR3k5UERxUEtxT2htTkJnVU85cFBKWkZaWlpaM09YQ3pTNXptRnlpdTZLaDh2RDEwcHI5V3Z0aC9SbzdQdjA5K3NYTkRmM3daZ1FDSlF1SXY1Ky90M3VnLy9adWJNbWFPRWhBUmxaR1Nvc0xCUTlmWDF5c3pNMUprelorVGo0NlB3OEhDbHBLUjAyMmJTWkRMcDRzV0xPbmJzbVBMeThqUnAwaVM5OHNvckNnOFA3L044d3NMQ05IMzZkT1hrNU5oQ2p2RHc4SDZ2bVRCeTVNaCtMZVRtaUphV0ZtVm1abXJWcWxWMk5RaTZXOUxzNCtPajFhdFgzL1M0Qnc0Y3NLMXV1SlZtelpxbDRjT0g2ODAzMzlTRUNSTnU2YmtrNjZxYjdkdTNxNkNnUUMrKytLTGR4ZWFjT1hNVUZSV2x6WnMzS3ljblJ3Y1BIblM0K0ZodGJhMSs4NXZmYU9uU3BZcU1qTHhWdzdlWk1XT0dTa3RMYmM5N0twb1pIQnpjNi92bWh3MGJKbDlmWDRXRWhOaHROeGdNbWoxN3RoNTU1SkUrLzNka01CZzBiOTQ4K2ZyNmRydTAyc3ZMU3lkT25OREJnd2R0ejJOalkvdDAzdExTVXUzWnMwY05EUTE2K3VtbnUrd1FOSDM2ZE5YWDEydlBuajFxYm03dWRhQVFFaElpZzhIUTdjVitiMVZYVit2bzBhTktTVW01YVllampzNDRWNjlldGEzeThQWDFKVXdBY0ZkemMzUFRDMmtwaW8wTVVXMUQxN1YzbnY3V2JQM25PeDlweSs1UDlZZE5MeWdudjBTN2o1N1Z1UGdJVFV1S2RlajMzTGFQVG1qUjdQRWFFeGVoUDM5OFRqLzkvUUhsNUpmbzFUV0x0ZVZQeDFWUlV5OVBENlBxR3BvMExHU0lFbVBDdFRaMWptSWloK3BVZG9GK3NHbTdKaVlPMStTeC9kdU9IUmpJQ0JUUVNVUkVoTkxTMHB6YXA3S3lVcG1abVNvcUtsSkFRSUNtVHAycWxTdFg5bnN0QmxkYzdOOE9YbDVlbWoxN2RyOGVjOSsrZmFxcHFkR3p6ejU3Vy9yWFoyUms2T0dISCs3MXA3ZU82Q2hZbUptWnFmdnV1MCtwcWFsZFhyekd4Y1hwZTkvN250NTk5MTJWbFpVNWRPeXFxaXB0MjdaTnFhbXB0KzA5Tm5yMGFJZVhKcythTmN2aEZRTTNjbmQzMTVvMWE3cjgyZlJucGZlYjNXYmk3dTZ1SlV1V3lNZkhSN3QzNzdZOTdxMkNnZ0lWRnhkcjBhSkZOdzB0VTFKU05HYk1tRDY5UHg5NDRBR1ZsSlQwZTBIRXdNQkFQZmJZWTA3dDA5V3RMUUJ3dDF2eW9QMkhGaFhWOVRJYURmTHlOS3J3U3FYR3hVZW9ycUZaR3pkL0pDOFBvdzU4ZGtIdjdmbE1yNnhhcUlVems3bzVxbFh1bDJVNmZqWmZiLzc5VXpLYnpkcHg0TFJpSW9acWJlcURPbm0rUUhzK1BxdDMvdDh6Q2czcSt2ZkkvdU01ZXYybFpabzBtcFZDdUxjUUtDUWtTUC82cjFKN3UvVXhlaVU0T0ZncEtTbXVIZ2ErMXRqWXFISGp4dDIyYXQ3NzkrK1h3V0RvVkcyL3YrWGw1U2syTnJiTDFxUTNDZ2dJMEhQUFBlZndSWGhkWFozV3JGa3pZQXVYM2V5VDY1dnA2MHFBL2pSLy9ud2xKU1gxdVVaTFRFeU1ZbUk2Rjh6cVRsOVhuUXdlUE5paGxVSG9JM2QzeWN0TGNuT3pQZ2FBYmhSY3FkUVBOdjJ2a2ljbWFQcjRXQjArbGF2R3BoYTk5cjJsa2lRUEQ0TjJIc2hVZEVUUFhjdzZWaU04Tm5lQ2NndktsUDNGRlZYWFh0TlBmNWltb0FBLy9mc3ZkbW5HZmZIZGhnbVM5TkozSHBhSGtRNDh1UGNRS0VSRlNXdlh1bm9VUUwveTgvTzdiUlhnYTJ0ckZSZ1lxSWNlZXVpV0w3dnVUUjBJUnd2b09YTmhpcjY3VlIxSGNCY1lOVXA2L1hYSlpMSStCZ0JKRlRVTk1wdk5kaGYxRXhPSHk5UERvRVd6a2pUanZuaDlVVlN1blB3UzI5Y1RZNnlyMTRZRzl0elMrbFQybC9MeU5LcTZ0bEVuenVWcjU0Rk0vZVRsWlFyNStseXBLWk5sTmx2MGp6L2RvVmRXUDZJQWYrdnF1dloyazNMeVMzVGlmSUhPWEN5U0pLMzY1a3hXS2VDZVFxQUFvRThDQWdKc0ZmVUJvTS9DdzZWdmY5dlZvd0F3QUpqTlp1VVZYZFh4ck12NklQMlVtbHBhdFhMSkExcjVXTElreVdnMEtDakErZ0ZLVG42SmlrcXJsUDlWaFpZOHQway9lWG1aZ29kWWk0RmJ2bTVWM0oyL1dibEFuaDRHV1N6U3l4dTI2b1cwK1hadEpwTW5KdWp0blVlVmxWdXNzN25GS2lxdDB2a3Z2dExaUzE5cGFLQy9KaVlPMXpmblRkSzRoSWdlVnpFQWR5TUNCUUFBQUFBRFRubDFnL1ljT2F2UW9NR2FtaFNydzZjdWFseTgvZTFyUm9OQmRRMU5LaTZyVm10YnU4YkVEZFBmcjEyaW9BQS9YUzR1bHlUVk5qVGJWaHQweGRmYlV4YUxSYSsvdlZkajRvWnA0Y3drTlRhMTZNc3JsUm9iSDZIU2lscjlNZU56L2ZQNmIyaGk0bkRsNVBzcEtNQlB4OC9tNjlVMWl6UXF1dS9GeDRFN0ZZRkNUWTEwNFlKMWFXVlNrblNiV3Q0QkFBQUE2RjVZOEdEOTlRcHIrOFZONzZicndTbUp1ditHRGdxdGJlMGFPbVNRSGs1T1VrM2ROVlhYWDFOMVhhT3VOYmRxOE5lM0psVFUxQ3RoUlBlRmJCdXZOZXVOTGZ1VWxWdXNoNVBINmNYLytKMUdoQWNwN2RFWk1wbk1ldTNYZXhRYk9WVGpSMGJKM2QxZFkrTWpsUDlWdVpJbkppakEzMWNmSFR1djA5bGZLbmlJdjc2OWNLcnR2TUM5Z0VBaE8xdGF2MTVxYnBiZWZsdEtUbmIxaUFBQXVIZlYxMHVYTDBzV2l4UWZMdzNxK2Q1bkFQY0dEdytqdkUyZGIxMm9hMmhXUlcyRGZ2Ry9oNVZ4SWtkWHErcDE0WXNyV3BBOFRxa3AxdmJwVjZ2cWV6ejI0ZE9YbEhIaW9ueThQZFhXWnRJL3JsdGlXOUd3NVUrZmF0R3NKTlUzdHVqbzZVdWFOMjIwM256dmdNNWNMRkwwc0dEdDJIOWF3MElDTkNvNlRHKzluNkdxMmdhOXVxYi9PaWdCQXgyQlFtdXJkUFdxMU5Sa2ZRd0FBRnpuMUNscCtYS3BwVVhhc1VPYU85ZlZJd0l3QU53L0psci84YXZkK3VzVktUSiszYjYzdEtKV3phMXRpbzBZcWhIaFFTcXJyRlB5UkY4OXQveDYxeWwzZHpkVjFUYjJlT3pwNCtPME5uV09GczhlTDMvZjY4V2MyMDBtelp5WW9KaklvZHA5SkVzbEZiV1NKRzh2RDQwZkZhVVhucHh2ZDV6Zjd6bXU2SWloL1RWbDRJNUFQeVlBQUFBQUE5cjRrWkc2MXR5aTlyOVlwVkJVV2lWSkdoWVNvTkd4d3hRZVBGaUJnKzI3WEZrc0Z0VTM5dHhDT2lqQVQzKzFjS3BkbUhEaDhoVzk4VTY2ZkgwOEpVbHQ3U2ExbTB5U3BJaVFJV3BxYnRXaGt4ZjFxKzJIbGZ0bG1TVEp6OGRMWVJSbHhEMkdGUW9BQUFBQUJqUXZUNk1TWTRiSjI5UER0aTAwYUpDQ2gvamJCUUVoZ1lOVVczOU5aL08rVWxOem15d1d5Y2ZMbzZ0RGRtSTJtM1g4Ykw2Mjd6K2w5bmF6WGwyenlOYTE0VnB6cTB4Zmh4bEdnMEY1aFZjMVlsaXdob2NIMlRwTlNKTFowbk5IQ2VCdVE2QUFBQUFBWU1EWmMvU3NTaXRxZGFXOFJsOFVsYXU1cFUydmJOaXFwSkZSbWpJMldxTmpoK25GdE91M0hYaDVlaWgrK0ZBRkRQSlZhVVd0L21mYklVbFNZa3pQWFJndUZwVHFhT1lsN2YvMGdtcnFyMm4xTjJkcTZZTEpjbmUvdnBpN3V1NmFQQXpXNXhaWkZCa2FxT1dQVExNN1RsdTdTUTNYV3ZwcitzQWRnVUFCQUFBQXdJRGo3ZW1oSTZjdmFmYjlJL1hjOG9jMFpKQ3ZUQ2F6enVZVmErL0g1L1J2UDkrbDBYSERWRjEzVFZPVFlyUXdlWnhDZzYwckNwWXVtS0x5cW5wOW1uVlpEMHlJNy9ZY3JXM3RldjN0UFNvc3FkTHc4Q0Q5OUlVMHhVVjE3Z2hSVkZwbDZ4VGhhVFNvdUt4YXYvamdrRW9yNjFSZVhhKzVVeEpWVmR1b1JnSUYzR01JRkFBQUFBQU1PUE9tamRhOGFhUHR0aGtNN3BxWU9FSVRFMGVvc2FsRmU0NmUxWHQ3ait1TmQ5TVZGUmFvY1FtUmlva0lWdmpRQU4wL05scjNKUTVYYVdXZGZMdzk1R0V3eU9EdUptOHZUeG0rWG0zZzZXSFVmLzFkbWc2Znl0V2MrMGZLN3k5dW4vaExKZVUxdW05VWxDUXBLaXhJQWY3ZWVtQkN2RHc4akhKM2M5Tys0OWxxTjVubGJxQkVIZTR0QkFvQUFBQUE3amgrUGw1YXVtQ0t2algvZmgwNWZVbnYvL21FL3Z6eHVXNWZielM0YS96SUtDMmFOZDR1cVBEejhkS2lXZU43UE5mUUlmNktpd3FSSkNXTUNOV3JheGJaV2t0S1V2alFBTzA4a0tuNHIxOEQzQ3NJRkFBQUFBRGNzZHpkM2ZYZ2xFUTlPQ1ZSbjE4czFKOE9aK25FdVFLWlRDWkZoQVlxTVNaYzk0OFpvYWxKc2ZMejhlclZPWjUvY3I0aXd3SnR6ME51Nk9Zd3lNOWJhWXVuNi80eDBYMmFDM0NuSVZBQUFBQUFjRmZvdUIyaXY4VkVEcjNwYTFaOVkyYS9ueGNZNkFnVWpFWXBJRUR5OUxRK0JnQUFBQUFBTjhVVmRGS1M5T3RmUzJhejlURUFBSEFkYjI5cCtIQ3B0ZFg2R0FBQURGZ0VDa09HU01uSnJoNEZBQUNRcEFrVHBQZmZ0ejRPNzdsM1BBQUFjQzBDQlFBQU1IRDQrRWl4c2E0ZUJRQUFjQUNOVWdFQUFBQUFnTk5Zb1hEbGlyUi92OVRlTGkxY0tFVkV1SHBFQUFBQUFBQU1lQVFLdWJuUzk3OHZOVFZKTzNjU0tBQUE0RXBYcjBySGpsbUxKYytjS1lXR3VucEVBQUNnR3dRS0FBQmc0TWpPbHA1OVZtcHBrWGJzSUZBQUFHQUFvNFlDQUFBQUFBQndHb0VDQUFBQUFBQndHb0VDQUFBQUFBQndHb0VDQUFBQUFBQndHb0VDQUFBQUFBQndHbDBlK29IWlpGWlI4UlY1ZUhpNGVpZ0FBTGhVWWRGWGFqZTF5MkRnVDR4N2ljbGtWbTVodVR3OStMa0R3SzFRMTlqczZpRjBpZi9yOTRPVzFsYnQvbWkvakVhK25RQ0FlMXU3cVYxTlRjM3k5L2QzOVZCd0d6VzN0T20zdTQ3THc4UGc2cUVBd0YycHRwNUE0YTRUSEJ5azBKQ2hhbWxwbFNSWlhEd2VBQUJjeldBd3l0L2ZYME9EZ3hRU010VFZ3OEV0Rmh3Y3BQQ3dFTlhWMTB1UzJzd3VIaEFBM0tWOC9mems2V0ZVZUZpbzNOMEhUdVVDQW9VaFE2VGtaS21seGZyWUNWR1JFZnJQMS81ZGxWWFZ0Mmh3QUFEY21RSURoeWcyZW9Tcmg0RmJMQ295UXEvOTI3L29hbm1GcTRjQ0FIYzlMeTh2SmNUSHVub1lkdHdzRnN1OS9jRjZhNnRVV3l1WnpWSmdvT1RwNmVvUkFRQnc3enAxU3ZyaEQ2Mi9uemRza0NaUGR2V0lBQUJBTndnVUFBQUFBQUNBMHdiT3pSY0FBQUFBQU9DT1FhQUFBQUFBQUFDY1JsSEd2RHpwblhlczkybysvYlNVa09EcUVRRUFjTzh5bTYyL2s5M2NKQThQYVFCVnNnWUFBUFlJRklxTHBaLy9YR3Bxa2hZdUpGQUFBTUNWY25PbHQ5NlMydHVsRjE2UVJvOTI5WWdBQUVBM2lQMEJBTURBVVZvcWJkMHEvZTUzMXNjQUFHREFJbEFBQUFBQUFBQk9JMUFBQUFBQUFBQk9JMUFBQUFBQUFBQk9JMUFBQUFBQUFBQk9JMUFBQUFBQUFBQk9JMUFBQUFBQUFBQk9JMUFBQUFBQUFBQk9JMUFBQUFBQUFBQk9NN3A2QUM0WEVTRjk1enRTYTZ2MU1RQUFBQUFBdUNrQ2hWR2pwTmRlYy9Vb0FBQ0FKSVdHU284L0xwMDlLM2w3dTNvMEFBQ2dCMjRXaThYaTZrRUFBQUFBQUlBN0N6VVVBQUFBQUFDQTB3Z1VPbGdzMHJsejB1ZWZXK3NwQUFDQTI2ZWxSYXFva0V3bVY0OEVBQUE0aUJvS0hUSXlwSFhycExJeWFkVXFhZHc0S1NwSzh2ZnYrdlZ6NTlvL0x5aXcvbk9FdDdjMFk0Yjl0cE1ucFlZR3gvYVBpYkgrdTNIOGpwb3l4WDVlemMzU3A1ODZ2ajl6djQ2NU83WXZjN2ZmeHR3ZDI1KzUyMis3VytmZTNtNDlkbWFtZE95WTlPTWZTNHNYUzI1dWpvOFhBQUM0QkRVVU91VGxTYW1wVWxhVzlibVBqK1RySzNsNGRQMzZraEw3NXhzMlNCczNPbmF1cUNqcHhBbjdiU2twMHZuemp1My84c3ZTSzYvWWJ4czJ6TEY5SlNrOVhVcEt1djY4cUVpYU5zM3gvWm43ZGN6ZHNYMlp1LzAyNXU3WS9zemRmdHZkT25lejJSbzJORFZaUTRTVks2Vk5tNlNBQU1mSEN3QUFYSUlWQ2gwU0VxUjkrNlEzM3BDMmJMSCtZZFBXWnYxVXh4RW1rK092N2VxV2l0Wlc1ODUxSTBmMzdVNWY5bWZ1anIyV3VYZmV4dHdkTzllTm1IdnZNZmZldVpWemQzT3poZ2NoSWRJenowaC8rN2VTbDFmdnh3b0FBRzRiVmloMHBiM2R1bUtodkx6N2V6bFpDbnNkYzNkc1grWnV2NDI1TzdZL2M3ZmZ4dHdkY3lmTjNXaTB6alU4M1BvWUFBRGNNUWdVQUFBQUFBQ0EwK2p5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UFovVXo3bFFtY0FkcU1BQUFBQVNVVk9SSzVDWUlJPSIsCgkiVGhlbWUiIDogIiIsCgkiVHlwZSIgOiAiZmxvdyIsCgkiVmVyc2lvbiIgOiAiNTEiCn0K"/>
    </extobj>
    <extobj name="ECB019B1-382A-4266-B25C-5B523AA43C14-2">
      <extobjdata type="ECB019B1-382A-4266-B25C-5B523AA43C14" data="ewoJIkZpbGVJZCIgOiAiMjk3MjkwNTgxNTExIiwKCSJHcm91cElkIiA6ICIxMzg2MDA2NTgiLAoJIkltYWdlIiA6ICJpVkJPUncwS0dnb0FBQUFOU1VoRVVnQUFCRmdBQUFOdkNBWUFBQURwMjI0K0FBQUFBWE5TUjBJQXJzNGM2UUFBSUFCSlJFRlVlSnpzM1hkNFZHWDZ4dkY3WmpMcFBSQlM2QkFTZWtjQmY0QWdJR0FCRlpHMWd5SzQ5bDRXRzdpNkZrUXNXRUJkRkZGVWJDQUNMbFVRUWJwMENCQlNTZStaU1dibTkwZk1TQ1FJeVFtRTh2MWMxKzRGNTV5Yzl6bUJSTTZkOTMxZWs4dmxjZ2tBQUFBQUFBQTFacTdyQWdBQUFBQUFBTTUyQkN3QUFBQUFBQUFHRWJBQUFBQUFBQUFZUk1BQ0FBQUFBQUJnRUFFTEFBQUFBQUNBUVFRc0FBQUFBQUFBQmhHd0FBQUFBQUFBR0VUQUFnQUFBQUFBWUJBQkN3QUFBQUFBZ0VFRUxBQUFBQUFBQUFZUnNBQUFBQUFBQUJoRXdBSUFBQUFBQUdBUU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BQUFBQUFCaEd3QUFBQUFBQUFHRVRBQWdBQUFBQUFZQkFCQ3dBQUFBQUFnRUVFTEFBQUFBQUFBQVlSc0FBQUFBQUFBQmprVWRjRkFBQndKc3ZNekZSS1NrcGRsd0djOVJvMGFLRDY5ZXZYZFJrQUFKd3lCQ3dBQUJ4SFZsYVczbnZ2UGFXbHBkVjFLY0JaTHlRa1JIZmVlU2NoQ3dEZ25FWEFBZ0RBY2VUazVDZ3JLMHZGUlVXeWxwWEo3SExXZFVuQVdjZHBNcXZVby95Zm5GbFpXUVFzQUlCekZnRUxBQUFuWUhZNjFmQkltZ0tLQ3V1NkZPQ3NVK0RqbzRTSXFMb3VBd0NBVTQ2QUJRQ0FFekRKSmQrU0VnVVdGZFYxS2NCWngyVXl5K1J5MVhVWkFBQ2NjdXdpQkFBQUFBQUFZQkFCQ3dBQUFBQUFnRUVFTEFBQUFBQUFBQVlSc0FBQUFBQUFBQmhFd0FJQUFBQUFBR0FRQVFzQUFBQUFBSUJCQkN3QUFBQUFBQUFHRWJBQUFBQUFBQUFZUk1BQ0FBQUFBQUJnRUFFTEFBQUFBQUNBUVFRc0FBQUFBQUFBQmhHd0FBQUFBQUFBR0VUQUFnQUFBQUFBWUJBQkN3QUFBQUFBZ0VFRUxBQUFBQUFBQUFZUnNBQUFBQUFBQUJoRXdBSUFBQUFBQUdBUUFRc0FBQUFBQUlCQkJDd0FBQUFBQUFBR0ViQUFBQUFBQUFBWVJNQUNBQUFBQUFCZ0VBRUxBQUFBQUFDQVFRUXNBQUFBQUFBQUJoR3dBQUFBQUFBQUdFVEFBZ0FBQUFBQVlCQUJDd0FBWjdubVZ3NVhreUZEWmJKWTZycVVXbE92WThkejZua0FBTUM1ajRBRkFJQ3pYTU1CbDZqZCtQRUthTlRJZmN3N05MUld4MmgyK1JYcSt1aGphanhvc0V6bTJ2bm5RMERqSnZKdDBLREtjNzFlK0k4R2ZUSmJRYzFiR0JyRGJMV3E1VFVqWmZiMHJQSjh6S2pyOUg5VFhsTjAzMzZHeGprVE5CNThxUzU2K1ZWRjlPeFoxNlVBQUhCZUltQUJBT0FzNE9IdExhdWYzekhIZzVxM1VFaHNyTlpQbmlSYlRvNGFENzVVZmFlOW9Vcy8vMElYdi9PdXd0cDNxSlh4RTVjdlYzQ3JWdXJ5OENOcWR1WHdXcmxuZ3g0OTFIL0dCMm84YUhDbDQxWS9QNWtzRnBrdEZoVWRTVE0waHRVL1FPM3VHSy8vZS9XMUttZkVGQncrckxEMkhkUjQ0RUJENDFTSGQyaW9RdHUyVldTdjNncnYybFZXMzJQL1hHc2k1ZWRWcXRlcGs5cU5HMThyOXdNQUFOWGpVZGNGQUFDQUUyczBhTEE2M24yUHNuZnYwbTh2dktEQ3BFUkpVcnNKRTVRWEg2OG1sdzZScy84QVplL2FxYTF2dmFVT2Q5OHQvK2lHaXJuMld1VWRpRmRwUVlHaDhVdno4N1R5N3J2Vi9zNDdaY3ZPa2lSNStQb3FvRkZqMmZOeVZaaVNVdTE3QnNYRXlNUGJXeDQrUHBXTzErdllTU2F6V2Jic0hNbGs3R2RCUWMyYlNaSmNEa2VWNTUybHBaS2tnei84WUdpY3Y3SUdCTW92b29IOElxUGszNmlSL0JzMmtuK2podkp2MU9pWVFNV2VsNmRmbjU2b3pOOS9OelJtYVdHaFNnc0tsTFhkMkgwQUFFRE5FTEFBQUhBV09QRGR0ekpaTEdwMyt6ZzF2K0lLYlp2K3Rwb1BINkhTZ2dLdGVleFJ0Umt6Vm9kL1dxSzhBd2NVMUtLbDB0YXYxK3FISDFKWmNYR3RqRysyV3VVYkVhSDBMVnNVMnFhdFdsNDlVc0V4TVRKWkxDb3RLdFNxZSs5UjNzR0RKMzAvRDE5ZlJWN1lVMGMyYkZEOHQ5OVVPdGQwNkZBVkhUbWlEUy8vUnowbVR0U3Z6enl0c3FLaUd0VWQyYXUzbkdWbDJ2RHlmNm9NV2F6K2ZuSTVuY3JZdWtVQmpSc3J0RzA3QlRadHFxenQyNVcwY2tXVjkvUU9EVlZROHhZeWUzcktHaEFnNzlBUWVZZlZsMTlFQS9rMGlKQnZlTGc4ZkgwbFNZWEp5U3BPVDVjdE4wYzV1M2ZyeUcrL3lWRlM4dWZOVE9YLzV5d3JPK0d6V0FNQzFmTHFxOVY4eEFnbHIxeXA3VFBlbHowM3Q5STFaU1hGS2t4TlBlblBEd0FBcUQwRUxBQUFuQ1hpdjU2bjVKVXJaREtaVmE5REIvbEhSV245NUVteVdLMkt1WGFVdk1QQ3RPSEZGNVM3ZjU5eTkrOHpORlpFejU2SzZ2MS84Z29Oa1Y5a2xQd2lJK1Z5T3BXZmNFZ0ZoeFBsWFM5TTI5NTlSOWs3ZHlwbjc1N2p6aEE1bmlaRGhzcmk3YTN0NzcxYjZYaEE0OFlLNzk1RG0xNTlSYm43OXVuZy9QbnFPZmw1L2ZMRTR5bzdPcGc0Q1I2K3ZvcSt1TDhPTGxpZ3dxU2tTdWQ4SXlJVTFLS2xvdnRkTExsY0dqeDdqang4ZmVWeU9sV1FtQ2lybjc5UzFxeXVNdmd3bVMxcVBXYXNnbU5pSkVsRnFhbktQM1JRK1FrSlNscTFTdmtKQ2ZJT0NkWUZ6MDVTK3FaTjJqeDFTclhxZG85anNhamQrQW55OFBLU3lXeVd3MjVYL3FGRGt0T2xKb012VmVLeXBVcmZ1RkZCTFZzcUx6NWVMcWRUcmpLSGJOblpOUm9QQUFBWVE4QUNBRGlubEpXVjZjQ0JBNHFPanBidkg3TUl6aVVsbVptU3BESmJpVEsyYnBVa1JmVHJKNGZOSnBQWm9ucWRPaWxqODJiRDQ2U3RXeWVYd3lIZmlFaVY1dWNyNzlCQjVSODZKSmZESVpQWnJDdC9YS3ptVjF5cFpUOHNxSGE0WXJaYUZUUHlXaDFhdUZDNThmc3JuV3Q3MnpqbDdOMmpoTVdMSkVsSksxY29yRU1IWGZqOEMxbzc4Y2xxeldScGR0bmw4dkR5MHA0NXM5M0hHZzhlckxhM2paUFYxMWY1Q1FueURBcFN6dDQ5MnZmbGx5cElTbFJoWXVJSmc1emlqSFF0djNPOC9DSWlaYy9QVTJsaDRiRVhtVXdxS3lweWh6QTE0WEk0NU9IdHJkQTJiZlMvc1dQY3gxdGNkYlVTbGl4VytzYU5rcVFlVHoyamtzeE1yYnIvWHNsc1ZtbWhzZVZnWnpxSHc2RnQyN2FwUllzV0NnZ0lxT3R5QUFCd284a3RBT0NjWXJmYk5YdjJiQTBhTkVqUFB2dXMxcTlmcit6c2JObHNOcmxjcnJvdXp6Qy82R2kxR3YwUGhiU0tsU1I1QmdXcDNlMTNhUHY3NzJyemE2K3EyYkRMMWZQNUYxUy9TeGRENDdnY0RxV3RXeWRiVnBZYVhIQ0JiTms1N2lERkt6UlVNcGxVbUp3a2g4MVc3WHMzSHo1Y0ZpOHY3Zmh3WnFYajlUdDFWb01lUGJSbDJ1dVZqbTkvL3oxNUJRV3F6OVJwOG91SVBLa3hQSHg5MWZLYWEzUnc0VUozS0NWSkNZc1dhZUhJcS9YZHNDRmFOdUVPRlJ3K3JNTS9MVkhTaXVYSzNiZXZXck5rQ2xOVHFnNVhKTW5sVW1GcWlncitNbk9tdXZiTStWVCswUTByOVczeERndlRvWVhsUFdNQ0dqZVJYMlNrRXBjdGxTUlpyQjZxMzZtTHVqNytoUHEvTjBOdHh0eG1hUHd6Z2NQaFVINSt2dUxqNHpWcjFpeGRmZlhWR2p0MnJGSnEwUGNIQUlCVGlSa3NBSUJ6VW5GeHNiNzc3anN0V0xCQWpSbzFVdHUyYlJVWEY2ZjI3ZHNyTmpaV25zZlp0dmRNWlBid1VHU3YzbXAyK1JWeXlhWE5yMDFSWVhLeXJBR0I2dlhDZjNSZy92ZUsvL1piU2RMNjV5ZXArWWlyMVBQNUYxU1luS3lrRmN1VnNtYTFld2xKZFdWczI2ck9EejBzdjhnb3JiejNia2xTdlk0ZFpjL0wxY2FYWDZyMi9YenExVmZjRFRjcGNmbXlTdjFEUEh4ODFPbUJCN1huc3puSzJiT24wc2M0YkRhdGYzNnkrcjd4bHZxOTg2NjJUWDliQ1l0Ky9OdHg0bTY0VVY0aG9VcGJ0L1p2ci9PTGpsYjY1aTBLYVJXcnhwZGVLdS9RVU8zL2VwNHl0bXlwOXJQOWxUMHZUNDRTWXoxd0NwT1RsYmx0bTRKYnRWSis0bUZGLzE4ZldieTg1UG5IekkyWVVhTlVWbFNrd0NaTjFQZXR0K1VWSEtLSUN5OVU3cjY5U2xxeFhLbHIvLzc1ejJTcHFhbmF1SEdqOXU3ZHF4MDdkbWo3OXUwcXJxV2VRZ0FBbkFvRUxBQ0FjNWJMNVZKWldaa09IanlvZ3djUGFzbVNKUW9PRGxiOSt2VTFkT2hRRFJnd1FQWHIxNi9yTW8vTDZ1K3ZIazgvbytCV3JXUzJlR2o3KysrNmc1UjZIVHVxNmJETHRPM3RONVg1KysveThQVlZZTE5teWo5d1VQRmZ6MVBXanUzcS91UkV4ZDE0aytKdXZFbGx4Y1hLM2I5UDZSczNhdGZIczA2NkJudHVybjUvOXgzRjNYU1QrMWpVUmYrbjM5OTdWN2FjSEVtU2I0TUc4bS9ZVUNXWm1TZHNkTnZ4dnZ1VmYraWdtbHc2UkVrcmxydVh1YlM3WTRLSzA5SXExV1l5bTlYanFhZVY4c3N2U2xqMG83YSsrWVk2M2YrQXVqejBzSnBkY1lYMmZqWkhLV3ZXSExORUthQnhZelVmY1pWczJkbHFQbnlFMHRhdHEzUyswY0JCc3ZyNnlDOHlTaFpQcTlyZGNZZnN1WG55REF4UWd4NFhLTEwzUlZyeHp6dVZ2V2YzU1grZXF1SzAyMlh4OXBaM3ZYb3FLeXlzY2NQaFE0c1hxZTI0TytRWEdhbmtuMWRweWMwM3FqQTVXY0d0V2ltMFRWdXRmdlJoeVdUV29VVS9xdDliMDdYcS9udHJ0S3ZUbWFDc3JFeHIxcXpSZ2dVTHRIdjNibVZsWmFtb3FNZzkrOHpsY3Nsa010VnhsUUFBVkkyQUJRQnd6cXQ0T2JQWmJFcExTOU9SSTBlMGZmdDJ2Znp5eStyYnQ2OHV2L3h5dFc3ZFdvR0JnZkwyOXBiWmZHYXNvQzB0S0ZEOE45K282ZEJoMnZIQlRPVWRQQ0Nydjc5a01zbkR4MWRKeTVlclFZOEwxUHFXTVFwdDAwWm1xMVZseGNYYTl2WmJPdlRqUWkwYlAwNE5MKzR2NzdBdzJYTnpsUnNmcit6ZHUwNDRibURUcHBXQ2trTUxmMURTaXVVeWUzb3FzRmt6aGNhMVZ0N0JnN3J3dWNrS2J0VkszbUZoa2lTWDA2bTFFNTg4SnRDbzBPTHFhK1FWSEtUVmp6eXNJWE8vVklOdVBaUytjYU5hakxoS3dURXhXdmZzMCtyejJsU2wvTEpHZStiTWtjdnBsRDB2VDEwZWVsaUZ5Y2s2OU9OQ0ZhWWtxMkgvQWZLUGJxaG1WMXdwbi9BRzJ2L1ZsKzR4VEdhenVqejBzREsyYk5hUkRiK3A2YkRMajZranJHMDdOUjAyVEF0R1hLbHQ3MHl2ZE83eStUK290TERRY0xoUzhmbndpNGhRN3hmL280QW1UVldja2E2czdkdTE3NHN2VHVyUG9VTGkwdjhwZmNOdjZuRDNQWExhN1NwTVRwYlphbFhVUmYrbmxmZmVMWHRlbnFUeTVXS1NERy9KZlRyWmJEWVZGeGNySlNWRkN4Y3UxSTgvL3FqTVA1WjBuUXRMK2dBQTU1Y3pNbUJKVFUxVlltSmlYWmNCQURnTDJXdzJaV1JrdUg5ZjhkUHVvMS9XanY3MWloVXJ0R0xGQ2dVRkJhbERodzZLaTR0VHg0NGQxYjU5KzlOWDlOOUlXZjJ6VWxiL0xFbnlDZzdXb0U4K1ZYNUNnbEovWGF1aWxCUWQyYmhCaHhiOUtIdE9qc0xhZDlDRmt5WXJzSGx6U1ZKWlVaRU9McGhmN1RGamI3aFJRUzFqbExGbHMxeE9wM3pEdytVWEZTMi95TWp5YlprTENoVFpxNWVLVXRPVXRHSzVDcE9UbEo5d1dEbDc5eHozNVQ2OGUzZEZYWFNSMWp6K21NcUtpbFJhVUtDaXRGUkZYZlIvQ21yUlFqOC9lTC9LU2twa3p5OVF5NUdqdFBmenorVnlPcFd6YjUrYVNMTG5scytXeWRpeTVXK1g3OFJlZjRNOC9QeTA1c2tuRk4ybmp4eTJZM3VxWkd6WnBLYkRoc2t6TUZEMU9uUlFTRndibFdSbUtQN2JiMVNhbjYvY2d3ZXEvVG1yaXNsa1VtNzhBVzJaTmxWTmhneFIzSTAzSzdwdlAwWDI3S1gvM1Q1V2hjbkpKM1VmbDhPaGtxd3NGYVdtdW5jMWNwYVdhc2NIbFh2WWVBV0hTSktDVzhVcXNGa3pCYlZzS2Qvd2NLVnYycVE5bjgyUnM3UzBWcDZyTnV6WnMwY2JOMjdVenAwN3RYUG5UaDArZkZoMnUxMVMxY0ZLVmJOV2R1ellvYncvd2lXZ0prSkNRdFNpUll1NkxnUEFPZVNNQzFqUzB0TDAxRk5QNmVBSnBoZ0RBRkFWbDh1bGdpcGU4bzkrUWFzcWJNbk56ZFdxVmF1MGV2VnFCUVVGcVg3OSttcmZ2cjBLajlmRXRBN1ljbktVdG42ZDh1TGp0ZXZqV2U2R3I0V3A1Y3RCTXJhV0J3OHBQNjh5TkU3TzNyMks3SDJSTW4vL1hXWVBEMlZ1M1NwN1hxNktNekpWbkg2a1dqdjVTT1dOV0VOYnQ5SHFSeCtSODQrWGFHZFptZXo1K2NyZXRVdkpSOVZyejh0Vi9xR0Q3bjR4SlgrRVpmYVRlSkZ1MEsyN0dseDRvVlkvL0pCSzgvUGxMQ3VUczRvbXZNWHA2WktrSnBjT2xiUFVydnlEQjl3N01qbkx5bVRMeXFyVzh4MlgyU3lUMlNTWDA2bURDeGJvOEU4L3FmbndFV282N0RLRnhNYWRNR0RwZU0rOThnd00xSTRaTTFTWW1xS3lvaUkxNk41ZGZhZTlvWUxFUktXdVhhdVF1TmJ5Q2d1VlgwU2svQnRHeTFsYXFyZ2JiMUpKVnFaS3NyS1ZuclJKdHB3Y1dieTg2anhnY1RnY1dyNTh1ZDU4ODAzRng4Y3JLeXZMSGFwSXh3WXJKMW9LOU1ZYmI4aGlzWnlTV25GK0NBd00xQk5QUEtFdUJwdUNBMENGTXpKZ09YandvREl6TStYajQ4Ti9PQUVBMWVhc1FUUFhDaTZYUzZXbHBTb3NMSlRkYmkvditWQ0x0UmxWRVE1SVVranJPSFY5N0FudG12VmY3Wjc5aVR1OHNPZm5HeHJEYkxHb0tEVlZoNWNzTm5TZkN2a0poN1JyMW44cmorSGhJWWZOcHVLTTlNckhyVmFWWlB5NTYwL1pIMDFpVHhRTytFWkVLS1IxYTYxKzhBSDNUa0FtczBYT0tyYVFMaXNxditlT0QyWklrandEQXl2dGhsUldTNkdhMldxVjZhamxaZzZiVFhzLy8weDdQLy9zcEQ0K1k4c1dkZi9YUkNVc1hxekMxQlM1SEE2VkZaZG83OXpQbGJGdHE3eERRaFRhcG8xSzB0T1Z0R3laSW52MVVrQ1RwbHA1M3oyMVV2K3BVUEcxVlZKU1V1bnJ0Q2JMZ2V4Mit4bXpuQTlubjZLaUl1WG41eXNoSVlHQUJVQ3RPZU1DbGdvK1BqNjY3YmJiMUs1ZHU3b3VCUUJ3RnJIWmJKb3paNDUrK2VXWFNzZVA5d0pYOFZQeW9LQWdkZXpZVWJHeHNlNGxRa2VPSE5IMDZkTlZtRjFMTXhwcXcxRXZwWVVwS1RLWnpYSTUveElpR094ZDRkT2dnUW9PSHpaMGp4TXhXNjF5MkkrZFhlSVQza0RwbXphNmYxOFJHdWtFajFTVW1ucE04MTZ6eFNLWDg5Z1ByQmkzNDczM3FYN0hUckw0ZU92QWQ5OXB6NXhQWmZLd3FMU1dkcW94ZTFnTjlSRkpXZjJ6U29zSzVTd3JENWRjTHFmU04yL1NrUTIvU1pLSzB0SXE5WkJwZDhkNGVYaDd5eThxNnFTWEg1MU9Gb3RGQXdjTzFGMTMzWFhjSlVMSFc4cFgxV3lXQng5OFVBMGJOand0dGVQY2twMmRyU2xUcGlqbmowYmRBRkJienRpQXhXS3hxRldyVnVyV3JWdGRsd0lBT0lzVUZSVnB5WklsN3QrZnFKOURyMTY5Tkhqd1lMVnUzVnBoWVdFS0NBaHd6NTQ4Y3VUSXFTKzRtaXplM3U0WkttWnIrVmJUV1R0M2xwL3o4YW1WTVlKYXRsVHFYd0txMm1ieDhxb1VGbFh3ajQ1Vy9EZGZIL3NCNXVyUEl6SlpxcDdkVUxIcjBPNVBQdGJ2NzB5dk5IdkZaREpYdWF5b0pzeWVWa05obDdPc1ROazdkNVovcnY3Z3NObmtGeEdwMERadGxMaDhtWHNwVlZETGx2SnYyRkRySnoybkM1NStWbXNuUHFtaU0vRHZiNFZXclZxcFZhdFdLaW9xVW01dXJwS1NrclJreVJJdFhicFVXWDhzMFRwUjJOS21UUnUxYXRYcTlCYU9jMEphV3BxOHZiMXBwQXlnMXAyeEFRc0FBTFdsNG9YTXc4TkR2cjYrQ2drSjBlV1hYNjVodzRZcFBEeThqcXVySHA5NjlaUi82SkNrOHUyUkpTbDMvMzVKa25kSWVaUFRpa2FvTldIMTlWTlFzK2JhK3VhYkJpczlQcFBGVXQ0VDVDOTFoc1MxbG9lM3Q5TFdyei9xNHZLUXBDWmI4MXE4dkZYVmgxV0VFcmJzYkFVMGJhcDY3VHZJbnArdnhLWC9rOGxzVWxrdEJTd2Uzajd1c1dvcS8vQmhlUVlFeWk4cVNzRXhzUXByMTA1QnpadHI1MzgvcW5UdmRyZmZvZXlkTzVTMGNvWE1ubGIxK3MvTCt2bkIrMVZTVy8xa1RoRmZYMS81K3ZvcU1qSlMzYnAxMDBNUFBhUVZLMWJvMjIrLzFaNDllNVNmbnkvYlVYOGV2QkFEQU01a0JDd0FnSE9XeVdTU3hXSlJvMGFOMUxadFc4WEZ4YWw5Ky9hS2pZMlZwNmRuWFpkWEl6NzF3MVgyeHhLVzBMWnRsWjl3U0tWL3pHaXBtSWxoeTgydDhmMGpldlg2by9uc1R1UEZIb2RuWUtDa1kvdXFOTHZzY2lXdFhLblMvRDhiMmxyKytIT3F5V3UxTlNCQVZTVXNMa2Q1TU5IMXNjZmxjamhVY1Bpd2U5dGtrOWxTYTgxZ1BRUDg1YWpodlV3V2k0SmF0SkJmUklRYTllOHZzNmVYRGkzOFFTdnUvcWVLMHRJcVhSdmRyNS9xZGVxa1ZmZmZLMGs2L05OUGl1eDlrWHEvOUxKK2Z1aEIyYzZpWlJCV3ExV1hYSEtKTHJua0VxV2twR2pqeG8zYXQyK2ZkdTdjcWQ5Ly8xM0Z0YlI4Q3dDQVU0R0FCUUJ3VHZMMjlsYS9mdjAwYU5BZ3hjVEVLRGc0V0Q0K1BqV2FDWEVteWRtN1Z3V0poMlcyV2hYWnE3Zml2NTduUGxlVWxxYURDeGE0QTVlYWFIVEpKVHEwOEFmRGZWeitqbjkwdENUSlVmTG56SVRRdG0zVm9FZDNMYjFqWEtWclBRTUR5bjlSZzNvQ0dqZXA4bmhGejVyZi92MzhzU2ROSm5mQVlqS2JaZkgycnZhdVNaTGs0ZXNycitDUVAzdklWSU52Z3dicVArTURlWGg3eTJHektmNmJyN1YzN3VkVjdxUVUycmF0dWp6MGlIWjhNRk5aTzNhNGoyOTVmYW9HelBoQWZhYTlxVitmZVVwNThmSFZycU91UlVaR2F0aXdZU29ySzNNdkkxcTdkcTIrLy81N0paK0JQV1lBQUNCZ0FRQ2NVNnhXcTY2NzdqbzkvUEREOHZQenErdHlhdDIyNlcrcHRLaElMYThaS2JQRm9nTUxGcWgrbHk3cWVQZTl5dHkyVmNtclZwWFAycWhCSUJIU3VvMUM0bHBydzRzdm5JTEtLNDhqU2FWRjVidjErRFpvb0hianh1dVhmejBwVzNaMnBXdDlHMFJJa2x3MVdQWVUwTGp4TWJzVVNaTDVqMWt4OVRwMGtGZElxTHhDUStVZEVpcWZlbUh5OFBGUjNFMDNxYzJ0dDhvektGZ21zMWtGaHc5cjNlVG5xaFZTaExTS2xVeW1Hb1V6UldscFd2Zk0wMm84ZUxCMi92Y2pGU1lsVlhsZGVOZHU2dmJFazlvKzQvMWordGJZY25LMGFjcXJ1dURaNTlSMzJwdmFQZnRqN1o4M3IxSy9tYk9GaDRlSHdzTENGQllXcGc0ZE9tanMyTEhhdkhtekd2eXhSQTRBZ0RNRkFRc0E0SnhpdFZvVkZ4ZFgxMldjTXFXRmhRcnYyazF0eG96VmI4OVBWbWwrbnRJM2J0VG1xVlBVL2NtSmFqSmtxUElURXJSKzByUEtPM2p3cE8vcjRlMnRMZzgrcUIwejNqL2xTMHFjZHJ0Y1RxZEtNaklrU1g2UlVWcnorS05WaGhHZVFVRnlPWjN1clplcncrcm5xNExFRWdVMmI2NjJZMitYWjJDZ2ZNTEQ1UjFTUHJPazR6MzNxaUFwV2NWcHFTckp5bEw2NXNOS1diTkdaY1hGY3BhVnlzUEhWMVpmWDNuNCtzcGtxdDUyd0g3UlVaSlU0eDRvUnpiODV0NHQ2Sy9NVnF0YTMzeUxJbnYxMXE5UFA2WE0zN2RWZVYzS210WGFQZnNUeFY1L2c5cU11VTB0cnJwR0I3NzdWdnUrL01LOXpPeHNaTEZZMUxWcjE3b3VBd0NBWXhDd0FBQndGbWwrNVhERjNYU1Qxazk2VGlsclZydVBaMnpab21WM2p0Y0ZUeitqa0xqVzZuVC9nMXA1NzkwbmRVK1R4YUt1anorcEl4czM2c0Q4NzA5VjZXNUpLMWNvSkM3TzNlUTJmZk9tNDE1Ym1KeXNrcXpNR28yVHZXdTNpak16bEJjZnI1MGZmYUI2blRyTGxwMnRuRDI3VlpDWWFMZ0I3ZC9KVHlqZjVyb3dLYkZXNzJ1Mld0WHF1dEhLM2I5UE96NlllY0puMlBuUmh6cnczYmZ5allpUXlXeFJXVW14b1NiSUFBRGcrQWhZQUFBNEM5VHYxRmt0cmhtcC9JTUg5TC9ieGg2emxFYVNTakl5dE9yKys5UnUvQVExdkxqL1NkM1g3T21wemc4K3BQU05HeFQvN1RlMVhYYVZiTm5aMnZDZkYwL3Eyc1RseTJYeDlqcnhoVlhZK2RHSE1sdXRrc3A3MStUczNWdWorOVJFNXJhdFN2dHRmYTJQNlN3dDFhNlBaMVhyWTBxeXNzNzQzWVFBQURnWEVMQUFBSENHQzJyZVFzNnlVcTJkK09RSmU2czR5OHEwOWMwM3RPT0RtU2QxYjcrSVNQMCsvZTB6ZHFlWjB2dzg3ZnZpaXhwOWJHNzgvbHF1cG5wK2VmeXhPaDBmQUFDY1hnUXNBQUNjNFdvU0ZKeHNjOVg4aEVQVnZqY0FBQUNPVmIyT2JRQUFBQUFBQURnR0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BQUFBQUFCaEd3QUFBQUFBQUFHRVRBQWdBQUFBQUFZQkFCQ3dBQUFBQUFnRUVFTEFBQUFBQUFBQVlSc0FBQUFBQUFBQmhFd0FJQUFBQUFBR0FRQVFzQUFBQUFBSUJCQkN3QUFBQUFBQUFHZWRSMUFRQUFuUGxNS3ZieWxMWE1wNjRMQWM0NnhWNmVjcGxNZFYwR0FBQ25IQUVMQUFBbjREQ2JsUmdlSVl2VFdkZWxBR2NkaDltc01vdEYxcm91QkFDQVU0eUFCUUNBNC9EMzk1ZVBqNCtLaW9ya3RGcEZ2SExtY1RnY3N0dnRjcmxjOHZMeWtzVmlxZXVTVUFVUFNkN2UzZ29JQ0tqclVnQUFPR1VJV0FBQU9JNzY5ZXRyN05peHlzcktxdXRTY0J5N2R1M1M5T25UVlZwYXFudnV1VWR4Y1hGMVhSS09Jemc0V0JFUkVYVmRCZ0FBcHd3QkN3QUF4MkV5bWRTa1NSTTFhZEtrcmt2QmNlVGw1V252M3IwcUtTbFJWRlNVT25mdVhOY2xBUUNBOHhTN0NBRUFBQUFBQUJoRXdBSUFBQUFBQUdBUU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BQUFBQUFCaEd3QUFBQUFBQUFHRVRBQWdBQUFBQUFZQkFCQ3dBQUFBQUFnRUVFTEFBQUFBQUFBQVlSc0FBQUFBQUFBQmhFd0FJQUFBQUFBR0FRQVFzQUFBQUFBSUJCQkN3QUFBQUFBQUFHRWJBQUFBQUFBQUFZUk1BQ0FBQUFBQUJnRUFFTEFBQTRLeXhldkZnbWs2blMvL3IxNjZmVTFGVGw1T1NvWDc5K3g1eWZQMzkrWFpjTkFBRE9Fd1FzQUFEZ3JOQ25UeDgxYXRUb3BLK1BqbzdXSlpkY2Nnb3JBZ0FBK0JNQkN3QUFPQ3Q0ZTN2cjFsdHZQZW5yLy9HUGY4amIyL3NVVmdRQUFQQW5BaFlBQUhEV0dENTgrRW1GSnQ3ZTNycnNzc3RPUTBVQUFBRGxDRmdBQU1CWm8yblRwdXJjdWZNSnIrdmN1Yk5hdG14NUdpb0NBQUFvUjhBQ0FBRE9HZ0VCQWJyZ2dndE9lTjBGRjF5Z2V2WHFuWWFLQUFBQXloR3dBQUNBczRhSGg0YzZkT2dnZjMvLzQxN2o0K09qcmwyN3l0UFQ4elJXQmdBQXpuY0VMQUFBNEt6U3ExY3ZoWWVISC9kOFlHQ2d1bmZ2ZmhvckFnQUFJR0FCQUFCbm1kallXTVhHeGg3M2ZNdVdMZi8yUEFBQXdLbEF3QUlBQU00Nk45OTg4M0hQalJzMzdqUldBZ0FBVUk2QUJRQUFuSFdHRFJ1bXNMQ3dZNDZIaG9acXhJZ1JkVkFSQUFBNDN4R3dBQUNBczQ2L3Y3K3V1ZWFhWTQ1ZmNjVVZDZ2dJcUlPS0FBREErWTZBQlFBQW5KVnV1ZVdXU2pzRmVYcDZhdlRvMFhWWUVRQUFPSjhSc0FBQWdMTlM4K2JOMWJScFUvZnZZMkppYUc0TEFBRHFEQUVMQUFBNEt3VUVCS2g3OSs0eW1Vd3ltVXpxMUttVFFrSkM2cm9zQUFCd25pSmdBUUJpcXV6TUFBQWdBRWxFUVZRQVp5VWZIeC8xN05sVFhsNWVzbHF0NnRtenB3SURBK3U2TEFBQWNKN3lxT3NDQUFBQWFxcG56NTRLRHc5WFVWR1JldmJzV2RmbEFBQ0E4eGdCQ3dBQU9HdDE2ZEpGTFZxMFVHNXVycnAwNlZMWDVRQUFnUE1ZQVFzQUFDY2hLeXRMNmVucGRWMEdxdENuVHgvWmJEYnQzcjI3cmt2Qlg5U3JWMDloWVdGMVhRWUFBS2NGQVFzQUFDZVFtWm1wano3NlNLbXBxWFZkQ3FwUVVsSWlTWm94WTBZZFY0Sy9DZzBOMWRpeFl4VWVIbDdYcFFBQWNNb1JzQUFBY0FJWkdSbEtUVTFWWGw2ZVBEdzhaREtaNnJva1ZLRzR1TGl1UzhBZlhDNlh5c3JLVkZwYXFpTkhqaEN3QUFET0N3UXNBQUNjSkU5UFQ3VnQyNWF0Z0lFVHlNM04xZmJ0Mit1NkRBQUFUaXNDRmdBQVRwTFpiRlpJU0lnYU5HaFExNlVBWnpTTHhTS0x4U0tuMDFuWHBRQUFjTnFZNjdvQUFBQUFBQUNBc3gwQkN3QUFBQUFBZ0VFRUxBQUFBQUFBQUFZUnNBQUFBQUFBQUJoRXdBSUFBQUFBQUdBUU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DZzJweE81eW01NzRFREI1U2FtbnBLN2kxSjJkblpXcmh3b1d3MjJ5a2I0NjlXcjE2dE45OThVd2tKQ2FkdFRBQUFjUG9Sc0FBQWdHcGJzbVNKYnJqaEJzMlpNNmRXNy92TEw3OW85T2pSbWp4NXNsd3VWNjNlVzVJT0hUcWtsMTU2U2JmZGRsdXQzbi9YcmwyYVAzOStsZmRzMWFxVjVzMmJweGRlZUtIV3hnTlFjdzBhTk5EWFgzK3R0V3ZYYXZqdzRYVmREb0J6Q0FFTEFBQ290ajU5K2lnakkwTmZmUEZGcmQ1MzlPalJHakpraVA3M3YvOHBMeSt2VnU4dFNVdVhMcFducDZjZWVlUVJtVXltV3J0dlltS2lYbjMxVlUyWk11V1ljL1hyMTFkVVZKU2FOV3RXYStNQkFJQXpqMGRkRndBQUFNNE1kcnRkZDk1NXArTGk0blR6elRlcmZ2MzZ4NzNXeDhkSERSczJWRWhJU0szV1lES1o5TWdqajJqdzRNR1NwT1hMbDJ2Mzd0MXlPQndhT1hMazM5WjBJc25KeWZyeHh4LzF5Q09QS0NvcVNzdVhMOWZYWDMrdEF3Y082T3FycjlhMTExNHJIeCtmR3QxN3k1WXQ3dnFyRWg0ZUxwdk5wcmx6NTdxZlo5eTRjWXFLaXFyeDh3QUFnRE1MQVFzQUFKQWtlWHA2Nm9vcnJ0QnJyNzJtVFpzMmFmYnMyWDk3dmIrL3YwSkRRMnM4M3ViTm14VWJHeXV6MmF5TWpBd2xKeWZyd0lFRDJyOS92M2J1M0tuRXhFUjVlWG1wZWZQbTZ0YXRtN3k5dldzOGxzUGgwQXN2dktEWTJGaXRXTEZDUzVZc2tkUHAxTmF0V3lWSjY5ZXZWKy9ldmRXeVpjdHEzN3Vnb0VCTGx5NVY4K2JOZGRkZGQ3bVB6NTA3VjF1MmJOSCsvZnVWbHBZbWIyOXZwYWFtS2lZbVJpMWF0SkMvdjMrTm53Y0FBSng1Q0ZnQUFJRGJGVmRjb2VMaVl2M3d3dzhudk5aaXNjakh4MGNGQlFYYXVYT25Nak16MWFGRGg1T2VsVEY5K25TbHBLUW9KaVpHM3Q3ZUNnb0tVbGhZbU5xMWE2ZUJBd2ZLYkRiTGFyV3FmZnYyUmg5TEgzMzBrY0xEdy9YRUUwL0lZckZJa2w1NjZTVUZCZ2Jxd1FjZlZKOCtmV3A4N3krKytFSjJ1MTJQUC82NFBEMDkzY2N2dnZoaTFhOWZYNWRjY29tKytPSUxEUnc0VUNOR2pGQnBhYW1zVnF2aFp3SnF3NzU5KytUdjc2K0lpSWpUTXQ2bVRadGtOcHZWc1dQSFV6WkdZbUtpSWlJaTVPSEJxdzZBMDRzZUxBQUFvSkpSbzBicHd3OC9yUEpjYW1xcTFxeFpvMW16WmlraElVR0xGaTNTbFZkZXFZa1RKK3Fqano3U3YvLzliK1hrNUp6VU9QWHExVlBYcmwzMTZxdXY2cm5ubnRNamp6eWlzV1BINnZMTEwxZTNidDNrZERwMXp6MzNhT0hDaFlhZVo4bVNKVEtielpYQ2xUVnIxbWo5K3ZWNjY2MjNESVVyV1ZsWm1qdDNybTY4OGNaalpyL1VxMWRQY1hGeDh2YjJWa2xKaVQ3Ly9IT05HREZDVjExMWxSWXRXbVRvbVlDYWVPV1ZWL1QrKys5WE92YnJyNzlxMkxCaCt1Njc3eVNWejhoYXZIaHhyZThVNW5LNTlOVlhYMm5DaEFrYU0yYU0zbnJyclZPMkc5blVxVlBWcjE4L3ZmNzY2elg2K0lTRUJOMTU1NTFhdG14WmxlZS8vZlpialJrelJoczNialJTWnBVbVQ1NnNNV1BHNk9lZmY2NzFlNS9JYzg4OXAyM2J0cDMyY1lGekNiRXVBQUE0aHRsYy9qT1lYYnQyNmROUFAxVnFhcW9TRXhOVlhGeXNrSkFRdFdyVlNoYUxSWDM2OU5IZGQ5OWRvK1V1cGFXbDdwNHFIMzc0b2ViUG42KzMzMzdiUFFNbUlDQkFVdm1PSC9QbXpWTkNRb0w2OXUycnpwMDduL1FZaFlXRmF0aXdvUVlPSE9nK2xwV1ZwYmZlZWt1VEowOVdSa2FHNXMyYnA4T0hEK3Z5eXkrdmR0Z3lZOFlNTlczYVZOZGZmLzB4NTc3KyttdXRXYk5HWnJOWmVYbDU2dE9uajRZUEg2NUdqUnJWYW9OZDRHVGs1T1JvL3Z6NWNqZ2N1dUdHRzl6OWhvWU1HYUlwVTZhNFoxVzk5OTU3bWoxN3RsYXZYcTFubjMzVzhMZ2xKU1ZhdEdpUlB2bmtFOFhIeDBzcVgxNjRidDA2RFJ3NFVLMWF0VEk4eGwvRnhjVnAyYkpsS2lnb3FOSEhoNGVINjlkZmYxWFRwazExOGNVWEgzTStOemRYVzdac1VYcDZ1cFl0VzZhOWUvZnF3SUVEOHZYMTFmMzMzMjlvK2QvZ3dZTTFmdng0ZmZ6eHg3cm9vb3RxZkorYTJMeDVzNzc5OWx2Tm5EbFRuVHAxT3ExakErY0tBaFlBQUhCY2NYRnh1dTY2NjdSNzkyNkZoWVVwTGk1TzRlSGhrcVNISDM1WXZyNitOWDZaeU1uSlVidDI3U1JKbDExMm1XYlBucTFWcTFiSjZYVHF3SUVEMnJ0M3J5VHBYLy82bDZLaW90UzBhVk1kT1hLa1dtUDQrZm5KYXJYcThPSERjamdjaW8rUDE5ZGZmeTEvZjMvTm16ZFBqUm8xVW1Sa3BEWnMyS0NubjM1YVk4ZU8xUTAzM0hCUzk5NjBhWk1XTDE2c3l5Njd6RDB6NW1oWFhYV1ZycnJxS2tuU1k0ODlwb0NBQUNVbEpXbjkrdlZLVEV6VW9VT0hkT1RJRVZtdFZnMGNPRkQvK01jL3F2VnNRSFZNbmp4WlBqNCtldU9OTnlvMWN3NE5EWlcvdjcrOHZMejB3dzgvYU02Y09Sb3pab3pHalJ0WDQ3RmNMcGMyYmRxa0gzNzRRVXVXTEZGWldaa3V2UEJDalI0OVdqMTY5RkREaGcxcjQ1R09xNkNnUUNhVDZhUy9sdi9xMTE5L2xTUTFidHhZTTJiTTBHKy8vYWIwOUhTOThzb3JhdGFzbVZhdVhLbVltQmd0V0xCQWRydGRZV0ZoaW9tSlVkZXVYUTMzVm9xTGk1TWtkZWpRd2RCOS9tckpraVY2NXBsbjFMVnJWejMyMkdOVkx1VXNLU2xSeTVZdFQrbnlMZUJjUjhBQ0FBQWtsYjhVelpzM1R5dFdyTkQ0OGVQVnBrMGJTVktiTm0zY3Y2NU55Y25KS2kwdDFXT1BQYWJEaHcvTGJEYnJwNTkrVXE5ZXZkUzdkMjhGQmdZcU9qcGFreWRQTmpUTzBxVkxOV2ZPSEYxMzNYVnExNjZkbm4zMjJXT2E4d1lHQnVyRkYxODg2YWE5UlVWRmV1V1ZWL1RBQXc5bzNyeDVXcmx5cGJwMDZhSjkrL2JweUpFalNrNU9WbEpTa3BLU2twU2VuaTRmSHgvWmJEWWxKQ1FvSkNSRWdZR0I2dDY5dXl3V2kreDJ1K3gydTBwS1NndzE4Z1dPWjlxMGFWcXhZb1UrL3ZqaktoczVoNGVIYSs3Y3VkcTdkNittVFp1bW5qMTdWanEvWnMwYTllclY2Mi9IS0NzcjArclZxN1ZpeFFyOTl0dHZDZ3NMVStmT25SVVRFNlA4L0h6ZGZ2dnQ3dkNnTmlVbkoydnIxcTJLam81MjkydmF2WHUzZXZmdXJTWk5tdFRvbnJObno5YklrU05sdFZybGNyazBkT2hRZGVuU1JRMGJOdFF2di95aWhJUUVmZnJwcHdvTEN6TThHODNoY0NnbEpjVWRPdm41K1VrcW43bFhtd1lPSEtpVWxCUzkvdnJyZXVtbGx6UjE2dFJLNXdzS0NwU1dscWF4WThjeXd3NHdnSUFGQUlEelhFRkJnV2JNbUtFTkd6WW9NVEZSVXZrTHh2UFBQKysrNXNNUFA5VHUzYnQxMzMzM1ZXcUc2WEs1YWpSbVJrYUdDZ3NMMWFOSER3MGNPRkNob2FHYU5XdVcvUDM5ZGROTk4wa3EzL3E0Tmw3STJyZHZyN2x6NStxT08rNDQ3aldSa1pHU3BOYXRXNS9VUFY5NzdUVU5IanhZUTRjTzFlKy8vNjc0K0hpMWE5ZE95NWN2VjJabXBscTNicTFCZ3dhcGFkT21xbGV2bnZ1RlpkZXVYY3JOelZYWHJsMXB3SW5UNHFPUFB0S3laY3QwM1hYWDZiWFhYdE83Nzc1YjZmenExYXVWbFpVbER3OFBmZkxKSis2dmhhTjk4TUVIdXVDQ0M2cWNxVlhCNFhBb0xDeE10OXh5aTU1ODhrbjN0VXVYTHRYRER6K3NkOTU1NTVpWCtwcHd1VnphdFd1WGxpOWZydVhMbDJ2ZnZuM3k4ZkhSbURGajFMNTllNVdWbFducjFxMTYrZVdYYTNUL3RXdlhLaTh2VDZOR2paTEpaRkxUcGszZDU4ckt5alI3OW15OTlkWmJDZ3dNZEMvNW16aHhZbzBEa2V6c2JGMTU1Wlg2NXovL3FURmp4cmlYWndZR0J0Ym9mbi9ucHB0dVVydDI3ZVJ3T0k0NXQyN2RPbmw1ZVdudzRNRzFQaTV3UHVHLzdBQUFuT2Y4L2YxMTQ0MDM2cmJiYnRPMGFkTjA0TUFCUGZYVVU1V3V1ZWFhYTNUTExiZm94UmRmZEw4a3VWeXVHamVwM0w5L3Z5U3BXYk5tN2luMVhicDAwWWNmZnFqNCtIaGxaV1VwSUNDZ1ZuWVE4dlB6azVlWGwvdjNuMzMybWJLenMzWE5OZGU0ZThCVXpCdzVtZW45MzM3N2JhVytLNEdCZ2ZMdzhGQm9hS2p1dSs4KzkzVVZNd0p5Y25LVW5wNnU3T3hzNWVibTZ1REJnNHFLaXRKTEw3Mms2T2hvdzg4SFZNWHBkT3IxMTE5WFltS2laczJhcFZXclZtbjc5dTN1OCt2WHI5ZG5uMzJtNE9CZ2RldldUZW5wNmU2dmg2UDkvdnZ2MnJScGsxYXRXcVYrL2ZvZGR6d3ZMeS8za3IralZmd2RQOW53OHUrODk5NTcrdkxMTDVXWm1TbEpDZzRPMXVUSms5VzNiMS81K3ZwS0tnOEs2dGV2WDJrV1RtWm1wbGF2WHEzOC9IejE3OSsveWhCSkt1OEw5ZW1ubjJycTFLa3FLeXZUOWRkZnIydXZ2VmIvL09jLzlkMTMzMm5UcGsxNjdMSEgzTE5OcGt5Wm9nY2ZmRkFMRml6UW1ERmphdlJNR3pac2tGVGVRRnlTYkRhYnBQSWVWS21wcWRxNGNhTzJiZHVtNE9CZ1hYLzk5WWFYSUhYcTFFbmJ0bTNUTysrOG85VFVWRjE1NVpYcTNMbXpWcXhZb1VHREJyRjlQR0FRQVFzQUFGQllXSmlrOG4va0R4NDh1RklnSVpYL1kvK0pKNTdRK3ZYcjNjZWNUbWVOQTVZOWUvWW9PanE2MGovbXUzYnRLcnZkcnM2ZE83djdsVlQxazlicXN0bHM3cGN2U1dyYXRLbmVmZmRkWldkbjY0a25ucEFrZDRQUEUwMk56OHpNVkZSVWxMcDM3KzQrWmpLWnF0eDJlZHUyYmZMMTlkV29VYVBrN2UzdDdubnc2S09QYXQyNmRiTGI3WWFmRGFpS3pXYlRSeDk5cEE0ZE91aisrKytYVkQ1VElpUWtSRkw1TGprK1BqNTY0WVVYNU9ucHFjVEVSRjEvL2ZXNjVwcHIxSzVkTzFrc0Z1WGw1U2tsSlVWNzkrNlZ4V0pSUWtKQ2pXcXBDQytEZzRNbGxZY1lXN1pzMGFKRmk1U1dscVpMTDcxVVE0WU1PYWxsS2JmY2NvdUdEQmtpUHo4Ly9mZS8vOVVubjN5aWZ2MzZWZW9wTTMvK2ZGMTc3YlhLeXNyU3VuWHJ0SERoUXExZHUxWU9oME90VzdkVzkrN2RqeHV3Yk5pd1FVODg4WVI3bHQ2YmI3NnBMVnUyU0pKOGZYMzEzWGZmNmRaYmI1WFQ2VlJTVXBMOC9QejAyV2VmcWFTa3BFYWZHNXZOcG5mZmZWZnQyN2ZYaEFrVHRHblRKbTNhdEVsUytmZUp3c0pDZVhoNHVPdXU2ZmVNaElRRWJkaXdRZXZXcmRPdnYvNnEzTnhjK2Z2N3EwZVBIZ29PRGxaaFlhSCs5Ny8vVmRvOUxpOHZUei8rK0tQUzB0SjAyV1dYcVZtelpqVWFHempmRUxBQUFBQTNzOWxjS1l3NFd0ZXVYZFcxYTFmMzcwdExTMnNjZ0d6WXNPR1lYU3FzVnFzNmRPaWdIVHQyYU5XcVZWcTBhSkdjVHFkR2pCaWh1KzY2cTBialNPVXZDa2RQdDIvY3VMRWs2Y0lMTDNRZnEzaHhPZEh6aElXRnVjT29DbVZsWlZVdTl3a0lDRkN6WnMxVXIxNDlqUmd4UXYzNzk5ZVRUejZwbUpnWTdkNjlteGNXbkRKZVhsN0hMSW5idDIrZk8rU28rQnFvMExCaFEzM3h4UmRhdFdxVk1qSXlWRkpTb29pSUNIZEQyczZkTzU5d1prTlZYd2QydTExcGFXbVNwSG56NXVtYmI3NlIzVzUzejVUWnNHR0RWcTllcmFWTGwrcVZWMTQ1NFhONWVucXFVYU5Ha3Y0TWhjdkt5dHpuTXpNenRYTGxTdTNaczBkVHAwNlZqNCtQMnJkdnI5dHV1MDM5Ky9ldnN2L00wWTcrbmlDVno3QUxDd3ZUK3ZYcjNVSExjODg5cDkyN2Q4dHV0NnRodzRhYU5tMWFqV2VpVFpreVJRNkhRNDBhTmRMSWtTUGw1ZVhsN3NFeWJOZ3c5ZS9mWCszYnQ2OVJiNmFaTTJkcTFhcFZPblRva0x5OHZOU3NXVFBGeE1Ub2dRY2VVSnMyYmRTc1dUTjNxRFYzN2x4MTZ0Ukp6WnMzMThhTkcvWGpqejlxd1lJRktpc3JVNTgrZmVUcDZWbWo1d1BPUndRc0FBREFyVisvZnRxMmJadUdEaDE2d21zek16UGRMenZWVVZ4Y3JPM2J0N3VYMk5qdGRyMzMzbnRhdm55NS9QejgxTE5uVHcwZVBGak5talhUbTIrKzZYN2hxS245Ky9lclhyMTZ4eHh2MGFLRis5ZEZSVVdTVGp5RHBTckZ4Y1h1dmdsSHk4dkxrNCtQandJREErWHY3KzhPYi96OC9Bdy9FMUJkUGo0K2xmb25WU2dySzlPMmJkdTBlUEZpRlJVVjZmcnJyNi9SMXNuTGx5L1hhNis5cHRqWVdObnRkbVZtWnNybGNya2JSL2ZwMDBkanhveXBOTnZrOWRkZjE2eFpzOXd6YTZxajRtdm82RUQ0eXkrLzFGMTMzYVhycnJ0T2tuVHJyYmVxUzVjdU5WcStrNXFhcWxkZmZWVlpXVm1WUG0rMzNucXJtalJwb3NqSXlML3RTWE1pRmNzeFAvcm9vMHJQdjNQblR0MXd3dzBhTVdLRW9TMnN4NDRkcStIRGg4dlB6NjlTUU9Od09HUTJtOTNmNnh3T2gyYlBucTJBZ0FEMTc5OWZCUVVGNnRtenArNi8vMzVkY3NrbDdsQU93TWtoWUFFQUFHNzkrdlhUNTU5L2Z0enpQLy84czdLenMyVzMyNVdTa3FMZXZYdFhlNHkxYTlmSzM5OWZYYnAwa1ZUK1Ura09IVHJJNVhKcDVNaVI3cGVaeFlzWHEyblRwdTZtdHpXMWJkdTJTais1VGsxTmxkbHNydlRTbEplWEowazFhanlibTV0YjVmSFUxRlQ1K3ZySzVYS3B1TGpZdmUycXlXU3E4ZElxb0taR2p4NnRsU3RYYXVuU3BTb29LTkQrL2Z1MWZmdDJwYWVuS3l3c1RINStmdHF3WVlQbXo1K3ZHVE5tcUhQbnp0VzZmNzkrL1RScDBpUkZSMGZyNXB0dmRvZWFHUmtaR2p4NHNDSWlJaXFGSzlLZnphVlA1dnZJM3IxN1ZWUlVwQTRkT3JpWDVYbDRlR2pTcEVsYXYzNjl1bmJ0cXRqWVdIZTRJcFdITUlzV0xhcFJ3QklSRVZHcFVlNitmZnUwZE9sUzllN2RXM2E3WFpzM2I5YlBQLytzMU5SVWpSNDl1bHJiS20vWnNrV2RPM2ZXUGZmY2M4eTUvUHg4U1gvMmd5b3JLOU91WGJ1MGQrOWVGUmNYcTFldlhwVWE3LzZkc0xBd0hUbHlSQ05IanRTa1NaUFVxVk1uZmZmZGQ1bzZkYXF1dXVvcTNYdnZ2ZnIrKys4MWVQQmdqUjgvWGlVbEpicnFxcXZrY3JsMHpUWFhuUFR6QVBnVEFRc0FBSEFMREF6ODI5a1ZGMTU0b1Y1NTVSVXRXclJJa2s0NDViNHFjK2ZPMVdXWFhWYnBwNzhYWFhTUnNyS3k5TUFERCtqWlo1K1ZqNCtQRmk5ZXJPZWZmOTdRVDRrbHFiQ3dzTkpQZ3ZmczJhUEdqUnRYNmpOanNWaGtOcHNWRkJSVTdmc25KaVpXV2pwVk1lYkJnd2RWcjE0OUhUbHlSS1dscFdyYnRxMms4aGNtdGtIRjZkYW9VU1AzTnIzUFBQT01CZzhlckhIanhsWDZldi9QZi82amVmUG0xV2o1bW9lSGh5SWpJeFVRRUZEbGpMR3EvczVYTE84NW1TVTIrL2Z2MTVOUFBxa0pFeWJvdHR0dWs4VmlrY1ZpVVZ4Y25BWU1HS0FlUFhvb01URlJSVVZGN2xrdERvZWpSdCtqamxaUVVLQURCdzVvN2RxMWNqcWR1dmZlZStWME90VzRjV09GaElSbzZkS2xXcng0c2ViUG4zL2MzaTUvMWJGangrT090V1BIRGtuUzIyKy9yVU9IRG1uZnZuMnkyKzB5bTgwS0RBelUyclZyTlczYXRKT3VmL2Z1M1VwT1R0YmF0V3ZWcVZNbmpSZ3hRaWtwS1pvNWM2YUdEQmtpZjM5LzNYbm5uWkxLWndQVnExZFBPVGs1SjMxL0FKVVJzQUFBY0I0ckxpN1c1czJidFdmUEhtM2Z2dDI5NWVsVFR6MmxDeSs4VUQxNzlxdzBmZDNEdzBNUFBmU1FkdTNhSmFmVHFZc3Z2cmhhNDIzYXRFbUhEeC9XU3krOVZPbTQyV3pXOE9IRDFicDFhMDJjT0ZHZW5wN3EyN2V2dW5Yclp2Z1pCd3dZVUttM3dzcVZLOVdtVFJzbEpTWEpiRFlyTWpKUzNicDFPK0UydEZVcEtpcFNRa0xDTVIrM2UvZHVkMitGRFJzMktDUWt4UDJpWjdmYlQ4a1dyTUNKOU83ZFcxOSsrYVdHRGgycS9QeDhUWjgrWGRkZGQ1MTdWNXlRa0JDRmg0ZlhlRm1JcDZkbnBaNG9SNnNxWUVsUFQzZVBleUlEQmd6UXM4OCs2KzdwWWpLWjVPUGpVMm5HaXMxbTAvang0L1hpaXk4cUtpcEtHUmtaTmZvZTh1R0hIK3JMTDc5VTkrN2RGUjRlcnFpb0tJV0VoTWpQejArdnYvNTZwV3UvK3VvcnRXalI0cVRERmFuOCsrNzMzMyt2akl3TVpXZG5LeVVsUlFjT0hGQitmcjY3WVhaVVZKUUdEQmlnaUlnSWhZZUhLeVFrcE1xbGlIL0hicmZyOWRkZjE3Qmh3OXc5ZVFvS0NqUml4QWdOR2pSSXpabzEwNkpGaTdSbHl4WTkrT0NEa3NwbjBGeDY2YVhWR2dmQW53aFlBQUE0aitYbDVlbjc3NzlYYVdtcHJyenlTbDE0NFlYeThQQlFkbmEyVnExYXBjY2ZmMXdXaTBVOWUvWlV6NTQ5MWFKRkMzbDRlT2k1NTU2VHI2OXZ0Wm9mT2h3T3ZmMzIyN3I1NXBzVkVCQlE1VFdlbnA3eThQQnc3eUMwWk1rU0RSZ3dvTm92RmtlcjZQVWlTVHQyN05ET25UdDEzMzMzeWRmWFZ4TW1URkM3ZHUxMHl5MjM2Ti8vL25lMTc3MW56eDQ1bmM1am1sQmFyVlpGUjBjckpDUkVDeGN1MUtCQmcvVDc3NzhyTmpaV0xWdTIxSkVqUjJyOFBFQk5IUjNzK2Z2NzYvdnZ2OWVDQlF1MGJOa3lTZVVCYWswYXFsYkl6YzA5WnZsYlJiQlMxZGZ3Z1FNSFpMRllUaXBnc1ZxdGF0R2loWHZwak1sa09tWkpYNXMyYmZUNDQ0L3JvWWNlMHZUcDA1V1VsRlNwMTlMSkdqSmtpTjU4ODAyTkh6L2V2WlJ3Mzc1OTd2TVZNenhLUzB0MTVNZ1JqUjA3dGxyMzkvYjJsc3ZsMHErLy9pb2ZIeDkxN2RwVnQ5OSt1OXEyYmF0YmJybEZraFFmSCsrZVdWSlRVNlpNVWZQbXpmWFVVMCs1L3h6V3JGbWo1NTkvWHUrLy83NHNGb3Z1dlBOT2pSczNUb3NXTFZMZnZuMlZsSlIwVEFOeUFDZVBnQVVBZ1BOWWd3WU5xZ3dXUWtKQ2RNVVZWK2lLSzY3UTNyMTc5Y01QUCtpKysrNlRwNmVuT25mdXJMaTRPTFZvMFVJdWwwdEJRVUh1b01YcGRNcG1zNm1rcEVRQkFRR1ZYb0MrK3VvcmhZV0ZWYm0yUHljblIzUG56dFUzMzN5akFRTUdhT3JVcVpvNWM2YisvZTkvNjVOUFB0R3dZY00wWU1DQVkzYndxWTdTMGxLOSt1cXJHalJva0h2SjBPVEprM1hmZmZkcDVjcVZ1dVdXV3pSNjlPaHFMZCtwbUxueTE2VkY3ZHExMHpQUFBLUGx5NWRyMzc1OW1qaHhvdGFzV2FPbm5ucEtJMGVPMUcyMzNWYmo1d0JxNnVqbGFTYVRTYUdob1pXV0ExWDAvNmdKaDhPaDVPVGtZNEtVbzhlVHBGbXpaaWsvUDEvUjBkRmF0MjZkR2pWcWROSXp4OExDd2lxRnVsWDFUR3JkdXJVdXUrd3lUWmd3UVRhYlRXM2F0S24yczFUTTREbDYrK1dLWGMwY0RvZjgvUHowNUpOUDZ1ZWZmNWJWYWxXL2Z2MnFkWCtUeWFSUm8wWnAxS2hSbFk2bnBxWnE1ODZkZXZycHA3Vnk1VXA5OHNrbnV1R0dHNnBkdnlUTm1UTkhBUUVCZXZqaGg3Vmd3UUxGeHNZcU5qWldYMzMxbFlLRGd4VWVIaTZwL0h2WXhJa1RkY2NkZDhobXM3bS94d09vR1FJV0FBRHd0MkppWW5UdnZmZHF3b1FKV3JseXBYNzQ0UWU5L2ZiYmNybGM3bXU4dkx6a2REcFZXbG9xRHc4UDllM2JWK1BHalhQL0kzNy8vdjNhdEdsVHBaK2s1dWJtYXNPR0RWcXhZb1VTRXhQVnZYdDN6Wnc1MHozVi90RkhIMVdIRGgwMGJkbzBUWjgrWGUrKys2NWlZbUxVc1dOSHRXN2RXaTFidGxSMGRQUkpCU0lsSlNXYU5HbVNRa0pDM0ZQaHBmSWVNcE1tVGRLamp6NnE5OTkvWDJWbFpkVnFxdHU2ZFdzRkJRV3BTWk1tbFk2YlRDWmxaMmZybFZkZTBYUFBQYWZnNEdBTkhUcFV5Y25KZXYvOTk3VjQ4V0s5OU5KTDdzOFBjRHBrWldWVkNpaHNOcHZpNHVMY3Y4L0p5YWx4enlPbjB5bUx4WExNN0xTS3dLWGl2cU5HamRKZGQ5MmxEejc0UU5LeFd5UC9IUjhmSC9kOUttYXdPSjFPSlNRa0tDOHZ6OTFvZHZUbzBmcjg4ODhWR2hycTNoSzZPaXAyRmF1by9hZWZmdEtISDM0b1QwOVBQZnJvbzdyNTVwczFhZElrM1hUVFRicjY2cXVyN0RsVEU3Tm56MVp3Y0xBR0RoeW9YcjE2YWRTb1VXcllzR0cxQTV5RWhBUzFhZFBHM2V2bGdnc3UwSmd4WTlTc1dUUDk5dHR2bWpselpxVmxZRTJiTnRXd1ljUDAvUFBQcTArZlBvWm1NUUhudTVyUHR3VUFBT2NWVDA5UFhYTEpKWm95WllvKy92aGozWFRUVFdyZXZMbk1ack5zTnB1aW82TjErKzIzNi9QUFA5ZS8vdlV2ZDNqZ2NEaTBkZXRXOTdJaXFmd242ZnYzNzFka1pLVHV2ZmRlelp3NVUrUEhqeittajhHUUlVUDAvdnZ2YThpUUlZcUlpRkJ5Y3JMK243MzdEbStxZk44QWZpZnBTdmRlZEFBdGhaWlI5aWdvSUhzb1EwRlJsQ2tpd3drS0NGK3dnQ3hGMUlveUJIOElpQ0pENm1hSUtGdWdMV1cxcFh1dk5GMUpNMzkveEFaQ2QxTUk0LzVjRjllVlpwenpuTFMwT2ZkNTN2YzljZUlFOXUvZmorKysrdzZYTGwycXMrNlltQmk4OWRaYmFOMjZOZGF1WFZ0bFdGT25UcDJ3ZE9sU2lFUWlIRGx5cEVIdmlabVpHVDcvL0hONGVIam83OU5vTlBqKysrL3g4Y2NmWTgyYU5mclZrZ0RkMHFrREJ3NUVTa29LdG03ZDJxQjlFUmtySXlORFA2bHRSVVVGY25OejBicDFhLzNqRmhZV2pWb3lHZEFONFJrMmJKakI5b0JiblN1VjNTYVdscGI0NktPUDRPRGdBQ3NySzRNaGZQWFpoMUFvaEVLaHdNMmJONUdUazROaHc0Wmh4NDRkQnNPZmZ2dnRONlNucDZPa3BBUnIxcXd4Q0lQcnc5blpHVk9uVG9XM3R6ZE9uanlKcFV1WFlzYU1HYkN5c3NMU3BVdXhhOWN1aEllSFkvMzY5UmcvZm55RHRsMlR4TVJFN04yN0Z5Ky8vRExFWWpGY1hWM3h4aHR2WU5HaVJmWDZQWGM3UHo4L2c0bDBQVHc4c0d6Wk1wdytmUnJlM3Q3VlR2emJyVnMzcUZRcUtKWEtCcjlmUkhRTE8xaUlpSWlvd1pvMWE0WXBVNlpneXBRcFVDZ1VVS2xVK3ZEa1RpS1JDR1BHakRHNHo4ek16Q0I0cUkyUGp3L2VlZWVkQnRlWWxKU0V2Ly8rRzVhV2xsaTllbld0RTh2Mjd0MGJTNVlzd2ErLy90cmcvZHkrQWtwMGREUWlJeU1SRkJTRWJkdTJWYmtTTEJBSThPNjc3MElxbFJvMUhJT29NWnlkbmVIdDdRMUFGendLQkFLRDVZWER3c0tNR29aM2U0ZGFwY3F2S3lkdkJYUnp3YnozM25zd056ZlgxMU9YOHZKeVNDUVNYTDE2RmQ5ODh3MThmSHd3Yjk0OERCMDZWRDh2QzZDYll5UThQQnlUSmsxQ3IxNjlNR3ZXTENpVlNpeFlzTUNnaHJyTW5qMWJ2NUxaKysrL0R6YzNOK3pac3dkMmRuWll2WG8xOXUvZmorZWZmeDREQnc3RVN5KzlWS1dMclNGS1NrcXdhTkVpdEcvZkh1UEdqZFBmLytTVFQrTElrU09ZTTJjTzFxMWJoN0N3c0VadHY2S2lBcDkvL2ptNmRPbUNsSlFVekpvMUM5dTJiZE9IWHJtNXVWaTJiQmw2OWVxRlU2ZE9ZZlBtemZwSmNZbW9ZUml3RUJFUmtWRXNMQ3dhTk5udHZkS2lSWXNHTFRmYnQyOWY5TzNiMTZoOU5tL2VISXNYTDY3MU9XWm1admpnZ3c5UVhEOWk1aDBBQUNBQVNVUkJWRnhzMUw2SUdxcC8vLzV3ZG5ZR0FQejg4OC9vMmJNbm5KeWNFQjhmajRDQUFQVHQyeGQ5K3ZScDlQYXJHNjVYT2N6bXpuQmp3SUFCZFc2dnRMUVVxMWF0UWs1T0RtSmpZeUVTaVRCczJEQ01IVHUyMnJsVjl1elpnNGlJQ015YU5Rc3Z2dmdpQU9EMTExL0h4eDkvalBqNGVLeFlzUUorZm41MTdsZXIxZUxMTDcvRW9VT0g4TVVYWHlBa0pBU25UcDB5ZU03WXNXTVJHaHFLaFFzWFl1ellzZWpTcFF1R0RSdUd2bjM3NnQvaitwQklKSGo5OWRlaFZDcXhldlhxS2tPMEZpOWVqUEhqeCtQTk45L0VtMisrYWJCcVVuMm9WQ29zWExnUVptWm0rUFRUVDVHZG5ZMVhYbmtGY1hGeENBa0pRWEp5TXViT25ZdE9uVHBoNWNxVitPcXJyN0JwMHlaSUpCTE1temV2Mm5sdWlLaG1IQ0pFUkVSRTFFVHVuT3kySm1abVpnMDZDU05xQ21LeEdEMTc5a1I4ZkR4Ky9mVlgvWHhEcDArZnh2RGh3N0Z4NDBaSUpKSW0zV2RsWU5DWWVUMXNiVzNoNmVtSnk1Y3Y0L25ubjhmUFAvK014WXNYVndsWHpwOC9qNWt6WnlJMk5oWTdkdXpRaHlzQU1ISGlSSXdZTVFKWHJsekJ1SEhqc0dyVktvTVZnZTVVV0ZpSU45NTRBOW5aMmRpelo0OStYNVVyQjkwdUlDQkFQeEh0eFlzWHNXTEZDZ3dhTkFnVEprekF5cFVyc1hQblRseTVjcVhHZmNYRXhHRGl4SWtRaThYWXNtVkx0ZDFEYm01dVdMaHdJVlFxRmRhdFc0ZlhYbnNOS1NrcGRiNTNnRzQ1NkhuejVrR2owU0FpSWdKV1ZsWm8zcnc1OXU3ZEN6OC9QMnpidGcyTEZpM0M5T25UOWVIT3RHblQwS2xUSit6ZHV4ZlBQLzk4bFdDSmlHckhTSktJaUlpSTZCRWhrVWp3OXR0dlkvanc0ZWpXclJzQTRLV1hYb0tMaXd2Q3c4T3hZOGNPdlBEQ0MzajExVmVicEh1aHNuUGw5bUU4RFRGMzdseE1uejRkWXJHNDJzZXpzcktnVkNxeFljT0dHa09jSlV1V3dOcmFHZ2NPSE1BUFAveUFIMy84RWYzNzk4ZkNoUXNOaGc3Kzhzc3ZPSHYyTENaUG5seGxKWjJNakl4cU8vVXNMQ3p3NXB0dll2RGd3ZGl5WlF2UzB0TDA4OXc0T3p0WDJ6RlRVRkNBclZ1MzR0aXhZNWc2ZFNyR2pSdFg2MUwwZ3djUHhxbFRweEFaR1ltVEowL2l6Smt6Nk4rL1AwYU5Hb1h1M2J0WCszM0t5Y25CLy83M1AvVHAwd2NUSjA0MDZDNnl0N2RIVWxJU2hnMGJocWxUcHhxOFRpUVNZZFdxVlpnNGNTSnUzcnlKdVhQbklqQXdFS05IajhiSWtTT3JUR0pNUklZWXNCQVJFUkVSUFFLU2s1UHgybXV2b1ZldlhwZy9mNzdCWXlOR2pJQ0hod2ZtejUrUHI3LytHdWJtNXBnNWM2YlIrelF6TTROSUpES3FZNnVtY0FVQXZMeThxa3lPZlNkemMzTXNXTEFBQ3hZc2dFd21nNVdWVlpYaFRKbVptUWdORGNYdzRjT3IzVVoyZG5hdDh6aTFiZHNXR3pac3FMVU9yVmFMdzRjUDQ4YU5HK2pldlR2ZWV1dXRlczhMczJqUklvakZZaHc1Y2dReW1Rem56cDNEOWV2WDBieDVjOHllUFZ1LzlIeWw2OWV2WS8zNjlmcXc1MDYxRFo5MGMzUEROOTk4Zzk5Kyt3MjV1YmtRQ29XUXkrWEl6YzFsd0VKVUJ3WXNSRVJFUkVRUE1ibGNqdTNidCtQQ2hRdFlzR0JCalpPbGR1M2FGVHQyN01EOCtmTVJIUjNkWlB0M2MzTnIxSExKZDBOTllVMWRrKzIyYnQzYTZJbXBCUUlCQmc4ZWpNR0RCemY0dFpWTFJMLzc3cnYxZXI2eDgwbTV1N3MzYU1sNkl0Smh3RUpFUkVSRTlKQlNLcFU0ZHV3WWhnd1pnbGRmZmJYTzUvdjYrbUxuenAwb0tDaG9zaHBtelpwVjZ4Q1lCOEZUVHoyRjl1M2JtN29NSXJyUE1XQWhJaUlpSW5wSW1adWIxempzcFNabVptYnc4UEJvc2hwR2pCalJaTnN5RlNzckt3UUhCNXU2RENLNnp6M1lVVElSRVJFUkVSRVIwWDJBQVFzUkVSRVJFUkVSa1pFWXNCQVJFUkVSRVJFUkdZa0JDeEVSRVJFUkVSR1JrUml3RUJFUkVSRVJFUkVaaVFFTEVSRVJFUkU5TW5KeWNqQm16QmowN05rVEJ3OGVOSFU1UlBRUVljQkNSRVJFUkVSRVJHUWtCaXhFUkVSRVJFUkVSRVppd0VKRVJFUkVSRVJFWkNRR0xFUkVSRVJFUkVSRVJtTEFRa1JFUkVSRVJFUmtKQVlzUkVSRVJFUkVSRVJHWXNCQ1JFUkVSRVJFUkdRa0JpeEVSRVJFUkVSRVJFWml3RUpFUkVSRVJFUkVaQ1FHTEVSRVJFUkVSRVJFUm1MQVFrUkVSRVJFUkVSa0pBWXNSRVJFUkVSRVJFUkdNak4xQVVSRVJBOEtqVVlEaVVSaTZqS0k3bnRTcVJScXRSb0NnY0RVcFJBUkVkMHpERmlJaUlqcVNhRlE0TXFWS3hBSzJRQktWQnVOUmdPRlFnR3hXR3pxVW9pSWlPNFpCaXhFUkVSMWNIQndnSU9EQTVSS3BhbExvVHRvdFZxbzFXb0FnRWdrWXNmRWZVSWtFa0VzRnNQZTNoNU9UazZtTG9lSWlPaWVZTUJDUkVSVUJ3OFBEMHliTmczRnhjV21Mb1h1RUJjWGgrM2J0ME9sVXVIbGwxOUdVRkNRcVV1aTI5amEyc0xiMjl2VVpSQVJFZDBUREZpSWlJanFJQkFJNE9YbEJTOHZMMU9YUW5mSXlzckM2ZE9uSVpmTDhkWmJiNkYxNjlhbUxvbUlpSWdlVVJ4RVRrUkVSRVJFUkVSa0pBWXNSRVJFUkVSRVJFUkdZc0JDUkVSRVJFUkVSR1FrQml4RVJFUkVSRVJFUkVaaXdFSkVSRVJFUkVSRVpDUUdMRVJFUkVSRVJFUkVSbUxBUWtSRVJFUkVSRVJrSkFZc1JFUkVSRVJFUkVSR1lzQkNSRVJFUkVSRVJHUWtCaXhFUkVSRVJFUkVSRVppd0VKRVJFUkVSRVJFWkNRR0xFUkVSRVJFUkVSRVJtTEFRa1JFUkVSRVJFUmtKQVlzUkVSRVJFUkVSRVJHWXNCQ1JFUkVSRVJFUkdRa0JpeEVSRVJFUkVSRVJFWml3RUpFUkVSRVJFUkVaQ1FHTEVSRVJFUkVSRVJFUm1MQVFrUkVSRVJFUkVSa0pBWXNSRVJFUkVSRVJFUkdZc0JDUkVSRVJFUkVSR1FrQml4RVJFUkVSRVJFUkVaaXdFSkVSRVJFUkVSRVpDUUdMRVJFUkVSRVJFUkVSbUxBUWtSRVJFUkVSRVJrSkFZc1JFUkVSRVJFUkVSR1lzQkNSRVJFUkVSRVJHUWtCaXhFUkVSRVJFUkVSRVppd0VKRVJFUkVSRVJFWkNRR0xFUkVSRVJFUkVSRVJtTEFRa1JFUkVSRVJFUmtKQVlzUkVSRVJFUkVSRVJHWXNCQ1JFUkVSRVJFUkdRa0JpeEVSRVJFUkVSRVJFWml3RUpFUkVSRVJFUkVaQ1FHTEVSRVJFUkVSRVJFUm1MQVFrUkVSRVJFUkVSa0pBWXNSRVJFUkVSRVJFUkdZc0JDUkVSRVJFUkVSR1FrQml4RVJFUkVSRVJFUkVaaXdFSkVSRVJFUkVSRVpDUUdMRVJFUkVSRVJFUkVSbUxBUWtSRVJFUkVSRVJrSkFZc1JFUkVSRVJFUkVSR1lzQkNSRVJFUkVSRVJHUWtCaXhFUkVSRVJFUkVSRVl5TTNVQlJFUk5wYUtpQWpLWnpOUmxFTkU5VkZwYUNxMVdhK295aUlpSWlCaXdFTkhESVQ4L0g2dFhyOGFGQ3hkTVhRb1IzVU5GUlVXUVNDU3d0clkyZFNsRVJFVDBpR1BBUWtRUGhSczNidURiYjc5RlptYW1xVXNoSWhPd3Q3ZUhvNk9qcWNzZ0lpS2lSeGdERmlKNktDaVZTbWcwR29qRllreWRPaFdCZ1lHbUxvbUk3cUdBZ0FDMGE5Zk8xR1VRRVJIUkk0d0JDeEU5VkN3dExmSE1NOCtnWDc5K3BpNkZpSWlJaUlnZUlWeEZpSWlJaUlpSWlJaklTQXhZaUlpSWlJaUlpSWlNeElDRmlJaUlpSWlJaU1oSURGaUlpSWlJaUlpSWlJekVnSVdJaUlpSWlJaUl5RWdNV0lpSWlJaUlpSWlJak1TQWhZaUlpSWlJaUlqSVNBeFlpSWlJaUlpSWlJaU14SUNGaUlpSWlJaUlpTWhJREZpSWlJaUlpSWlJaUl6RWdJV0lpSWlJaUlpSXlFZ01XSWlJaUlpSWlJaUlqTVNBaFlpSWlJaUlpSWpJU0F4WWlJaUlpSWlJaUlpTXhJQ0ZpSWlJaUlpSWlNaElERmlJaUlpSWlJaUlpSXhrWnVvQ2lJaUlpQjQ0R2cyUWx3ZWtwd09scFlDbkp4QVlDSWhFdDU1ejZSSlFYRnkvN2JWdXJkdEdKWVZDOTNxNXZINnY3OVFKc0xlLzlYVjJOcENRQUtqVmRiL1d3a0wzZWl1clcvZmR1S0hiUm4zdzJIbnNsUjZVWXk4ckE3UmF3L3NlbFdOL2xML3ZQUFlIOTlnREFnQWZuL285MThRWXNCQVJFUkhWVjBrSnNHNGRFQmtKeUdSQWVUbWdWQUxQUGd0ODhBRmdiWDNydVlzWEF4Y3YxbSs3SDMwRVBQLzhyYStsVW1EdVhDQXRyWDZ2Ly9sbm9IUG5XMS8vOVJmdzNudTZFOG02dUxzRFAvMEUrUHJldW0velptRDM3dnJ0bThmT1k2LzBvQnk3bXh2ZzcyOTQzNk55N0kveTk1M0gvdUFlZTNnNDhQTEw5WHV1aVRGZ0lTSWlJcXFQMkZqZEI3d3paM1JmbTVzRGxwYTZLM29LaGE2cjVYWVZGYm9RcGo1VUtzT3ZOUnJkbGIzNnZ2N09LNWhxdGU2MTlYbTlYRjcxYXI1Q1VmOTk4OWdONytPeDErLzFwanoyaW9xcTl6MHF4LzRvZjk5NTdJYjNQVWpIZnVmckZRcmQvdTNzNnZmNmUwaWcxZDc1VHB0V1RFd001czJiaDRxS0NxeGF0UXBoWVdHbUxvbUlIZ0RIangvSGhBa1RJSmZMY2VEQUFmVHIxOC9VSlJIUnc2U2tCQmc4V0JldTJOb0NFeWJvcmlRMmE2YjdnT2ZwQ2JScVpkZytmZkZpdzlxbnZieHVmYTFRNkY1ZjMvYnB6cDJydG83SHg5ZS9kYnh6NTZxdDQxbFo5ZHMzajUzSFh1a0JPZmFjc2pMTTNMSUZXZG5aV0xCZ0FVYVBIdjNJSFB1ai9IM25zVC9BeHg0WWVHdUlrRUlCYk55bzYrRFpzMGQzb2VNK3dvQ0ZpQjRLREZpSTZLNzYzLytBNWN0MTRjcXVYY0NBQVlDTmphbXJJcUpHeU1uSndjeVpNNUdWbFhVcllDR2lCME4yTnRDN041Q1NBcXhlRGN5YlorcUtESEFWSVNJaUlxTGFxTlhBb1VPNjJ4TW1NRndoSWlJeUZTY25ZT0JBM1RDanp6K3ZPblRKeEJpd0VCRVJFZFVtSzBzM1R0emNYTmRpelhDRmlJaklOQ3d0Z1c3ZEFMRllOMXdvTjlmVUZSbGd3RUpFUkVSVW05UlUzU29ObHBhNk9WZUlpSWpJZFB6OGRCYzdLaXFBakF4VFYyT0FBUXNSRVJGUmJSUUszVEFoa2VpK1hMR0FpSWpva1dKaEFRaUZ1ci9OSlNXbXJzWUFBeFlpSWlJaUlpSWlJaU9abWJvQUlxS0dTazlQeDRVTEZ3enVpNDJOUlVWRkJaUktKVTZlUEFtcFZHcndlS2RPbmVEbjUzY3Z5eVFpSWlJaW9rY0lBeFlpZXVEazV1Yld1cVRpNHNXTHE5eDM5dXhaQml4RVJFUkVSSFRYY0lnUUVUMXdPbmZ1akpDUWtIby92M1hyMXVqZXZmdGRySWlJaUlpSWlCNTFERmlJNklIMDZxdXYxdnU1VTZkT3ZZdVZFTkZEejlzYmVPa2xZTW9VM1cwaUlpS2lhbkNJRUJFOWtBWVBIZ3dIQjRjcWM2M2N5Y0hCQVU4ODhjUTlxb3FJSGtwQlFjQ2FOYWF1Z29pSWlBREEzUjBZTlFwUXFYUzM3eU1NV0lqb2dlVHA2WW51M2J2ajhPSER0VDZ2ZS9mdW5IdUZpSWlJaU9oaEVSSUNiTnBrNmlxcXhTRkNSUFJBc3JXMVJiZHUzU0FVMXZ4clRDZ1Vva2VQSG5CMmRyNkhsUkVSRVJFUjBhT0lBUXNSUFpDRVFpRTZkT2dBZTN2N0dwOGpGb3NSR2hvS016TTI2eEdSRVZRcW9MZ1lrRXAxdDRtSWlJaXF3WUNGaUI1WWZmcjBnWHN0NHk0ZEhCelFxMWV2ZTFnUkVUMlVZbU4xRTl5KzhJTHVOaEVSRVptT1hBNmtwZW4reWVXbXJzWUFBeFlpZW1BMWE5WU1YYnQycmZIeExsMjZvRm16WnZld0lpSjZLQlVWQWFkT0FmLzhvN3ROUkVSRXBoTWREWXdmRDR3ZXJidDlIMkhBUWtRUHRDbFRwdFQ0V0VPV2NpWWlJaUlpb2dlQVRBWWtKUUdKaWJyYjl4RUdMRVQwUUh2aWlTZmc3ZTFkNVg1UFQwOE1HVExFQkJVUkVSRVJFZEdqaUFFTEVUM1FoRUloWG56eHhTcjNqeDgvdnRZVmhvaUlpSWlJaUpvU3p6Nkk2SUgzM0hQUFFTd1c2NzhXaThWNDVwbG5URmdSRVJFUkVSRTlhaGl3RU5FRHo4ZkhCNjFhdGRKLzNhNWRPN1JzMmRLRUZSRVJFUkVSMGFPR0FRc1JQZkRzN096UXJWczNDQVFDQ0FRQ2RPalFBWTZPanFZdWk0aUlpSWlJSGlGbXBpNkFpTWhZbHBhVzZOV3JGL2JzMlFPMVdvMWV2WHJCeHNiRzFHVVJFVDBTc25OeWtKeVNadW95aU9wTklpbUVYQzZIVnF0RllsSXl6cHo3MTlRbEVkV0xyYTBOZ2xvRndzTGMzTlNsVUEwWXNCRFJRNkY3OSs1d2RYVkZlWGs1dW5mdmJ1cHlpSWdlQ1ZuWk9YaHY2UXJFWHJ0bTZsS0k2azJqMFFCcUpTQTB4N2MvL0lnOUIzNHlkVWxFOVdJdEZ1UDEyVE14NXFrUnBpNkZhc0NBaFlnZUN1M2J0MGVIRGgxUVhGeU05dTNibTdvY0lxSkhRbloyRHVKdkppSS92d0JXbHVZd0UzSDBPVDFvVktZdWdLaGV5bVVLNUd1MVNMaVpDSTFHdzlVeTcxTU1XSXhVV0ZpSXZMdzhVNWRCUkFENjlPa0RoVUtCR3pkdW1Mb1Vva2VlcTZzclhGeGNURjFHMHdnTUJNTERBWlZLZDV1cUVGdWFZOXFvWG1nWDRHWHFVb2lJSGtxci8rOHdrak1MVFYzRy9VRW9CQ3d0QVlGQWQvcyt3b0RGQ0JLSkJOdTNiMGQyZHJhcFN5RWlBQ3FWN2lyVTFxMWJUVndKRVRrN08yUEdqQmtQUjhqaTR3TzgvTEtwcTdpdmlVUkNCUG01b1d1SW42bExJU0o2S05uYldKbTZoUHRIVUJDd2RpMmdWdXR1MzBjWXNCaEJJcEVnT3pzYnhjWEZFSWxFYk5NaXVrOG9sVXBUbDBEMHlOSnF0VkNwVkZBcWxjalB6Mzg0QWhZaUlpSzZmM2g2QXM4K2Erb3Fxc1dBcFFtWW1abWhiZHUyL0JCSlJFU1BQSWxFZ2l0WHJwaTZEQ0lpSXFKN2pnRkxFeEFJQkhCMGRJU0hoNGVwU3lFaUlqSzVoNjZqczZnSXVIWk4xNHJjcmgzZzZHanFpb2lJaU9nK3hJQ0ZpSWlJcURaWHJ3S3Z2Z3JJNWNEMjdVQlltS2tySWlJaWVuU1ZsQUNKaVlCV0N3UUVBSFoycHE1STd5Rzd4RVJFUkVUVXhCUUtJRGNYeU1uUjNTWWlJaUxUdVhBQkdESUU2TjlmZC9zK3dvQ0ZpSWlJaUlpSWlNaElERmlJaUlpSWlJaUlpSXpFZ0lXSWlJaUlpSWlJeUVnTVdJaUlpSWlJaUlpSWpNU0FoWWlJaUlpSWlJaklTQXhZaUlpSWlJaUlpSWlNeElDRmlJaUlpSWlJaU1oSURGaUlpSWlJaUlpSWlJeGtadW9DaUlpSWlPNXJabWFBZ3dOZ1lhRzdUVVJFUkZRTmZrb2dJaUlpcWsyN2RzQzJiWUJHbzd0TlJFUkVwbU5sQmZqNkFncUY3dlo5aEFFTEVSRVJVVzBjSFlHd01GTlhRVVJFUkFBUUdncDgvNzN1dHFlbmFXdTVBd01XSWlJaUlpSWlJbm93aU1WQWl4YW1ycUphbk9TV2lJaUlpSWlJaU1oSTdHQWhJaUlpcWsxbUpuRDBLS0JTQVVPR0FON2VwcTZJaUlpSTdrTU1XSWlJaUlocUV4Y0h2UE1PSUpNQkJ3OHlZQ0VpSWpLbDNGemc5R25kNVBPOWV3UHU3cWF1U0k4QkN4RVJFUkVSRVJFOUdLNWVCVjU1QmFpb0FBNGN1SzhDRnM3QlFrUkVSRVJFUkVSa0pBWXNSRVJFUkVSRVJFUkdZc0JDUkVSRVJFUkVSR1FrQml4RVJFUkVSRVJFUkVaaXdFSjNuVXdtdzRVTEYrN3BQdFZxOVQzZDM5M3lzQnpIM1pDWGwzZlA5NW1kblkyVWxKUjd1czlkdTNiaG0yKytRVWxKU1pOdTk4U0pFMUNwVkUyNlRTS2lSOEdWaEF5VWxzdnYyZjcrK3ZjR3N2T2w5MngvWkRyMzh1ZUtpTzRPQml4MDExVlVWR0RldkhsNDdiWFhrSldWMVdUYlZhbFVrTWxrMVQ0MmRlcFVMRml3QVBuNStVYnZwN2k0R0JrWkdVWnZwNkcwV2kzR2pCbURWYXRXUVNLUjNQUDlOOGJWcTFjeGJkbzBmUHZ0dDlCcXRYZDFYd3NYTHNSYmI3MkY0dUxpYWgvUHpNekU0Y09ISVpjMzNZZVZFeWRPWVBMa3lWaTZkR21UYnZmSWtTT0lpb3FxOWpFUER3OXMyN1lOdTNmdmJyTDlBY0RxMWFzeFpjb1VGQlFVTk9sMmE2SlNxWERqeGcxOC8vMzNXTDU4T1E0ZlBuelhmMGFNSVpQSklKVWFudENVbDVlam9xTENSQlVSa1NtOHVYWVB6bDVPTkxqdnU5L080ZG41WHlJMXV4QUFrSktaajh2eDZVMis3M0s1QXAvdFBvSVZtMy9DalBBZCtQdENYS08zZGVsNktyTHlpcHF3dXFvKzNYVUV1Mzg1aTNLNTRxN3V4eFMwV2kweWM0dnd6OFY0ZkhYZ2J5eUpPSUM1cTNaajd4L25tMndmU3BVYWt4ZHZ3K3lWTzNFbDRkNS83cndYMUdvTm9tNmtva0JhMmlUYisrTlVMSDc4TXdyU2t2SW0yUjVSVStBeXpYVFhsWmJxZm9uR3hzWWlOVFVWWGw1ZVRiTGRTNWN1WWVuU3BYamhoUmZ3d2dzdkdEeldzV05ISERwMENGbFpXWEIxZFRWcVA5SFIwUWdQRDhlMGFkUHczSFBQR2JXdGhoQUlCSEIwZE1RZmYvd0JkM2QzVEpzMjdaN3NWNlBSUUNoc1hQWWFIQndNcVZTS0F3Y09ZUHo0OFJDSlJFMWMzUzF1Ym00NGQrNGNwRklwN08zdHF6eHViVzJORHo3NEFPN3U3dGk5ZTNlVDFKS1dsZ1pBOTdOWFdGZ0liMjl2bzdjSjZIN0dmdjc1Wnl4YXRBZ0RCdzQwZUN3ME5CUUEwS0pGaXliWkZ3QWtKQ1JBSnBOQkxwZkR6S3hwL3d4czJyUUpwYVdsY0haMlJtbHBLWXFLaWlBUUNHQm1aZ1lQRHcvWTI5c2pQajRleDQ0ZHcrKy8vNDZWSzFmQzB0TFNxSDJlUEhrU2UvZnV4ZENoUXpGbzBLQW0rVjdmdUhFREN4Y3V4SnR2dm9uQmd3Y0RBS0tpb3JCcTFTb01HVElFMDZkUGg1V1ZsZEg3SWFMNzE2WHJxWWhOeU1BUGYveUxIdTFiNnU5L29rY3dUc2Nrd3RyS0FtcTFCdXUrL2gwM2tyTXhiOUlRRE9uZHp1ajlGaFNWNHBlL1kzUW5qcVc2QzBsaVMzUDgvSGNNdXJkdkFVc0w4d1p2ODBwQ0J0NzllQzllSGQ4Zll3WjBydlc1bVhsRnNEQTNnNnVqYllQMllTTzJ3UGFELzhEUzNBeFBEK3JTNEJycmN1VE1WWnk4bElCbmgzUkRtNVkxZjVaYytNaytxTlJxVEJuVkJ5RUJqZjg3blZ0WWpCMlJwNUdTV1lDVXpIeklLcFFRQ2dWbzBjd1Y3UUtiWVdUZlVIUUo5bS8wOXU5a2JpWkMvKzV0Y1BEWUpaeU92b20yZ2MzMGoyMzU0UzhVRnBlalRRdFBQTld2SXdRQ1FaUHRWMWFod1BXa2JQaDZPamY0ZTM0N2hWS0ZmRWtwdk4wZHF6eW1WbXR3OW5JaWR2MThCbkVwT1JBS0JSajlSQ2U4T3I2L01hWER6RXlFaUs5L3gxY0gvc2IzSDg2RVZTUCtieEExTlFZc2ROZjkrKysvQUFCdmIyOTA2dFNweWJhYm5aME5tVXlHOCtmUFZ3bFltamR2RGdEdzlmVTFlajhIRGh5QVJxT0JpNHRMcmM4ckt5dERURXdNL1B6ODBLeFpzMXFmZTZmbzZHZ2tKaVppNU1pUk1EZS85Y2VodExRVUlwRUl3NGNQYjFUdGRWR3IxVWhQVDBkOGZEeGlZMk54NXN3WkZCWVdvbCsvZnBnMGFWS0RqME1nRU1EWDF4Y2VIaDcxT3NsVnFWUW9LeXVEZzRORGcydlB5c3BDLy83OWEvd2VPem82d3R6Y0hQYjI5azF5d2kyVHlYRGl4QWs0T3p0ai9mcjFUUmF1QUxydnYxYXJyZllEazR1TEM0UkNJYkt5c3JCOSszWWtKaWJDeWNrSmMrYk1nWVdGUmFQMnQydlhMbGhZV0dERmloV3dzN1BEdi8vK2k5T25UNk5uejU3bzFxMmJVY2ZTcmwwN0xGNjhHS05HamNMVFR6OE5iMjl2aUVRaWcrTXJMQ3pFN3QyN1VWQlFBSlZLWlhUQTBxdFhMMFJFUkdETm1qV1F5K1VZUFhxMFVkc0RkRUdqWEM1SFJFUUVCZzRjQ0tGUWlCNDllc0RjM0J6Nzl1MUQzNzU5MGI1OWU2UDNRMFQzcDVJeU9kYnYrQjBkVy92aWZ6T2ZNbmpNeDhNWkFHQXVFdUt6M1VlUmxsMklSZE5Ib0gvM05vM2VYNFZDaVRNeGlUaDY1aXJPeFNiRHpzWVNZUjBEMGExdGM3UVA4b0dqbmJWUng5T3BqUi8rNzlBcEtGV0dRNDhyZnpkck5CckVKZWZnNzB2eE9IanNJdFJxTFY2Zk9CREQrdFQvOTF5QXJ6c0F3TS9MMmFoYWF4TFdNUkNmN0R5TXRKeENiRjAydWNibjlRb053R2U3aitLQTNVV2pBaFozWjN2TUhOY1htWGxTeE1TbFljdStFOWkrZkNxODNhb0dDRXFWR3JtRnhmQjJjelFxL0dqVHdoTUEwTHE1cDhIOVBVTUQ4T0hYditQSW1hdXdzN0hDRTkyREc3UmRsVW9OYWFrTTB0Snk1RWxLa1pFalFXcFdJZUxUY3BDWWxnZVZXZ01IV3pFK2YyOGlQRnlxWHJTcWRkdHFOZjY1R0k5dEIvNUJWcjRVN1ZzMXc3dFRoeU8zc0JqLzkrTkpXRm1hbzB5bVFFc2ZWenpWcnlOMlJKNUNibUVKRkFyamh5bUhCdWsrQTdvNTJUSmNvZnNHQXhhNjZ5SWpJK0hxNm9wSmt5WmgyYkpsQ0E4UGI1S3I1cWRPbllKUUtNUnJyNzFXNVRGbloyY0loY0pxT3hzYTR0ZGZmMFYwZERRV0wxNk0vdjBOVTNhMVdvMHJWNjRnS2lvS1VWRlJpSTJOaFZxdFJ1L2V2UkVlSHQ2Zy9ZakZZbno2NmFmNDdiZmZzR0hEQm9qRllraWxVa2drRW9TRmhUVloxMC9sU2JtZG5SMUVJaEhVYWpXY25aM2g0ZUdCVHAwNm9WKy9mb2lJaU1EaHc0ZngxMTkvWWVmT25YQnpjMnZRUHV6czdPRHU3bDd0WXhLSkJJbUppWWlOamNXNWMrZHcvZnAxYURRYURCZ3dBSXNYTDY3M1Bnb0xDNUdTa29KMzNubW54dWVvVkNxb1ZDcUVoWVUxcVA2YUhEeDRFR3ExR2hzMmJJQy9mOU5kc2JwNDhTTFMwdEl3Y3VSSURCZ3dBQUFnbDh1eFpjc1dKQ2NuSXlFaEFScU5CZ2NPSEVDclZxMFFHQmlJb0tDZ1JvZEc1OCtmeC9Ianh4RWNISXgxNjlZaEx5OFAxdGJXeU03T3h2NzkrL0gyMjI5ajVNaVJqVDZlWHIxNndjM05EWGw1ZVRoNzlxeisrNTJYbDRjUFAvd1FiZHUyUlZKU0VxeXNyTEI2OVdyWTJOZzBlbCtWaEVJaE9uVG9nT3pzN0FhSGdqVzVjdVVLQUdEZXZIbjZqaTZSU0lTQWdBQkVSMGNqT1BqV2g5dms1R1Q0K3ZyZTFZNHRNakZIUnlBc0RLaW8wTjJtaDFxRlFvbjN2L2dSYXJVVzRYTkdRMnhwR0dhN09kc0JBRDdZK2d1S1Nzcnd4WklYcTV4MG40OU5RcmQydFhjZWxza3E4UGVGT0p5T1NVUkNhZzc4dlZ6UXJwVVByaVZsSVNTZ0dhYU5mUXdPdHVJbU9TWm5COTN2MnZhdERIOUhmckxyQ0U1RkpjREh3d24rWGk1bzVlOEJSenRyS0pRcWRHNWdkNGJEZnlHUWgydkRMNXJVaDdXVkJmeThYZURuV2ZzRnI4RC9ncDZXUGczNy9GSWRXMnNyQlBsYndjSk1oRTE3LzBKaFVTbThYQjJRVTFDTTVNd0NKS2JsNGxwU0ZxSnZwRUZXb1VTUXZ3ZmVtVElVL3Q2TjY1NTIrYStEeE5mVE1LUnEzOG9IWDcwL0dmOWVUVUdnWC9XZnNXcHo0Vm9LZnY0ckdqbUZ4Y2dwS0FHZ1JmZDJMZEd6ZlFER0RlcUtsajV1OFBGd2FsQUg4L2UvbjhmSnFBU1Vsc3ZSSmFRNVd2bDdJQ3RmQ29GQUFGdHJTOWlLWFhFNUlRTkxaejZGc0k2Qit0Y2QvL2NHU3Nya21EYjJzUVlmeDUyY0hXd2dFQUJCL2g1R2I0dW9xVEJnb2J2cTlPblRTRXhNeE1LRkN6Rm8wQ0RrNU9RZ1BEd2NTNWN1TmVwa0pEczdHK2ZPbmNPZ1FZUFFzbVhMS285YlcxdkQxdGEyMFVOZEFDQWxKUVZmZnZrbGxpNWRpc2NmZjd6SzQ4ZVBIOGR2di8wR0FQRDM5OGVRSVVQUW8wY1BPRGJpdzNkUVVCQUdEQmlBbzBlUDRzOC8vOFR3NGNOeCtmSmxBTkNmZERlRjl1M2JZOSsrZmZqamp6OXFmRTYvZnYxdzgrWk5PRGc0d05tNTRWZWhLZ09jMjVXWGwyUHAwcVg2YmlaM2QzZTBhdFVLMDZaTlE1Y3VYZEM2ZGVzRzdlUHZ2LytHaDRjSHBGSXB2dmppQytUbTVtTDgrUEVHSjczNStmblFhclhvMEtGRGc0L2hUdm41K2Rpelp3L0N3OE9iZEtnT0FPellzUU5lWGw2WU5XdVcvajRyS3lzTUd6WU15Y25Kc0xDd3dNcVZLL0h4eHgralJZc1dVS3ZWamY2L0k1VktzV2JOR293Y09SSnZ2ZlVXVWxKUzRPSGhnZGpZV0x6enpqdm8yYk1uK3ZYclo5VHhDSVZDOU83ZEd3a0pDV2pSb2dYOC9mMHhidHc0Tkd2V0RCWVdGbEFxbFlpT2pzYUVDUlBnNGRGMEg0Z3FPNG9xdTllTWRlVElFWVNHaGxiNXYrL2s1QVEzTnplRGtQakxMNzlFV1ZrWjFxeFpBMnRyNDY0eTAzMHFKQVQ0OGt0QW93R2NuRXhkVFkzUzA5TlJYbDZPb0tBZ1U1Znl3RktwMVZpNStTZFlXMW5BMzlzRlAvenhMMTU4OGxaUXIxS3BjZlRNVlFDQW81MFk3ODhhQlN0THd5dm5KV1Z5SERvZVZXZkFvbFNwMGR6YkZWM2JOb2VyMDYyL200WFNVdno0WnhUYUJYcGozR0RqdWdvcldWam9mbWZkT1FTa2Y3YzIrUGxFREw1WS9LTCs1SDdYejJjd0pLeGRnenNacksxMFFaU2RkZTFkZENnM21nQUFJQUJKUkVGVWlabTVSWWhMeVVhZnpxMWcxc0MvWnc0MjRqcERKL3YvSG5keGFIaUFINStTZzBBL2QzMFhTbjVSS1JKU2MzQTVYamNueXZwdkRrTnNhUTRQRjN2NGVqckR4OE1aSFlKOE1PT1p2dmkvUTZmdzE3ODNNT2VEM2ZqZzliRm8zOHFud2Z1djdNSndycVoyTXpNUmVuYW8rcG0zUG5xMGI2a2Y1aGJ4N1ZIODh2ZGx6Sm53aFA2OWFneGZUMmRjdlptSjc5Yk5oTE9ERFRic1BBd1hCeHNzbmZrVWJNUzZuNEZtN2s2d0Zoc0dsSVhTTW5SdDJ4eTIxc1lQc3hVSUJEQTNFOEhKM3ZpTE5mU0FzYk1EUWtNQmhVSjMrejdDZ0lYdUdxVlNpWTBiTjZKRGh3NFlOR2dRQUdEaXhJbFl2bnc1bGk5ZmppVkxsalQ2UlBIYmI3K0ZXQ3pHakJrenFuMWNKQkxCMnRvYWVYbDVpSTZPUmt4TURLNWZ2dzZCUUlBcFU2YWdaOCtldFc0L1B6OGZIMzc0SVZhc1dJSDI3ZHZqekprejZOS2xpOEh3blFFREJqUnArUEhhYTY4aExpNU92NCtvcUNpWW01dFhXMnRqNTBtcERGaHFVem5rSmpRMHRGSGZINUZJcEorYm9yTDEyTnJhR3V2V3JVTlpXUm1FUWlIRTRvYi9RYjl5NVFyT25qMkw1T1JrUkVkSG83aTRHT3ZYcjBkd2NERGF0V3RYNVdTOWNyNlVVNmRPWWYvKy9iaDU4eWFzckt5d2N1WEtCbmM1ZlB6eHg1ZytmVG82ZDY1KzNIcHBhU211WGJ1R3ExZXZRcWxVWXZqdzRmVWFRblRxMUNuRXhNUmcvZnIxVmQ0VGYzOS9pRVFpSkNjblE2dlZZdG15WmNqTHk0T0Rnd05XckZpQmdJQ0FCaDJEUXFIQWloVXI0T3ZyaThMQ1F2end3dzhZTzNZc1pESVpObXpZZ0hidDJpRThQTnpnWjd5eHdzTENjT1hLRlhUcG9odURMNVBKa0p5Y2pJeU1ERnkvZmgxMmRuWjQ5dGxuamQ3UDdTcURUYWNtT1BtOWNPRUNVbE5UOGRaYmIxVjV6TkxTMGlCRWxVcWx1SHo1TXNyTHkvSFhYMzloMkxCaFJ1K2Y3a01XRmtBRHUvbE00ZnIxNjFpMmJCbGNYVjB4YXRRbzlPL2ZIODdPenJDeHNXR0hWVDJVbHNzUi9tVWsyZ1o2NDhXUnZiQmg1eEg5a0JxVldvMWpaNi9oeUpscmFCdm9EWDl2RjdnNjJsWUpWd0RnMTM4dUkrcDZHZ3FrcFhCeHFIbE9DMGM3NjJxSC9sUjJ3N1Jxd3F2eXd2OENBeHRySzVTV3kyRmhiZ1lMY3pNNDJldjJiMmFtKy9rb2x5dVFXMWhpTVA5SGZZbisrMXhpWVNiQ2xZUU0yTmxZd2NmRENTcTFCaGJtWmxDcWRPL2hwaC8rUWttWkhENGVUbGp6NWpOd2Q2NS9rR05sYVE1ejg2by95eThzMkl5Umo0ZGkzSkN1TUJQcDZyaXo4Nmd1V3EwV3E3YitERnNiWGNlS3Via1pYQnhzNE9QcGpPQVd1azdpV2MvMlI5ZTJ6WkdhVllCeXVRSkIvaDRRQ29WUXFkUzRrWnlGc05BQTlBb05xTktCVWwvbS8zMGZpc3ZrT0hMbUtqTHppakE0ckYyVGRtaVV5U3BnWVM2QzJLcHh3NHdyVlE1bjB2dzNZWDMwalRSTUhkUEhJTFJ4dHJmR1QzL0ZZUFBlditCb1o0MFBYbjhhdVlYRkdOaXpZVU9jYWlNVUNHSFhCR0VOUFdDNmRBRisvOTNVVlZTTEFRdmROVHQzN2tSZVhoNVdyMTV0TUI1MS92ejVtRE5uRHBZdFc0WWxTNVkwZUI2Sm5Kd2MvUHJycjVnOWU3YSt3MElxbFNJakl3TVpHUmxJU2twQ2JHd3Njbkp5OFB6eno4UGQzUjBlSGg0SUNncENzMmJONmp3Qkt5OHZ4OEdEQjdGaXhRbzRPRGhBb1ZEZ2YvLzdIMXExYW9YUFAvKzg0VzlFUGRuYjIyUDc5dTM2RDhILy9QTVBRa05EWVcxdERZMUdnK1RrWkZ5OGVCRkhqeDdGelpzMzhkaGpqMkg2OU9rTkdqNVUxend5dHorbk1kMEZHUmtaeU16TVJGeGNIRFp0MmdRL1B6OXMzTGhSLzdneHcwSGF0R2tEbFVvRkN3c0xYTHg0RWQ5ODh3MThmQXl2RGxWT2RwcWVubzZDZ2dJNE9EaWd1TGdZclZ1MzFuYzdOVFJjMmI5L1A3eTl2ZkhrazA5Q3JWWWpJeU1EeWNuSlNFcEt3czJiTjVHWW1BaWxVZ2xuWjJkSUpCTGs1T1JnLy83OUNBOFBSOWV1WFd2Y3JsS3B4T2JObS9ITU04K2dZOGVPQm84cEZBcHMzcndaQ1FrSit1Ly9jODg5aDI3ZHVqVnEwbWFsVW9uMzMzOGZ2cjYrbUQxN05qUWFEYjc4OGt2TW1ERURWbFpXVUt2VlRSYXVBRUNuVHAxUVdGaUlSWXNXUWFWU1FTZ1V3c3ZMQzk3ZTNzakx5OE84ZWZPTW5uZmxUcFVua0UweC9QRHJyNzlHNTg2ZDlSTU0zMDRrRWhuOEhHL2N1QkhsNWVXWVBIa3l3eFc2YjZTbHBTRWlJZ0pmZmZVVmdvS0MwTGx6WjRTRWhDQWtKQVNlbnA1MWIrQVJsRnRZakFOSEwrTGxweC9YQnh0RnhXVm83cTM3bXhpZmtvTTJMYnd3c0djSWhFSWhtbnU3WXVXV24zRGxaaWE4L2hzU1UxUXFRMXAySVhJS2ltRWp0a1I2dHFUV2dLVW1sWlBZT3Rqb1RsVExaQlg0OTBveWpwKy9BVE9SRUtQNmQwUzdCblpIcEdYclZpT2MvOUgzdUptV2g2bGorbUQ4a0c0b2x5bGdKaExDNXIrVGJkbC9Ld0JWZG9ta1poZkNSbXhSNTNGVUtKU0lUZEN0cERSNXlUWVVsY2pRdFcxenZQZnlDRXo5MzNiWVdsdkJ3bHlFTHNIK0dQTkVKK3lJUEExUFY0Y0d6eTJqMVFJbkx5VkFKQlJpY0srMitnbFYxV29OZHY5eUJnTjZCRU1vMUgzbXJDNklxYzJKQzNGSXo1VmczL3Jac0xNeFBHR3ZYUFd1TXFnNkU1T0lROGVqTUg1SU56elZyeU5Tc2dyd3pwUmhqZXBhQVhUaFhteENKdjY1cUZzcGFzcVNiUUIwODluNGVqbzNhY0NTa1Z1RTBDQmZmWmpUV1BiLy9YeHFOQm9BdXM2dHg3c1lkaVJiV1pvanRMVVBabzd2QjFkSFc4Z3FGQ2d0cjBDUWY5UDlIdEpxdGJDMDRDa3QzVC80MDBoM1JXeHNMSGJ1M0lrMzNuaWp5Z210bFpVVndzUEQ4Y29ycjJEZXZIbFl0bXhaZzRhaVJFUkV3TW5KU1g4eVUxQlFnQlVyVmlBOVBSMit2cjZ3c2JIQjVjdVhJUktKOFBiYmIyUG8wS0VOcXQzUzBoTFRwMC9YZjMza3lCRW9sY282cjdncmxVcWtwS1RneG8wYnVINzlPaTVmdm95MHREU0Vob1ppNmRLbDlacklWYTFXSXkwdERURXhNY2pKeVlHZG5SM2VlT01ONU9ibXd0WFZGVDQrUHVqWXNTUFMwOU54N05neFhMaHdBUWNPSEtqM2hHcTNueGhtWkdUZzJyVnJpSTJOUlhKeU1zTEN3akIrL0hqOThKNDdoL25VSkNvcUNtZlBuc1hGaXhjUkY2ZjdZQkFjSEl4WFhubWwxdUVtR28wR09UazVTRXRMUTFwYUdpUVNDWVJDSWNMQ3d0Q21UZFdKQWtVaUVVSkRRL0hubjM5aTlPalJPSGp3SUM1ZnZvdzFhOWJvT3dwNjkrNE5iMjl2YURRYUhEeDRFR0t4MkdEb1RWM2tjamtpSXlQMVhUeXBxYW40di8vN1AzVHAwZ1d6WjgrR1FDQ0FwNmNuZkgxOTRldnJpN0N3TVBqNCtPaTdUelFhRGQ1KysyMUVSVVVoSWlJQ1gzLzlkWTM3MnJseko5TFQwekY1Y3RXSitpd3NMREJuemh3QXVnOE93NGNQaDQyTkRhNWN1WUtNakF5a3A2Y2pOVFVWK2ZuNWNIWjJ4a3N2dlZSclY5WVBQL3lBQ1JNbW9GMjdkdnIzY3NLRUNUaHg0Z1FTRXhQUnBVc1hxTlhxR2wvZlVHWm1abmp6elRjUkZoWlc1V2RUb1ZBZ0tTa0prWkdSdUg3OU9sSlNVdURsNVlVNWMrWTBhckxqU2hZV0ZrMFNFSjA1Y3dheHNiRllzbVJKdFk5cnRWcjkvNk5EaHc3aGp6Lyt3SVFKRXpCcDBpU2o5MDNVVkNwUEJtVXlHYUtqbzNINThtWFkydHJDMGRFUlFVRkJHRFJvVUpVVnl4NTE3czcyZUdXYzRkK3M1TXdDUE41VmQ4SVkzTkt3SzdGdjE5YndkblBFNWZoMEZKWEtvRkZyNE9YdWlENmRBdUhyNllMZ2xsNTFuc0NxVkdwOTUwaWxNbGtGaXY1YmN2YlQzVWRSVWk2SFNDaUVzNE1OaWt0bGlFdkp3ZkYvYjJEV3MzV3ZCcFNZbm9kL0xzWGp4SVU0cEdRV0FBRGF0V3FHaGROSHdNZERkN0VwTVNNUFFjMDk5WFc0T05xaWE5dm1XUERKUHRpSUxaQXZLWVc3c3gxMnJhN2FNVndtcThDbGE2azRHUldQVTFFMzljc3o5K3dRZ0w1ZFc2TkxpRDhFQWdINmRtMk5nOGN1NGZEbXR3RkF2K3oxSzgvMGhZVjUzYWNpaWVtNWFPbWptM2RFQ3kzNmQydU5zNWVUc08vd0JXeGZNUlVDQUFYU01rd2Qwd2Z1THZiSUxTZ0dvQXRETW5PTGNQWnlJcklMcEJqeFdBZjRlVlYvb1VtcjFlS2JuMDRqeU44VGRqWldVS25VK0dqSEg0aTZrWXJsczhjZzBNOGQ1bVlpL2ZzMDR2RU9HTkF6V0I4OFZVN3cyeERwT1JKOEUza0tDV201U00wcWhFQUEvYkNzUmROSElMUzFyMzZvMEladkRrTnNaWTVKbzNvYk5abXJWcXRGY2tZK3VnM3Vob3hjQ1pJeThwR1Vub2ZFOUh5a1pCVkFiR1dPTVU5MHhzQ2VJWFZ1U3lRU3drd2toRXF0QzFpODNSMGhMWlVaZEhXWm01a1pyRTZVa1ZNRWdRQ05ta2VtSmdxVlNoK21TWXJMa0pTUmo0VFVYTnhNeTBXZXBBUUJ2dTZZUEtxM2Z0Z1MwZDNHZ0lXYVhHRmhJY0xEd3pGbzBDQTgrZVNUaUl1THcrTEZpOUdqUnc5TW1USUZ6czdPOFBiMnhvSUZDN0I0OFdMTW1ERUQ4K2JOcTNQWURxRHI2amgzN2h5NmQrK09oUXNYNHFPUFBvS0xpd3MrL3Zoai9YTXFPMmE4dmIxeDl1eFpkT2pRb1VFcnZ0emVSbDFhV29wdDI3Ymg2YWVmMXMvRm9OVnFrWnVicSs5aXFPeGt5TTdPaHBPVEU1eWNuT0RzN0l6T25UdWpiOSsrdFhZYzdOcTFDekV4TVNncEtVRitmajRrRWduOC9Qd2drVWhnYTJ1TG1UTm5va1dMRmxVQ0tMbGNqb01IRDZKLy8vNE5tcTFlSUJCQXJWWmoxcXhaS0MwdGhZT0RBenc4UE5DelowLzA3ZHNYQVBSaFFYMDdEQndjSE9EdDdZMmdvQ0JZVzF0ajRjS0ZlT3FwcHpCMDZGQVVGUlhoNXMyYktDb3FRazVPRGpJek0vV0JTbnA2T3JSYUxlenQ3V0ZsWlFXaFVBaU5Sb09qUjQvaWswOCtxZlo5azBxbE9ISGlCTFp2MzQ1TGx5NWgzNzU5K2lzbmxTcm5TTW5LeXNLVFR6NnB2NyswdEJScGFXbkl5c3FDVXFsRWh3NGRxblQvV0ZsWjRkU3BVNGlLaXNMVFR6OE5YMTlmTEYrK0hMNit2dldhN0Zjb0ZLSmp4NDZJaW9xcWRmaFlmSHc4RGg0OGlMVnIxMkxod29YbzBLRURsRW9sVWxOVGtaMmRqY3pNVEgwM2tGUXFoYmUzTnlJakkrSHM3QXg3ZTN0NGVIakEzMS8zd1ZVbWt5RTdPN3ZXdWlaTW1HRHdkVkpTRWhZdVhBaC9mMy85LzZOSmt5Wmg0c1NKZU9hWlo1b2txT2pWcXhleXM3T1JrcEtDeE1SRUpDWW1JaWtwQ1NrcEtkQnF0WEJ6YzRPUGp3L2F0R21ENE9EZ2VnOGJ5ODdPcnZZS2ZFMmRLeDk5OUJIczdPend6RFBQMUJua0toUUtmUGJaWnhnOWVqUSsrK3l6YXEvMmF6UWEyTmpZNE9MRmkvanNzODh3Wk1pUUdvY3Ewa01rSVFINDVodmRXTzlwMDREQXdMcGZjeCtvREZyVWFqV2tVaW1rVWlsU1UxTng1TWdSV0Z0Ylk5U29VZm9oalRZMk5rM1d4ZmF3c0xJMDF3Y1J0eXVUVlNEcVJocitPbjhEYms2MkdEdXdpMzcra29iNDR2dmppRTFJaDVlYkkwckw1SkNXeW1GeFc5ZkZzME83b1d0SWM0TVFadllIT3hHWG5BTUh1N3AvWjViTEttQm5iWVV4VDNTQ3Y1Y0wzbHozSFY0ZSs3aCtlMnExQnIvOGZSbXZqT3RyOExvUFhodUxoTlJjRkVqTFlHRXVRdXRxdWljdVhFM0craDEvUUtYV0lNamZBOVBHUG9hZlQ4UWdNVDBQYjcwMDJPQ3ppWitYczM3WURnRGtTMHJoNW1TSDVzM3E3c2pVYXJWWXNmbG5mUFgrWkFnRUFxaFVhcmc0MnVMamQ1N0RpUXMzWUc5amhiMS8vQXMzSnp1TWVhSXoxR29ONHROeUFRRHJkL3loUDRaZW9ZRzFCbDR4Y2VsSXlTekFleStQQUtBYk12WHUxR0VvbEpiQjlyODVaZXh0ckdCbGFRNnRWb3V0KzA3ZzkxTlg4RmpuVmxnNGZVU2R4MUVkSHc4bmpPd2JpclRzUW5pN095TEkzeFBaK1VWNEpmd2JQTmE1bGY3N2xKRXJ3ZEd6VnlFUUN0RTJzQm42ZEdwVnIrMG5wZWNoTTY4SVpiSUtGQmFYSTA5U2d2UnNDV1FWU3V6KzVRd09uNzRDVDFjSHVEall3TXZOQVcxYWVNTGVWdHlnNFUyV0ZtYjZnS1dWbnp1Ky92RWZ2RHYxMXNxWFFxRUFoZEl5L0gwaER2OWVUY2ExeEN5MDh2T0FwYmtaeXNybHNHbkEwQjZ0Vm9zS2hRckZaVExrRlpZZ3UwQ0t6RndwdEZwZ3o2L244UFhCa3lndWs4TkdiQUZuQjFzNDJWdkQxZEVPWWlzTFNFdGxERmdlTmhxTjdtK3lRQUNZbXdOR3pMdloxQml3VUpPcUhFN1RyRmt6L2Z3RlFVRkJjSFYxeFU4Ly9ZVEhIMzljZjVMVHUzZHZQUHZzcy9qdXUrK3djT0ZDUFBiWVk1ZzhlWEsxazlZQ1FGNWVIajc2NkNQTW56OGY5dmIyV0xCZ1FaVUpQN095c25EczJER01HREVDMGRIUm1ESmxDdGF1WFl1UFB2cW9VZVBQUC9ua0V6ZzZPbUxHakJsSVNFakE2dFdya1o2ZURrdExTN1JwMHdaQlFVSG8zYnMzb3FPajBheFpNMnphdEtsQjJ4OHhZZ1RVYWpVc0xDd1FIQnlNb0tBZ2FEUWFqQnMzRGlOSGp0VFBZWEdueWpsTzZoTkszVTZyMVVJa0Voa00yN2xUUTRkWXRHalJRaDlxYk55NEVWcXRGbks1SEFCdzl1eFpiTjI2RlFLQkFBRUJBUWdJQ0lDSGh3ZE9uRGlCT1hQbVlNeVlNUTJhUythTEw3N0F3SUVENGVEZ0FFdExTd2lGUXF4ZHV4WUtoUUlyVjY2RVdDeUdTcVZDV2xvYTR1UGo4Y2NmZitDSEgzNUFlbm82aW9xSzlQUEJXRnRidzlYVkZldldyYXN5YkduNDhPR0lpb3JDNU1tVFlXdGI4d2ZteE1SRWxKU1VWQmxHVXRsTlUxMFhEcUM3b3J4bXpSb3NXYklFblR0M2hxdXJLMUpUVXlFV2kvSGJiNzlCS0JTaWJkdTI2TjI3Ti96OS9mV2RSQ3FWQ3BjdVhZS3RyYTNCWkw0Tjljc3Z2K0N6eno3RDBLRkRNV2ZPSEloRUltemF0QWxyMTY3RjVzMmJFUmtaaVVtVEp1R0pKNTZvODJSTEpwTWhOemNYZVhsNXlNN09SbFpXbGo1RVMwOVBSMFZGQlZxMmJJbU9IVHNpT0RnWUF3WU1RTE5temVEcDZkbm9KYVkvK09BRGZQcnBwMVh1RndxRitwUEoyMDJZTUFFelpzekFvVU9ITUhmdVhBd1pNcVRHYmUvYXRRc3RXN2JFNjYrL2pxdFhyK0xreVpONCt1bW5EWjZqVUNpUWw1ZUhKVXVXb0UrZlBwZy9mMzZqanVOUlVGWldocXRYcjZLa3BNVFVwUmd2S2dyNCttdmRLa0lCQVVCUmtha3JxdGJObXpjTlF1ZktrOXpiLzI5VTNpNHZMOGUzMzM2THZYdjNvbVhMbG1qYnRpMWF0R2lCYnQyNm9XWExsazB5M081Qk4zTmNQOFNuNXFDZ3FCVDVSYVZJeXNoSGZFb095bVFWY0hPeWcxYXJ4Wi9ucitPbkV6SDQ3c09aRGU0c0dOUXpCSWVPUitIWm9kM1JvMzFML1FuZ24rZXU0NE90UDhQYnpiRktoNHVuaXdQaWtuUDBFNWJXcGwwckgvMVFJbW1wVEg5L2hVS0pjcmtDaDA5ZnhRc2plaG9NYXltVFZlQ0h3Ly9DMDhVQkEzb0VWOWwvcFM0aHpRMjZXdEp6SlBoczkxR1lpWVJWTHZ4WVdwZ2JkS29VbDhycWZSSi9JemtiYWRtRktDbVR3OTVXRElWU0RaRlFDSE16RVFiMENFRkptUndIamw2RXY3Y0xWbjMxQzJMajAxRmNwdnNNRXR6U0d3TjdoYUJ6c0YrZDg3SDRlanBqMnRqSDBLK2I3bS8zdGNSTW5MZ1FoMEEvZHd6b29ldm04UE55Z1p1VExRUUNBVjZmT0FoVHh6eG04TDQyUnZ0V1ByVU9LOHFYbE9DOVQvZmpzUzVCZUdWY3Z3YXRLaVVRQ0JENVZ6UUtpc3IwUTQwYzdjU3dORGZEbm5Xdk5Na2tzeUtoRU9yLzVpbXlzeEhqMFBGb1RCaldROThwSkJRSzhNdUpHTFFQOGtIUERnRVkrWGdvY2dxS2NTNDJDV3UzLzRwNWs0YWlUK2U2QTZNZi80ekNsOS8vcVE5elJFSWh2TndjOUIwK1QvYnJpRjRkV3NMRDFZSExOVDhxNHVLQUw3NEFWQ3BnN2x5Z2hzL2Rwc0MvbnRSazFHbzFsaTlmRHJsY2p0V3JWeHVjUUxWdDJ4YlhybDJyc2dMTHl5Ky9qTGk0T0Z5NmRBbC8vLzIzZnQ2UlFZTUdvVisvZnZvVk9aUktKWll2WDQ1Smt5Wmg0TUNCaUkyTmhiT3pjNVhRSkNJaUF1M2J0OGVBQVFNUUhSME5QejgvaElTRVlPM2F0Vml3WUVHRHVqMGlJeU54NU1nUmJObXlCUllXRmdnTURNU3FWYXVnVUNqZzdlMXRzSzB6Wjg3b2wzVnRDRWRIUjd6MDBrc0c5MzMvL2ZkUUtCUVlPM1pzamErVFNxVUEwT0FWYlNvcUt1cDhUbU1uUXN6SnljR2hRNGRnWTJPRExWdTI0T2pSbzFpeVpBbjI3dDFyOER5NVhJNTkrL2JoMnJWclZVNWVheE1aR1luZmYvOGRJU0VobURWckZ0TFQwMkZtWm9hQkF3ZWlTNWN1MkxCaEE2NWR1NGJpNG1KOWFQTDQ0NC9EM2QwZGJtNXVjSFIwaEkyTlRaMC9BMjNidGdVQUZCVVZ3ZGJXRmhVVkZaQktwWEJ4Y1lGTUpzT1ZLMWR3K1BCaEhEdDJUTDlLMFh2dnZhZGZtcm95bEtpcFd5SWlJZ0l6Wjg3VXo4OVN1V1IyNjlhdDljTlNwRklwRGg0OGlLaW9LQlFVRkNBL1B4OEZCUVVvTEN4RVRrNE9PbmZ1akRWcjFqVG9CQ2d2THcrZmZmWVpMbDY4aURmZWVBTlhyMTdGNXMyYk1YNzhlTGk0dUNBOFBCemZmdnN0dG03ZGl0V3JWMlBqeG8wWU5HZ1FCZzBhaEZhdFdsVWJoTWxrTW16YnRnMUpTVWtRaVVTUVNDU1lNV09HZnRXZ0YxNTRBUjA3ZHNUY3VYT3J2TzdtelpzTm5xajN3b1VMdUh6NXNuN3k1RHNwbGNvcTkzbDdlK09OTjk3QXlwVXJzWGJ0V2pnNk9xSkhqeDVWbmhjVEU0UHo1ODlqN2RxMUFIVC9OeXVEek5zcEZBcGN1blFKZmZ2MnhlTEZpemx4YUMweU16TVJFUkh4Y0x4SENvVnU5U0N0RnRpNUUvaitlMU5YVksyS2lnb29GSW9xOTljV3RDaVZTc1RGeFNFdUxnNW1abVp3ZFhXRnI2OHZCZzhlaklFREI4TGV2bUVyeVR4TU9vZjRZMVA0Y2FqVUdrd2QzUWNkVy92QzI5M0pvQlBpNVdYL0J6T1JzRkVuZFQ2ZXV1NFlWMGU3YXErdVYvZDdUcVZTdzliYXN0Rlg0eVAvaWtaNmpnU3ZqT3VMSVdGdFlXVnBqdFNzQWx4THpNTEZheWxJejVFZ3Q3QVlSU1V5Uk4xSXc3dFQ2emUzMUlHakZ5QzJOSy9oZDdQS1lFTFYwbkk1M0p6cTEvRno4bEk4QkFMbzU5aFFLRlVRM2RZTnMybnZjZlR0R29RUmozZEFjWmtjby9wMWhFYXJ4Y0pQOW1INFkrM3JYTW1wa3JPRERaNGIybDMvZFlDdk8rSlRjM0hpUWp4NmQyb0ZLd3R6dlBmeUNEallXVU5Xb2NDTjVHeFltcHRWR1RwV1g1djJIa2YwalRSMENmSEg1RkY5Ymp1bVcrOWZXblloTnYvd0Y5NTRjUkE2dHZacjhENmFOM1BGNmplZU1iaHYwU2Y3MEx0VElDcVVLaXhhdlJ0ekpqeGg5SHdvT1lVbCtPemJvL3FWbG82ZXZZWXBvL3NBMEhWSnRXbmhoVEZQZE5aUGZ1dnI2WXczMSs1QmhVS0Z0SnpDZXUxalZQK082QlhhRXZFcE9mQnljNENmbHd2TVJDSmNqay9IVyt1K1ExakhRUGcxY21KaGVrQmxad1BmZmFlNzhERnVIQU1XZXZpbzFXcXNXYk1HSlNVbDJMQmhRNVVyLzVWRGRPN3NGaENKUkZpOWVqV09IRG1DYTlldVFTYVRRU1FTSVRVMUZYRnhjZnJKUHlNaUlqQnExQ2o5c0F1RlFsRmx2b2FUSjA4aU9qb2Ftelp0UWw1ZW52NytGMTk4RVpNbVRjS21UWnN3YytiTWVoM1B4WXNYc1hYclZnd2FOQWhIang1RjRIL3Q0RFVORTNGMWRhMzJaS3loNUhJNXZ2dnVPd3dkT2hTZW5wN1l0MjhmYkcxdEVSWVdaakFuU21GaElTd3RMZXMxYk9WMjFRVXNGUlVWa0Vna2NITnpnMGdrMHA4TTNUbjBwaTZiTm0xQ2l4WXQ0T25waWVEZ1lCdzllaFNSa1pHWU5tMmF3Zk9zckt4Z2EydmI0QWx2UlNJUkhCMGQwYk5uVHp6KytPTW9MaTdHeXBVcjlmTUl6SnMzRDFLcEZLNnVydGkxYXhkdTNyeFphN2RDVFR3OGRDc0NTQ1FTK1BqNG9LU2tCTk9uVDRkY0xrZlBuajBSRWhLQzRjT0hJeXdzRE11WEwwZEdSa2ExNzFWMXgzZjE2bFU4OTl4eitqbGVBRjNueFozZEhQYjI5dGkzYng4bVRacUVrU05Id3RYVlZUL2g4dE5QUDQya3BLUjZoNFVWRlJYWXYzOC85dXpaZzk2OWUrUHJyNytHcTZzckxsNjhpRU9IRHFGRml4WVlPblFvOHZMeU1HYk1HQVFFQk9EOTk5OUhjWEV4OXUzYmgzMzc5c0hlM2g0ZE8zWkVyMTY5RE9ZMGNuWjJ4dnZ2dnc4QVNFNU94cFFwVTZCV3F4RWNIQXl0Vmd0UFQwOElCQUpvdFZyazVPVGd4bzBiT0gvK1BFNmNPSUdTa2hLTUhEa1NiNy85ZHIyT1E2UFJZTXVXTFhCeGNhbjIyQVVDQVRRYURWUXFWWlhnYWVEQWdUaDU4aVNPSHorT2lJaUlLZ0dMUkNMQlR6LzloQTgvL0ZBZjZtbzBtaXJ6RUYyNmRBbW5UNTlHOSs3ZGpWb0Y3VkdoMFdpZ1VDZ2F0ZUxaZlVlbHVuVmJxZFFGTGZjaGxVcFZiU2RYZlZWMklKYVZsYUdpb3NLb2JUMHN1cmR2aVlUVVhQVHUxQXF4OGVuNDRmQy9lTEp2cVA3cXY0T3RGVHpkSE92WVN2VXFseWhXMVRBSFZ1VmtyYmNya0piQnFZRVR3d0xBNVRqZEJMVDVraExNZnE0L2hFSWg1QlZLaEg4WmlUeEpDZG9GTnNQSXZxRm8zOG9IWDN6L0ozNDVjUm5QRDY4YVJsZW5vS2dVdjUyTXhkQSs3Zkg3UDdHWXRlSWJ1RGphNHNVbnd4RGs3NEhpTXJsQjUwV1pURkh2NVlGUFhrcEFpMlp1K29sL0ZVcVZmcmpSbVpoRWRHanRpOEc5MmhxOEpxK3d1Rjdicm8yRnVSbWU2dGNSVC9YckNJVlNoY3Z4NmJnY2w0NUwxMU1SbTVBQlN3dHo5T3JRc3RFQnk1UDlPaUkySVJON2ZqdVBEa0crK2lCSS9WK0hSbUpHUG9wTFpYaC8xcWdtK3gyYW5pUEJoV3NwK09qdDhYQnhzRVZHamdSL25ydHVkTURpWkcrTjlmT2Z3NzlYa3JIeHV6LzFxd29CdWhXR1pBb2w1cTdhalNXdlBBay9MMmNzM3hRSmdRRDRjc21MOFBldS84VDk3czcyVlZhY1NzdldCVFJ4eWRrTVdPaSt3WUNGakZaUlVZR1ZLMWZDeWNrSmE5ZXVyYmIxdi9KRXBib1RFZ3NMQ3d3ZlBoekRodyt2OGhnQXhNWEZZZXpZc2YvUDNuM0hOMTF2Znh4L3BXbEQ5NEpTS0MyclVLRHNLWHNvaWlKTEVkUUxla1hsNGw2bzEzSGQ0enAvam5zVjk4S0I0N29ZRjVHaWJCUVFFQ20wUUJrdGJXbWhlNlZ0a3Q4Zm9ibVVwbTNhSUNud2ZqNGVQUHlhcE1ucFRMN3ZuTS81MEs1ZE84ZGxwYVdsamhNaHNBKzZmZkhGRjduLy92dHAwNlpOdFlERno4K1BXMjY1aFVjZWVRUnZiKzlxQTJ5ZDJicDFLeSs5OUJJdnZQQUNCUVVGUFBUUVE4eVpNNmZPanpHWlRJNWxNZTVZc0dBQkpTVWxqb0daVnF1Vlo1NTVoaFl0V3ZES0s2ODRncXIwOVBRYVhUU3VLQ2dvd0dhejhjVVhYemplc2F3S0NPNjU1eDdHang5ZmJUaWlxOWF2WDgvYXRXdDU0NDAzZU9lZGR3Z0pDZUhmLy80M0pTVWxXSzFXZnZ2dHQybzc2aHkvbGJPcnhvOGZ6OWl4WXgwL1g5dTNieWNnSUlBTkd6YXdmdjE2VENZVE45OThNd0FyVjY1a3lwUXBBQlFXRnJKaXhRcU1SaU1YWEhCQnZVdFRqRVlqSVNFaDVCMWJBdENpUlF1bVRKbmkyQm1vU2xYSDFvd1pNNnJONmFqcW9uRDIrY1hIMXh3YVYxRlJVZVAzd21Bd0VCZ1lTSzlldmNqTXpHVE9uRG5jZHR0dFRKbzBpZmJ0MjlPOGVmTjZUKzdOWmpNTEZ5NWs2ZEtsOU8vZm43ZmZmdHZSWlZQMWRmSDI5dWJBZ1FQY2NNTU5KQ1VsRVJnWXlOLys5amZlZSs4OWZ2cnBKM0p5Y3ZEejg2TjU4K2EwYnQzYUVUUTZFeE1UZzVlWEZ6LysrQ1B2di84K1k4YU13Yy9QajZDZ0lGSlNVcGczYng3dDJyWGp2UFBPdzl2Ym0rKysrNDZlUFh2VytUa2M3L3Z2dnljcEtZa0xMcmlnenRzVkZSVlYyMGE1eWkyMzNNTEdqUnRKUzB1anFLaW9XZ2ljbHBiR1BmZmNVMjFKVk5XT1ZWVzJiOS9PQXc4OGdKZVhGNTA3ZDFhNDRvTG82R2pHang5ZkxWQThiVzNkQ2s4OFlYK243TlpiNFlTZHY1cUt6WnMzOCtHSEg5WjRQbklXbEZROWYzaDdlOU94WTBmaTQrUHAyTEVqQXdZTUlEWTJWa3VFampsKys5ZG1KaC9lKzJZTlNmc3plZlRHeVlEOU9hT3hPNWdVbGRpL1R5ZUc5RlZQN1FhcVA4ZGJyVmJTRHVmU3VRRURRck56Q25qM216VnMrTjArV1BhYUtjTWRKK3hXbTQwQjNkc3pvSHY3YWt0MmZrczh5RVVqZXJxOGpPY2VoMzRRQUFBZ0FFbEVRVlRUSlJzSUR3bGdXTzlPck55WXhQVlRSL0xQZHhiejZaSU5QSHJqWlBJS1N4eERUc0crRE1uWjl0Yk9ITWt2WnRyNS8xc3VYVkpXN3VnZ0d0eXI3bVZTeVFjT3N5bHhQM2tGSmN5ZU9wSVdZYTRON3dmNzdrbmZyZmlOcFAySDJadWFSZVd4VG93Ui9UcHozYVVqNk53MnNsb25UVU5GUllUeXIvdi9Ra3BhTm0yTzdZUjBOTCtJcXQvVVZ6NzVrYkhueE5NL3ZsM3RkOUpBbnk3WlFLZTJMUjNMeHZ6OVRKeFR6OWV3UGhhcnpmSHpPNkI3ZTk1NXRQckE5NG9LQ3lQN3hYSGVvRzQ4OHZxM3hMUUtwMWZuYUthUEcxanI4ck9HMkxVdmsrWWhBWHlUOEJzOU8wYzdoZ1NMZUpLZVBjVXQrZm41ZlBUUlIxeCsrZVdPcFJYTzFEWExvajV4Y1hFMUxpc3VMbmFjREZWV1Z2TFVVMDl4NmFXWE1tellzR3Ezczlsc0hEbHloSkVqUnpKOCtIQSsrZVFUTWpNem1UdDNydE9obXBzMmJXTHAwcVc4OHNvcmhJZUhzMjNiTnBkcWJOYXNtZHR6Qmc0ZVBNaG5uMzNHZGRkZDUraE1tVFp0R2djT0hHRHg0c1VzWHJ5WTJiTm5VMWxaU1hwNnVtTW9iVVBrNU5pVC91RGdZTHAxNjBhUEhqMklpSWlnYytmT2pwUHZxaWRLVndPV2dvSUMvdS8vL28rNzdycUxEaDA2VUZwYWlwZVhGejQrUG9TRWhMQnk1VXBXclZwVlk4dmlxaFBVOHZKeTdycnJMZ1lPSE1qRWlSUHJIRVJxTXBuSXljbGh3NFlOTEYrK25JeU1ERFp0MnNURWlSTWRKLy9MbHk5bjkrN2RyRnExaW1YTGxsRlJVVUZLU29wamFkTExMNzljNzI0MXh3Y3NBQ05HakdEKy9Qa1VGaFk2d3NLcWJxRGh3NGRYKzlpcXkxMGRFbHpWdFhXaWdvSUMvUHo4aUlxS3FyYkRUOVVNbWZva0p5ZlRyMTgvTHIzMFVyeTh2UGp5eXkvWnVYTW5XVmxaVkZaV2tweWNUTmV1WFltTmpXWDA2TkdrcHFieTFGTlA4ZkxMTC9QMTExOXp4UlZYdUZSL2xhcGdhc0NBQVR6MDBFTkVSRVJ3NjYyM1lqS1ppSXlNSkRZMmxrc3Z2WlRJeUVqV3IxOVA2OWF0NncxTHFsUlVWUER1dSs4Q01IbnlaS2UzcVRxQkxDd3NkQnF3TkcvZW5OdHZ2NTEzMzMyM1JuZVJzNkNuOHJpT2hkV3JWek52M2p3ZWZQQkJmdnp4UjVkMlhEcDA2RkNEdHdRLzB3UUVCQkFmSDArWExsM3F2M0ZUVjFSa1h5WlVWbVlmY0Z2SEZ1eWVsSmVYViszZDdycUNGWDkvZjhhTkc4Y0ZGMXhBVEV3TW9hR2hMZytiUHB0VWRSUUFoSWZhLzNiME9tNW1SbEZwNDk5Y1NjdXliNTFjVzRlQ2w1ZDlxT3UvUDF0QlZNdFFTc3JLS1M0MU94MjhlNktNN0R5K1R2aU5KYXQvWjlTQUxyeDYvMSs0N3VIM3FiUllIQUZGYUpBL25kcTI1UEUzRmpKNzZnZ0c5ZXpJMXFTREhNZzR3bU0zT2Y5YmU2STlCN05Zc25vN1Q5NTZDUlVXQ3dZRDlPdldqZytmdXA3S1k3TTVkaDg0N05qNkdzQUcxYm9jSEpmYmJHeE9QTUNBN3UwZGw5MCs0N3hxODJhS1M4MjFucGdYbDVwSjNKdk8yaTE3QVBqZ3U3VzBiUjNPNkFGZENBeG8ySnM2YlZ1RmM5WEVvWlNVbFpPNE41M1hGcXpneVZ1bUVPS2tleWc5TzQvd2tJQkdMUlByR0IzQmI0a0gySnFjeXVYakJqcWVYeDZaTTRrbjMxN0VodDlUdUdmV2hkVUNxc2JZbHBUS2orc1RlZmJPL3kwWk1wZFgwcTZXWFpWY1piVmFzVnIvOTcwODhXZTUxRnlPd1dBZ1BqYUtoMitZeEgwdmYyWC9XV2pZKzRPMVB2YjZiWHNZM0N1V0FkM2I4OFNiQzNucDNpdmMzbjVheEYwS1dNUXRKcE9weG53Rlo2ckNrSlBWYmx4U1VvSzN0emMybTQxbm5ubUdYcjE2TVhQbVRDd1dDM3YyN0dIOSt2VWNQbnlZeVpNblUxaFl5TlNwVTdudHR0dllzbVVMQ1FrSjdOeTVremx6NWpCaXhJaHFhOVA5L2YzNXh6Lys0WGdjaThYaTB2cHpMeTh2aW9xS0d2MzVsSmFXOHZqamo5T3paMDh1dTZ6NmV0bTc3cm9MWDE5ZlI5QzBkKzllTEJhTDArQ3BQcW1wcVJnTWhqcTNycTU2Y2k4dUxxNzMvaXdXQzA4KytTUlhYSEdGWXpsT2NYR3g0d25XWnJQeDZhZWYxbG1yeVdSaXpwdzV6SjA3bDg4Ly81eTVjK2RXMjRFbkpTV0ZkZXZXY2Zqd1lSSVRFOG5JeUdEMDZORU1HREFBaThYaTJNNjRTbHBhR3FOR2pXTEtsQ24wNk5FRGIyOXZaczJheGNHREJ4azllclJMSnhBQkFRSFZBcGJZMkZpQ2c0UEp6czdHWURDd2MrZE9ObTdjaUplWFY0MGdxcmk0R0lQQjRIS0hUdFU4bmVNVkZoWlNYRnlNdjc4L0dSa1pBUFRxMVF2QXNlU21QaWVHQnBkY2NnbmR1M2VuWmN1V0hENThtRnR1dVlXcnJycUtJVU9HQVBhbFVRRG5uSE5PbzdkTERnd01KQzh2ajA4KytjUVJlQm1OUmdJREF6bjMzSE41NElFSGVPbWxsMGhPVG1iUW9FSDEzTnYvVkZaV1VscGF5dGl4WTUxMkFWWGRCdXgvRzJwei92bm5NMnJVS0pjNnY2bzZrVFpzMkVCR1JnWnZ2LzAyQVFFQkpDUWtrSnViVysvSHIxNjltbW5UcHFuVFJUek9ZREE0L2lZRkJBVFF1WFBuT3J0R3BicmN3aExIZ0ZhejJmNTM1dmd0ZVF1THl2QnFZRGRwRlMrRC9ibnl4R0dqVlV1RHZBd0d2TDJOVEI4M2tMdWVYOERSZlB2ejh2RUJ4SWtLaTh0NDROV3ZTZHFmUVRNZmIrYitkUnpuRHVwR3pyR1BQZjVrR094RFZsKzRlenFQemZ1T2pPeDhGcTdheHJBK25ZbHFXZit5SjR2Rnlrc2ZMK1Bpa2Izb0g5K2VuemZ1d25qcytkLy8yTXlWU291RlBRZXptRFQ2ZjExZlFmN055TTZwK2FaVTJ1RmNVdEt5cTMxK1ZRTm1xeFNWbUoyZVFOdHNOajcvWVNNSDBvODZkdjE1NFBxTEdUT284WE1aUW9QOENRM3k1K3ZsbTdsbTBqQUMvSnR4TURPSGd4bEhPWmgrbEwxcDJTU21wSE1rdDRnQXYyYk1tanlNeWVmMmRmbitrdzlrOHU3WGE0aU9ET09teThkZ1BHN0xZeDhmSS8rOGZTb1B2dm8xc3gvOWdDc3ZPb2ZKWS9vNGxrbzFSSDVSS1M5OHVKU3g1M1NqWDdmL2RjU1VsSmE3TkRRM05UT24xbTRtaTlYcU5DeXJVbHhxZG5Sa2RXbmZpc2R2bnNMOUwvK0hYN2Z2NDg2cnpxZHJoOWExZm14OU5pY2VJSyt3bE5FRHU5QS92ajFmL2JpWjF4YXM0STZaNXpmNlBrVk9CZ1VzNGhaWDMrMnFhbGQyNVoxZlYyUm5aK1BqNDhQSEgzL015SkVqSFRNNS92M3ZmNU9Ta2tKcGFTa21rNG1wVTZjU0h4OVBuejU5OFBIeDRjVVhYK1Nqano1aXo1NDl2UFRTU3l4ZnZweUhIbm9JSHgvN1lMWVRUOTZLaW9wYytod3JLeXVwcUtqQWJEYTczTGxReFdxMTh1U1RUMUplWHM1RER6MVVJLzMzOHZLcUZpSnMzNzRkd0RHZnBpRjI3dHhaNzIycUJpUzYwcEh6NmFlZk1tSENCTWNXMW1BUERLcE9LbGV1WE9sWTRsV1huajE3TW5mdVhKNTU1aG1lZnZwcDJyVnI1emhCYjk2OE9hdFdyU0lySzR1Ly9PVXZqQjgvbnNEQVFGYXRXc1d2di81YTQ3NnV1ZWFhYXYrL2I5OCtEaDQ4eU1NUFAreHkxNCtmbjErMWdNWEx5NHQrL2ZyeDRJTVBZaktaaUlxS0lpb3Fpamx6NXRUNCtjalB6M2RwbUc3VmJZdUtpbXJjZHNlT0hYaDdleE1hR3NyR2pSc0pEQXlrYlZ2N2dEdUx4ZExncFdGZ1h3WlE5Zk05Zi81OElpTWpxNFVjVllGYVE1YnRuTWpmMzUvYzNGd0dEeDdNNE1HRCtlR0hIeHcvejEyNmRPR1NTeTdob1ljZUlqRXhrV25UcHJsOHYzNStmanp4eEJQMDY5ZXYxdHRVQlYzMURYSjJkZmVpcW02dnFzK2xTbkJ3c0V1ZGJSczJiR0RDaEFsdWRlK0pORmJWM3dnL1B6L2k0dUxvMTY4ZjNicDFJejQrdnNiMjlGSzNqT3c4QW84TmxNMDRZbjllNkhUY0VoMXZiMk9qWnFJQWRJK05vbU4waXhvZEtWWEJTOVVTbEtpV29Ud3dld0p6WC9pY0RtMWFNTGhYN1FQQ2d3Sjh1WEJZZHl3V0MzZGZjeUVkbyswZHNWWGRKTWQzNUZRSkNmVGppVnN1NGVhblB1WlFWaDczWGV0YStQYkI5MnVKQ0F2aXh1bGpBQ2dzS2F2eEdtYmxwaVFNQmtPMVliTnRXemRuMWViMW1Nc3JxZ1VHZTFPenlLcGpma3B4cVpsS2l4V1RrNERGWURCdzdiSEJxdGs1QlN4YnQ2TlJXMmZ2MkhPSTFNd2NmSHlNSE0wcjVtREdVWDdhdUl2MlVTMVlzWEVYeWZzejZkazVtZ3VIOTZCZmZEc2ltd2V6ZHNzZVh2bGtPZk1YcmE4M1lMRmFyV3hMVHVQYkZWdjRkWHNLTjE0K3BscjRaQzYzaC90bDVnckNnZ040K3ZhcC9PTmZYL1AyZjFieG4rV2J1V0JJUEtNR2RLMzJNMWlYOG9wS0huL2plOEtDQTdoMXhsakg1UmFMRlhORnBVdnpYWDVZK3dmWFR4MVo0L0x5aWtyS0srcCtYWjlmV0ZvdGdJeHJGOGsvNWt6Z3NYbmZjOXN6bnpKbVlGZG1UaGpTb0syaHE4eGZ0SjQyTFVNZG9kRU4wMFp4eDNNTGlJNE00N0x6bTJhWG9ad2RGTERJS1ZGMTB0UFF3YW0xMmJ0M0wvNysvdnpsTDM5eG5Nd0hCd2Z6d0FNUEFQYVpJUFBtelhQTU1xblNwVXNYbm5ycUtaY2Y1OGlSSS9WdVZRdi9lL2U4c0xDd1FRR0x4V0xoaFJkZUlEMDluUmRmZk5HbHpvRlZxMVlSR2hyYTZBNFdzSDllZVhsNVpHVmxrWkdSd2VIRGh6R2J6UXdmUHB5d01Qc0xQVmVXQ0UyWk1xWGFJRkNMeFZMdGE3Wmh3d2FDZzROckJCdmw1ZVUxZmhiR2pSdEhhbW9xbjN6eUNldldyWE1FTENFaElienh4aHMxWm1MazVPUzROQ1BnazA4KzRicnJybXZRa2lxajBWaWpzMlRjdUhITW1qWExFWFRVSmlNancvRTFyRTlWNEhWaWwwTmlZaUxSMGRGNGVYbXhmZnQyK3ZmdjczZ1JaRGFiM2RyVkl5OHZqNFNFQkdiTm1sVmppM05vK001VXgvUDE5ZVdjYzg1eGRETlpMQllXTDE3TWpoMDd1T2VlZTVnd1lRTExsaTJqc3JLU0ZpMWNIMndIT0RwdGFuUGt5QkhBOVFDbExtVmxaUnc5ZXRUcHoxZVhMbDM0L3Z2dldiTm1UWTNsWVZWKy9mVlh0bTNieHFGRGg4Nk01VEZ5Mm9tS2ltTDgrUEdNSERtU3lNaElRa0pDWEhvdWs1cENnL3dkSityYmR4K2lZM1JFdFIxOEJuWnY3NWhwMFZCR294ZnovbkZWalpQY3F2UFI0enMxZXNWRmMrMlU0WXpvSDFmdjdJK0xSL2JtNHBHOXExMVczMUttdFZ2M2tKNmRSMmlRSDY4dFdNR0RzeSt1YzJiSnI5dFRLQ2tyNThIWkV4ejFaT1VVNHVQOXY5cXNWaXRmSi96RzVSY09xdlkxRzlDOVBmTysrSW1uMzFuQ05aT0dFdE02bklLaU1yNWRzY1hSd2VGTVZkZUxqNDlycHkvSEJ6RldxNVZTYzBXOXV5K1Ztc3Q1OGFObFRCelZteEg5NDloOTRERFJrZUc4OXVCTUFDNi8rdzM2ZEluaDNFSGRIQjlUMWUwemZrVGRiMUFVbDVxWmNkOWJGSmVXNDJ2eTVvbGJMcW5SalZSMnJFdXFwTXorWnBlL3I0bW5icnVVUjE3N2ppMjdEckpnNlVZV0xOMUljSUF2WFR1MEpyWnRTeWFQN3VNMFRDb3JyK0RoZjMrTGw1ZUJaKys4ek9sVzFWazVCVFVHeHg3dlNHNGhPL2FtTzcwdUk5c2VPTmIybG8rNXZJS2orY1g0TnZQQlhGN0JoOSt2WStLbzNnenVGY3Q5MTQzbjZYY1dzK0xYWGF6NGRSZmRZNk1ZTmFBTEkvckh1YlFjNnVlTnU5aVprc0ZEY3lZNEF1WHVuZG93ZG5BMzN2eHlKVGFialdrWERLejNma1QrREFwWTVKUTR2aHZBWFRhYmpXM2J0bkgrK2VmWDJuNmZtNXQ3VXNLY1BYdjJ1TlRCVXRYMTBaQWxVTVhGeFR6NjZLT0VoSVR3cjMvOXk2VjN1dmZ0MjhmMjdkc1pQMzU4bzdvWWdvT0R5Y3ZMNDc3NzdzUEh4NmZhUDR2RndqLy8rVS9IVWhSWG5MakxTbXBxS2hhTHhYR1NPMkRBQUFZTkdsUnR1VXpWY2c5blcrcGVmLzMxK1BqNDBMZHY5WGVBbk8yMHMzdjNicWNuMDMvODhRZno1ODluL1BqeFJFUkVVRkpTd3BWWFh1bnk1d1QyNytlSlM2U083Mkk0bnRWcWRidzR0bGdzSkNVbDBkWEZyZUoyN2RvRjFCeUlhektaNk42OU82V2xwYXhjdVpLNWMrZVNtSmhJdDI3ZDZOeTVNKzNiMTk0ZVhwKzMzMzZiNE9CZ0prNmNXTzN5M2J0M0E3aDEzOTdlM3FTbnAvUHh4eC96NDQ4L2N1alFJU1pQbnN3dHQ5eUN3V0JnNjlhdEpDY25FeG9heXIzMzNzdkREejlNLy83OTY3L2pXdnoyMjI4a0ppWVNHeHZMK3ZYckFYdkhrN3UyYnQySzFXcDFPdXRtMkxCaHZQWFdXeno1NUpQTW1ER0RnUU1IRWhJU1FsbFpHUmtaR1d6Y3VKSEZpeGNEOWprNENsamtWSXFMaStPZGQ5NXgrVytRMUcvcTJQNzQrQml4V0t6ODlPdE94by9vUmFtNW5LTjV4VVJIaHZHM3kwYTVOZXpVV1FkQjFmTzdqMC8xMXpoWHVyaXJ6L0h5Q2tzSURmSm5UMnEyMC9zc0s2L2c3YTlXOGNQYVA3aDMxa1gwN2RxV2UxLzZraHVlbU0vMWw0N2cvQ0hkblg1K1VTM0R1UFhLNmdOU2svWmxWdXRJbWI5b1BXMGl3cmppd3VvbnVqR3R3cGx4OFdBK1hyU0JkVnYzMUxqdi9NSVNwN05POXFjZkM5THJtTEZSYWk1bmI1cjlkdC8rdElXeUgzN2wwT0U4MHJOekthK3cwREk4aUJzdkg4UHd2cDJkZm56UHp0RVlETkNqY3h2NmRtM0xybjBaanJBRHdOdmJpNUNnNnE4THE1WmY5ZTFXOTBEYUFMOW0zRDdqZlA3MVdRS1AzRENKM2wxcURnRFBMN0svdVZWVThyOXVUTDltOXBEbG80WHIrSFg3UHZ5YStkQXhPb0p1SGFQbzB5WGFhYmlTZGppWFo5NWRRdWUyTGJueDhqR09aVzVWakVZdndrTUNXTEo2TzlkTUhsYmo0NnQ4K2VNbXNuT2RkelR2VGN0MjNKY3pLY2V1enp5U3ovOTl0SXdMaG5hbjliRWR0MFlONkVKUWdDOWZMOTlNUmFXVjZNZ3dURDdlVGp1c1RuUW9LNWVYNXYvSXVZTzZNckovOWVmWUc2YVBZZU1mKzNucnExV2taK1V4Wjlwb2x3Y3FpNXdzQ2xqa2xEaDY5Q2pnZkJlaGhxcW9xTUJxdFZiYkVlVkU2ZW5wRFY2cTQ4eHZ2LzFXNnd2VnlzcEtkdTNhUlV4TURQdjI3UU5jSCthYms1UERaNTk5eHN5Wk0rbmR1M2V0dHp0NjlDZ2ZmUEFCYmRxMElUSXlrdm56NXdOdzhjVVhOL0F6c2FzNkdYejU1WmVkWG4va3lCRm16Wm9GVUczWEpsZnQzYnNYK044V3hWVmJLSU45aTl2ZHUzZFRWRlNFMVdxdHRmdmt4SzZqMnFTbHBUbjlHZWpSb3dmRGh3L24wVWNmeFdnMDh0eHp6elU0akxMWmJDNS9URjVlSGkrODhBSTllL1lrTnplWC9QeDhsN3RBanUrK090N2t5Wk1wTGk1MmJIMDlhdFFvbm5ubUdaNS8vbm1tVFp2R3VlZWUyNkRQcDhyMjdkdFp1blFwenovL2ZJMXdhczJhTllTRmhWWGJFY2tWVzdkdVpkZXVYZXpaczRkZHUzYVJuSnpNMkxGamVmVFJSM25oaFJlSWpJekVaclB4OWRkZnMzRGhRcDUrK21uQ3dzSzQ4ODQ3dWZ2dXV6bnZ2UE80K3VxcjYrME1jcVpmdjM2c1c3Zk8wYmtXSGg3ZTRLM0xuYW42ZlhaMlh5RWhJVHo4OE1NODl0aGp2UGZlZTd6MzNudE83Nk5ObXpaMUxta1MrVE0wNXZkSTZ0YStqYjNiN3Z1ZnQxSllZdWJDNFQzeE1ScDU1K3RWWkI3SjUrS1J2VGgvY1BlVGVoSlhOWU9sbVl1ZEduWForTWQrM3Z0Mk5mbUZwUVFIK0RxNkdISUxpbG0rSVpILy9MaVpMaDFhOC9vL1p0TDIyTURURitaTzU3NlgvOE9MSHkzanErV2J1ZVRjdm93WjFNMHhWd1Z3T21oMzE3NE14NUtrRGIvdnhXYURlMmRkNkRSRSt1dWtZZlRwMHBhVm01STRsSldIdjYrSlZpMkNHZHFuazlOd0JTQTEwejcvcW1yR3lzOGJkN0Y5enlHS1M4eGs1eFp5S0N1UG8zbEZCQWY0RXRjK2trcUxsUmFoZ2RXMzd6V2N1RGRUZGMxTVBnVDYrMUpZYk8vNGlRZ0xJdUs0VGg0ZmIyT05uV3FPNU5sbjhFVzVzRjMzbUVGZEdUMndTNDNYR0VkeUMya2VHc2pPRkh1M2lQY0pvWVdQdDVIckxobkJkWmVNcVBjeGxxMzdnNlQ5bWR3K1kyeTE0Y0luR3RhbkU1OHMzc0Rob3dVTTc5dUpWaTFDTVBsNFUxNVJ5ZUdqQld6NFBZWC9yckV2U3orVWxVdWJsaWN1WmJOL0RyVjFCZjIwTVFtQVIrZDlULy80ZGt3ZVUvM05zMzdkMmxXYkNlT0tneGxIdWYrVi85QS92aDF6L3pxdXh2VWhnWDdjZk1XNVBQM09ZaGF0K3AxTmlmdTVZZm9ZaHZXcGZSZEVrWk5OQVl1Y0Voa1pHUmdNaHBNU2VwaE1KczQ5OTl3Nlo1RGs1T1NjbE5rSGdZR0J0WjRzZTN0N3MzLy9mc2VRMzFhdFdyazhreVk4UE55eHBYQmRtamR2empYWFhNUGN1WE01Y09BQVlOKzFwclpCbi9XNThzb3I2eHpRMmFKRkM2Wk5tOFpISDMzRWhBa1RHbnovVlMzb3pyb0krdlRwdzhxVksvbnV1KzhBNnR6eTF4WHQyN2V2MFVGVFplTEVpWlNXbGpKdjNqeWVlZVlaUHZ6d3d3YnRqakZvMENESGtwUDZoSWVIYysyMTEzTExMYmM0bHNLNU9zQjE4T0RCTEYyNnRNYnZSVkJRRU45OTl4M3IxcTFqM3J4NUdBd0c3cjc3YnU2NTV4NmVmLzU1Tm16WXdNTVBQOXlnYlZTenM3TjUvUEhIbVQxN3R1UEVQeUVoZ1JZdFdwQ1ltRWhpWW1LZHc0OXJzM2Z2WHQ1ODgwM2F0V3ZISFhmY3djaVJJeDNoamRsc3htS3hzRzNiTnRxMmJjdTc3NzdyQ0pWZWZQRkY1czZkUzBKQ0Fna0pDZlR1M1pzQkF3YlF1M2Z2QnMyQnVmbm1tMGxQVDJmOSt2VTF1bklhcTBPSERnUUdCdGE2aktsZnYzNHNXTENBalJzM3NuZnZYdkx5OHFpb3FNRFgxNWVJaUFpNmR1MUtyMTY5Tk9EMlRCSVZCVmRmYmQ5SktDckswOVhJS2Jaanp5SGUrT0puN3JqcWZNZFEwSWYrTnBIWHYvaUpWejlKNEtQdjF6Rm4ybWpHRG03Y2MvT0pmTHlOK1BtYVhKcVBVWi96aDhUVHpHVGtpVGNYTWFLZnZXdWp1TlRNeGovMjBhcDVDUE1ldW9xdzRPbzdxNFVGQi9EOFhkTjQ3STN2K1QwNWpaYy9YczRiWDZ4a2FKOVlicHN4dHRZVGFtOXZJNkhCOW5Da1Q1ZTJkYzZLQWVqZEpjWnBGMGR0L0h4OThQSXlFSHFzM21GOU81T2RXMGkrcVpTZW5kdlF0blZ6MnJZS3J6V2djVlZJb0I5bFpudVhiWFRMc0dwZEZmNitKanBHdDZTa3JKeWZmdDFKMjliTitlblhYWVFFK3JtOFJiQ3pOM0JXL0xxTDk3NVpnK1ZZOTNWWVNFQ04yN2lpMG1KaDVJQXVYREMwUjcyMy9kdTBVWlNWVjdEaWwxMHMzNUJZNiszNmRtM3JkQmh1ejdob3ZJMWVSSVE3ZnkyV2VHeHBVWUNmaWJ1ZGhDRU50V3B6RXU5OXM0YnA0d1l4YVhUdld0OElHek9vSyt1MzdlV25qYnZJUEZMQW82OS9SNGMyTFpnNnRqK2pCblpwMUc1UElnMmhnRVZPQ1I4Zkg0S0RnMC9LaXdXQXYvLzk3M1ZlMzZOSEQ2ZExVQnBxMHFSSmRTNlptVEJoQWdjUEh1VExMNzlrMHFSSmJqK2VNODJiTitlUlJ4N2h1dXV1bzBPSER0eDk5OTJOdnErd3NMQjY1NE5jZHRsbHhNVEVFTldJazRqQmd3ZlR2bjE3cCsvOEd3d0c3cmpqRGc0Y09NRGh3NGNaUFhwMGcrLy9lRk9uVHEyMmxlNkpwaytmVGs1T0RwOS8vamxyMXF6aC9QTmRueW8vZGVwVXg1QlRWM1RxMUltWk0yZnk3cnZ2MHIxNzl4cExuR3JUdVhObm5udnV1V3FYRlJjWDg5SkxMM0hreUJGZWYvMTFSMWpsNCtQREUwODh3VzIzM2NicTFhdFp0bXlaeTd1QVpHZG44K0NERHpKanhneW1USm5pdUx4djM3N2NmUFBOWkdabUFqUXFvSmc2ZFNybm5ITU9VVkZSTlg2L3EzYjBjZmIxaUkyTjVZMDMzbURSb2tVY1BYclVzVXl0b2J0eFZZVlByNy8rT3RPblQyOXcvYzRNSERpUW0yNjZxYzR1Smo4L1A4ZUFiVGtMeE1YQnM4OTZ1Z3J4Z0RWYmR2UENCMHU1ZmNaWUxoalMzWEc1MGVqRnJWZWVSMVNMVU43NnowcWVmZSsvTkE4TnBHOVg5N3VJbXZsNE4zcHdyak1qKzNmaDhuR0hIUUZRZ0YremVrL0Fnd1A5ZUdIdWRQN1ljNGo4b2xLaVc0WVIxVEsweGxLVDQxMHdwRHRCeDdaRC9qT1daZlR0MnBhWVZ1R08yVFErM3NZL1pjNUdUR1FZb2NlKy9sMDd0cVpyeC84TmhyNXdlRS9DajRVZkZaVVc3bnIrY3dER0Rhcy8wS2pMOUhFRENRMzI1L24zbDlJeE9zS2xiaGhudkkxR3ZGME05MzFOUHR3NzZ5Sm1UeDNKcGgwSHlEeVNUNFhGZ3AvSmgyWW1iOEpEQXVqYW9UV3RXamlmRDlnOEpKQ0hiNWprZExZTHdMbUR1cEswUDVNYnA0K3BjNTVQZlNvdEZwYXN0bmZTdlBiZ3pIcm42QURjZSsyRmRHalRnaTI3RGxKV1hvSEZhdVg3bjdleTR0ZGRYRFZoY0tQbkpra1QwcklsVEo0TWxaWDI0eVpFQVl1Y0VtUEdqQ0VySyt1VVBkNjRjZVBjbXUxUXhaWFFaT2JNbVJRV0ZwNjBrenRuT25Ub3dJc3Z2a2kzYnQxYzN2NjNzZno5L1JrelpreWpQdFprTXZINjY2L1hHYVRkZmZmZDVPZm51ejF3MFpWVytEbHo1bUN4V0JvOGw4TmtNalY0cWN6RWlSUDU1WmRmZVBqaGh4djBjVzNhdEFIc3MxeCsvUEZIMXE5Zno3bm5ubHR0Qy9FcVFVRkJQUGZjYzl4NjY2MHU3ZklFOWprZ2E5ZXU1WkZISG5FOFZwWHc4SER1dlBOTy92NzN2ek51M0xoR2QwWkZSenQvb1JJU0VsTG4xN0ZWcTFaY2YvMzFqWHJNNDRXSGgxZmJYdDFkUnFPUml5NjY2S1RkbjRpY2ZyS09GdkR1TjZ1cHFMVHc2bjEvY1N5Zk9kSFU4L3NUMHlxTVo5LzdMenYzcHArVWdDVTR5TC9XazlyR2NyWUxUSDBNQmdNOUczQWlldjJsSStyY3N0ZGRzVEV0dWYyNG5YRCtMTmRQSFZtanE2Zks4VHYrVERtM0h5czNKWE1vSzVmckw2MS82VTU5TGhqU25hVDltUXpzM3ZoaDg0MFJGaHpBK1VNYTkvdy9wSGZ0WFVwVHp1MUxnRjh6dDhNbmI2T3gydGZkMVkrNWN2dzVqWnBiSktlSitIaDQ4MDFQVitHVUFoWTVKUVlQSGt4c2JOMnRvaWVUMFdna01yTDJkYWNuVTNCd2NMMGROU2VEcTEwUm5sYmZVcHcyYmRyVU9OSC9zeGdNQnBlV1lwME1WY09LRzh0aXNUQjgrSERIRGp5MWlZaUk0SzIzM25JNW9JcUxpNnR6eDZrQkF3Ynd0Ny85amNzdXU2eEI5YnBpeUpBaHA4M1ByWWhJbGFONVJmeStPNDA1MDBZN3VoWHFNcWhuUno1NitucXMxcE1UTGtSRmhIQ2hteWVsbnVCZHgvRFprNlVoZ1U5ajFSYW1PWFAzTmVQd01Sb2RIUy91dXZYSzgwN0svVFFGWGw1ZWJvY3JJcWNqQlN4eXlweU00Wk1pWjZxcTNaeGM0YzQyelNmeTh2SnE4QzVMcnJyNjZxdi9sUHNWT2VVcUs2R2tCR3cyQ0FpQUJzdy9rdE5QODlEQUJzOVRjV1haZ3F1OGpVYkdETkpPVUtlREV3ZS9pb2ljbklFWUlpSWlJbWVxUC82QVdiTmd4Z3o3c1lpSWlIaE9XUm1rcHRyL2xaVjV1cHBxRkxDSWlJaUkxQ1V2RDlhdGd6VnI3TWNpSWlMaU9kdTJ3ZlRwTUdXSy9iZ0pVWStyaUlpSWlJaUlpSndlU2t0aDN6NHdtKzNIVFlnNldFUkVSRVJFUkVSRTNLU0FSVVJFUkVSRVJFVEVUUXBZUkVSRVJFUkVSRVRjcElCRlJFUkVSRVJFUk1STkNsaEVSRVJFUkVSRVJOeWtnRVZFUkVSRVJFUkV4RTBLV0VSRVJFUkVSRVJFM0tTQVJVUkVSRVJFUkVURVRkNmVMa0JFUkVTa1NldlVDUjUvSENvcjdjY2lJaUxpT1Y1ZTBLd1pHQXoyNHlaRUFZdUlpSWhJWGFLallmWnNUMWNoSWlJaUFIRng4Tnh6WUxIWWo1c1FCU3dpSWlJaUlpSWljbnBvMVFvdXY5elRWVGpWdFBwcFJFUkVSRVJFUkVST1ErcGdFUkVSRWFsTFhoN3MzR2x2UmU3UkEwSkRQVjJSaUlpSU5FRUtXRVJFUkVUcWtwZ0lOOTRJWldYdy92c3dkS2luS3hJUkVUbDdGUlpDU2dyWWJCQWJDMEZCbnE3SVFVdUVSRVJFUk9wU1hnNVpXWEQ0c1AxWVJFUkVQR2Z6WmhnM0RzYU1zUjgzSVFwWVJFUkVSRVJFUkVUY3BJQkZSRVJFUkVSRVJNUk5DbGhFUkVSRVJFUkVSTnlrZ0VWRVJFUkVSRVJFeEUwS1dFUkVSRVJFUkVSRTNLUnRtazhDbTgxR1hsNGVScVBSMDZXSWlJaDRWRzV1TGxhclZjK0pJaUlpY3RaUndISVNWRlpXa3BpWXFCZVRJaUp5MXJOYXJaU1hsK1BuNStmcFVrUkVSRVJPS1FVc2JnZ0tDaUlrSklTS2lncFBseUp5MXJOYXJWZ3NGZ0NNUmlOZVhsb0JLZUlKUnFNUlB6OC9nb09EQ1FrSjhYUTVJaUlpSXFlTUFoWTNORy9lbk91dXU0NkNnZ0pQbHlKeTFqdDA2QkJmZlBFRmxaV1ZYSHJwcGNUR3hucTZKSkd6V21CZ0lKR1JrWjR1NCtUdzlvYVFFRENaN05XUnpjQUFBQ0FBU1VSQlZNZFNnOFZpSmZsZ05pWWZmWDFFUlA0TUJjVmxuaTVCWEtCblFUZDRlWG5SdW5WcldyZHU3ZWxTUk01NjVlWGxwS1NrWURhYkNRc0xvMHVYTHA0dVNVVE9GRDE2d0h2dmdkVnFQNVlheXN3VmZMam9GM3g4dEZ4YVJPVFBrRitvZ01YQjF4ZGlZcUM4M0g3Y2hDaGdFUkVSRWFsTGFDZ01IZXJwS3BxazVzM0RhUlVaUVVGaElRQVZWZzhYSkNKeWh2SVBDTURrNDAycnlKWmFDdCs3TjN6eGhmMjRWU3ZQMW5JQ0JTd2lJaUlpMGlqUmJhSjQ5c2xIeWNvKzR1bFNSQnBrNDhaZnFheW9ZTWpRWVo0dVJjUmx6Wm8xbzFOc0IwK1g0WGwrZnRDaGFYNGRGTENJaUlpSVNLTjRlWG5Sc1VON09uWm83K2xTUkJya3F5OFdVRnhjekoxMzNPN3BVa1RrREtLQVJVUkVSS1F1NmVtUWtBQ1ZsVEJ1SEVSRmVib2lFWEhEdm4zN1NFcEtvclMwbEgzNzl0R2hpYjRUTGlLbkh3VXNJaUlpSW5WSlRvWjc3NFhTVXZqMld3VXNJcWU1eE1SRTh2THlzRmdzSkNZbUttQVJPZDFrWmNINjlmYmg4OE9HUWN1V25xN0k0U3lmamlNaUlpSWlJbWVMaW9vS3RtelpRa2xKQ1dhem1TMWJ0bEJhV3VycHNrU2tJUklUWWM0Y3VQWmErM0VUb29CRlJFUkVSRVRPQ2tWRlJlellzY1B4LzN2MjdLSHcyQzVZSWlMdVVzQWlJaUlpSWlKbmhkemNYQTRlUE9qNC85MjdkM1A0OEdFUFZpUWlaeElGTENJaUlpSWljbFpZdm53NVpXVmwyR3cyYkRZYlpXVmwvUHp6ejU0dVMwVE9FQXBZUkVSRVJFVGtyUEQ5OTkvWHVHenAwcVVlcUVSRXprUUtXRVJFUkVSRTVJeTNlZk5tTWpJeXNObHNqc3RzTmh1Wm1abjg4c3N2SHF4TVJNNFVDbGhFUkVSRVJPU010MmpSb2xxdisvcnJyMDloSlNKeXBsTEFJaUlpSWlJaVo3U2NuQngrLy8zM1dxLy8vZmZmeWNuSk9ZVVZpY2laU0FHTGlJaUlpSWljMGJaczJVSk9UbzVqZVpEQllNQmdNQUQyWlVLRmhZVjFCakFpSXE1UXdDSWlJaUpTbDlCUUdEb1VoZyszSDR2SWFjVnF0WktVbEVSUlVWR3R0ekdielNRbEpXR3hXRTVoWlNKeXB2SDJkQUVpSWlJaVRWcDhQTHp4QmxpdEVCYm02V3BFcElGS1Mwdlp0V3NYVnFzVndORzVVblZzczltd1dxM3MyTEdEZ29JQ3d2UjdMdEswQlFWQjc5NVFYbTQvYmtJVXNJaUlpSWpVeFdTQ2lBaFBWeUVpalpTYm04djI3ZHZydmQzMjdkdkp6czVXd0NMUzFQWHZEei84NE9rcW5OSVNJUkVSRVJFUk9XTnQyclNKZ29LQ2F0c3puOGhtczFGUVVNRG16WnRQWVdVaWNxWlJ3Q0lpSWlJaUltZXNyNzc2eW5GOC9QSWdaNWN0WExqd2xOUWtJbWNtQlN3aUlpSWlkZG16Qng1NUJPNi8zMzRzSXFlTmxKUVVkdTdjQ1RnUFY2cFVYWmVVbE1UdTNidFBTVzBpMGtoV0s1U1ZnZGxzUDI1Q05JTkZSRVJFcEM1cGFmRFdXMUJhQ3VQR1FhZE9ucTVJUkZ6azVlWEYzTGx6cTEyV21wcks0c1dMcWF5c1pQTGt5Y1RFeEZTNzNtZzBuc29TUmFTaGtwTmgzanlvcklSYmI0V3VYVDFka1lNQ0ZoRVJFUkVST1NPMWI5K2U5dTNiVjd0czgrYk5KQ1FrWURhYkdUdDJMUDM3OS9kUWRTTFNLSm1aOFBubjlnNldhZE9hVk1DaUpVSWlJaUlpSWlJaUltNVN3Q0lpSWlJaUlpSWk0aVlGTENJaUlpSWlJaUlpYmxMQUlpSWlJaUlpSWlMaUpnVXNJaUlpSWlJaUlpSnVVc0FpSWlJaUlpSWlJdUltQlN3aUlpSWlJaUlpSW01U3dDSWlJaUlpSWlJaTRpWnZUeGNnSWlJaTBxUkZSY0hWVjBONXVmMVlSRVJFeEFrRkxDSWlJaUoxaVl1RFo1LzFkQlVpSWlJQzBMSWxUSjRNbFpYMjR5WkVBWXVJaUlpSWlJaUluQjdpNCtITk56MWRoVk9hd1NJaUlpSWlJaUlpNGlaMXNJaUlpSWpVcGJJU1NrckFab09BQVBEV3l5Y1JFUkdwU1Iwc0lpSWlJblg1NHcrWU5RdG16TEFmaTRpSWlPZVVsVUZxcXYxZldabW5xNmxHQVl1SWlJaElYZkx5WU4wNldMUEdmaXdpSWlLZXMyMGJUSjhPVTZiWWo1c1E5YmlLaUlpSWlJaUl5T21odEJUMjdRT3oyWDdjaEtpRFJVUkVSRVJFUkVURVRRcFlSRVJFUkVSRVJFVGNwSUJGUkVSRVJFUkVSTVJOQ2xoRVJFUkVSRVJFUk55a2dFVkVSRVJFUkVSRXhFMEtXRVJFUkVSRVJFUkUzS1NBUlVSRVJFUkVSRVRFVFFwWVJFUkVSRVJFUkVUYzVPM3BBa1JFUkVTYXRFNmQ0UEhIb2JMU2Zpd2lJaUtlNCtVRnpacUJ3V0EvYmtJVXNJaUlpSWpVSlRvYVpzLzJkQlVpSWlJQ0VCY0h6ejBIRm92OXVBbFJ3Q0lpSWlJaUlpSWlwNGRXcmVEeXl6MWRoVk5OcTU5R1JFUkVSRVJFUk9RMHBBNFdFUkVSa2JyazVjSE9uZlpXNUI0OUlEVFUweFdKaUloSUU2U0FSVVJFUktRdWlZbHc0NDFRVmdidnZ3OURoM3E2SWhFUmtiTlhZU0drcElETkJyR3hFQlRrNllvY3RFUklSRVJFcEM3bDVaQ1ZCWWNQMjQ5RlJFVEVjelp2aG5IallNd1krM0VUb29CRlJFUkVSRVJFUk1STkNsaEVSRVJFUkVSRVJOeWtnRVZFUkVSRVJFUkV4RTBLV0VSRVJFUkVSRVJFM0tTQVJVUkVSRVJFUkVURVRRcFlSRVJFUkVSRVJFVGNwSUJGUkVSRVJFUkVSTVJOQ2xoRVJFUkVSRVJFUk56azdla0NSRVJFUkpvMGIyOElDUUdUeVg0c0lpSWk0b1JlSllpSWlJalVwVWNQZU84OXNGcnR4eUlpSXVJNXZyNFFFd1BsNWZiakprUUJpNGlJaUVoZFFrTmg2RkJQVnlFaUlpSUF2WHZERjEvWWoxdTE4bXd0SjFEQUlpSWlJaUlpSWlLbkJ6OC82TkRCMDFVNHBTRzNJaUlpSWlJaUlpSnVVZ2VMaUlpSVNGM1MweUVoQVNvcllkdzRpSXJ5ZEVVaUlpTFNCQ2xnRVJFUkVhbExjakxjZXkrVWxzSzMzeXBnRVJFUjhhU3NMRmkvM2o1OGZ0Z3dhTm5TMHhVNUtHQVJFUkVSRVJFUmtkTkRZaUxNbVFObU0zenpUWk1LV0RTRFJVUkVSRVJFUkVURVRRcFlSRVJFUkVSRVJFVGNwSUJGUkVSRVJFUkVSTVJOQ2xoRVJFUkVSRVJFUk55a2dFVkVSRVJFUkVSRXhFMEtXRVJFUkVSRVJFUkUzS1NBUlVSRVJFUkVSRVRFVFFwWVJFUkVSRVJFUkVUYzVPM3BBa1JFUkVTYXROQlFHRG9VekdiN3NZaUlpSWdUQ2xoRVJFUkU2aElmRDIrOEFWWXJoSVY1dWhvUkVaR3pXMUFROU80TjVlWDI0eVpFQVl1SWlJaElYVXdtaUlqd2RCVWlJaUlDMEw4Ly9QQ0RwNnR3U2pOWVJFUkVSRVJFUkVUY3BJQkZSRVJFUkVSRVJNUk5XaUlrSWlJaVVwYzllMkQrZlB0YTcrdXVnMDZkUEYyUmlJakkyY3RxdFQ4bkd3emc0d05lVGFkdlJBR0xpSWlJU0YzUzB1Q3R0NkMwRk1hTlU4QWlJaUxpU2NuSk1HOGVWRmJDcmJkQzE2NmVyc2loNlVROUlpSWlJaUlpSWlKMXljeUV6eitIVHorMUh6Y2hDbGhFUkVSRVJFUkVSTnlrZ0VWRVJFUkVSRVJFeEUwS1dFUkVSRVJFUkVSRTNLU0FSVVJFUkVSRVJFVEVUUXBZUkVSRVJFUkVSRVRjcElCRlJFUkVSRVJFUk1STkNsaEVSRVJFUkVSRVJOeWtnRVZFUkVSRVJFUkV4RTNlbmk1QVJFUkVwRW1MaW9LcnI0YnljdnV4aUlpSWlCTUtXRVJFUkVUcUVoY0h6ejdyNlNwRVJFUUVvR1ZMbUR3WktpdnR4MDJJQWhZUkVSRVJFUkVST1QzRXg4T2JiM3E2Q3FjVXNJaklhYWUwdEpTOHZMeHFseDA1Y2dTTHhZTE5adVBvMGFOa1pHUlV1ejRrSkFSL2YvOVRXYWFJaUlpSWlKeEZGTENJeUdrbk9UbVphNis5dHRickgzbmtrUnFYdmZYV1cvVHYzLy9QTEV0RXpsU1ZsVkJTQWpZYkJBU0F0MTQraVlpSVNFM2FSVWhFVGp2ZHUzY25xZ0dESmx1M2JrMnZYcjMreElwRTVJejJ4eDh3YXhiTW1HRS9GaEVSRWM4cEs0UFVWUHUvc2pKUFYxT05BaFlST2UxNGUzdHp5U1dYQUdDejJiRFpiRFZ1Yy96bEYxOThNVDQrUHFlMFJoRTVnK1Rsd2JwMXNHYU4vVmhFUkVROFo5czJtRDRkcGt5eEh6Y2hDbGhFNUxRMGV2Um9BZ0lDTUJnTXRkN0dZRERnNit2THNHSERUbUZsSWlJaUlpTHlweWt0aFgzN0lDWEZmdHlFS0dBUmtkTlNSRVNFUzh0K09uWHExS0RsUkNJaUlpSWlJbzJoZ0VWRVRrdisvdjcwN3QzYjhmL0hMeE02L2pndUxvNlFrSkJUV3B1SWlJaUlpSng5RkxDSXlHbkphRFRTcVZNbkFnSUNhcjJOcjY4djNidDMxL3dWRVJFUkVSSDUweWxnRVpIVFZueDhQR0ZoWWJWZUh4QVFRTDkrL1U1aFJTSWlJaUlpY3JaU3dDSWlwNjNJeUVnNmQrN3NHSFI3L001QkJvT0JqaDA3MHJadFcwK1dLQ0lpSWlJaVp3a0ZMQ0p5V3BzNGNXS3QxMTEyMldXbnNCSVJFUkVSRVRtYktXQVJrZFBha0NGRENBOFByM2Fad1dBZ05EU1VrU05IZXFncUVSRVJFUkU1MnloZ0VaSFRtc2xrWXV6WXNZNWxRbFZHang2TnlXVHlVRlVpSWlJaUluSzI4ZlowQVNJaTdwbzBhUkxmZmZjZFpXVmxBUGo0K0hEUlJSZDV1Q29ST1dOMDZnU1BQdzZWbGZaakVSRVI4Und2TDJqV0RBd0crM0VUb29CRlJFNTdyVnExb20zYnR1emV2UnVBNk9ob29xT2pQVnlWaUp3eG9xTmg5bXhQVnlFaUlpSUFjWEh3M0hOZ3NkaVBteEFGTEc1S3o4amtZR3FhcDhzUU9hdFZWRlFRRWRtYXhGM0pBQVFFaGJBcmVRLzdEK3AzVThSVG90dEVFZDBteXRObGlBY1VGNWVRazVkTGJtNGVKU1dsbmk1SHBJYmR5Y2xVVkZSZ3NWaEkzSmxFaGNYbTZaSkVxakVhallTR0JCTWVIazd6OERCUGw5UDB0R29GbDEvdTZTcWNVc0RpaG96TXc4eTk3eC9zM2JmZjA2V0luUFhNWmpQRkZmWVhTTC85c1l1ZC8zalV3eFdKbk4yaVdyZmkzeTgrUjNTMFFwYXpSVWxKS2U5K01KL0ZTNWRoTGkrbnZMeWNpc3BLVDVjbFVvTzFzZ0tidVJnYk5sNTUvVTI4dkgwOFhaSklOVjRHTDB3bUgwd21FMjJqMnpEMzlwdnBIdC9OMDJXSkN4U3d1Q0V6OHpCNzkrM255SkdqbUV3bWpNYW10ZjVMNUd6ajYrc0xnTlZxcGJpNDJNUFZpSnlkckJZcjV2Snl6T1p5MHRMVHo0eUFKUzhQZHU2MHR5TDM2QUdob1o2dXFNbkp5RHpNdzAvOGs1OVdyc1pxdFdMME1tRHk4ZFpySTJtU2JEWWJCcnpBQmpaekdZWnlzNmRMRXFuR1pyT1JWMm1odk1KQ3lyNzliRS9jeVVQMzNjUEU4ZU5xYk93Z1RZc0NscE9nbWNuRXhJc3VvR09IZHA0dVJVUkV4S01PcGg3aSsvLys0T2t5VHE3RVJManhSaWdyZy9mZmg2RkRQVjFSazFKV1ZzYmREenpNK2cyLzR1M3R4ZWorY2ZTTmEwT3JGc0VFK2Z0NnVqd1JrZE5PcGNWQ2RtNFJoN0x5V2JzdGhlU0RXZno5SDQ4U0doTEN5T0ZEUEYyZTV4VVdRa29LMkd3UUd3dEJRWjZ1eUVFQnkwbmdaZlFpSmpxS3JuSGFXVUJFUk1UYjZNMFpOZEdndkJ5eXNxQzAxSDRzMVh6eStWZHMrR1VqSmg4amQxdzVtZ3VIeGhQazMwenZzb3FJdU1scXRYTHg4Tzc4NjR0VnJOaVl6UC85NnpXNmR1bE15NGdXbmk3TnN6WnZoaXV1QUxNWnZ2a0dSby8yZEVVTzZ0c1VFUkVSa1VZcEt5dGo2YkxsMkd3MlJ2U0o1Y0toOFFRSCtDcGNFUkU1Q2J5OHZJaHBGY2FrRVQwSUNmVGx3TUZVdG03NzNkTmxTUjBVc0lpSWlJaElvK1RtNVZOU1dvYTMwWXY0anEwSUR0Q1NJQkdSa3kydVhVdENBdnd3bThzNW1wUHI2WEtrRGdwWVJFUkVSS1JSOHZMektTMHR3Y2ZiU092bXdaNHVSMFRrakJRVzdJL0o1STNaYkNZblZ3RkxVNmFBUlVSRVJFUWFwYXkwaklvS0MwYWpGNEgrelR4ZGpvaklHY25IMjRpL3J3ODJtNDJTa2xLc1ZxdW5TNUphS0dBUkVSRVJFUkVSRVhHVEFoWVJFUkVSRVJFUkVUY3BZQkVSRVJFUkVSRVJjWk1DRmhFUkVSRVJFUkVSTjNsN3VnQVJFUkdSSnMzYkcwSkN3R1N5SDR1SWlJZzRvVmNKSWlJaUluWHAwUVBlZXcrc1Z2dXhpSWlJZUk2dkw4VEVRSG01L2JnSlVjQWlJaUlpVXBmUVVCZzYxTk5WaUlpSUNFRHYzdkRGRi9ialZxMDhXOHNKRkxDSWlJaUlpSWlJeU9uQnp3ODZkUEIwRlU1cHlLMklpSWlJaUlpSWlKdlV3U0lpSWlKU2wvUjBTRWlBeWtvWU53Nmlvanhka1lpSWlEUkJDbGhFUkVSRTZwS2NEUGZlQzZXbDhPMjNDbGhFUkVROEtTc0wxcSszRDU4Zk5neGF0dlIwUlE0S1dFUkVSRVJFUkVUazlKQ1lDSFBtZ05rTTMzelRwQUlXeldBUkVSRVJFUkVSRVhHVEFoWVJFUkVSRVJFUkVUY3BZQkVSRVJFUkVSRVJjWk1DRmhFUkVSRVJFUkVSTnlsZ0VSRVJFUkVSRVJGeGt3SVdFUkVSRVJFUkVSRTNLV0FSRVJFUkVSRVJFWEdUQWhZUkVSRVJFUkVSRVRkNWU3b0FFUkVSa1NZdE5CU0dEZ1d6Mlg0c0lpSWk0b1FDRmptakpDY25zMi9mUG9ZUEgwNUFRSUNueXprcERoNDhTRVJFQkg1K2ZwNHU1YlN3YTljdURBWURYYnAwOFhRcEFsaXRWZ3dHQXdhRDRVOTluTjI3ZDJNd0dJaU5qZjNUSDB2T1F2SHg4TVliWUxWQ1dKaW5xeEdSNDZ6WnNwdjh3aEpHRCt4S2dGK3pVL2E0VnFzVkx5OHRCaER4aUtBZzZOMGJ5c3Z0eDAySS9pcklHU1VwS1lsbHk1YVJtSmpvdUt5NHVCaUx4WExTSGlNbEpZVVBQdmlBRlN0V1VGSlNjbEx1czZTa2hBTUhEamk5N3IvLy9TK1BQZllZR3pkdWRPc3h2dnp5UzVZc1dVSnVicTdUNnc4ZE9zVHExYXNwTHk5MzYzRThiZmZ1M2J6MTFsdlZmZ2JPQkFVRkJheGN1WkxObXpjMytPZTV0TFFVcTlWYTYvWGJ0bTFqOWVyVkhEMTYxTjB5YTBoSlNlR3h4eDVqMmJKbEovWDM4RVQ3OXUxajNyeDV2UDc2NjMvYVk4aFp6R1NDaUFpSWpMUWZpMGk5eXNvcjZyM04va05IeU1qT2MrdHhPclJwd2Z5RjY3bjFuNTg2THJOYXJWZ3N0VC92blF6TE55VHkxd2ZmWWNIU1h4dDlIOFVsWlNleElwR3pTUC8rOE1NUDhOTlA5dU1tUkFHTG5IWXNGZ3RGUlVVMUxxK29xT0MzMzM3anZQUE9vM2Z2M3V6WXNZTVBQL3lRUng1NWhNY2ZmNXhmZnZrRm04M205dU4zNk5BQm85SEk0c1dMK2Z6eno5MitQNENqUjQveTZxdXY4dFZYWDlXNHJxU2toSXFLQ2lJaUl0eDZqT2pvYUJJU0VsaTRjS0hUNjh2THkvbjIyMjk1OWRWWDNYcWNoaWd0TFNVMU5aVWRPM2FRbUpoSVhwNXJMN0xTMDlONStlV1hlZnZ0dHpsOCtIQzE2MUpTVW9pSmlhRkxseTRuNWZ0OXFwV1hsMU5TVWtKT1RnNkppWWtzVzdhTTExNTdqUmRlZUlGbHk1Yng2YWVmOHVxcnIxSlFVT0R5ZmE1ZXZacVhYbnFKbkp3Y3A5ZUhoWVd4Y09GQy92blBmN0ovLy82VDlha0EwSzVkT3dvTEMxbTJiSm5qOGZQejgvbnBwNS9ZdFd2WFNRdGQ0dUxpQUp6K2JSQVJrVlBMWnJNeCs5RVArTWUvdnE0elFFaytrTW5WRDc3TC9hLzhoL0tLeWtZOVZwdVdZVHg5KzFSOHZJMjg4NTlWM1BYOEFpYmM4aXJYUFBRdVpoZENuc1lhM2krT28zbkZmTDE4YzZQdjQ3a1BmdUN1NXhlUW5sWDcxK2lSMTc3bDJvZmY1OU1sdjFENUo3NVJJU0luaDVZSXlXa25JeU9EVjE5OWxjREFRQzY5OUZKNjlPZ0J3SW9WS3dBNGN1UUlDeFlzSUNvcWlxRkRoeElZR01ndnYvekNwazJiaUl5TXBIMzc5bTQ5dnNGZ1lPYk1tYlJwMDhiUndXS3hXTWpLeXNKaXNkQ21UWnNHTDFGSVMwc0RvTEN3c05ybFJVVkZIRHAwQ0Y5Zlg3ZVhQYlJ0MnhhQXpwMDdPNzArUHo4ZmdJc3V1c2l0eHptUjJXd21OemVYbkp3Y3NyS3l5TTdPSmlzcmk2eXNyQm9ud3dhRGdVbVRKakZ5NU1nYTk3Tml4UXE4dmIxSlMwdGovLzc5bEpXVmtaNmVUbEZSRVpHUmtZRDlaK1Bnd1lOTW1US0Y1Y3VYczJIREJveEdJeE1tVEtCUG56NG45ZlA2c3l4WnNvVFZxMWZqNWVWRnAwNmQ2TmF0RzFPblRpVWlJb0xYWG51TkF3Y09ZRGFiT1hMa0NNSEJ3UzdkWjJGaEllbnA2ZXpidDQvdzhQQWExN2R0MjViTEw3K2N6ejc3akt5c0xMZC9SNDVYRlhMMTY5ZlBFUklHQndkVFVGREFva1dMYU5HaUJiZmNjZ3RCYnJaM2hoMWJ0bEhiejdlSWlKdzY3Mys3aHN3akJXUWVLU0E3OXp2ZWZQaXZUbTgzb244Y0w4My9rWjBwNlM2L3ppa3JyK0NUUmVzcExEWnpKSytROUt3OEtpd1dPa2EzeEdDQUM0ZjE0RzlUUjlFK3VnWE5URDROcXR0Y1hzRnR6M3hLbC9hdHVXckNZQ0xDYTMrZTlmYzEwU1l5akxCZy93WTlSalUyRzl0M0gyTEo2dCs1Zm1yTjF6NjdVakw0OVk5OVZGcXNiTjExa0F1SDlTQTg1TXhZQWk5eXBsTEFJcWVkNk9ob1pzK2V6U2VmZk1JUFAveEFqeDQ5U0UxTjVmZmZmK2ZPTys5azI3WnRORy9lblBqNGVNeG1NNy8vL2p2MzMzKy80d1RNWFZhcmxaeWNIRnEwYUVGYVdocno1czNqd0lFRFZGUlVZREFZbURadEd1ZWNjMDZEN3ZPMzMzNGpJQ0NBSzY2NG90cmxWY3VDWnMrZXpaSWxTNWd5WlFxdFc3ZHVWTjJoeHdZelZvVVJKMXE3ZGkxOSt2U2hlL2Z1bEpTVXNHSERCcnAzNzE3cjdjSGViWkdTa29MRllxRzB0SlNpb2lMeTgvUEp6YzExL0NzdUxnWWdJQ0NBaUlnSXgzL2J0V3RYSXppeTJXeTFoZ1psWldWczI3YU5hNis5bHNqSVNENzQ0QU02ZHV4SWJHeXM0emJyMXEyalY2OWVsSldWRVJBUTRGZ2VscDZlM3VRQ2xpKy8vSko5Ky9ZUkh4L1B1SEhqOFBHeHZ3aWNNbVVLbzBlUHhtZzBWZ3NkRmk1Y1NINStQbi85NjEvcDFhdVh5NDlqdFZyWnNXTUhnd2NQcG44ZExaVDkrL2NuSmlhR2tKQVF3QjdLN05peGc4cktTdnIyN2V2eVRLT0ZDeGVTbFpYRkZWZGNRVUJBZ0tNcnFXZlBubzdiR0F3R0prK2VURVJFQklzV0xlTEFnUU9Pb05SVlNVbEp4TVRFNE85dmYySHI3VzEvT25NV0lJbTRiYzhlbUQvZnZ0Yjd1dXVnVXlkUFZ5VFNKQlVXbC9IaVJ6K3dmdHRlUnZhUFk4S28zdlRxSEYzcjdmMmFtV2dkRVVwSW9COCsza2FYSHNQWDVNT3dQcDNadVMrRDRmMDY4OHk3UytqYW9SV1AzRENSbklJU1dvUUdPbTY3YlAwT2lvckxtRGk2ajB2MzM4emt3NFJSdlhuMWt3UzI3anJJUjA5ZlgrZnRBL3hNaEFVM0x2Q29yTFR3eDU1RFJFV0VjdVg0bXE4Yk4vNnhqNmZlWGtTM2pxMlpQWFVrM1RwR05lcHhSTTVJVnF2OU9kbGdBQjhmYUVMemtCU3d5R21wYytmTzNILy8vZVRrNURobVU4eVpNNGZnNEdBMmI5NU1ZV0VoWGJwMG9WbXpaa3lkT3RXdHg4ck16R1QxNnRVVUZCU1FsNWRIZG5ZMkZSVVZORy9lbkRadDJwQ2RuYzJJRVNPSWpZMmxYYnQyRFI1R201cWFTa3BLQ3BkY2NrbTFqNjJzckdUdDJyWDA3OStmOXUzYk0yM2FOTjU1NXgydXZmWmFXclpzMmVEUHczUnNia0JnWUdDTjYzYnYzazFLU2dvREJ3N2swMDgvSlRrNW1jTENRcFl1WGNwTk45MVVhMGVEMFdoazA2Wk5iTm15QmJDSEtLMWF0U0l5TXBKT25Ub1JHUmxKY0hBd3I3enlDZ0VCQWR4MDAwMFlqYTY5Z0RwUisvYnQyYjE3dHlQd3ljL1BaL0Rnd1k3ckN3c0xTVXBLNHM0Nzc4VFB6NC9FeEVRc0Znc1RKMDVrOU9qUmpYck1QOU9FQ1JONCsrMjMrZW1ubndnTEMyUFlzR0dPNjBKRFE2bW9xR0RldkhuNCsvc1RIaDVPV1ZrWjk5NTdMODJhTld5QTM0NGRPN0RaYkV5WU1JRURCdzVRV0Zqb0NETlNVMU9KaVlrQjdHRlpYbDRlbXpadFlzK2VQWTVaUFFVRkJTeGV2SmhMTHJtRVFZTUcxZnQ0QVFFQkpDWW1zbXZYTHZyMzcwOXFhcXBqK095SmhnNGR5b0FCQXh6aFNFTXNXN2FNek14TTdyenpUbHEwYU9FWU5PanI2OXZnK3hLcFYxb2F2UFVXbEpiQ3VIRUtXRVNjV0w0aGtRKytXMHRoY1JtdjN2Y1h1clJ2NWRMSGhRZjc0Ky9ic05sR1hUdTJwbXZIMXV4TVNjZGNYc0gwY1lQWWZUQ0xPNTlid0kyWGoyYmlLUHViS3QrdDJNTGUxR3o4ZkUxY05MeG5QZmRxTjNGVUgwckxLbGk2OW85NmIyczBldUhYeklmaVVqTTdVekk0bWxkRXo4N1JSTFdzZjdleFg3YW5VRkJjeGgweno2ODJuTGV5MHNKSGk5YXo0TCsvTU9YY2Z0eDArUmlYNmhZNXF5UW53N3g1VUZrSnQ5NEtYYnQ2dWlJSEJTeHkybXJXckJtdFc3ZW10TFNVR1RObVlEQVl5TW5KSVMwdGpiaTRPRFp1M01pZ1FZUGNudkRlcWxVcnpqbm5IQTRlUElqSlpDSWlJb0tvcUNqSGllNXJyNzNHbWpWcjZOV3JWNk4yK2tsSVNLQmx5NVlNR1RLazJ1VnIxcXlodUxpWWl5KytHSUFXTFZwdzRZVVhNbS9lUEc2NDRZWTZPMHVjcWVxUU9MRkdtODNHb2tXTHVPQ0NDNGlKaWNIWDE1ZWdvQ0IrL3ZsbmV2ZnU3VGdCZDhab05ESno1a3dtVFpvRVVHdjNTWWNPSFVoS1NxSzh2THpSdXlHZHVJVEVack01UWlPQTVjdVhFeFlXUm5KeU1sMjZkT0diYjc2aFY2OWVUVEpjQWZ2MzRZWWJibURwMHFXT3JwSGorZmo0TUczYU5ENzQ0QVBLeXNxNDl0cHIyYmx6SjJscGFmVHMyYlBPNzh2eEVoSVNIT0hkMnJWcjJieDVNOU9uVDJmQWdBRXNXTENBbUpnWWlvdUxLUzh2SnlvcWl1am9hSVlNR1VKWVdCaExsaXpoNTU5L3BudjM3aTUzVHFXbHBkRzJiVnY2OXUwTDJHZml0R25UQm45L2YwYzNVVnBhR2xsWldmajUrVEZpeElocTMwZFhWQzNKYTlteXBhTXpyYW9UcXVyblhFUkVUcDMwckR3aW13ZnozdU96dU9yK2QzajM2OVU4ZDllMEdyZTcvZG5QQ0EzMFk4NzAwVVJGMkVPSUFMOW1McjFXZStxdFJWaHRObTY1OGx6Q2dnTW9LaW5qNVk5LzVJSFpFK2dWRjgyOEwzNnl2elk0RnRvdlhMbVZxSmFoUFBpM0NZN0hjdFgwY1FPNTdIem5YWitIanhhUWtwYk4zdFFzVWpOejJaV1N3YUpWMnpCNWV4TVM1RWZ6MEVBZXYza0tvVUYxTHgzNll0a21Pa2EzWUhnLys5TFczM1llNExzVlc4QmdZR2p2V0s2ZU9KU1BGMjFnK2dVRGFCSFd0SFpKRWZHNHpFejQvSE13bTJIYU5BVXNJaWREVVZFUjI3WnR3OHZMaTNQT09RZWJ6Y2FYWDM1Sno1NDl1ZnJxcTBsSVNPQ2xsMTVpeElnUjlPM2IxNjBUcjdadDJ4SVNFc0xISDMvTXhJa1RxM1VSNU9mbjQrL3YzNmdsU0FjT0hHRDc5dTNNbmoyN1dtZEhVVkVSQ1FrSlhIVFJSZFZDaXo1OStwQ1VsTVNycjc3S1ZWZGRSZGNHL2pIeDh2S3EwUzJ3WWNNRy9QMzl1ZUNDLzJmdnZzT2pMUFA5ajc4bmt5bkpwSk1FRWxJb1NlaGRlckdnZ2lJcTFsMzF1SGJjWTFuTEhuZmR2cDdkUGI5MWUzRXR1K3ZxcmdVckNsaFFzS0NBb0lIUVN5QWhRRWp2WlVxbS9QNFlNeElTa3BCQkpvSFA2N3E4cnB1WkovTjhNNW1ZZVQ1ejM5Lzd3c0JGNmp2dnZFTmFXaHJmK01ZM3VqWGpwS3RlSUszTHFZTFphdnJZcjNVNEhMamRic0xEdzZtdnJ5Y2pJNE5MTDcyVUZTdFc4TnBycjJFMEdybm1tbXQ2Zkw1VHdXdzJCOEtwVnVYbDVZRVpMRFUxTll3ZE81YkN3a0plZmZWVnZGNHZtelp0WXZYcTFUejg4TU1rSmlaMit2aWZmdm9wQ1FrSmpCMDdsdHJhV3JadTNjcUVDUk00NjZ5eldMbHlKUzB0TGUyV3BiVnFiR3lrckt5TWh4NTZxTXZ6SEYzNzl1M2J1ZW1tbXdnTEN3dWMwMmF6OGRoamozSG8wQ0c4WGk4SkNRbkV4OGNURXhORGVYazVtWm1aM1h2Q3ZyUi8vMzZhbTV1NS9QTEwyNzArRFFZRFRxZVR3c0pDaW9xS2lJaUlZT2JNbVQyZU9TVWlJbDFMVFk0THpOcklTRWs0YmwrU0NjTXplUDZ0ejVnNE1wUEx6dlVIOFZhTENWZEwxODFiYjdoa0d2Yzl1b1IzUHQzT2RSZFA1ZTVmUFU5MVhST3Z2UGM1YjM2NG1hMTdEL1BEMnk4SkJCYVRSZ3dLekdUcGlkYlFaM2RoQ1V2ZTNVaFpaVDNGNVRYWW5TM0V4MFNTbmRFZlk1aUJXUk95dWZ1NnVTZTBSZlRXdllmWnVmOElQMTU4U2VDOTEvREJLZngwMXh0ODU0WUxPSC9hU0lyTGEzaDIyVHBLSytzVXNJajBJUXBZcE04cExDeGszYnAxSEQ1OG1FV0xGcEdUazRQSDQrR1ZWMTRoUER5YzY2NjdEb1BCd1Bubm4wOW1aaWJQUGZjY0sxYXNZTnk0Y1l3Wk00WkJnd2FkOENmbUFMR3hzWGc4SHA1ODhrbCs4SU1mQlBwTFZGVlZzWGp4NGc2WDNuVEczdnJpMEFBQUlBQkpSRUZVNi9YeSt1dXZrNVNVeExCaHc5cmM5OXBycnpGZ3dBQm16WnJWN3VzdXYveHlDZ3NMK2NjLy9zR2NPWE9ZUDM5K2w5K1B6K2NMTk5KOTVwbG5xS2lvNElvcnJpQTVPWm10VzdmaWRydjU0b3N2bUR4NU1qdDM3cVN3c0pEdmZPYzdKKzJpTkRJeThvU1h0aHdyTEN5c3pWYkRNVEV4N042OW05R2pSeE1URXhQb0wyS3oyV2hwYWFHbHBZVVhYM3lSQlFzV25QQnNuMUQ2L1BQUCtlQ0RENWd6Wnc2Wm1abDgvUEhIVEo0OG1jc3Z2eHp3TDFtcnFxcnFzdGZJcTYrK3ltZWZmY2ExMTE1TFFVRUJhOWFzSVNNamcyOSs4NXNBZlBqaGh5eGN1UEM0WHg4UkVjSE5OOS9jN2JwZExoZi8vT2MvOFhnOHJGdTNqbmZlZVlmS3lrcGNMaGNUSmt3Z0t5dUxsSlFVRWhJU2duNWRyVnUzanBFalI1S1ptUmxvZGx4WVdBakFpaFVyZVBIRkYvRjZ2UmlOUm9ZTkc4YUVDUk9DYnFJcklpTGRFMmsxWXphRjgvRVhlL2hpeHdIS3F1cTU3THdKekJ5ZnhmREIvbVZEUnk4Zk1wbkN1eFd3WktZbTh2dnZYb3ZGWXNMcGFtSEU0QlFtak1oZzBxaEIvTTl2WCthMksyWXpiZHdRQU9vYW12bmJTeDh3ZlZ3V2M2ZU53SHFDelc2UE5ueHdDdGZPbTh6ZUEyVWt4Tm9ZTm1nQXlmMzhIeXg5LzQrdkVobHBPYUZ3QmVEcHBaOHdORDJKMlJOekFyZEZXczBNVHZ0cXg4aUJ5ZkgwN3hmRGdTTlZqTTVPbzhYdDRjUFBkM09vcElwTHp4bmZhUU5lRVFrZEJTelNaN3o4OHN2czJyV0wrdnA2cGsyYnhuMzMzWWZGWXFHNnVwcVZLMWN5Wk1nUXBreVpndGZyNWNDQkE4VEZ4WkdkbmMyRER6N0k4ODgvejdwMTYxaTNiaDFoWVdFTUdEQ0FqSXdNTHI3NDRtNDM3d1M0NnFxcitQT2YvMHhUVXhNMm00MnRXN2N5YWRLa3dCYXhUVTFObEphV1lqQVl5TXpNN1BSQzhxT1BQcUs1dVJtWHk4WEtsU3VaUDM4K0FMbTV1UlFXRm5MZmZmZTFtVEs3ZlBseUxCWUxaNTk5TmpmY2NBT1BQLzQ0SDMvOE1aczNiK2JjYzg5bDh1VEpiV1o1SERwMGlJTUhEMUpVVkVSK2ZuNWdXOS9NekV3dXVlUVMwdFBUcWEydDVmYmJiOGZ0ZHZQcXE2K3ljZU5HS2lzcm1UeDVjcmVYb0hTSDJXekc1L05SVTFPRDFXcnQwYTVJcmM5RmRYVTFoWVdGZ2RrUlJ6ZEgzYnAxSzZ0WHIrYVdXMjRoUGo2ZWwxNTZpVWNmZlpTc3JDeW1UcDNLaUJFamdwcEZjN0tWbDVjVEhSM2RwcVlSSTBid3dRY2ZNSC8rZkN3V0MrKy8vMzZiMTFGYVdob3VsNnZMNmRRN2R1d2dNVEdSUTRjT3NXZlBIb3FMaTl1RVpsZGNjUVZPcDVObHk1YXhjT0hDd00vRDRYQ3dmLzkrZHUvZXpjR0RCNG1PanVhcXE2NEtORWsrbnBxYUdpb3JLNG1MaXlNbko0ZlJvMGZ6NFljZnNtUEhEaTY3N0xLVEZ0WlZWRlN3ZmZ0Mm9xT2orZm5QZng1NFhiZlczNjlmUDZaTW1VSkdSZ1pEaGd4UlR4WVJrYStKdzlWQ1E2T2R5dHBHRHBaVXMrOVFPWHVMeXNndktpTTYwa3FUM2NtUXRDUW1qY3drSzkzZk95N3B5NWtZTWJhdi91NFp3N3IvZnNEbDl2RE8ydTNjc21nVzM3djFZdHdlRHovNnkxTE9HajJZT1pOeXVPNTdUekYvMWhodXVYd1dsNTgzZ1o4ODlpYXZ2UGM1ano1d05jbmRDQ1I4UGg5TFYyL2lrMDM1M0hIVlY0MWxSd3hKUFdsTlpqLzZmRGQ3RHBTU25CREQ0YklhMGdkODlZRkpqSzN0MzZ4UlExUFpzSzJBUnJ1VFpSL21VVkhUd0lUaEdZUVplMDlEVHhGcFN3R0w5Qm16WjgrbW9hR0I4ZVBITTJuU0pCb2JHd2tQRDZlMHRKUUpFeVpRWEZ6TTAwOC9UVUZCQVE2SEE0QnAwNlp4OWRWWGMrZWRkN0p0MnphS2k0dUppSWdnT1RtWnpNek1Mc09WOHZKeUVoSVNBc3RxVWxOVCtkblBmb2JKWktLOHZKemMzRnl5c3JKNDdybm5PSHo0TUJVVkZZR3ZQZSs4OHdMOVU0NTE0TUFCUHY3NFk3Nzk3Vyt6Yk5reWR1M2F4Zno1OHlrcUttTEZpaFhjZHR0dHJGaXhnb2lJQ09iTm0wZFVWQlNwcWFtODhNSUwrSHcrNXMyYngvMzMzOCs2ZGVzb0xpNW0yN1p0bEpXVnNXalJJc0xEdzNFNEhLeGR1NWFLaWdyaTR1STQ3N3p6Mkw1OU8vdjM3K2ZpaXk4TzFORjYwV3cybTdueXlpdjUxYTkrUldOakl4YUxCWS9IYzlJdWlnMEdBeTB0TGJ6NjZxdnMzcjBicTlWS2VubzZVNmRPRGZUcTZJclg2OFhqOFJBYkc0dkw1Y0p1dDFOU1VoSzRmOXUyYlN4ZHVwVEZpeGV6YnQwNmJEWWJkOXh4QnhzM2JtVDU4dVhzMjdjUG85SEk0TUdEU1U5UHAzLy8vb3daTSthVVg0QzdYQzZLaW9yWXZIa3pHelpzd0dxMWNzTU5OekJpeEFqZ3ErMkczVzUzWUR2cWRldldzV25USnI3M3ZlOFJHeHNiMlBxNE05Lzk3bmV4Mld4VVYxZnoyR09QY2R0dHQ3V1paVFY5K25UKyt0ZS80bkE0MkxWckY0V0ZoUlFVRkhEa3lCRlNVMU1aT25RbzgrZlBKek16TTdCVFQyZjY5KzhmK0Q2c1Zpc2VqNGU4dkR4bXo1NGRlQjM1ZkQ0MmJOaUF3V0RnckxQTzZ0SHI2LzMzMzJmNjlPbGNjc2tsVkZaVzRuYTdzZGxzMkd3MmZ2U2pIekZ2M2p5eTFJQlVST1JyOThKYm43SGszWTM0ZkpDVm5zelVzVU9ZUEdvUU8vY2ZZZDdNVWR5eWFIYTdyekdiL08rbmZIejFkeXk4RzJIQko3bDdXZlpSSGdlT1ZQTFlEMi9BYWpaUjI5RE1vMCsvZzZ2RnpaeUoyWHkydFlDNDZFaGVmSHNERTBka2NOYW93Znp5M2l2NHhaUExlZnVUYmR4MDJjempQbjVqczRPbmwzN0twbDFGRkpmN2Q3OTc4ZTBOUEhMM29zQXh6eTVieTU3Q1V1NjkvbndHSlBwN3AvbDg0UE4yL1RlNVZYMmpuU2RlL29pYkw1OUZlWFU5ejYxWXo4TzNmZlZlTWV5b0Q1OTJGUnlodkxxQjdmdUtLVGhjd1p4Sk9WdzRZeFJEanBybElpSzlqd0lXNlROU1VsSzQ5ZFpiQS8vKys5Ly9UbTF0TFpNblR5WStQcDdVMUZSR2poeEpkSFEwTFMwdC9PWTN2K0hnd1lPQS93Si83Tml4SjdTOUxjRGV2WHRadVhJbHc0WU5JeUlpZ29hR0JxcXFxaWd2TDhmdGRtTXltWEE2bmNUSHh6TjA2RkNtVHAxS1VsSVNBd2NPUEc1UGxwcWFHbDU3N1RWdXYvMTJCZ3dZUUdSa0pHYXptWXFLQ2xhdFdzVmRkOTFGWW1JaXFhbXB2UFhXVzB5Wk1vV29xQ2dHRGh3SWZMVUxVR0ppWXJ2K0hhMnNWbXViM2hxTmpZMHNYNzc4dUV1SnZGNHZ6ei8vUEJhTGhhbFRwN0o2OVdyMjdkdkh3b1VMMnkxZjZnbWZ6NGZGWXVIMjIyOG5QeitmRlN0V2tKK2ZUMzUrUGw2dnQ5UHRnNCt1c1hYWngvVHAweGs2ZENqYnRtMERZTTJhTlh6eHhSZUI1MjdMbGkxODl0bG5MRml3Z0prelp6SnMyREErL1BCRFNrdExNWnZOaEllSEV4OGZIL1N5cFo0NGVQQWd1Ym01WkdabVVsaFlpTVBoYU5OQXRqVjBxS3lzRFBRc21UWnRHaGRkZEJGbXM1bkl5TWpBMXRlZHNkbHMyTzEyL3ZXdmZ3VzI5NjZ0cmFXNXVablUxRlMyYnQxS1ZWVVY5OTkvUHhhTEJaUEpSRXRMQytYbDVUM2U3ZW5vc0d6YnRtMDRIQTdHakJuRC92MzdLU3dzSkM4dkx4Q0s3ZHk1ODRTV0lJRi90NnZTMGxMdXZ2dHV6R1p6NEhjQ3dPbDBubkM5SWlMU2M3Y3NtaDNvbzlMdnk2MlJmL1NYMXdFNFZGcERmbEVaV1JuSmJXYXN0bjVBWUhlMEhQVklYYzlnOGVFamI4OGgvdmZ1eTBsT2lLR3l0cEZiZi9Jdm1oMHViQkVXdnZmSFY3bGk3a1FldVBGQ1hucjM4OEJNa0FuRE0zajhSLytGdDRzUEpxSWlyVngveVRSdVdUU0x4NVo4UUdGeEpUKzQvWkkyeDF3eGR4SzMvZlFaZnZQTXUvenV1OWNHdmgvdkNRUXNmM2xoTlJPR1ozRE52TW04OHQ3bjdEOVUwZVorejVlUDlmVFNUOWh6b0l5Y1FmM1p2cStZNzk5Nk1XTTYyZTVhUkhvUEJTelNaMDJhTklsdDI3Wnh5U1dYWUxmYnFheXNiSE9obXBTVXhLaFJvNEk2UjFwYUdzM056U1FsSlJFVEU0UEpaQ0l5TXBMbzZHamk0K05QdU8rSzNXNW43ZHExM0hycnJZSFpJMkZoWVlHUTVaWmJiZ204RWJIWmJCZ01oc0QzMUxyVFRIZG1FeHpyazA4K0FmeXpKNTU0NGduR2pSdkhsQ2xUQWhmUnk1Y3Y1OENCQTl4Nzc3MGtKaWFTbHBiR2l5Kyt5Rk5QUFVWNmVqb3paODVrL1BqeFBXNFU3UFY2QTIrcXNyT3p1ZSsrKzlpeVpRc2ZmZlFSQnc0YzZGYkE0dkY0MnZSZ1NVNU9adXJVcWJ6ODhzdkV4Y1Z4enozM1lES1pjTHZkR0kxR3pHWXp5NVl0bzc2K250bXpaM1AxMWUxM013aUZyS3lzd0F5TE5XdldjTUVGRjdSWmZ0UFM0bi9UbVphV1JtWm1KanQyN0NBNU9abVNraEw2OWV1SHpXYkQ0WERnZERvN0RZakt5c3A0N3JubnNGZ3M3TjI3bDlXclZ6Tml4QWptekpsRGJXMHRLMWFzWU9USWtZRUd4ZG5aMld6WXNJRzVjK2RTVmxiR3ZuMzdLQ2dvSUNzcmkrblRwNTl3NExKMjdWcUdEQm5DSjU5OGdzUGhZTVNJRWR4ODg4Mjg4ODQ3Yk42OG1mSGpUNnp4b012bFl0MjZkZHgyMjIzZDZxRlVXVm1KMCtsc0U4S0lpTWpKMVJxc2dIOFhuSTNiQ3htU2xrUzRNWXhIbmx5R3E4WERnemRleUpReC90NG96UTRYQUs0V2QrRHJQQjV2bXhrdEhaa3phUmkvL3g5YklHU0lpclNRbFpITXdyUEhNV3RpTm9zZitUZXZyOTdFRmVkUDRxZmZidnZoVTJ1L2xDNi9sMWovOTFKYVdjK0YwMGRodGJSOXp4TnRzL0s5V3k3aWk1MEhBcmY1Zkw0dXc1dFdyNi9LeFdReTh1Q044d0FJTnhyYmJVL3RjdnVmbDZObi8rdy9XTTVycTNJVnNJajBFUXBZcE04NmVvWklTMHNMZi96akg4bkp5V0h4NHNXQWZ5WkFzUDAyV2kvb3AwNmQybVVQaXU2d1dxMWNja25iVDBTOFhpOG1rNm5kVnIwdExTM1liTGJBOHFUV2k4b1REVGxxYTJ0WnMyWU5NMmJNSURjM2w0eU1ERjU5OVZVOEhnK3paczNpblhmZUlTOHZqenZ2dkRPd1c4ellzV05KU2tyaW1XZWU0ZENoUXl4WnNvU2xTNWVTazVQRDVNbVRUemk0Y3J2ZGJaYTFHQXdHeG84ZmYwSVgyUzZYQzQrbmJSTThnOEhBbFZkZWlkRm9aTldxVld6WXNJR2FtaG9NQmdOV3E1V3dzRERHangvZmE1dmNHbzNHZGlGSlkyTWpCb09Cb3FJaXZ2amlDOHJLeW5qdHRkZkl5TWhnN3R5NWdWQ3Z0cmEyMCs5cjllclZIRGx5aFBqNGVNYU9IY3NsbDF3U1dQcjEybXV2Y2VPTk4vTCsrKzlUVjFkSGJHd3NqejMyR0hhN0haUEpoTjF1SnlFaEFadk54dEtsU3pHWlRFeWRPclhiMzllQkF3Y29LQ2pnMm11dkpTd3NqQWtUSmdRQ0dyZmJUYjkrL1U0NFlQRjRQRngvL2ZYdGRzRUNmM0JaVUZBQStKY1FMVm15aEpxYUdnQ3V1ZWFhRTZwZFJFUk9uTVBad3ArZVc4V2w1NHpIMWVJaDBtcm1Edzk5azUvOGRTbFB2YlltRUxDMEJnb3hVVis5UC9ONHZYZzkzZzRmOTJoSEJ3eFdzeWt3aXdRZ01TNGFoN09GK0JqLzBtKzMyME5OZlJPVnRZMlVWZFZ6cEtLT1E2VlYySjB0WERCdEpETW5aQi8zUEdGaGhuYkJSNnVKSXpPWk9QS3JuZTljYmc4ZWI5ZTFGNWZYRUJWcDRhR2JML3JxYTF2YzdjN1Qwa0d6Mzh2T25jRC9QcldjZzZYVlpBem92TUc5aUlTZUFoYnBzNDZlY2hvVEU5UGhoZGVKTmxJOVZtdFQxbVBEajU3cXFKN1dyWVk3T3ZmUjIrTWFqY1llZlQ4clZxd2dLU21KNmRPbms1dWJ5OFVYWDB6Ly92MEpDd3ZqdWVlZW82YW1obnZ2dmJkTllPWHorUWdQRCtlQkJ4NmdxS2dJcDlPSnpXWUxiSzE3b2p3ZVQ5QS9DNmZUMlM1Z2FlMmhzMjNiTmpJek14azNiaHhXcTVYTm16ZXpaY3VXd000N3ZWVk9UZzZiTm0xcU00T25yS3lNaUlnSUJnNGNpTS9ubzZDZ2dBVUxGakJtekJpQVFKQlFYMS9mYWNBeWJkbzBoZzBieHZqeDQ5dk1QbWxvYUdEUm9rWFliRGJNWmpNMU5UV0JIYkl1dU9BQ3hvMGJGemgyMEtCQmZQYlpaeWNjVUwzNzdydU1HemVPc1dQSDhzb3JyNUNYbDhkTk45MkUwV2lrc0xDUTZkT25uL0RyNGRpd2RNMmFOZXpldlp1S2lncXFxNnNEdDFkV1ZqSjA2RkFHRHg1TWRuWjJ0N2VZRmhHUm5udnlsWStJc2xtNDQ2cXorZDJ6S3pHYmpDVEdSZkhINzMyVDdmbkZnZU15VXZveGEwSTJBNDZhVmVMMmVBTkxZenJqOC9sb2FISlFYZGRFUlUwREZUVU5WTlkyVWw1VlQyRnhCYzEyRjdmOCtHbnFteHpVTmRvQk1JVWJNWnZDTVlXSEVSNXV4QndlempOdnJtTklXaElwU1IxL2NEWm5VZzdiOWhVemY5YVlMbXVxcm10czA2VDJlQVlteHpNd3VlM1M4ZGJsVFVkenVMNWFPbFZTVVV1THg4dU04Vm1rSnNYeDcyWHIrTkVkYlQra0U1SGVSd0dMOUZsSDc2VFMyZ0ExTXpPenpmM0JLaTR1SmkwdExlaHdvRE11bDZ2RDVSZFZWVlVkWHRoMnA4RnBxNjFidDdKanh3N3V2Ly8rTnM5SGZIdzhIMzc0SWZYMTlWeDAwVVVZalVZcUtpb29LU25oNE1HRDdOaXhnL0x5Y3FLaW9wZzdkeTV6NXN6cDJUZjNKYmZiM2ZWQlhXaHFhanJ1OTk3WTJNaTc3NzdMLy96UC93UnU4M2c4RkJjWFUxVlZSVlZWRlJhTGhiUE9PcXRIVzNSL1hZWU9IUnJZWHJoVmVYazVzYkd4V0N3V2hnNGRTa1JFUklkYkROdnQ5azRmZThpUUlXMys3ZlY2MmJwMUt3VUZCVngyMldXQS96bHEvZGtrSmlaU1YxZkgrdlhycWF1clk4YU1HWUVHd0YxdENYMjA3ZHUzVTFSVXhJTVBQb2pWYXVYNjY2L25oUmRlNEpsbm5tSEdqQmswTmpZeWVmTGtiai9lOGN5WU1ZTzB0RFNhbXBvSUR3K251Ym1aRjE1NGdSdHV1SUhCZ3djSC9mZ2liYVNtd28wM2dzdmxINHRJd0tyUGR2TEZ6Z1A4NGFGdllqYUZVOS9rSU9yTEhpaG1VM2liR1I5QXV5VThyaFkzVGxjTEhjbmRlWURmUExNU3U4T0YzZW5DR0JaR1NsSWNBNVBqU080WFE3L1lLTVprcDFGWVhFbEx0SWZ2MzNveEZuTTRWck1KVzRTbDNUS2Y3amo3ckdHODh0NFh4NzMvMDgzNTFEWFljYnBhS0syc1o4YjRucjJ2cUs1cmFqT1RCNkN5cGhHQWR6L2RSdTZ1SWg2KzlXTEN3c0w0MXFVeitkVS8zdUx5YzhjeitxaVpQUFdOOW5hUElTS2hwWUJGK3F5NnVyckE4b3E2dWpwOFBoK3BSNzN4Yldob0NIb1huTUxDd3FEN3VIVEY2WFMycTlQdGRwT2ZuOC8xMTEvZjV2WVRDVmNxS3l0WnVuUXBOOTU0SThuSnllVG41d2Z1UzA5UDU5WmJiK1dkZDk3aDczLy9PMWxaV2FTbHBaR1FrRUJXVmhaVHBremgzLy8rTnlVbEpheFlzWUxSbzBlZjBFWDJzYnF6clhCWGFtcHFqdnNZaFlXRldLMVdWcTFheFpFalJ5Z29LS0Nob1lHLy9PVXYyR3cyVENaVFlPbkwzTGx6ZzZyalpES1pUTzJDa0xpNHVEYTloTURmZjZlMHRKU2FtaHIyN3QwTDBPMmd5T2wwa3B1Ynl5ZWZmTUtRSVVQYWJKbnNjRGdDcjZtd3NERDI3OS9Qb0VHRFNFbEp3V3ExQmtLYzdyN3VHaHNiZWVXVlY1ZzNiMTVnNWtoWVdCamYvT1kzZWZycHAzbjIyV2ZKeXNxaVg3OSszWHE4em9TSGg3ZDU3aW9ySzRIdVB5OGlKeVFuQjM3OTYxQlhJZExyYk1zL3pDdnZmYzZ2Nzd1YXhDLzdzVlRVTkpCNm5Oa2hIYkU3WE5pUEU3Qk1Ham1JZi83OEprb3E2ckJhVEF4SWpDRzhnL2QybjJ6YWk3UEZmVkoyMklteFdkdk5MRG5hdExGRCtQMi8zK1A5OVRzQkdOckRjNVpXMWRIL3FKazhKUlcxMURYYStjZnJuOUF2MXNadnYzdE40SDNQdVZPRzg4Nm4yL2o5Zjk3bmJ6L3k3NklFc0g3TGZ1Yk5ITjJqODR2MGFjbkpjTmxsNEhiN3g3MklBaGJwczJwcmF3T2ZzQjg0NEc4NE5talFvTUQ5SnBPcHkyMllPMU5UVThQQmd3ZmI3TWJ6ZFdodWJtNFhzR3pldkJtcjFkcG1CNS9XbVFiZHVkaHRhbXJpUC8vNUQ5Lzg1amZKeWNrQi9CZWdyVE54V3Z1NFRKbzBpVldyVm5IKytlZVRuZDEyUFhKcmVIWDExVmNIRmE2QWY3WkZzR0ZYYVducGNmdlBIRHg0a0tTa0pFd21FOU9tVFNNeE1aSEN3a0x1dXV1dUhwMnJwS1NFcUtpb0RtZU9CTU51dDdOeDQwYnE2K3NwTHkrbnBLUUVvOUZJZVhrNTJkblo1T1RrTUg3OCtEYU5XV05qWTRtUGo2ZWxwWVgzMzMrZnZMdzhqRVpqbXpEeFdHNjNtLzM3OTVPWGw4ZVdMVnV3V0N4Y2M4MDFnYTJnVzlYWDF3ZGVWd2FEZ2V6c2JHYk5taFc0djZHaElWQjNkNWJKdmZUU1M2U21wako3ZHR1dE9RMEdRNkFCY1VWRkJXVmxaVjliWDV5T2x0dUppTWpKdDd1d2hKWHJkdkRiQjY4bCtzc1pLMjZQaDVLS1dxYU03djVNd29abUp3NW54d0VMZ0MzQzM5QzJNd2FEZ1VocnozWUdiSGE0MkxyM01QbEZaZXdzT01MK1ErVll6U1orOXZpYlRCc3poS2xqaHdSNnU0Qy9PZTBETjE3STdzSlM4UGs0Wi9Md0hwMzNRSEVsTThabEJmNzl6SnRydjN6OE1INXh6eUp5ZHhTeGFWY1J3d1lONE53cHcvbnVUZk80L1dmUDh2LysrVFkvdm1NaFJtTVkyL0lQSzJDUk05UElrZkRrazZHdW9rTjZKeXA5VmxwYUdyVzF0UURrNWVVeGJOaXdOdjFCSmsrZTNDWndPVkc1dWJrTUdqVG9hMjJRNnZGNHFLNnVidk9wZTJOakkyKy8vVGJYWFhkZG0xQ2l1YmtaNkY1Zm1ieThQTDcxclcrMUNVYkt5c3JhaFJ6SnljbEVSa2JTMk5qWTdqR3FxNnNaTm16WVNWbk9VVmxaMmVNZGlGcVZsSlFjdDJueFF3ODkxR1oyUzJscGFZK1hkYjMwMGt0czNMZ1JvOUhJSFhmY0Vkang1MlN3V0N3ME5qYXllL2R1NXN5Wnc0MDMzaGpZNm52bnpwMHNYNzZjMHRKU2NuSnlxSyt2Snljbko3Q2N4MlF5Y2YzMTExTlpXVW4vL3YwNzdZVlRVVkhCczg4K2k5UHBaT1RJa1Z4NzdiWHRkcnp5ZXIxdFFqZWowY2llUFh1b3JLeWtvcUlDcjlkTFJrWUc4TlZycnpNclZxeWd2cjYrM1JiUExwZUxKVXVXc0hmdlhtNisrV2JlZi85OS92U25QN0ZvMGFLVDh0bzZsc2Zqb2FhbWh2cjZlcXFxcXFpdXJxYXVyaTZ3bENnaElZRnAwNmFkbEtiVklpSm5LcC9QaDl2dDRidmZtdGZtOXZ5aU1sd3RIcUk2bVFFQzBOVHNJTUpxeHU1d2NhaTBtb1RZbm44Z0JoQm1PSDVqMnE0ME5qdDRhODBXV3R3ZUxqbDdITlBHRGlIY2FLU212b2xQTitmem83OHN4V2dNWS9yWW9Vd2RPK1RMWFpLTS9PemJseElaWWNGc092SExxWU9sMWRRMjJJbUt0QVp1MjFWUWd0VWN6aU4zWFVaOGpJMkpJek5aL3ZFV2xuKzhoYjFGWmR4ejNWd2V1UEZDZnZIVUNuN3gxQXErYzhQNWJNcy8zS1B2V1VTK1BncFlwTSthT0hFaUxwZUxBd2NPc0dQSER1Njg4MDdxNit0NTRva25TRTVPWnRTb1VaMXVZOXNadTkzT21qVnIyaTNST2RtS2k0dHh1OTJCbVRodXQ1c1hYM3lSQlFzV3RKdFIwcm9yU25kbWdzeWNPYlBkYmExOVNJNlZucDVPYlcwdHRiVzExTlhWVVZOVFExMWRIUTBORFNlODAwdEhXbHBhS0NrcENib3ZSa3BLeW5IN2poeTdkTWhnTVBSNHhzenUzYnNCLzRYNnJsMjdUbXJBRWhZV3hvSUZDMWl3WUVHYjJ5MFdDeE1tVEdEQ2hBbFVWVlh4NmFlZjh2TExMK055dVJnNGNDQ1ptWmtrSlNXUmtKREEyV2VmVFh4OFBKV1ZsVmdzRnNMQ3dnZ1BEOGRzTmdmQ2twU1VsRUNENG9rVEozWVlOalUwTk5EUzBoSUlyWktUa3pHWlRJd2JOeTd3M0MxYnRpeFFkMmMrK3VnamlvdUx1ZU9PTzlxOHhvcUtpbmo1NVpleFdxM2NjODg5cEtTa2tKR1J3Wi8vL0dlV0xGbENibTR1Q3hZc0lEMDl2Y3ZuenVsMFlyZmJhV3Bxb3E2dUx2QmFQZnAxQy9DNzMvMk9zTEN3d0M1U1BwOHZzTVYzYXgraWp6LyttTzk4NXpzTUdEQ2d5L09LQVA0cHlNM040UE9CelFhYUtTVm5PSVBCMEtZWFNLc211eFBvZW12azBxcDZmdkxZRzlRMzJuRzQzQXhKQzY0aGVWaFlHRkdSUFh2UGw1d1F3Ly9ldmFqZDdmRXhOaGFlUFo2Rlo0OG52NmlNZDlkdDU0SGZMTUZpTWpGdVdEckRCdzlnY0ZvU1BxK1htS2dJTEY4dTIvRjZ2VGhiM0RpY0xVVGJyQjB1YWRxMjl4QUFjZEZmZlhEMGpZdW1FQjV1WkVpYWY3Wk9wTlhNTCs5ZHhMSVA4MGlLOTgrb1BmdXNZZXc3Vk02U2R6YXlZWnUvNmIzUDUvdGFld1dLeUluUk93VHBzNHhHSXc2SGcyZWZmWlpaczJZRkxvUnZ2LzEybm4zMldaWXNXY0t5WmN1NDRvb3JtREJod2drOTlodHZ2RUYyZG5hYkpUcGZoOVpaSGEwNytKU1hsM1BGRlZkMDJLT2lkWlpKVDN0TWhJV0ZkYmpNWThpUUlheGN1WkxjM0Z4aVkyT0pqbzRtSWlLQ3VYUG45bWpIb0dQVjFOVGc4WGlDZnF3cFU2YXdiOSsrYmgxck5CcDcvRHpOblR1WHQ5OStHNmZUR1pKWkR2MzY5ZU95eXk1ai92ejVyRisvbmpWcjF2RHBwNThlOTNpcjFjcUlFU09ZUFh0Mm15YlBpWW1KbmU2Z0V4RVJnY1ZpQ2N6UW1qeDVNbUZoWVcwQ2tyUFBQcHVpb3FKT1ozRjkvdm5uZUwxZTdyampqc0FidkpLU0V0YXVYVXRqWXlNTEZpeGd4SWdSZ2Z0aVltSzQ5ZFpiK2V0Zi8wcCtmajUvL09NZkdUMTZORE5tekNBcks2dGRNR2EzMi9uem4vOU1lWGw1NExiSXlFaVNrcEpJVEV3a0lTR0JvVU9IRWhjWFIxeGNITkhSMFVSR1JuWlk2OUd6VzA1R0h4ZzVnMnpmRHYvN3YrQjB3aTkrQVNjaGZCWTVIWTBmbnNIZ2dZbmtET284d0I2YW5zd3Y3bDdFZi8veU9RQ21qeHNhMUhsTjRVWmliTmF1RCt5aDdNeitaR2YyNTQ0cjUvREpwbnhXcnQzTzR5OS8xT1lZaXlrY2o5ZUwyK01sM0JqRzdJazUzSGJGN0E3RHB0WXdwalU0QWJoNDl0aDJ4NFVialZ4eC9xUTJ0OTF5K1N5YTdTNldmWlFIUUhGNUxXbjk0OXQ5cmNocHplR0FpZ3IvT0NrSnJGL2Y3LytKVXNBaWZkYStmZnQ0N3Jubm1EcDFLdlBuencvY0hoOGZ6MTEzM2NYcnI3L094bzBiZWVtbGx4ZzJiTmh4TDdxTzljRUhIMUJaV2NrZGQ5enhkWlVla0pLU3dwZ3hZd0tmNEhmV1Y2UDFZcm1uRi8xRGh3NXRjNUhhYXRTb1VTUWtKREJ4NHNRZVBXNVg0dUxpTUpsTUpDVUYxM2h1eUpBaDdSckNIazk0ZVBoeGx4TjFaZGFzV2FTbnAvUFlZNCsxMmJMNFZMTllMSnh6empuTW5qMmJ2THc4Tm16WXdJRURCN0JZTENRbkp3ZTJJZTRvbE9nT3M5bk1mLy8zZndkbVQzWDBmR1ZuWjNQaGhSZDIrbHlPR2pXcTNlOVdmSHc4VjE1NTVYRS9VVXRKU2VIKysrOW54WW9WNU9mbnMzMzdkbmJ0MmtWU1VoTHo1ODhQYkVuZFd0Zjk5OS9QOXUzYnNWcXRwS2FtOXZoM3dHZzBkaGs4aVhTb3RoYldyUU83M1Q4V2tRNkZHNDA4OXNNYk1JVjMvWGRwY0ZvU0Y4OGV3ODc5SlN3OE83alEwbXd5a2hoL2N2dW1kY1JpTm5IK3RKR2NQMjBrUnlwcWVYLzlEdFp1M3NlQkk1VTRXOXhrcENSdy9yU1J6SnN4dXRObFQ5UEhEU1UxS1k2QlBRaEdEQVlEOTF3M2x6SFpBMW55N2taS0toU3d5QmxveXhhNDd6Ny83bjUvK3h0TW5ScnFpZ0lVc0VpZlUxRlJ3YXBWcS9CNFBOeHh4eDBkaGhJbWs0bHJyNzJXek14TTNuenpUV3ByYTdzVnNLeGF0WXJhMmxvV0wxNTh5bllqdWVtbW03cDFYUC8rL1prN2QyNlBQM21mUEhseW9HZk4wVkpTVXRydFduTXltYzFtNXN5WmMwcTN6clZhclVFMTV2M29vNCs0OE1JTFQ4b01ubUFaalVZbVRackVwRW1UdWo3NEJLV2x0Wi9lZlRTTHhjTDU1NS9mNlRFZC9WNVp1L0VwUW1KaVlyZGYrMmF6K1dzTEFFVkU1T1RxVHJqUzZ2WXJ6OGFIcjBmYktSOHROanJ5bEljTXFVbHhmT3ZTbVh6cjBwazRYUzI0UGQ1T2R4ODZtaTNDd2o4ZnVhbkQ1VVBkZGM3azRUMXVzQ3ZTNTludFVGam9uMWw2bkJZQ29hS0FSZnFVK3ZwNktpb3F1UExLSzdzVmdFeWJObzBKRXlaMDY5aW1waVpHalJyMXRZWU53YnI0NG90Ny9MVVJFUkU5bnRVUnJHRHE3b21VbEpRZWh5T3JWNi9HYURSeTNubm5uZVNxUkVSRTVHakJCaXV0WmsvTTduS25vYStUeFd6aVJEdkFCQk91aUVqdnBZQkYrcFNZbUJoR2poeDVRbC9UM1VhM05wc3RxRzJkcGZkSVNrcnEwWktrdXJvNjR1UGpPZSs4ODlSK09CLzVBQUFnQUVsRVFWUXdUa1JFcEk4WVByajNmamdtSW1jV0JTd2lJbCtLalkzVlVoUVJFUkVSRWVtUnp2ZmVGQkVSRVJFUkVSR1JMaWxnRVJFUkVSRVJFUkVKa2dJV0VSRVJFUkVSRVpFZ0tXQVJFUkVSRVJFUkVRbVNBaFlSRVJFUkVSRVJrU0JwRnlFUkVSR1J6bVJsd1NPUGdOdnRINHVJaUVqb2hJV0J4UUlHZzMvY2l5aGdFUkVSRWVsTVdocmNmbnVvcXhBUkVSR0FuQng0OUZId2VQempYa1FCaTRpSWlJaUlpSWowRFFNR3dMWFhocnFLRHZXdStUUWlJaUlpSWlJaUluMlFackNJaUlpSWRLYTJGbmJ0OGs5RkhqMGE0dUpDWFpHSWlJajBRZ3BZUkVSRVJEcXpjeWQ4Kzl2Z2NNQy8vZ1V6Wm9TNkloRVJrVE5YUXdNVUZJRFBCME9IUW5SMHFDc0swQkloRVJFUmtjNjRYRkJlRG1WbC9yR0lpSWlFVG00dXpKc0g1NTdySC9jaUNsaEVSRVJFUkVSRVJJS2tnRVZFUkVSRVJFUkVKRWdLV0VSRVJFUkVSRVJFZ3FTQVJVUkVSRVJFUkVRa1NBcFlSRVJFUkVSRVJFU0NwSUJGUkVSRVJFUkVSQ1JJQ2xoRVJFUkVSRVJFUklLa2dFVkVSRVJFUkVSRUpFamhvUzVBUkVSRXBGY0xENGZZV0RDYi9XTVJFUkdSRHVoZGdvaUlpRWhuUm8rR3A1OEdyOWMvbG9DSXlBak1wbkM4WGk5TkRsZW95eEVST1MyNVBWN3NqaFlNQmdNUkVSR0VoWjNoQzFHc1ZraFBCNWZMUCs1RkZMQ0lpSWlJZENZdURtYk1DSFVWdlZLL2hBUnNOaHN0YmkvbDFRMmhMa2RFNUxSVVhkZUVzOFdOMVdvaE9Ta3gxT1dFM3JoeDhQTEwvdkdBQWFHdDVSZ0tXRVJFUkVTa1J4TGk0N0RaSW1seGU5aDdzSUptaDR0SXF6blVaWW1JbkZieUQxVlEzK1Fnd2hxaGdBVWdJZ0lHRHc1MUZSMDZ3K2NXaVlpSWlFaFBHWTFHNWw4d0Y0UEJ3RWU1K1d6WWZnQ0hxd1dmenhmcTBrUkVUZ3VWdFkyOHZYWUh0UTEyVWxNSE1HNnNscXIyWnByQmNoSjRQVjRPSFQ2Q3lXUUtkU2tpSWlJaGRmQlFNVzZQRzZQeE5IcUxjZVFJckY0TmJqZk1td2VwcWFHdXFGZTU5cXBGdkwxeUZaL25idUxuVDczTHJBbERHRFY0QUNsSnNVUkZXRUpkbm9oSW4rUDErbWh5dUtpcGIyYmxaN3ZJMjFOTWVMaVJCKzY5aS9pNHVGQ1hKNTA0amQ3OWhJN1Q1ZUx0OTFZVHJwMEZSRVRrRE9mMnVMSGJIVVJGUllXNmxKTm43MTU0NkNHdzIrR05OeFN3SE1OcXRmS3JSMzdNVDM3K0t6NzcvQXZlWGJlTFZSdjJFR2sxRXg2dXlkSWlJaWZNNTI5czYyeHg0M1M1aVl1TjVjSHYzTVhzR2ROQ1hWbnZVRjRPNjlmN204L1BuQW5KeWFHdUtFQ0pRQkQ2OVVzZ09Ta1JwOVBmTlYrVFlVVkN4ejhkdmZXMzBJREJZQWhsT1NKbkxLTXhuS2lvS0JMN0paQ2tkZUpuaktHREIvSGtYLy9BWDU1NGloVnZyNlRGN2NiZDRxYkY2dzExYVNMdHRMUzA0SEE0QUg5QXFGbm8wdHNZREdDeVdJaXdoWk9XbXNvUHYvOGc0OGVPQ1hWWnZjZk9uYkI0TVRpZHNIU3BBcGJUUmRyQVZQN3c2MTlTVlYwVDZsSkV6bmlIRHgvaTdiZFc0UEY0V1hqcHBhU2xwWWU2SkpFeldueDhISU16TTBKZGhweENVVkUySHY3dS9kejc3Y1ZVMTlaUVUxTkxjN005MUdXSnRPRjJ1MW15WkFscjFxd0JZTTZzcVZ4enpUV1l6V3JPTEwySDBXZ2tQaTZXK1BnNCtpVWtoTG9jT1FFS1dJSVFGaFpHZHRaUXNrTmRpSWlRYXpSdytOQWhuRTRuZ3pNem1EUnBVcWhMRWhFNUk5bHNrZGhza2FRUEhCanFVa1RhcWEydHBhYXFBcFBSUDlPMXFhR09FY095U1VwS0NuRmxJbkk2ME1KWUVSRVJFUkU1STlUVzFsSlVWQlQ0ZDM1K1B1WGw1U0dzU0VST0p3cFlSRVJFUkVUa2pQRGVlKzlodDl2eCtYejRmRDdzZGpzZmZQQkJxTXNTa2RPRUFoWVJFUkVSRVRrakxGdTJyTjF0Nzc3N2JnZ3FFWkhUa1FJV0VSRVJFUkU1N1czWnNvV1NrcEl2ZHg3MDgvbDhsSmFXa3B1Ykc4TEtST1Iwb1lCRlJFUkVSRVJPZTh1WEx6L3VmYSsvL3ZvcHJFUkVUbGNLV0VSRVJFUkU1TFJXWFYzTjFxMWJqM3QvWGw0ZTFkWFZwN0FpRVRrZEtXQVJFUkVSNlV4Y0hNeVlBYk5tK2NjaTB1ZHMzYnFWaW9xS3dQSWdnOEdBd2VEZnF0bm44MUZmWDgvMjdkdERXYUtJbkFiQ1ExMkFpSWlJU0s4MmNpUTg4UVI0dlJBZkgrcHFST1FFZWIxZWR1L2VUV05qNDNHUGNUZ2M3TjY5bTVreloySTBHazloZFNKeXdxS2pZZHc0Y0xuODQxNUVBWXVJaUloSVo4eG1TRW9LZFJVaTBrTU9oNE05ZS9iZzlYb0JBak5YV3NjK253K3YxOHV1WGJ0b2FHZ2dUalBWUkhxM1NaTmc1Y3BRVjlFaExSRVNFUkVSRVpIVFZtMXRMVnUyYk9ueXVDMWJ0bEJSVVhFS0toS1IwNVVDRmhFUkVSRVJPVzF0MnJTSnVycTZOdHN6SDh2bjgxRlhWOGZtelp0UFlXVWljcnBSd0NJaUlpTFNtWDM3NEtjL2hZY2Y5bzlGcEU5NTlkVlhBK09qbHdkMWROdUtGU3RPU1UwaUVnU3ZGeHdPY0RyOTQxNUVBWXVJaUloSVp3NGZocWVlZ3NjZjk0OUZwTThvS2lwaTI3WnRRTWZoU3F2VyszYnMyRUZCUWNFcHFVMUVlbWp2WHZqZTkrQ0JCL3pqWGtSTmJrVkVSRVJFNUxUa2NybFl2SGh4bTl1T0hEbkNxbFdyOEhnOHpKczNqOVRVMUhaZkl5SzlXR2twdlBTU2Z3YkwxVmZEOE9HaHJpaEFBWXVJaUlpSWlKeVdzck96eWM3T2JuTmJibTR1NjlhdHcrbDBzbkRoUWlaTm1oU2k2a1RrZEtNbFFpSWlJaUlpSWlJaVFWTEFJaUlpSWlJaUlpSVNKQVVzSWlJaUlpSWlJaUpCVXNBaUlpSWlJaUlpSWhJa0JTd2lJaUlpSWlJaUlrRlN3Q0lpSWlJaUlpSWlFaVFGTENJaUlpSWlJaUlpUVFvUGRRRWlJaUlpdlZwcUt0eDRJN2hjL3JHSWlJaElCeFN3aUlpSWlIUW1Kd2QrL2V0UVZ5RWlJaUlBeWNsdzJXWGdkdnZIdllnQ0ZoRVJFUkVSRVJIcEcwYU9oQ2VmREhVVkhWSVBGaEVSRVJFUkVSR1JJR2tHaTRpSWlFaG4zRzVvYmdhZkQydzJDTmZiSnhFUkVXbFBNMWhFUkVSRU9yTjlPOXg4TTF4L3ZYOHNJaUlpb2VOd3dLRkQvdjhjamxCWDA0WUNGaEVSRVpITzFOYkN1blh3NmFmK3NZaUlpSVRPbGkxd3pUVncrZVgrY1MraU9hNGlJaUlpSWlJaTBqZlk3VkJZQ0U2bmY5eUxhQWFMaUlpSWlJaUlpRWlRRkxDSWlJaUlpSWlJaUFSSkFZdUlpSWlJaUlpSVNKQVVzSWlJaUlpSWlJaUlCRWtCaTRpSWlJaUlpSWhJa0JTd2lJaUlpSWlJaUlnRVNRR0xpSWlJaUlpSWlFaVFGTENJaUlpSWlJaUlpQVFwUE5RRmlJaUlpUFJxV1Zud3lDUGdkdnZISWlJaUVqcGhZV0N4Z01IZ0gvY2lDbGhFUkVSRU9wT1dCcmZmSHVvcVJFUkVCQ0FuQng1OUZEd2UvN2dYVWNBaUlpSWlJaUlpSW4zRGdBRnc3YldocnFKRHZXcytqWWlJaUlpSWlJaElINlFaTENJaUlpS2RxYTJGWGJ2OFU1RkhqNGE0dUZCWEpDSWlJcjJRQWhZUkVSR1J6dXpjQ2QvK05qZ2M4Szkvd1l3Wm9hNUlSRVRrek5YUUFBVUY0UFBCMEtFUUhSM3FpZ0swUkVoRVJFU2tNeTRYbEpkRFdabC9MQ0lpSXFHVG13dno1c0c1NS9ySHZZZ0NGaEVSRVJFUkVSR1JJQ2xnRVJFUkVSRVJFUkVKa2dJV0VSRVJFUkVSRVpFZ0tXQVJFUkVSRVJFUkVRbVNBaFlSRVJFUkVSRVJrU0FwWUJFUkVSRVJFUkVSQ1pJQ0ZoRVJFUkVSRVJHUklDbGdFUkVSRVJFUkVSRUpVbmlvQ3hBUkVSSHAxY0xESVRZV3pHYi9XRVJFUktRRGVwY2dJaUlpMHBuUm8rSHBwOEhyOVk5RlJFUWtkS3hXU0U4SGw4cy83a1VVc0lpSWlJaDBKaTRPWnN3SWRSVWlJaUlDTUc0Y3ZQeXlmenhnUUdock9ZWUNGaEVSRVJFUkVSSHBHeUlpWVBEZ1VGZlJJVFc1RlJFUkVSRVJFUkVKa21hd2lJaUlpSFRteUJGWXZScmNicGczRDFKVFExMlJpSWlJOUVJS1dFUkVSRVE2czNjdlBQUVEyTzN3eGhzS1dFUkVSRUtwdkJ6V3IvYzNuNTg1RTVLVFExMVJnQUlXRVJFUkVSRVJFZWtiZHU2RXhZdkI2WVNsUzN0VndLSWVMQ0lpSWlJaUlpSWlRVkxBSWlJaUlpSWlJaUlTSkFVc0lpSWlJaUlpSWlKQlVzQWlJaUlpSWlJaUloSWtCU3dpSWlJaUlpSWlJa0ZTd0NJaUlpSWlJaUlpRWlRRkxDSWlJaUlpSWlJaVFWTEFJaUlpSWlJaUlpSVNwUEJRRnlBaUlpTFNxOFhGd1l3WjRIVDZ4eUlpSWlJZFVNQWlJaUlpMHBtUkkrR0pKOERyaGZqNFVGY2pJaUp5Wm91T2huSGp3T1h5ajNzUkJTd2lJaUlpblRHYklTa3AxRldJaUlnSXdLUkpzSEpscUt2b2tIcXdpSWlJaUlpSWlJZ0VTUUdMaUlpSWlJaUlpRWlRdEVSSVJFUkVwRFA3OXNGLy91TmY2MzNyclpDVkZlcUtSRVJFemx4ZXIvOXZzc0VBSmhPRTlaNTVJd3BZUkVSRVJEcHorREE4OVJUWTdUQnZuZ0lXRVJHUlVOcTdGeDUvSE54dXVPY2VHRDQ4MUJVRjlKNm9SMFJFUkVSRVJFU2tNNldsOE5KTDhNSUwvbkV2b29CRlJFUkVSRVJFUkNSSUNsaEVSRVJFUkVSRVJJS2tnRVZFUkVSRVJFUkVKRWdLV0VSRVJFUkVSRVJFZ3FTQVJVUkVSRVJFUkVRa1NBcFlSRVJFUkVSRVJFU0NwSUJGUkVSRVJFUkVSQ1JJQ2xoRVJFUkVSRVJFUklJVUh1b0NSRVJFUkhxMTFGUzQ4VVp3dWZ4akVSRVJrUTRvWUJFUkVSSHBURTRPL1ByWG9hNUNSRVJFQUpLVDRiTEx3TzMyajNzUkJTd2lJaUlpSWlJaTBqZU1IQWxQUGhucUtqcWtIaXdpSWlJaUlpSWlJa0hTREJZUkVSR1J6cmpkME53TVBoL1liQkN1dDA4aUlpTFNubWF3aUlpSWlIUm0rM2E0K1dhNC9uci9XRVJFUkVMSDRZQkRoL3ovT1J5aHJxWU5CU3dpSWlJaW5hbXRoWFhyNE5OUC9XTVJFUkVKblMxYjRKcHI0UExML2VOZVJITmNSVVJFUkVSRVJLUnZzTnVoc0JDY1R2KzRGOUVNRmhFUkVSRVJFUkdSSUNsZ0VSRVJFUkVSRVJFSmtnSVdFUkVSRVJFUkVaRWdxUWVMaVBRNWRydWQybU1hVFZaVlZlSHhlUEQ1ZkZSVlZWRlNVdExtL3RqWVdDSWpJMDlsbVNJaUlpSWljZ1pSd0NJaWZjN2V2WHU1NVpaYmpudi93dzgvM082MnA1NTZpa21USm4yZFpZbUlpSWlJeUJsTVM0UkVwTThaTldvVXFhbXAzVDQrSlNXRnNXUEhmbzBWaVlpSWlJakltVTRCaTRqME9lSGg0U3hhdEFnQW44K0h6K2RyZDh6UnR5OVlzQUNUeVhSS2F4UVJFUkVSa1RPTEFoWVI2WlBPT2VjY0lpSWlNQmdNeHozR1lEQVFFUkhCekprelQyRmxJaUlpSWlKeUpsSVBGaEhwazVLU2toZ3hZZ1NiTm0zcTlMZ1JJMGFjMEhJaUVaRjJzckxna1VmQTdmYVBSVVJFSkhUQ3dzQmlBWVBCUCs1RkZMQ0lTSjhVR1JuSnFGR2pBZ0dMeitjTHpHWTVlc25RNk5HamlZMk5EVW1OSW5LYVNFdUQyMjhQZFJVaUlpSUNrSk1Eano0S0hvOS8zSXNvWUJHUlBzbG9OSktkblkzTlpxT3hzYkhEWTZ4V0s4T0hEMWYvRlJFUkVSR1IwOFdBQVhEdHRhR3Vva085YXo2TmlNZ0pHRDkrUFBIeDhjZTkzMmF6TVhyMDZGTllrWWlJaUlpSW5La1VzSWhJbnpWdzRFQ3lzN1BiTEExcVhSNWtNQmdZTW1RSUF3Y09ER1dKSW5JNnFLMkY5ZXZoMDAvOVl4RVJFWkVPS0dBUmtUNXQ0Y0tGeDczdnFxdXVPb1dWaU1ocGErZE91UE5PdVBWVy8xaEVSRVJDcDZFQnRteUJ2RHovdUJkUndDSWlmZHIwNmROSlNFaG9jNXZCWUNBdUxvNDVjK2FFcUNvUk9hMjRYRkJlRG1WbC9yR0lpSWlFVG00dXpKc0g1NTdySC9jaUNsaEVwRTh6bTgyY2YvNzVnV1ZDcmM0NTV4ek1abk9JcWhJUkVSRVJrVE9OQWhZUjZmTXV2ZlRTTm1HSzJXem1vb3N1Q21GRklpSWlJaUp5cGxIQUlpSjkzb0FCQXhnNGNDQUdnd0dEd2NDZ1FZTklTMHNMZFZraUlpSWlJbklHQ1E5MUFYM2RrWkpTRGg0NkhPb3lSTTVvTFMwdEpDUW1zM2RmQVFEUnNmSHMzcnVQQXdmMXV5a1NLbWtEVTBrYm1CcnFNdVFVS0MwcjQwRFJvVkNYSWRKdCtYdjMwdExTZ3NmalllZXVQYlI0ZktFdVNhUmJvcUpzNUdSbllUYVpRbDJLSEljQ2xpQ1VsSmJ4NFBkL3hQN0NBNkV1UmVTTTUzQTRhR3J4djBINmJOTlc4bmJ1RFhGRkltZTIxSlFCL1BWM2o1S1dwcERsZEZaU1dzWVBmL29MdHUvYUZlcFNSTHJONjI3QjUyekNoNDgvL2UxSndzSjFzU3A5UTJSRUJOKzU2MDRXWGJvZzFLWEljU2hnQ1VKcGFSbjdDdzlRV1ZtRjJXekdhTlNLSzVGUXNscXRBSGc4SHBxYW1rSmNqY2laeWV2eDRuUzVjRHBkSEQ1eVJBSExhYTYwdEl6OC9RVlVWbFpodFpnSTEzc2g2UU44UGg4R3dzQUhQcWNEZzhzWjZwSkV1dFJzZDFIcDg3RnZmd0ZlcjVld01QMy90amRTd0hJU1dNeG1GbDUwSVVNR1o0YTZGQkVSa1pBNmVLaVlaZStzREhVWmNvcEZXRXpjZXRsMFJnOU5DWFVwSWlLbnBmLzM3UHNjT0ZJZDZqS2tDd3BZVG9Jd1l4anBhYWtNejhrS2RTa2lJaUloRjI0TVJ4ME56aXhHWXhnNUdVbWNOVElqMUtXSWlKeVdZbXpXVUpjZzNhQ0FSVVJFUktRejRlRVFHd3RtczM4c0lpSWkwZ0c5U3hBUkVSSHB6T2pSOFBUVDRQWDZ4eUlpSWhJNlZpdWtwNFBMNVIvM0lncFlSRVJFUkRvVEZ3Y3pab1M2Q2hFUkVRRVlOdzVlZnRrL0hqQWd0TFVjUXdHTGlJaUlpSWlJaVBRTkVSRXdlSENvcStpUTluWVNFUkVSRVJFUkVRbVNackNJaUlpSWRPYklFVmk5R3R4dW1EY1BVbE5EWFpHSWlJajBRZ3BZUkVSRVJEcXpkeTg4OUJEWTdmREdHd3BZUkVSRVFxbThITmF2OXplZm56a1RrcE5EWFZHQUFoWVJFUkVSRVJFUjZSdDI3b1RGaThIcGhLVkxlMVhBb2g0c0lpSWlJaUlpSWlKQlVzQWlJaUlpSXFlRjk5YnZvS3F1OFpTYzYwQnhKZldOOWxOeXJyNm9wS0tXTnovY1RHVk5RNmhMT1drcXF1c3BPRngreXM1WFZsWFB4MS9zd2VmemZXM25xS3h0cEtuWjhiVTkvc25rOVhxcGEyZytKZWVxYTdUamNMV2NrblBKNlVVQmk0aUlpSWljRmxhdDM4bU5QL2dIZVhzT0J2MVliMzZ3bWMrMjdqL3UvV3Z6OW5IVmczL2p0ZmR6Z3o1WFI5d2VENVcxcHlZcytqckVSa2Z5K3FwY3Z2V2pmN0tyNE1oSmVjeDFlZnY0eDJ0cjJGMVljbEllcnpNZmY3R0huejcyQnM2akxySnJHcHBaL01oL2VQUmY3d1J1KzJEakxwcnN6cE4rL3ExN0QzUGZveS95aTZkVzhLTy9MS1doNmVzSlFUN0ozY3VWRHp6T3czOTZEWWV6WjRIQzkvLzRLaSt2L0J5UHg5dnV2b01sVmR6MnMyZFk5bEZlc0tYaWJIRnozZmVmNG9kL2ZwMW1oeXZveCt2TVI1L3Y1b3I3SHVQZnk5ZDFlZXpIWCt6aG84OTM0M1o3dnRhYXBHOVF3Q0lpSWlJaXB3MnYxMGRpWEhUUWo3T25xSlFmLy9VTmR1N3ZPQnlZTXlrSG53OTg5SHgyUVYxRE0xdjNIdTd3dmlhN2kxdCsvRFEzL3VBZlZOYzE5ZmdjWGZINWZCd3ByK1hqTC9id2x4ZFc4YlBIMytTanozZmo5YmEvV0Q0UmtWWXovM3YzSXFJaXJCUWNybXh6dm9NbFZiejV3V2IrczN3OU5mWGQvOTRTWW15OHRQSnpIdnp0UzdSOHpSZXpiMzY0bVhWYjlyTzdzRFJ3VzA3bUFOSUhKR0FLTndLd2ZzdCsvdThmYjNQM3I1NC9LZlg0ZkQ2KzJIR0FoLy8wR2cvKzlpVXFheHF4bU1LcHFHbmdzNjBGUVQ5K1I3SXlrdkY0dlpSVjFXTXg5Nnc5WjBPemc5VWJkbUl3dEwvUDdteWg2RWdWNVZYMWJOeFd3S3Z2ZjhHai8zcUhYLzU5eFFuUEJvcXdtQmsyYUFDYmR4L3NNTXc1bVdaTnpLYkY3V0hybmtOZEhtczJoZlBMdjcvRlBmLzN3dGRhay9RTmFuSXJJaUlpSXIyZXc5bUN4UnlPb2FPck9NRFY0bWIzZ1ZJV25qT2V0UDd4K0h3K3lxc2JzRnBNeEVaRm5QRDVpbzVVTVdKSUNzTUhEK2p3L2dHSnNRQ2s5VThBL0ROT3dvM0dFenBIU1VVZEQvNzJKZVpNeXVHaG0rZGpNWnNDOThWR1JUQnpRamFyTit3a3dtcnE1RkU2VjNDNG5KTEtldnJGMm5DMWVLaXVhNlNrb282REpWVTAycDE0dlQ1aW9pSklpTFhSN0hEeDJaWUMxbTdleDJ1ck52SHovNzZNaEZoYmwrZllsbitZMk9oSU1nWWtCRzVyYUhMUTR2Wnd5NkpaVk5ZMjh0dG5WM0t3cElyNlJqdFJrVmJDd2d6c0tpamh6UTgzOC8xYkwrS3NVWU83UE0vd0lTbllJc3lNemhvWUNEbU90V2xYRWR2eUQvTmZsMHduTEt4bm55Vy92aXFYWFFVbC9QRDJCWXdibHQ3bXZ2VCs4WmpDalJ3b3J1UTN6N3pMdExGRGVPREdDNDliVDNjY0xLbGk5WVpkck42d2kvTHFla1lOSGNodFY4eG00b2hNaHFRbFlUUitmWitKdDg2K3VmckNzNDc3dTlXWnVrWTdCWWNxdUhqMkdONzRZRE5iOHc5VGVMaUNiMTAyay9PbWpHRDlsdjNFUlVkUVhGN0wzcUl5SWlQTXBBOUlZT1NRVk5JSDlEdmg4eVVueEJCbU1CQnRzN2E3cjZISlFhVFZmRktlcjM2eFVjVFlyQXpONkxwNTZxU1JtWVFidzdBN3Y5NVpOZEkzS0dBUkVSRVJrVjd2clRWYldmTHVCaGJNR2NkL1hUSzl6VVZVYlVNemI2L1ppdDNod3U1dzhjTS92ODZ1d2hJYW1oekVSVWZ3MkE5dklEa2hwdHZuMmx0VVNzSGhDaDcvMFg5MWVKSGVaSGRTY0xnQ2dKZFhidVR4bHo2Z3BMS08yUk56K1BIaWhkMCtUMzJUdjRkTFlYRWxMVzVQbTRBRklIMUFBZ2t4TmlJczVtNC81ckVpTEdaKzlyYzNHWlNheUFYVFI5Sy9Yd3hqc2dmeTZlWjhNTUNqOTErTkxjSVNPSDdVMElIODZmbFY3QzRzWVhkaENUUEdaM1Y1amhmZjNvQ3J4VTIwTFFLNzA0WGI3Y0VXWVNFcElab0JpYkZrcHZiRGJESnkvclFSakIrV0FmZ0RxWVYzLzVtNlJqcy8vdXNiUFBtVEc4bEk2ZnFDT3pFK21rR3BpY2U5ZitLSVRGNTdQNWZuMzlyQWZ5MmMzbzFucUszUHRoYncxS3RydVBPYXN6bG44dkQyNTArSVpsZEJDUjk5dm9kcjUwM21tbm1UMndRVG0zY2ZaRXoyd0M3RHRsMEZSMWk3ZVI4YnR4Zmk4OEdvb2FtTUg1N0JaMXYyYzltNTR6czhkN0FhbWh4c3pmZlBtSnI1NWMrMTRGQUZNVFlyNTAzcDJmbmUvSEF6V1JuOUdaT2R4dUd5R2lZTXorUWI4NmN3Yk5BQWF1cWJlUFBEemZ4NDhVSW1ETS9vVVlCekxJczVuQUZKY1IzZTk3dC9yeVMvcUl6N2JyaUF5YU83RHV5TzlmRVhlOGpiZlpDcjUwMG1OU21PZm5GUkpNUjBIVENhVGVHa0pNV1JrOW4vaE04cHB4OEZMQ0lpSWlMUzZ5MmFPNEcxZWZrOC85Wm5KTVZIc1dET09OYm03ZU94RnorZzRzdEdxZ2t4TnVvYjdReE5UK0tDNlNNWlBEQ1J0UDRKSi95SjluK1dyK2ZxZVpNWk5EQ1JpdXA2M2x1L2syL01uOEwrd3hYODlwbDNPVmhTVFV5VS94UDB1T2hJenA0MGpCRkRVOG51eHFmZFI4dmJjd2lEQWI1LzYwVkVSYmIvUk40V1lTYlNhbVp2VVNtNzlwZVF0K2NRVlhXTlhEeHJEUE5uamVuV09WS1M0a2hOaW1QRWtCU3VtVGM1Y0h0cVVod2Y1KzVwMXpkaXlwY1hwbkhSRVV3ZE02VEx4OSs4K3lDZjd6akFFei8rTDRhbUovUEZqa0pzRVJhR0QwNXBjMEg5bHhkWDgreWI2M2psOTk4bXdtSm00N1pDQnZhUDUrb0x6bUxLbU1IRWQrTkNGc0FjYnV6eTJIdXZQNS9Gai95YnM4L0s2VlpvMHlwdnowRisrOHk3M0xKb0Z2OTZZeTBYVEIvVkpudzZXRnJON29JU1NpcnJBcUhCc1Q3YnVwOElpNG5oZzFNNlBWZTQwY2pjcVNPNDRaTHBXQzMrWUsyKzBjN0t0ZHY1dzMvZTUreXpocDJVUUtLc3FwNTFlZnRZbDdlUHJmbUg4Zmw4eko2WXcrUlJnekNid3RtMnI1aUxabzFwRis1MVIxMURNMit0MmNvdjc3bUNab2VyWFNqMC9GdWZjZTkxNXpOeFJDYS9mR29GQjB1citlOXJ6MjAzSytoRUdNUENzRnJhaDFmN0Q1V3pZV3NCWmxNNGgwcXJleFN3RkJaWHNtTE5WakpTK3JGbzdrUWlyR2FpSXEzNGZENE9GRmRpZDdZd2NtaHFoMStibkJEZDVyVWlaeTRGTENJaUlpTFM2NFdGaGZIVGIxL0cvLzNqTGVLaUl3SC9wL0NUUncyaXllN2t4aC84a3gvZWNRbXhVVll5VXZyMStPTDBzNjM3S1M2dkRjeEUyYmk5a0dmZVhNdlE5Q1NtalIzS1V6LzlWdURZZVhmK25wc3VuOVZtYVV4M05UdGN2THQyT3hmTkdrTk9wbjhaVW5sVlBRWEZGUnc0VXNXQjRrcDI3QyttdExLZWgzNy9DbW45RXhpVTJvK3hPY083dkhnL1ZwVE5Rdmd4SVZOY1RDVDkrOFVRKytWejJTcTVYd3poeGpBR3BTWjJLNWo2KzZzZk15ZzFrYUhwL25CcDg2NkR2UHplRi94azhVSm1UOG9KSExlN29JU1pFN0w0WU1NdUNvc3JPV3ZVSVA3KzAyK2Q4TS9KRUdZZ0tyTHRoV3hOZlJQR3NEQml2bHdLMXI5ZkRKZWVPNTQvL09kOUhuM2c2bTR0My9ubzg5Mjh2UEp6ZnZ2Z05VUkZXdmo3YTJzQ1BVa09sVmJ6MnZ1NTFOUTNNWEZFQnNzLzNrSjZCei96dW9abVBzbk5CK2p5WjVUZHdXeUhtS2dJYkJFV2hxWW5CUjJ1ZkxvNW42ZVhmc3FoMHVyQWJiZGVNWnU1VTRhVDlPVnNyc1ptQjl2emk3bnZoZ3NDeHppY0xlVHVQRUJ4ZVMxanNnY3lZa2pIZ1FMQXY1ZXY0NkdiNXpNb3RSOTMvOS96UkZqTS9PR2hiN0M3b0lUMzF1OWcvUEIwNWt3YUJ2K2Z2Zk1PakxLKy8vanJabks1N0VtU3l4NWtoeEZDSUdFdlFZYUlJS0FnWWtWeHRyYTIxbXAvdGJWRE8yeFJIS2hZVkZRY0tJZ3NFUWdRQWpKQ0FnVEkzbnNubCtUMjc0OUxIbk1rWkVHVjFudjlRM0pjdnMrNGUrNmU3L3Y3K2J6ZndFOVh6ZUw1VGJ2NFlQZko2eEpZUkNJUjZnNHRsd29xQ1BIekZBU1YzMjc4Z2xzbng3RjZ3VVRoZlFCbTBTcXRTMkNLRFBKbTRiUlJmWXFaWUc0dlM0b0w1cmJwbzJsdWJVZW4wN1B2K0FYZSsvSTQ2ZzROMHhJamlRZ2FnVmdzcHFTcUFTOVhCMEdZY2xRcS9xT3RYRmIrZTdBS0xGYXNXTEZpeFlvVksvM2g3QXdUSjRKR1kvN1p5ZytHazcyQ3YvejBEb3ZINURJcFh4ek1JTkRYbmVnUUgrNTlkak02ZzRGM2ZyOVdxQXdZTEFWbHRmeHI2d0grK09qdHlHVlM5SG9EbjM1OWhwVFJZWXpyeHlQa1VrRUYyZm1WbkR4ZmdONWc0SjZGeVFOT0lqLy81aXg2dllIVkN5WUtqNTNMS2VYUXQ1ZHhkbEFRNHVlQlVtSEQ1YUpLTmo1OTk1Q080MnJFSWpIU3EwUUd1VlNDdmNLV1ZuVW5XcDBlTjJkNzRmK2NIZTBHZmU3YTJqWDhiUFZzREFZakhSb3RNNUlpK2VKUUJ0a0ZGWlJWTjFKU1ZVOUpaUU1GWmJWMGFIVFVON1hoNHFpa3RyRjFXQ0tDQ0JFMmNpbjFUVzNZeUtYWTI5bVNWMUxETTY5OHp2d3A4VHk2WWdZQWQ4NFp4NTZqV2Z6dDMzdDU2cjU1L1c1clg5b0ZtdHM2K05kVEs1RkpKZVFXVjZOVXlKRktKTFNxTzZsdmJ1TW5TeVpoYjJlTDNtRGdUSFl4RHp5M2hWRVIvdGpJcFhScWROUTF0WkZmV29OV1o2Q3F0bm5JeDlXTnJWeUtvOUlzRUpoTUpnckxhemw4NmdwWGlxb1pOZEtQUmROSFkyYzdjTXRZOHFoUVFsUWVTTVJpY2t0citOMnJPd2p5ZFJmRUZZRFUwem1NaWZUSDBkNlcweGVMT0h6cU1rZlA1dExlcWNYZHhSNVBWNGRyQ2l3Vk5VMmtqQWtYcW5qKzlOZ1N0bjUxQWdCdlQyZStUTTBreE04RGdMckdWdG8xT3Y3OCtCSnFHMXFHZFY1cUcxbzRscEhINll1RlZOUTJjL1JNRHM4K01KK3psMHJJTGFubTl3L2ZKb2g4SCs0NVNYWitCYzF0SFRncWJmRnljeUsvdEpZVFdRVjhlU1NUTGMvZmgxeG1PUTNPenEvZ2NtRWxFVUhlM1B2c1pzcHJtZ0NZa2pDU2V4Wk9KQ2JVMTZMSzUrTjlwMGc5ZFlYZlAzSWJveVA4c1ZQSU1WeW5NYlNWL3cyc0Fvc1ZLMWFzV0xGaXhVcC9SRVhCNjYrRDBRZ3VMai8wM2xpNUNuV0hoaysvUHMwVHEyY2prWWlaa2hETzErbloyTnJJTUpsTXRIZG9VRjVqeGJvbnBWVU5QUDZYRDRrSUhzR2xnZ3JPWFM2aG9Md09wY0tHWDYyZFMzMXpHeTF0blZUVm1RMWlDeXZxa0V1bHZMQjVOeXBQRjF3Y2xWVFh0MUJSMjhTVC8vaVlaOWJORjFidnI2YWhXYzIyZmFkWWVXdVNoZGFkT3YwQUFDQUFTVVJCVkxBeGUwSTBzeWRFQzcvdlBwcEZZWGt0MmZrVm5NOHQ0OUNweTdTcU8xazJKNUZiSjhYMkVrMzZROWExdXE3VjZja3RycWE0c3A2ODBocHUvOWxHN08xcytOZFRLNFZLSElYTjRJMUMzLzNUVDZpcWErYSsvM3VINnZvVy9MM2RjSGF3bzZxdWhmQ0FFVjErTDNuTVNZNWg0ZFJSZzk3ZnE5SHJEV1FYVk5MVTJzNXJIeCttc1VYTm5iY2tjdC9pU1VqRVlveEdFMEU5dkZtVUNodldMcDdFUDk3ZGo0MWN4c1BMcDEyekRXWk9jb3pGNzBVVjlZSXhzb1BTVnZDTkFYTnJ6OStmdkpPMGpEeHE2bHRRZDJpUXVFaUlDUEpteWN5eFJBWjdEK2ozWXpLWk1KbE1GdjQrUnFPUnlycG1FSW00WEZUSlkzLzVvTXREeUN4MjVSUlhjZlpTTVY4ZHplS05aMWNOK0o0V2lVUjRkM21WTkhRbE5WMmRkTFR6Y0FZR280bmJmN29SaVZoTXNKOEh0eVRITUQ0dW1GRWovZm8xQ2ZieGRNYkg4enZCMlU0aFova3Q0N2hVVUVGUlJUMWc5azE2ZDJjNkRTMXEzRjNzZVdUNWRKSkhoL1c3MzFlejQyQUd1NCtkcDZDc0ZpZDdCV0t4aUtTNFlKNWNjd3VPOWdyZTMzV0N4aGExSUs2QStiVS9rVlhBUnk4K0lGeGYvaU5jZWVXamd5amtzbDRWVFhxRGdXMzdUdkg2czZ2eGNuTVVoSm5uWHQ5SlVsd3dZNlBNVlhJRkJSV292Rnh4VU5veVBpYUlmV2tYa0hlTkpaTkswR2oxUXpvMks5ZUJnd1BFeDROV2EvNzVKc0lxc0ZpeFlzV0tGU3RXclBTSFhBNGVIai8wWGxqcEE3M0J3QjgzN1VKaEl5UE0zNHVNeXlWVTFiZlFxZFh4MHhjK3BLaWlIcTFPejhwNTQ3bDdmditHcCsyZFdzUmlFVEtKaE9yNkZ1enRiRW5MeU9YVjM5eU5XQ3hpMjk1VDVKWFdFT3pyVGtTUU54UGlRNWlhTUpLeDBZSFlkazNjTCtTVjQ2cFZzbVRtV01aRUJseHpXMjkrZGdTRHdjRE1wQ2poc1ZaMUozdU9uY2ZPVms1TFd3ZEZGZlZjTHF4RWJ6Qnk0bndCdmg3T0pFUUZtaWVDSHg4aVBNQ3ozL2FOcTVISnBMUzBkYkRwMDFScUdscXBiMjdEeTgyUnA5Yk9KU0xJMjBLc3NiT1ZJMkx3MVNVajNKMTQ1dzlyTVJpTVNLVVNEcCs2akU1dlpGcVhjYXJlYUVRdWxaS1ZVMFpjdUdyUTQ1N1BMZU5NZGpGWGlxcTRWRkFwSk43TW1Sak5pbm5qOGZVMEM1NFg4c3NKRC9SaTNpUkxYNXBia21QNE92MGllNDZkNTJKK09ldVhUUjFVV3BIQ1JpYWtRMTFOY1VVZHh6THl5QzJwWnM3RUdDYkVod3o2ZUxwcGFGSHp3SFB2RWhiZ2hWUWlwcUZaalVhbng5WFJuT1FVR2VUTnIzOHlUMmlGQXpoNXZvQm5YdjRjdVV5SzNSQzlQcm9yWG5wNmhKeTdVb0szaHpPL1c3OElrOG5FRzUra1VsWGZ6UDFMSmc5SnVBT3orUFhXWjBmSUthN0czZGtlRjBjNzVESUprOGFFa3hRWGpMZUg4NUNyeWJwWk1EV2VTV1BEVWRqS1VOakllWFhiSWVSU2lkQUdOSEZVS0c5K2RnU05WaWNJYUVHK1pxRk5MUDd1UGR4OXpoWk5IOU9ybXFtNXJZTmZycGtqaUZaeW1aU2k4anBhMmpyWmZUU0w3UWZPa044bDhJeU84T2ZYUDdrVmR4ZXpjTk9kSmlhWFNXbFRkdzdyR0swTWc3RmpZZCsrSDNvditzUXFzRml4WXNXS0ZTdFdyRmk1NlRsNkpvYzNQazFsK3ZoSVZzMmZnRXdxSWZOS0thY3VGZ0d3K2pkdjRUZkNGWlBKaEZKaHd4MnpFZ2hTdVRQQ3pXbFExUmdqQTBld1k4T2pnTG5DNE9rTjIvbko3Wk9FS29CSFY4NGc0M0lKN1oxYUVtT0NrRWtsL08zZGZmemozZjI4OXV3cU9qVTZJb085ZVdIaGtuNnJDekl1bDVDZW1jZU04VkU4OGVKSGJQcS9lN0Mxa2FGVXlObWZmaEVidVpUMVM2ZHlTMG9zZTQ2ZEo3KzBoclczcFFEbVZxUnQrMDd4eUlvWlF4Slh3RHdCZExSWDhJczF0d0JtLzR5TVN5WEVoUFVXUE9ReUNVYVRhVWpqZzlra1ZHbG5RNkNQTytXMVRXdy9jSWJMaFZWY3pDK25vVm1OM21Ca2RJUS9MejZ4ZEZEajZidmFqc0lEdkZnOGZUU2ZIOHpnOU1VaWt1SkRCSEhGYURTU2xwSEhyKytiMTZ2aVFpUVM4ZXY3NXZIN04zWnh1YkNTWC85ck8yTWlBM2g0eGZSK2ZYTVNvZ09wcUczaThLbkxtRXhRV3QxQVRsRVZwVldOMk52WjRHaXZvS2lpanJTTVBOWXNTdWF1VzVPR2RKN2NuT3dKRC9DaXZWUExyOWJPeGRQVlVYaVBybjEyTTQ1S1d3dHhCV0NFbTdrcVpseE00SUN0VlEzTmFnckthb2tKODhXMlI4WEdydFJNWHYzb0VIcURnZHVtaitGWGErY0s1OG5KUWNGbkI4N1EzcW0xOERBWkRGS3BoRWU2V3JPNk9YenFDcU1pL0Fqd2NhT3d2STdURjR1NFZGaEp5dWd3Wm95UEhIUjdtRmdzN2hVVmJqQWEyWmQyZ1pReFlZeHdkMFFtbFZoVUp5a1ZjdUc0dXRIcXpOVWxzV0dXMTAxWmRTTkY1WFdVMVRSU1hGNUhRWGtkSlpYbUNxWk9yWjdKWThPWk1UNlNRRjkzaTdqMzdwU283bk1yRm9IT1lHMFJzbUlWV0t4WXNXTEZpaFVyVnF6Y3hIeHg4Q3c3RDJkaVp5dW5wcUdGQStuWnpFMk93ZHZEbVlnZ2J4NVpQcDNZY0Y4Q3ZNMm1yRittbm1QLzhXeFN4Z3l0RmFFbkgrdytpWjJ0bkZzbnh3Tm00MDliR3hrajNCeDU2cCtmc1NzMWt6OC92Z1NWcHd2NUpiVW9iT1I0dWpyeThQTHAvWTZyN3REdzBydjdlWExOTGRqSXBldzVkcDZhQm5OYmpWZ3NadkgwMFh6MjlSbEI5TkRwRGRqMDhJcG9WWGNTNHVmUnExSmpJTFE2SFhhMnZTc0l1bjBvT2pSYVJJaUVLb051LzVtaElCS0orUE5iWDZFM0dKazVJWW9SYm82RUJYZ3hPV0VrYms1S3ltdWF1UGZaelVKMXdXQVlIZUV2ZUh3ME5LczVkN21rMTNOMkhEckhzamtKQlBxNjA2SFI4dk8vYm1QWm5IRkNvbzJIcXlNdi8zb2w5YzF0TkRhM1l6U1pCdlF3c2JXUjRlUHB6SE92N1dUbHZQR01qUXBrL3VSNGk0biswVE01L1A2Tkw0ZDBQRDFSalhDbHNLeFdFUEI2MHBmNG9OT2JKKzhqM0p3R0hOdGdNUENibDdjVEY2N2lyMDhzUTlJbFBIbTdPNUU4T3BTeFVZRm90RHJhTzdWQ0JMakphTUxWU1Rsa2NjVnlIdzJVVlRXUVgxYUxWbWZncmUxSGtVa2xlTGc0NE8zaFRINXBEV2taZVJoTkpvdFd1S0ZnTUJqWWwzYUpYOTU3QzBxRkRUWnlHUzZPbG1KVVh4SFp6YTN0QUl4d3R6emYyZm5sYlAzcUJES1psTGd3RmF2bVR5QXl4QnMzSjN1ZS9NZkh4SVdyK3ZSVDBoc01YZjkyaVNvaVVhOFdMQ3MvVHF3Q2l4VXJWcXhZc1dMRlNuL2s1Y0Y3NzVsN3ZlKzdEMEpEZitnOStsR3hhTnBvWmlaRm9iQ1JzL0N4RFR6N3dIeGhVcXBVMkxCbyt1ZysvNjZwdFozaWlucUtLK3NwcnFpanRLb1JnT1Z6RTYvWnZxUFhHL2hrLzJuK3ZTT05GWE1UK2Z1V2ZYUnFkVXlJRDhITDFSR1Zsd3YvL05WeURuMTdHUUNqMFVTSW53Y095b0U5WGt3bUUzL2ZzbzhsTThlU1BEcU1pM25sQUxqMW1MUlBIUmZCRzU4ZTRmVEZJcXJyV3poMW9aQ20xblorK3NLSE5MZDFZREFZQ2ZCeHcyUXlEY2tndHJtdDA2S3RwSzZ4bGRMS0JnckthcmozMmMyVVZUZWk4bkxoblQrc0JjeXI4cDFhM2FESDd5WXBQb1RTcWdaV0w1akk2WXVGdlBuWkVSNVpNUU4zWjN1OGVsUmdESWZQdmo2Tmk2TVNPNFdjRFZzUGtIR3BtRlVMSmhJWjdDMGs5bFRWTnBOYlVzT09RK2Q2UlFhN09kbmo1bVRmMTlCOTBoMVhuUlFYVEdTd0Q1dS9PRVpDVktEUTR0UXRSSVFPTVpxN0c1bEUvTjNrL0NwNnRyWjAwOURjQnRDcnNxVXZQRndkaVF0VFVkL1laakhlckFsUkJIVDUxRFMyR1BuVG0xOXh4K3dFeHNjR1U5K2lKbUFJa2RiZFpPV1U4WmUzZHhQaTU0SEt5NFVSN2s1Q1JjNGp5NmNUcFBxdXZiSzBxcDcyRGkyVGhpRitkbXAxdlBQNU1YWWR5ZUwyR1dNRUx4ZTkzb0NpU3pDN1hGaEpRN01hbFplNXVxbm5OVkpTMVlEQ1Z0NUxYSnM5TVliWkV5MDllSHJTMU5yTzNtUG4rZXJvZWZ5OVhWbloxWnJXMkdJV2JJeGR4cmFpcm4yeDhqMWhOSnEvazBVaWtNbWdINytnN3h1cndHTEZpaFVyVnF4WXNkSWZaV1d3YVJOMGRNQ2NPVmFCNVh0R0pCSmhiMmRMWlcwVDlncGJvVFhtVEhZUkRjM3R0SGRvYUZGM1V0L1VSblZEQzRYbGRUUzF0UFBJbjdiaTRxakV4VUdCbzcyQ01IOVBuQjN0c0xPNWR2WENuclR6YlA3aUdBQjVKVFhjTVR0QkVHUFNNbko1NnArZk1XOXlMT3VYVFFPZ3RiMlRZTlhnL0htMkh6akw1TEhod3NSZjJ6VVo2eWw4S0JVMkxKdWR3Tkd6T2NTRXFzemVNZ0ZCUExCMGlsQnBNRlQwQmdOTkxlMG81REplM1hhSTB4ZUxoT2hlZXpzYlJrZjQ4OERTS1VLbENKZ3JXTHI5VG9hQ3E1T1MzSkpxQVB4SHVIR3BvSkp6bDBzSUQvQVNFbFljbEVPdmtLaXFhK2J6Z3huOFp0MThQdGg5Z2dWVDR0bDUrQnpPRGtwV0xmak9XK2ZyRTlsNHV6dngrNGR2Ry9JMnJrWXVrd3JlT2dCRlpiVjh1UHNrYi94Mk5jRXFEeUgyK2xyR3VRUFIycTdwTzNWRzFMZjdUWEdsMlRpMnB5bHlmNFQ2ZTlLdTBRcGpBa2g2VkhhNE9DcjV2L1VMK2NYZlA4Yk55WjdTeWdhQ1ZFT3Z4b2tMVnlHVmlKazhkaVN6Sm56bktTVHBFblYwZWdPMURhMTRlemh4cGFpYU1WRUJRMzR2bjdwUXlJWVBEaEFSNU0yc0NkRVc3V3UxamEzVU5yVHkwbnY3cWE1djRibUhGbEZlWXhaVFJaZ3JqUXhHSThjejgxRjU5cDhDOTlXUkxKUUtPUTNOYWdyTDZ5Z3NxNk85UTB0TW1DOWFuWTc5eHkvaVpLOWczUjFUYUduckFMNnJBa01rRXRxUXJId1A1T1RBYTYrQlhnK1BQZ29SRVFQL3pmZUVWV0N4WXNXS0ZTdFdyRml4Y3ROamIyZUx1a05EWFZNYjdzNzJsTmMwY2VCRU5xNU9Ta0pVSG95TzlNZlgwNFd6bDRwSk81Zkh2MzYxWXNqYlNJd0paczdFS202Zk9kWkNPTkZvZFNTUER1T3ZQN2ZubTVPWGhNZkxheG9KOWZQa1VrRUZwVjFlRG5XTmJjU1BWREUzSmRiQ0UyVDYrQWhjSEwrclZ0RjN0ZjkwcjdMbkZsZnovbGNubURRbWpMdHVUVUlrRXZIRndiTUUrWG9NVzF3QktLOXV4R0EwRXVMbnlaaW9BR1ltUldKdlo4dldyMDZnN3REdzJGMHplLzJOVkNKR3F4djZhcnhZSk1MUVZaVlIzUlhITzMxOEpJQmdBQ29mb29FcXdHc2ZIMlo2WWdUSm8wSjUvOHQwUXYyOTJQajAzV2g2VEdockcxcjQ2a2dXTHo2eEZBZWxPWDc2VDI5OXhUMExKd29WTGtPbHV3MEV3TlhaSGdlbExZRSs1aXFQdG1FSVVEMHByMmtVV25ldVJ0UWxUcHk2VUVoNlpqNFJRU1BZbTNZQlFLak9HQWdYUjZWRmV4a2dpRUxkMk52WjhzVHFPZnpoalM5cGJlOWtUdkx3Mm5ZYzdSVm9lbFE4bmNrdW9rWGRpYzVnUUNhVmtIWXVsM2QzcHRPcDFRbCtRb09ob0t5R0xUdlRPWkdWei8xTEpuUEhyQVJlL3VBYmkwcVJVeGVLYU8vVVVsclZ3SjhlWDRLTlhJYkJZQlpneEdJUktpOFhudmpiTmpvNnRhU01DZTkzZSttWmVUUTBxN24vamluTW1oQk5lVTBqdDA2T1k4YjRLUGFsWGVCdlcvWXhQallZTVB2MHhJZXJoRW9tazhsRWU2ZDIwTWRtNVRxcHFvSnQyMENqZ2FWTHJRS0xsUjhuUXkxbnRXTEZpaFVyVnF4WTZjWkJhY3ZvU0g5MnBXYXlabEV5QzZlTzZqUDI5MEplMmJBbThRQmVibzZDQ2F4T2IrRFFxY3RrNTFlUUVCMUlxN3FUVm5VbkVyR1kzNysrazZxNlpxcnFXdGh6N0R5cFo2NWdLNWVqc0pWaEk1Znk3WVVpSW9LOExhSmplNG9yWUs1ZzZXbStHeGJneFJPclp2SEdwNm5zU3MxazdlSko1SmZXRWhFMFlsakgwazF1U1EwMk1pa2ozQjBSaThXRUI1akhNNWxNeUtWOVR3WEVJaEU2L2RCWDQxdlVuWUwvUlhwbVByRmh2cFJYTnlJUmk2aXVOd3N1aWdIOFQ2N202L1JzNmhwYmVlbytzeUdyUnFkSExCYmg2V1laaGZ6YXg0ZFpma3NpSXdQTngrZWd0Q1ZFNWNGamYvbUFSMWZPWU1HVW9VVkV0N1Yzb2pjWWhRb0ZqVVpIc0srN0lKcTF0SmtGSS9FdzcyM0ZJaEYyZHIzUGhWZ3NFc1ljRnhORTVwVlMvdnB2YzFwS3NNcWpsK0hydGJDMWtRa0NUdmN1U2lWaTZocGJLYXRwSkNyWUI3bE1TbmlBRnpGaHZ1dy9mcEV3ZjY5aEhVdDdwMWJZUmxsMUkzOTY4eXNBTm4yU3lwemtXSmJPSGtkeFJUMGFuWDdRM2toUC91Tmp6bDB1UlM2VDhMdjFpNFMwSm9QUmlLbXJncVZUbytQYkM0VjR1anJ3M0VPM0NSVkhoaDV0TzBFcUQ5WXNTdUhRdDVkWU9qdWgzMjJxdkZ5UlNDUkNOWmRHcTBjc3NqeUgzbDJwUWU0dUR2enRGM2NLZjJzMEdPbXdDaXhXc0Fvc1ZyNUhYbm5sRlVKQ1FwZ3paNDVGaWFJVkt6ZUt6ei8vbk9qb2FNTEQrMStoK0craG82T0QydHBhL1AzOUIzN3lUVUJWVlJVaWtRZ3ZyMnZmb0pXVWxGQmVYczdJa1NOeGRiMTJnc1AxME5qWWlNbGsrbytOYjhXS2xSK09sTkZoWE9qeUxya1dZckVZcGQzUVlteDdVdHZRd3A2MEMrdzlkb0VGVStKNWRNVU1HbHZVZkhiZ0RFMnQ3ZmlQY0NNbTFKY3JSWlVVVjliejNwL3ZIOUEwdFM4NnVtS2hlK0xrWU1jdjc1M0w0Vk9YZWVhVnp4R0p3SytmdEp2QmNLV29pc2hnNzE0Sk8wWmpQMmF2SW9hMUdtOHdHbkYzc1VlajFmRjEra1YrY3Z0a0RwMjZ6SW1zQXA1ZE54KzVUSUw3SUZ0Y0FDcHFtdmd5OVJ4L2VHU3hVTVhUM3FsRmR0Vjk1T2ZmbktXeXRwbmYzRDhmdmNGQVhuRU41L1BLcUc0d3gyMXYyUG9OZ1Q3dXhQYVJtSFROYmRjMkFRamJyYWhySmlMd083RkxKaFVqbFlpRnhKcWhNbnRpREdYVkRiMGVGNHRFRmlhdFAxa3ltWnppYWpJdWw3QnkzdmhCankrVFNrQmtGdEp5aTgxdFd3Ly9hU3ZCS2cvdW1EVldFSTVLS3VzNWVpWUhtVlRDWC8rOWo3ODhmbnUvS1ZoOXNYeHVJdUgrWGxUVk5mT3JsejVoYmtvc1g2Wm04dER5NmFSbjV2UFRGejdrdnRzbkRlbjhyNzB0aFkwZkhlTE9PZU1zb3JBMUdoM2lMbUhTMWtiR2xJU1J6RXlLdFBCQk1ock5Bb3lvNnoyL2FOb29GazBiV0dDVFNzUVcxVEhxRG8xd2pkWTFxYzNQdVlaNGE3UldzRmpwd2lxd1dQbGV5TXZMbzZpb2lMcTZPaElURTNGM2QwZXIxZExaMlltam8rUEFBd3lDakl3TW5KMmRDUW9LdWlIajNVelUxZFdaWStwdThJU3hvS0NBSTBlTzRPL3ZUMUpTRW5aMkF4dW4zYXhvTkJyUzB0TEl5Y25oaVNlZVFDYVRZVEFZYUc5dng4SEI0WVp0NTdQUFBnTWdMaTZPc0xEaEoxVDBKRDgvSDVWS2hZMk41WVNndXJxYWwxOStHVDgvUHg1NjZDSGs4dUhkeEpXV2xySi8vMzdHalJ0SFhGeGNuODg1ZE9nUW9hR2grUG4xZHNvZkxPWGw1WHp3d1FmRXg4ZXpldlhxUHA4ams4bjQ5Tk5Qa1Vna1BQUE1NOE82L25OeWNxaXFxaUk1T2JsUHNiYXhzWkdOR3pjU0d4dkxtalZyaGp6K3pjVEhIMytNVnF0bCt2VHArUGdNTFpMVmlwWC9SU1FTOFlDR3NuYTI1a1Nmb1pCVFhNWHVJK2NwS0svbGNtRWxJU3BQL3Zqb1lzR2cwOTNGZ1FlV1RoV2ViekFZZWZPelZDYVBDYWUyb1FWWEovdEJHZDMycEtGWmZjM3FoekdSQVNnVmN1bzFXaDcrNC92ODRwNDVSSWY2RG1uOGJzNWRMbVZLUXUrRkI2UFJkRTAvajA2Tm5sYjEwRnRnRmswZFJVT0xtbDJwV1hScWRFd2FHMDVsWFROakl2MFpHVFNDOWN1bTlUbEJQWExtQ2ltand5eEVvQTZObHM4UG51WDVSeFlMYlJoR281SG0xbmJrc3UvR2VHM2JJYlovY3hZL0x4ZWUvTWZIbEZZMWtCQWR5SlNFa1N5ZU1ZYXNLMlU4OWE5UE9YWTJkMGdUZkJjSE82UVNNZTR1OW5ScWRPUVdWN09zUndWRS9FZy9Sa1g0OXhLdUJzdXNDVkdDUVdwUFJDSVJVcW5sbUkrc21NN3h6SHltSkl3YzFOZ0dnNUhheGxaS0tocFkvWnUzMEJ1TTNEMC9pVnVTWXdXellZREsyaWFlM3JDZGtZRWorTm1xMlR6eDE0LzQxVDgvNDdtSEZnM2E2d1ZnOW9Sb0NzdHErZW1MSHpFOU1ZS2ZMSm5NWndmT0lBTHV1aldKK0hBVmYzNTdOeW92VjViUFRiVHcrN2tXa2NFK3ZQTDBYYjBlYjJ4dHg2V0gwZTh6NitiM2VvNjJxL3JxNnBhb2dXaHFiUmU4WTdwL054aU4vTzNmZXpseUpnY0FSL3UrcjNPdDNtQVZXS3dBVm9IRlNoY05EUTNrNStkVFVGQkFWVlVWY3JtY2hRc1g0dXM3dkMvem50VFYxZkhlZSs4aGs4bnc4dkxpeXkrL3BMVzFsYkt5TWd3R0F4TW1UR0RSb2tYSVpNTXpDZXNtT3p1YmpJd003cnJyTGthUDdqdFI0RWF5Wjg4ZU9qbzZtRFp0R2k0dWcrdUhIUzc1K2ZsOC9QSEhqQm8xaWxXclZ0MndjWU9DZ2toTFMrT3JyNzZpdUxpWWUrKzk5NGFOL1o5Q3JWWWpsOHQ3dlY5T25qeUpVcWxrM2JwMU5EWTJrcFdWUlhwNk9rMU5UY1RHeHJKdzRjSWJJbEFsSkNUd3hodHZjUHo0Y1o1NDRva2JjbzBjUG55WWlvb0sxcXhaWXlGd3FOWG0xUkk3Tzd0aGl5c0F2cjYrbEplWGs1MmR6UzkvK2NzK0sweHljbkxZdFdzWDk5eHp6elZGbUlIb0ZweXVGb3A2NHUzdGpiMjlQVnF0RnFWeWNHWE9WOVBVMU1TT0hUdlFhclhNbk5uYk95QTRPQmhIUjBjTWh1L0h6ZDlnTU5EWTJFaGpZeU9kblowb2xVb0NBZ0p1U0tWZVZGUVU3N3p6RGpZMk5peGR1dlFHN0swVksvOWRmSHUrZ013cnBaUlZONUpiVW9PRDBnYVRDZEl5OG9nTlZ6RW0waHpqMjdQOUpzRGJ6Yng2UHdSOFBKeTVWRmhCWVhrZGQ4eEtZTzNpbEQ2alhydDUvNnQwR3ByYldiVndJaDJkV2xZOS9TWnpVMkpaT1M5cDBFSkxXWFZqbjJreGJlMmRQUGY2VGx3ZGxmejFpV1g4NDkxOS9PeXZIekZuWWd5ckYwekFZd2ppVVVsVkEwVVZkVHc5YWw2di94T0p3TldwNzRXVnB0WjIxQjBhZEhyRGtNNmx1NHNEV3IyQmQ3ODh6ckk1NDdDemxTT1ZpRkY1dVNLVlNKZy9KYjdQdjh1OFVrYWdqenYrUFZKc0dsdmFlWERwVklzMnFxS0tPdlFHbzBXYjBjN0Q1d0N6d2U0dEtiRWtqdzYxOEt3WkV4WEE4bHNTTGNZWkRCNnVqdnhtM1h6a01pbjdqMTlBTHBNd0xpYUkwcW9HUEZ3ZGNIRlU4dndqaTRjMDV0WDBKYzZJUmFMdmpGTzc4UGQyc3pnMzErS3R6NDZRVjFwRGJuRTFyZTJkakk4TlptNUtMT05qZzNzZGY4YmxFbDU0ZXplakkveDVmTlVzYk9VeWZ2dmdRbjcrdDIyc2YvNDlmbm52WEJLaUI1ZjRsSmFSeTB2dmZjMzlTeVl6SnprR2pWWm5rWkFVRTZiaTlXZFg4NDkzOS9QTGYzeUMzd2hYWmlWRmtUdzZkRkRIcGRIcTJQekZNZlI2STVsWFNwbVRmTzNVSC9ndXpXZW9ud05Ha3dudkxpUGM1dFoyMUIxYTdHemwzSGY3SkU1ZkxDSTYxUGVhbnd0dDZzNWgrUlpaK2QvREtyRDhDRkdyMVpTVWxGQlpXVWx4Y1RFbEpTVzB0Smo3WXQzYzNBZ09EaVlpSW9JUkk2NnY1eGVncHFhR1RaczI0ZUxpd3RxMWF6RjI5VTJhVENiKytNYy9BcURWYXRIcjlkY2xzQmdNQm5KeWNoQ0pSRGVzSW1ZZ2ZIMTkyYkpsQzZkUG4rYVpaNTc1ajFaL3hNWEY4ZkhISDlQWjJYbER4eFdKUk54OTk5MzQrdnJTM202T216TVlETlRVMUdBd0dQRDE5YjNwZkhNKysrd3p6cDgvVDFSVUZIZmRkUmR5dVJ5MVdzMkJBd2Z3OWZWbHg0NGRPRGc0RUJnWXlPclZxOW00Y1NPbHBhV2twcWF5ZVBIMTNRZ0JCQVFFOFBqamo3Tno1MDdoUGR2YTJrcGRYUjJlbnA1REZnMU1KaE5sWldXbzFXcWhwN2liM054Y0FKUktKVWFqY2RpclpHS3hHRDgvUDB3bTB6WGJkNXFibXdrSUNDQTZlbmdHZHdEMjl1YlZMcFdxL3hWQ0J3Y0hwRkxwc0FXSTZ1cHFiRzF0U1V4TXZPWnpYRnhjOFBBd3J6eDNmKzVjaitCaE1wbG9hV21ob2FHQnVybzZhbXRycWE2dXByYTJscnE2dWw1aWpwZVhGK3ZYcjcvdTZxbHU4VFl3Y0hpeHBsYXMvTGNURnVERitkd3l3Z0s4ZUhUbEROeGR6TmRVcDBaSFZrNHA2Wm41YlBva0ZZbEVURmlBRjJIK1hnVDZ1T0Uzd29XMjlrN3NyMnAxME9yMFZOVTFVOStzdGxoRnQ3ZXpaZU52N3FhcHRXUEFGcGF2MDdQNVlQZEpubHh6Q3o1ZGNkR3JGMHprdFk4UGMralVGVjc0NlJJaENyYy9paXJxY0hhdy9NN0l1RnpDdjk3L0dwV1hDNzk5WUFGT0RuYTgrTE9sdkxuOUNOc1BuT1hRdDVlWk9tNGtzeVpFRXhQcU82Qm9zT05RQmtseHdSWlJ1ZDNJcEJKOGV4aW1GcGJWY3VwaUVRYURrY3VGbFlCNWt0bDl6Z2REYlVNTHY5bXduY1RZSU82Nk5Ra3dwOTU4blg2UlpYTVMrcHljdHJSMWtIWXVEdzlYQjR2SmR2ZTU3Y21sZ2lvQUhIdUlXRXRuSnpBeFBwU0k0R3NiMmQ1N1c4cXdFbDVTUm9mUjNxbGw2MWNudUczNkdPUXlLZlhOYmZ6aWJ4OHpMaWFRMjZhUEdYWk04N1VRaTBYWXlJYzNSWXNNOGVHTGd4a2t4QVN5ZHZFay9QdG9MeXV0YXVDRHIwNVEzNnptNS9mTVlWek1kNVhmVVNFK1BIN1hUUDcrN241Ky9hL1BTSWdPWk9uc0JFYU45T3Z6SGtUWEphWmw1WlR4OTE4c0U5NzNyZXJlOTZzT1NsditiLzFDOXFWZDRMV1BEN1A1aTJOcy91SVlucTRPeElhcDhCL2hTb0N2TzhtamVxZTAyY2hsTEpzOWpwKzkrQkY2ZzVFZzMvNnZMNzNCaEZ3bUdmSTk3UEpidnJ1dktPbEsycExMcExnNEt2bk51dm05cW5ycW05dDQvZVBEK0hxNmNDYTdHSVh0OVMwV1cvbmZ3Q3F3L0FocGJtN201TW1UZEhSMG9GS3BLQ29xSWlRa2hIdnZ2UmVGWXVqUmVkZWl1TGlZdDk5K20ram9hRzYvL1hZTEFlWEFnUU1BVEpzMmpmbnplNWYyRFpWVHAwN1IxdFpHUUVBQWxaV1ZoSVNFRFB4SFE2Qyt2cDQ5ZS9hUWtKQkFSSmRMZGZlRXg5SFI4VC9lV3FOUUtMQ3hzYmtob2xkUGpFWWpEUTBOdUx1N1UxWld4bXV2dlVaeGNURTZuUTZSU01UU3BVc1pQMzd3L2I3ZkI4dVhMOGZHeG9adnYvMlduSndjWW1KaStPU1RUNWcrZlRwUlVWRmtaV1V4ZnZ4NEhCd2MrUGJiYjFtMmJCbGp4b3dadGpoeE5SMGRIYWpWYXFLaW9qaDQ4Q0NGaFlYVTFkVUI0T0hod1pOUFBqbWtpWHhlWGg0dExTM01uVHZYd210RnA5Tng1c3daNHVQamlZaUk0TFBQUHJ1dUNnWm5aMmMwbXI3THZYTnpjNm1wcWVIblAvODVFb21FN094czFHbzFZOGFNR2RLeGlNVmlKQkxKZ0NLVFRDWVR4Smlob3RQcE9IWHFGUFBueis5VFREVVlERlJWVmFIUmFMaHk1UW92dmZRU2xaV1ZPRHM3OC9PZi8veWExVFdWbFpVME56ZWowV2hvYjIrbnRiV1Z4c1pHR2hvYWFHeHNwS21wU1JCUnZMMjljWEJ3UUtsVUVoWVd4cWhSb3l6T2s4bGtRaXdXRDZxQ3BxYW1ocjE3OTVLYm04dVVLVk9ZTm0yYXhWamQrK3ZtTnZBS254VXIvNHU0T0NxNTcvYkp2UjYzdFpHUkdCdE1ZbXd3ajkwMWs0dDU1UnpOeUdYMzBTeHFHbHFGNThta0VwUUtPV0tSbUE2dGpvNU9MWkhCM3F4YjBudE1xYVIvZnhDRHdjaS9keHhqNStGTWZuM2ZQQ0Z1R2VEMm1XUEpMYTdtd01sTGJQem9FQzgrTWZEbmRWdTdCdCt1MWZLejJjWHNTVHRQZTRlVysrK1lZakhKbEVvbHJGODJqVEIvTC83NTN0ZnNPMzZSZmNjdklwZEo4Qi9oUmxpQUZ3OHRuMllSS1F4UVZGNUh4cVVTL25xTmZRa0xHRUZZRHhQZUlKVUhMV3B6OVl6ZVlNUldMc1BKWWZEM055ZXk4bm41ZzIrNGRYSThLK1ltQ3BQYmxORmh2UGRsT3ZmL2Jnc1Q0MFB3ZEhORUtoR2owZXFwckd2bXlPa2NHbHJVWkZ3cXNaamc5b1ZZTEVJcUVWdFVMSzFkUEduQWZST0pSTU9LVXpZWWpMejR6aDRrRW9uZ2Z6SnFwRC9QUDdxWVoxLzVuSDNITDVJOE9wVEhWczRjdFBuc1FFaWxFcFNLNFhrSUpZOEs1Wk4vckw5bTZsU25Wa2RKWlQzMzN6SGxtdnQ3UzBvc09vT0JkNzVJNC9URklzNWVLaVlpeUp2SFZzNndNRzIrVkZEQnprUG5HQjBWd0wyTGtpM3VzeXJybWdHUTl5RVV6VW1PWVd4MElPL3VQTTZsZ2twQlRMSlR5QW5wSi9MY3pkbWVuNjJlelIvZStKS1pTVkhYZkI2WTd3V0djdzU3Q256ZFJybmRJbTFmN1dWdU9yWUhxZ0FBSUFCSlJFRlVUdllzbURLS0ovL3hNVWFqaVZFUncyK3p0dksvZzFWZytSSGk0K05qNFV0UVgxOVBUVTBOQ29VQ2c4RkFSVVVGaFlXRkJBVUZEY3VQd1dReWNmVG9VWTRkTzhZZGQ5eUJYcTluKy9idHBLU2s0T3ZyUzJabUpudjM3aVV4TVpGYmI3MzF1bytubzZPRGZmdjI0ZVBqdzhNUFA4ejI3ZHZadTNjdnQ5eHl5M1dQM1kyTGl3dEZSVVZrWkdRd2QrNWNaczZjaWFPakl4S0paTURWK3FGUVVWSEI1Y3VYc2JlMzc3VTZMNUZJTEZiRDI5cmFBSVkwVWEycXF1TG8wYU8wdExUUTFOUkViVzB0T3AwT056YzNmSDE5cWEydFpkS2tTWVNFaEJBUUVIQkRCYmNiaFZ3dTU4NDc3MlRLbENtNHVMaVFtcHBLWkdRazQ4ZVBKenM3bXoxNzlxQlVLcGt3WVVLL0ZRNkQ1ZENoUTFSVVZORFUxRVJkWFIwdExTM1kyTmpnN2UyTlZDckZ6czZPRlN0V29GS3A4UEx5R3ZKcXlaRWpSM0J5Y21MeVpNdWIvZE9uVDZQUmFKZzdkeTRlSGg0VUZSV3hZOGNPRmkxYU5LemprTXZsMTN5djdOKy9IMWRYVjc3OTlsc3FLaXJJeThzRElDc3JpL3Z1dTI5STJ4R0x4ZjIyQ0hVL3gyZzBjdWJNR2FxcnE0bUtpaHAwaFVaYVdob2VIaDRrSlpsWFJuZnQyc1hVcVZNUmlVUnMzYnFWdkx3ODVISTVPcDBPSHg4ZlltSmltRDkvUG9HQmdmMVd5YlcxdGZIaGh4L1MxdGFHV0N6RzNkMGRiMjl2Z29LQ1NFcEt3dFBUazNQbnpuSHc0RUdtVFp2RzJMRmpCMzlTZWxCVFU4T1JJMGZRNi9YQ3VmTHk4aUl6TTVQVTFGU1NrcEt3dDdlbnRMUVVQNy92Vmd5SDIwNWx4Y3FQQVpGSVJFeVlpcGd3RmV1WFRlTnlRU1ZIenVadzVFd08xZlV0TkxWMkFEQTZ3cDhsczhZS01hdEQ0ZHZ6Qld6WmVSd2ZEMmZlK08xcVJuUWxpZlRrNTJ2bTBOYWhvYnltYVZCalJnU053S09yT2lRNjFJY3hVUUg5UG45bVVoUlJJVDRjT0pFdFZKYUUrWHNTRzZicUpSNFlqVWErT1puTjMzNis3Sm9UNmI1TVArTkgrdkdMZStid2Y2L3VZR1pTNUtCYUxES3ZsTEkzN1R4MkNodis5ZFRLWGlLVmc5S1cxNTVkeFZlcG1XUmNMdUhRcVN1MGQycVJTc1FvYkdVRSszbXdLR3cwOHliRkRyaXRNWkVCeElYN1hkTm85RWFpYnUvaytUZS9vcjFUeTk5L3NjeWliU2Nzd0lzTlQ2M2syWTJmazVhUlIwdGJCLzk0Y3ZrTjJhNk5USXJ6RUlTdHEra3YwdHRXTGlONTlNRCtjUXVtakdMQmxGRm90RHFrRWttdlNpbDFod2FKUk1Ldjd1dmRlZ1lJaVZIMjF4QTUzSjN0ZVdMMTdBSDM0MnBHUi9qeityT3JCaVdldURoZTMrSm5SSkEzRGtwYlFRUzlGbkhoS21aTmlHWmYyZ1Z1bS9hZnR5aXdjdk5qRlZoK3hHaTFXc3JLeW1odWJxYTF0WlZYWDMwVmtVaUVVcW1rdnI2ZUhUdDJrSlNVeEcyMzNUYm85cDIydGphT0hqMXFzVnFzMFdoSVQwL250ZGRlWTlHaVJYenl5U2NrSnlkejIyMjMzWkQyazYrKytvcTJ0amJXcmwyTFJDSmh5WklsdlB2dXUzejQ0WWNzVzdic2h2Z2dpTVZpb3FLaVNFdEx3OG5wdTVzcU96czdpOStIUTJOakl4Y3VYT0QwNmRPVWxaWGg2ZWxKU2twS24vc2dGb3NGcjVuTXpFd0FacytlM2FjUFJWK01HREdDOGVQSFUxSlNnbHd1eDhQREF4OGZIMkZDdkhIalJvNGRPMFpjWE54TkthNzBwTHVhSnlFaFFaaDhuajkvSGxkWFYwcEtTZ2dMQzhQZGZlQVM3WUZJU2tvaU96c2JqVWFEZzRNRDN0N2V1TG01SVJLSnlNM041ZlhYWDhmTnpZMkVoUDZqLy9xaW9xS0M3T3hzVnE1Y2FlR3hvdFZxMmI5L1A4bkp5VUtieTZKRmk5aXdZUU03ZHV4ZzRjS0ZRNzUycEZKcG42L3BoUXNYYUdob1lQbnk1ZWgwT2hJVEUvbm5QLytKVkNwbDJyUnBRejRtaVVTQ1dDeW10YlVWVzF0YjRiT2pwYVdGbkp3Y2NuSnlLQzh2UjZmVFVWcGFTblIwOUtBcndKcWFta2hOVGVYQkJ4OUVKQkpSVzF2TG9VT0hNSmxNTEZpd2dIWHIxZ25QZmUyMTE0aVBqMmZpeEltREdqc3NMSXhubjMyV3BxWW1uSnljK3Z6TU14Z01IRHg0a0xLeXNtRUxMSzZ1cnVUbjV4TWFHc3FTSlVzQTgyZkEvdjM3V2JwMEtmYjI5alEyTnZMUGYvNlRHVE5tQ0NMaHpYNDlXcms1S0Nzcm83MjkvWDhtU1cyNFJBUjdFeEhzemJvN3BsQlIwMFJUYXp0ZWJvNURNdTNzU2VycEszUnFkUHorNGR2NkhVTXFNY2ZKbGxiMVRvYnBpN1czcFNEcThtQVpiSFdGajRjenF4Y00vTGttRm92N3JQd1pEQk5IaGJKd2FqejNMRXdlOExtMURTM1kyY3I1NWIxeisvMWVjckpYc1BMV0pGWjJ0UTBORnk4M1I1NTdhSGdMRFlQRlpESng0TVFsdmpoMGxqa1RZNWczS2JiUDFpWlBOMGYrK2FzVi9IM0xmdEl5Y20vWTlwMGNGRUlVOEEvTnRkNlhTb1VONFFIWFRnd005ZlBFeVY0eHBBcW93VElZQTJ0Ykd4a3FyK3Z6M2JPVnkzamw2YnNHSmViY2Uxc3lZZjVlZ3hLdnJQenZZeFZZZmtTY1BuMmFLMWV1WURLWmtNbGtTQ1FTUEQwOWNYUjBSQzZYczM3OWV1RzVOVFUxdlBEQ0M1dzRjUUpiVzFzV0xGZ3dxRzNZMjlzemQrNWNpOGRzYkd4WXMyWU5mLzNyWC9ua2swOVl2SGd4RXlaTXVDSEhsSk9UUTNwNk9yZmNjb3RRYlNNV2k3bnJycnQ0ODgwM2VmMzExMW16WnMwTldmMzE5amIzOXZhc1dPbXVZT2hHcTlXaTAra0d2YjNEaHcrVGtaRkJVMU1Ub2FHaExGMjZWQmkvcWFrSkJ3Y0hHaHNieWMvUFI2dlZjdmJzV1dKalkwbEpTU0U0T0poUFAvMlVQWHYySUpmTGUxVkFYQXQvZjMrY25KeDQvLzMzV2JCZ2dVVzFRWE56TTNaMmR2OXgwOTRiUVVGQkFYbDVlY1RIeDZOVUtzblB6eWNqSTRPSEgzNFloVUxCZSsrOWgwcWxZdkxreWYzR0JnK0VRcUZnN05peDdONjltK2JtWmlJakk0V2J5Rzd2b3VHbXUremV2WnZBd01CZWsvV0RCdzhpRm91Wk0yZU84SmhVS3VYdXUrL21wWmRlb3JtNW1lWExsdy9KK0ZZaWtTQ1ZXbjdrYTdWYWR1M2F4Y3FWSzRXMnV0emNYUFI2UFhmZmZUZkJ3WU5iNVRVWURPVG01bkx4NGtXMFdpMXZ2dmttVXFtVTVjdVhNMnFVZVlXMHBxYUdwcVltWEYxZHNiZTNKekF3a0x2dXVtdlFRbEY3ZXp0YnRteGg5dXpad3V0NThPQkJQRHc4bURwMWFwOS9JNUZJcUtxcW9yaTRtQ3RYcmxCYlc4dkVpUk92K2ZramxVcjdGZVc2LzY5YjlCb08zY0pWV2xxYThGaHpjek5LcFpLWUdMTnBYM1oyTmhLSmhQajRlQ0ZoSWowOVhmRExtajU5K3ZkaTVHMmxCejQrc0hvMWFMWG1uMjlTTGwrK3pPOSs5enZjM2QxWnRHZ1IwNlpOdzlYVkZhVlNlVU1XRy80YjhmRjB4bWVBRmVpQkdHeHlDNWhUamdJSDhJZm9aaWplSnQ4M2o2NGMzTUtOaDZ2amtFeDNid1MyTnY5Wm40dVQ1d3Z3Y25QazVhZFdEdGhlckxDUjg4eTYrVlIxdGNUY0NKSkhoUkxXajNqeDMwQ2dyenUvZlhEaEQ3WjlYMDhYRW1PdVAxVzBMeCtndm5CenNoOVVETFNWSHdkV2dlVkhSR1JrSlB2MjdVT2hVUERFRTA4SWp6YzFOVkZhV3NycDA2ZHhjbklpTEN5TWlvb0t3RHdabnpGanhuVnQ5L3o1OCt6WXNRT0ZRc0dxVmF0dW1EOUtTMHNMVzdkdUpTSWlvbGNGaDB3bTQ5NTc3MlhqeG8yODlOSkxyRnk1Y3RDVHhXdlI3ZmZRY3lYNTZuYUl3c0pDM24zM1haWXRXMFo4Zk45TytUMlpPblVxVTZkTzVlMjMzeVkvUDUvbHk3OHJMOTJ5WlFzVkZSV01HVE9Hd01CQUpCSUowNlpORXlaZE8zZnVKQ2twaVpFalJ3NzUySnljbkRBWURMenh4aHM4L2ZUVEtKVkttcHFhcUsrdjU0RUhIaGkyUDhaL212YjJkazZmUGsxNmVqcWhvYUhjZXV1dDJOcmFVbHBheXRhdFd5MVNlTHJieFY1ODhVV0NnNE9KajQ4bk1qSnkyRjRXSVNFaGJOcTBDWlBKeEx4NTVwTFl2THc4Z29PRGgxWHBjZjc4ZVM1ZHVzVEtsU3N0SGk4dkwrZmd3WU9zWGJzV1cxdExjMFpQVDA4V0xseklwNTkrU2tWRkJjdVdMUnZVYTkvZTNrNTlmVDM1K2ZsQ0M4MmpqejdLcmwyN1VLbFVIRHQyRERjM054d2NITmk5ZXpkUlVWSEV4ZzVjcWczbWVPelhYMytkcXFvcUhCMGRrVXFsakI4L25oa3pabGkwdElXR2hoSWFhdllVeU0zTlJhbFVDdUpLUjBjSFpXVmxORFEwRUJBUTBNdHJ5R2cwc21IREJqUWFEV0t4bUtOSGo5TFIwY0dGQ3hkNC9QSEhNWmxNVkZWVjBkVFVSSFYxTlZWVlZWUlZWWkdhbW9xSGh3Zk96czYwdGJWUlVWSEJwNTkrU2xWVjFiQU1qKzNzN014OS9BTzBRQTFFZkh3OE8zZnVSS2ZUVVZ0Ynk4bVRKekdaVEhSMmRtSmpZME5xYWlydTd1NGNPWEtFZ29JQ3dCeEQ3K3ZyUzBSRXhQOWtGUDFOVDNnNHZQRENENzBYZzZhMHRKUlhYbm1GdDk5K20vRHdjTWFNR1VOVVZCUlJVVkUzM012TGlwWC9OWkxpaG42ZjJsZkwySERwNmUzejMweGMrSTFyb1I4cUk5eWRidWhyWXVVbXhOTVRGaTBDdmQ3ODgwMkVWV0Q1RWFGVUtybjExbHQ1Ly8zMzZlam9vSzZ1anJTME5DNWV2SWpKWk9MU3BVdkN5dTYzMzM2TFFxRmd6Wm8xd3pKd05ScU5YTDU4bVFNSER0RFkyTWlNR1ROSVNrcml6VGZmUkNhVGNmZmRkL2VhUEE0RnJWYkxsaTFiY0hSMFpOV3FWWWhFSWs2Y09FRmRYUjJqUjQvRzE5Y1hoVUxCdW5YcjJMQmhBNisrK2lvelo4NWt4b3daZzJwM3FxNnVSaWFUV2NUNmRnc3JQYXNBdXF1QnVzbk56YVd6czVNUFAveVFrSkNRUVFrVkdvMkd2THc4UWtORExjYUtqNDlIbzlGdzU1MTNBdVpxaCs2Sm5VYWo0WjU3N3JtdXhLUTc3cmlERFJzMm9GYXJVU3FWWkdWbE1YYnNXS0cwWEsxV1UxVlZoVWdrdW1HUnM4T2xvS0NBSFR0MlVGRlJnYU9qSTh1WEx4Y2lnYnRYOWg5OTlGRmNYRnhvYW1xaXFha0pQejgvbGk5ZlRuQndNTnUzYjZlZ29JRFBQLzhjZTN0N1ZDb1ZDUWtKUTZvQ0dEbHlKR1BHaktHeHNSRXdWMjFjdm55WjlldlhJeEtKTUJxTlZGZFgwOWpZaUVxbDZ2ZTFhV3RyWS92MjdRUUVCTEJqeHc3Q3dzSndkSFJFcTlYeTBVY2ZNWFhxVk1GTUdjenZ4ejE3OWpCcDBpUW1USmhBVVZFUnAwK2ZadVBHamNURnhURjE2bFFDQXI3cjNWZXIxUlFVRkZCYVdrcGhZU0ZGUlVVWWpVWlVLaFdUSmswaU9qb2FrOGtrUkl6bjVlWHg4c3N2NCtQalEzbDVPYi84NVM4SGZWNXNiR3g0L1BISGhkOWZmUEZGb3FLaXFLMnR4YzdPenVKOVl6QVlxS3VyUTZQUmtKK2Z6NlpObTZpcHFSSE9LWmlyVGg1KytHR0w0ekdaVEhSMGRPRG01a1pWVlJXZW5wNmtwNmV6ZE9sUzNOM2RTVXRMNDh5Wk03aTZ1dUx2NzA5aVlpTHg4Zkg0K1BnSXI4T1hYMzVKY1hFeEV5ZE9KRGw1NExMM2F5R1R5VkNyMWJTMHRLQlFLSWFWZm1aalkwTk1UQXh2dnZrbStmbjVMRjY4bVBuejUyTm5aMGRxYWlwZVhsN01uVHNYblU1SFlHQWdCdzRjNEttbm5ocjJQbHY1OGRHZFNOYlIwVUZtWmlibno1L0gzdDRlWjJkbndzUERtVFZyMXFCYlM2MVlzV0xGaXBXYmpxZ29lT09OSDNvditzUXFzUHpJaUkyTnhjbkppY0xDUWxRcUZSTW5UcVNscFFVM056ZkJEeUEzTjVjclY2NndmUG55SWZ1THFOVnF2djMyVzA2ZVBJbVRreFBKeWNuRXhjVWhrOGtvTEN3a0x5OFBaMmRuMUdvMU5qWTJWRlJVa0ptWmlZT0RBeE1tVE9qVnd0QVhCb09CTFZ1MkFMQisvWHBCcVBIdzhPQ1RUejRoUFQyZDU1OS9Yb2hzdnUrKyszamxsVmY0K3V1dk9YUG1ETE5teldMVXFGSDl0bGZVMTlmejNudnZzWGp4WXNFRG9Yc2lkWFZhU1BjNEdvMkdVNmRPWVd0cnkvMzMzei9vS3BCang0NWhNQmg2bVpmYTJ0cjJXaW0zdGJXbHNiRVJGeGVYSVhzeTFOVFU0T3JxS3B4akh4OGZmdmU3M3lHVHlhaXBxZUhNbVRPRWhvYnkvdnZ2VTFaV1JtMXRyZkMzMDZkUHZ5R0d4TU1sS0NpSTJOaFkzTjNkV2J4NE1YSzVISzFXSzdTY3lHUXlEaDA2UkVGQkFaV1Y1bWhKRnhjWFZxMWFSV0ppSXFHaG9XUm1acUxUNlhCeWNrS2xVZzNZMXFQVmFtbHBhYkZvR1ZtK2ZEa0dnNEgyOW5ZeU16TnhjbklpUFQyZDh2Snl5c3ZMaFJodFcxdGJmdldyWC9VcHNwaE1Kclp0MjBaMGREVGp4bzFqdzRZTmxKV1ZFUkVSd2RhdFcxR3BWRVJFUkxCeDQwWW1UWnBFWEZ3Y1hsNWVWRlJVOE1ZYmIvRG5QLytaRlN0V0VCSVN3dVhMbDJsdGJXWGZ2bjFNbVRLRmtTUE5aZXdGQlFVY08zWU1rVWlFU3FVaVBqNmV6ei8vbk9qb2FBdXZtTzVXc05EUVVGSlNVdGkxYXhjT0RnN29kTHJyZXIxMjc5Nk50N2MzYXJXYTZ1cHFLaXNycWFpb29LNnVEcWxVaXJlM040Mk5qWFIyZHJKOCtYSWNIUjJGdGtXUlNOUkwxSlZJSkR6MzNIUEM3d2NPSENBa0pJUzR1RGdBa3BPVENROFBwN0N3a0tpb0tPenQ3ZG0xYXhlYk4yOW0xYXBWeE1URTBOcmF5cE5QUG5sRGZIbnk4dkw0K3V1dmFXOXZ4OVBUazlEUVVHYk5talVrd1hQZXZIa29GQXFlZSs0NWxFcWw0SDJsMCtsWXMyYU44RG5UMk5qNEgwOHBzL0svUzdmUVlqQVlhRzV1cHJtNW1aS1NFZzRjT0lDZG5SMkxGaTFpM3J4NStQajRvRlFxaHlVWVdyRml4WW9WSzFhKzQ2WVZXQXdHQXprNU9VUHlHUGkreWMzTHg2alhnY21JWHEvL29YZG5VRWdrRWhJVEU4blB6eWNxS2txWUVKaE1Kckt5c3Fpc3JPVE1tVFBFeE1Rd2J0eTRJWS9mMGRGQlpHUWtreWRQdGhBaW1wcWFlUC85OTNGMmRzYk96bzdObXpmVDN0Nk9nNE1ERFEwTmRIUjBjUHo0Y2Rhc1dkT3ZYNFpXcStXOTk5NURJcEh3d0FNUFdMdy9Ra0pDc0xPenc4Zkh4OExYd2R2Ym03dnV1b3QzM25tSGhvWUd0bTNieG80ZE80aU1qQ1FtSm9hNHVMaGVQYllqUjQ3RXdjR0JiZHUyWVRBWW1EQmhndkNjbnM4MUdvMkNZTEZyMXk3MGVqMFBQdmpnb05PWE5Cb05xYW1wVEpvMENYZDNkelFhalNDcWFMVmFRVHlxckt4RXI5ZXpiZHMyYW1wcUNBb0tZdDI2ZFVPNlBuSnljdGkzYng4alI0NUVvVkRRMnRvcUpFanA5WHBrTWhrYWpRWVhGeGRDUWtJWVAzNDhIaDRlK1ByNi91Q2VMQ0tSeUdLMU5UczdtN2ZmZnB1b3FDZ0NBZ0p3YzNOajlPalJUSnMyRFRzN08vYnYzOC9odzRkcGJqYjNSTHU2dWc2NWpVY2lrYkJ4NDBaY1hGenc5ZlZGcjlmVDBOQkFUVTJONEwxaWIyK1BTQ1RDMWRXVmlSTW40dTd1anBlWEY3Nit2dGVjcU96WnN3Y25KeWR1di8xMklkN1p4Y1dGUFh2MkVCZ1l5TFJwMHpBYWpaU1dsbkxxMUNsQlJGQ3BWR2cwR3VHNlNreE12R1pLVW14c3JFV0x6NDRkT3dDdStYNHBMQ3hrNzk2OVRKczJqUXNYTHZEU1N5OHhhZElrcGsrZlBpVC9vcGFXRnRScU5TTkhqaVFsSllVdnYvd1N0VnFOdjc4L01URXgrUG41Q1FiQisvZnZaOSsrZlpoTUpqeUhVTnFabDVmSG1UTm5lT3l4eHdDRUtHUm5aMmN5TXpQNThzc3ZlZWFaWjNCemM4TmdNQWlpemRXdFdNUEZaRElSSHgvUGloVXJPSERnQU1lT0hlUDQ4ZVBrNXVZT0thSzcrN1BYemMxTkVFdmQzTng2VlJXbzFXcEVJaEVYTGx5Z29xS0MwdEpTdEZvdGlZbUp3emJhL2I0UW1ZemtYTG1DOU1Za3BQK3dHQXpRSmFCaWF3czNxWjlKZm42KzROc0RDTitGM1VKTHo1L2IyOXY1OE1NUCtlU1RUd2dPRGlZNk9wcWdvQ0RHalJ0SGNIRHdvQlk4ckZpeFlzV0tGU3VXM0xUZm5wMmRuV3pac3VXbVhrM1I2L1dZTkdwa0lLeGMzNnpVMWRWeDd0dzVSb3dZUVd4c0xHKy8vVFpxdFJxajBVaFJVUkVTaVlUT3prNENBd05wYTJ0ai92ejV3OXBPWDZ2RHBhV2wvUHZmLzhiWDE1ZTc3NzZienM1T3RGb3RycTZ1aU1WaU5tM2F4SlVyVnpBWURCWTNnVmZUMXRiRzFxMWJpWXVMSXlrcHFVOXpUQThQRDZHdFI2ZlQwZHpjakx1N08xRlJVVHo5OU5NVUZSV2gxK3V4c2JGQkxwZmo0T0RRcDRHWlJDSmgzcng1dlBmZWUremN1Wk14WThZSTIrdjUvTzRLbGdzWExuRDI3Rm51di8vK1FZc3JqWTJOYk42OG1jN09UdXpzN05pNGNTTUZCUVdFaFlWeDc3MzMwdDdlamxhcjVlV1hYOGJCd1lFVksxWXdjdVJJb2ExbnFOZUdTcVdpdmIwZER3OFBvV0xBenM0T0J3Y0hYRnhjYmxyZmxiNklqSXpFenM2T0tWT21FQm9hU2xsWkdhNnVyc0pLZjNCd01FZVBIaVU2T25yWTI1QklKSGg3ZTlQUzBpSVlEMGRFUktCVUtuRjJkcjVtMGt4L25EOS9IamMzTjhIRHBYc3libU5qdzZSSms0Ukp0MWdzUnFsVVdsVFpPRG82RHF1U29idXFUQ0tSY096WU1lcnE2a2hKU1JGOEdPcnE2bmpublhlWU9IRWk4K2ZQWjhhTUdiei8vdnNjUG55WTlQUjBFaElTbURoeDRvQytEVFUxTld6YXRJbTJ0amJCNjZabkhQelZkQXVwcGFXbG5EOS9Ib1BCUUdKaW9rVnIwTlZrWjJlemRldFdJaU1qMmI5L1AvWDE5UVFGQlJFYUdvcENvV0R0MnJVY09uVEk0aHE5WHUrbHErbWV2Q29VQ2hZc1dFQktTZ29IRHg0a0t5dUxscGFXZnNWSWc4SEE2NisvanBlWEY0c1hMMFlpa1NDWHkwbExTMlBIamgxTW1qU0p6czVPb2RLZ3JxNk91cm82WkRJWlI0NGN3ZEhSRVRjM3QvK2V5R2FEbHMxdnY0VjhrT2tvTnpWNlBiUzFnY2tFRGc1d2s0b1BHbzBHclZiYjYvSCtoQmFkVGlja2ZIVWJQZnY1K1FrSmRkZlRpbXJGaWhVclZxejhSK2pzaE81cWV3OFA4K0xIVGNKTmQ0Zmc2dW9xck9RYmpVWTBHczBQdlV2WHhHQXdZTUlFaVBvVkJtNEdYRjFkR1RseUpCY3VYR0QzN3Qwa0pTVXhhOVlzdEZvdEdSa1pKQ2NuQzU0UDNXMEcxNHZSYUNRMU5aV0RCdzh5ZmZwMHBreVpnbGdzdGxoRnYzRGhBbGV1WEdIRWlCRTg5TkJEMTV3NDFOWFZjZkxrU2U2ODgwNmNuYzJPM3FXbHBTaVZTZ3VmbEc3RDA3ZmVlb3Y4L0h4ME9oMHJWcXhnN05peHVMaTRES2tTWTlTb1VadzllNWFMRnkvUzN0N2VwOENpMSt1cHI2L25tMisrNGY3Nzd5Y3dNSERRNDl2YTJsSlRVME5BUUFDMnRyWWtKU1ZSVUZDQXdXQkFLcFhTMnRwS1dGZ1l2cjYreU9WeTRYWFI2WFRFeE1RTU9hYTNlMkk0ZnZ4NDRSeit0eUlTaVN6YTE5TFQwemw3OWl6MzNITVBFUkVSU0NRU2JHeHNydHMzeG1nMDR1L3Z6L2p4NDY5M2x3RjZ2VzdkMVJlMnRyYTl4Qk9kVG1jeHNaSEw1Y05hVWQ2L2Z6OVNxWlNJaUFnY0hSM0p5c29pS3l1TDMvLys5OVRXMXJKcDB5WkdqeDdOd29WbXQzK0ZRc0Y5OTkzSDNyMTcrZWFiYjBoTFN5TXRMWTBSSTBZUUhSM05sQ2xUZWwybjU4K2Y1Nk9QUGlJaElZR2NuSnhlKzZEVmFxbXRyYVdxcW9yS3lrckt5OHNwS3lzRElDc3JDeDhmSDd5OHZQcDl2V3BxYW5qNzdiY0JxS3FxSWp3OG5GdHZ2UldwVkVwTlRRMGJOMjdFMWRXVkJ4OThVUEJKY1hOenV5NnZwNzR3R0F3V0ZRSXVMaTRzV2JKRWFMSHNENGxFd29nUkl6aCsvRGdMRml4QUlwRWdrVWh3Y1hGaDVzeVorUHY3VTFoWXlKa3pad1Mvbk8zYnR4TWRIUzJJY3Y5dDZIUmFUQ2Jqd0UrODJkSHJ6UWxDSmhOb05PYUtscHNRdlY1L1hmY2ozV2JMYXJVYWpVWnowOS9iV0xGaXhZcVZIeW1abWZEVG41cS9tMTk5Rlc3UXZmcU40S1lUV0h4OGZIaisrZWRwYUdqNG9YZGxRSEx6OHZuN2hsZlJkSFlPMlEvaiswWXNGdVBuNTRlZm54L2p4bzNqMy8vK04wNU9UdGpiMjJNeW1mcGROUjRPNWVYbDdOeTVFMWRYVjU1NDRnbXlzN05KVDA5bjFLaFJ3dVNzcHFhR2JkdTI0ZXpzekxwMTYvcGRsWFZ4Y2VubEFaS1ZsY1hCZ3dkSlRFd1VqR0NsVWlsZVhsNk1HaldLcVZPbjR1UGpjMTMrQlN0V3JHRFhybDI0dUxoUVhWME4wTXUwOCtqUm8vemtKejhSWXB3SHk3WnQyOURyOWNUSHg1T2NuRXhwYVNrU2lZUTc3N3dUaVVSQ1pXVWx3Y0hCUkVaR3Nubnpab3hHSXhFUkVUUTNOMXRFUlErV3hzWkdiRzF0aCt5cmM3UFNVK2h5YzNPemFLbTZVVFEwTkZpWXpWNHZWNHRpM2EyRmZjVW5xOVZxaTRvd21VdzJaRkd0cXFxSzlQUjA3cjc3YnFGNjV2SEhIeWMxTlpWTGx5N3g2YWVmTW0zYU5GSlNVaXorcnFPamc1U1VGQklURTZtc3JFUXFsZUxrNU5UTCs2ZWpvNE5kdTNaeDRzUUpKaytlektKRmkzamhoUmVFU1ZscmF5dnZ2UE1PeGNYRjJOallFQkFRZ0wrL1B5a3BLU2lWU2w1KytXWHV2UFBPUVYwN2JtNXVKQ1VsRVIwZGJSR1ZyZFBwOFBUMDVHYy8reGw3OXV3UjJ0M3E2K3R4ZG5hbXZMeWN1cm82cXF1cnFhbXB3Y1BEZzhtVEp3L3JNN3RiRUJ2cTY5Q1RzV1BIY3Z6NGNlRTFGNGxFakI0OVd2Z01EZzRPRnFwdW1wdWJxYXFxUXFsVW90VnFiK3FXMlQ2UnlIbmd3ZlZFUmQ0WTBmNEg1ZHc1K01NZnpPTEtvNC9DcUpzemp2UE1tVE5zMmJLbFYxVnRYMEpKOS90WUtwVVNIQnhNVkZRVXdjSEJKQ1FrRUJJU1ltMFJzbUxGaWhVck55OGRIVkJZYVA1ZTd1ajRvZmZHZ3B2dTIxTXNGbHZjWU43TVNLUnl4RklaaUxUL1ZUY2k3dTd1UFBqZ2cyemN1QkdkVG9lZm45OE5FNGowZWoyblQ1K212YjJkRlN0V0NKVVNLcFdLMTE1N2pRTUhEdkRrazAraTErdDU2NjIza0VxbHJGKy9mc0JKZjE4cjIyUEdqT0hnd1lOMDlMaW9wRklwYm01dWc0NllIUWlGUXNIU3BVdUYzL3VhSUM5WnNtVEk0a3BxYWlvTkRRM0V4TVFJaitYbjV4TVFFSUM3dXpzR2c0R0tpZ3BVS2hWU3FaU1ZLMWV5Y2VOR0dob2EwR3Exd3hKWXlzdkxVYWxVMXpVNXZKblFhcldDeUtMVDZSQ0pSRUo3Vmw4bDhrT2xzN09UK3ZwNi9QMzlyM3VzYTlHOW4xZS92N3U5V2E3MkkrcFpPVEVRQm9PQkR6LzhrSEhqeGhFWEY4ZXBVNmNBODN0YUpCS3hkKzllUm84ZVRYaDRPQzB0TGRUWDExTmVYazVCUVFFWExsekFZREFRRVJIQjRzV0wrMno5TzNqd0lGOS8vVFZhclphVWxCVEJwTG5uUGpvNE9QRFlZNC9SMXRaR1NVa0pQajQrd21kQzkzWGJNY2d2UllsRVluRXQ1dWJtY3Zic1djTEN3dERyOVhSMmR1TGc0TURubjM5T2ZYMjlFRFcvZWZObW9TVlFMcGVqK2YvMjdqMHE2dnZPLy9nTFpyaUR5UDB1RjFFVTBYaS9FRFZlTUZaald5M2FHS0xWR2pYSk1lbHVtMno3YS9lMys5dHVkbnMyamZsdHNyOTZtbTJiSnRXWXhxU3JTV3MwRFY2SWx4cURpbmNSU1VBZ2dvTGM3ekF6dno4bWpCbTVPRG9vcU0vSE9aNHo4MlcrMysvbkMrT0I3MnMrbi9lN3BVWG56cDNUMkxGakhmNWVkdWdJeEp6NVB4UVRFMk1yMHZ6MXptVEZ4Y1dxcTZ0VGNuS3k3YlhIangrWHA2ZW5VbE5UOWVhYmIrcjczLzkrdjE0MmV6MkxpNnVHSmlYWkZWYSthOVhYV3o4bGEyNldFaE9sZm5wTjFkWFZuWmF4WHEvai9ldnQ3YTI1YytmcTRZY2ZWa3hNakFZT0hOanZQeXdDQUtDL3UzdFNBZlFxWDE5ZkxWbXlSQnMyYkZCVVZKU3RHS1N6akVhakprK2UzR2w3Ykd5czFxNWRxOWRmZjEzNzkrL1hrU05IWkxGWXRHN2R1bHZ1NmhFYUdpb1hGeGU3L1YxY1hHNWJPMkVYRjVkTzlWcE1KdE5OejVBNWRlcVVqaDgvcnJWcjErcmpqejlXZG5hMmpodzVJb1BCb0tDZ0lOc05vSitmbiswRzI5ZlhWNDgrK3FnMmJOZ2dQeisvVy9xZUZSUVVPRldUcEQreFdDeXFxYW14RlFTdXJxNVdlSGk0N1dkZlYxZm45UHVnc0xCUTd1N3V0elZnNlZnQ2VmMVl6NTA3cCtqb2FMdWxYR2F6K2FadTdMZHYzeTVQVDA4dFdyUkkwclU2VWE2dXJwbzNiNTVtejU2dEYxNTRRZG5aMlJvK2ZMaUNnNE1WSEJ4c2F4RzlaY3NXNWVibWFzK2VQZnJ1ZDcvYjZmZ3BLU25LeWNsUlRFeU1GaTVjYU50dU1wbHNNejA2K1ByNnFxbXBTYi80eFMrMGJOa3lXMmN4eVZwbzAxRXRMUzA2ZHV5WURodzRvSWlJQ0MxYXRFaHVibTQ2Y09DQUxsMjZaRnNLNmVMaW9zMmJOK3VwcDU2eXRmUHVEUjAvTDJjQ0ZvUEJvTURWYzBKZEFBQWE0MGxFUVZUQVFEVTJOdXJLbFN1cXJxN1dwazJiTkg3OGVNMllNY1AydXFhbUp1M2V2VnVwcWFrYVBYcTBjbk56dFduVEpxMVlzYUpQVzZiajd1UGk0aUlYRnhkNWVuckt4OGRIUTRZTTBmejU4Ky9hWldlQUk1cGIyclR2V0o3cTZwczFaMHF5QnZnNkhoNjJ0WnZVYmpMSnk2UHJXWU41Rjh0MDlNeEZqUmsyU01NU2J1NEROZ0QzUGdLVysxUkRRNE0rK09BRERSbzBTTzN0N1hydHRkZTBkT2xTQlFVRjNiWnpKaVFrS0MwdFRkdTNiMWRFUklSV3IxN3RWQzJRamdLUlgyOWwzRlVJMGx1dVAzWkhLMXVqMGFpMnRqYlYxdGFxcHFaR3RiVzFhbXhzbEp1Ym14SVRFKzNxdmx5OGVGR1hMMS9XdW5YcmJNVUVFeE1UYloxaU9odzhlTEJUaDVDR2hnWkoxaHZTeno3N3JOc09NbDJwcXFwU1VWR1JsaTVkZXRQWDdhalMwbEw1K3ZyS3o4L3Z0cDJqUTBjQjRJNmZmVUZCZ2QyTnRMdTd1OU5GZTArY09LSGh3NGZmMXRscFRVMU5uVzZXVFNhVHNyT3o3VzYyTzdZN1dnOWgzNzU5cXF5czFPclZxMjNqcjZpb3NBc2d2Ynk4bEp5Y3JKcWFtazd2aTQ0d0pqdzh2RlA3OEE2aG9hRjY3cm5uT20xdmJXM3RGTEJJMXFVeG4zLyt1UW9MQ3pWcTFDaGJTSEdqR1N5TmpZM0t6TXhVV1ZtWkNnb0s1Tzd1cmlWTGx0ak5VcHMxYTViZFB1Kzg4NDZ0bmxkRlJVV3Z0R2FXcm4xZmJ2VTkwZExTb29zWEw2cXRyVTJ2dlBLS2pFYWpwaytmcmlsVHBuUmEzdmJoaHgvSzFkWFYxdjFxNGNLRmV1bWxsL1QyMjI4ckl5T0RrQVU5NnZqLzVlWGxwYUZEaDJyczJMRWFQbnk0a3BPVGIzckdKZENmdFp0TWFtbHRWM05ybTc2OFhLMzhvc3M2ZWFGRXB5OThLWU9ycXlwckcvVEhuWWYxd2pNTE5Ud2g4c1lIbEpSYlVLcWYvL3JQK3VucStScVgzTG0yWGxSb2dINys2ei9yOSs4ZjBKcjA2ZnJ1M0p2dnVnbmcza1hBY3AreFdDdzZlL2FzdG03ZHF0RFFVSzFjdVZKR28xR2JOMi9XK3ZYcmxaYVdwbW5UcHZYNlduK1R5YVJkdTNZcE16TlQ0OGFOMCtMRmkzdmxIQjRlSHAwQ2xhL2ZlTlRYMTZ1MnRsYXRyYTN5OWZXOXBSdXRqbTVFUlVWRk1wdk4yck5uajY1ZXZXcGJ4dkhxcTY5MjIwWEthRFJxeFlvVnRtbi80ZUhoZHZWdXhvOGZieGNRU2RZYis3S3lNcTFhdGNxMjdlelpzOXEwYVpObXpacGxhOWRjVWxLaVJ4NTVwTlArWFRsNjlLamk0dUo2YklIdGpDMWJ0dGc2MWF4ZHUxYUppWW0zNVR3ZGZIeDhGQllXWnF1eFVWNWVyc2NlZTh6MjlhU2tKTnZQNTFhMHRMVG81TW1UV3JGaVJXOE10MXZsNWVXZGxuenMzYnRYQXdZTTZCU2dkUVJzTjNMbHloVjVlbnBxNWNxVmRpRkdiVzF0cDV2eTJOaFkvZTF2Zit0MGpLdFhyMHFTbGl4WjR0RDdxN3E2V2cwTkRSb3dZRUNQNDB4UFQ3ZUZMeDFMaVc1VXlOemIyMXVOalkzS3k4dFRVbEtTbGk1ZDJtTlhrN3k4UEIwNWNrUVpHUm55OXZiV3l5Ky9yTWpJU00yYk44L3A5My9IZStwV0FwYWNuQnk5OWRaYmtxd2RvZWJObTZlSkV5ZDJlYXhQUHZsRW4zMzJtZGF1WFd1YkllZnA2YW1sUzVmcXRkZGVVMk5qbzVZdFczYjNkQlBDSFJjWkdhbjU4K2RyK3ZUcENnc0x1Nld1WjhEZElDdjd2UDVyOHk0MXRiUXBNU1pVVTBZUDF1SzBjZnJmYXhmb2pXMEg5TzdIUnlSSitjVlhIQTVZS21zYVZGUGZwRStPNUhVWnNQaDRlZWlGWnhicHgvLzNQUlZldXZXL05RRGNtd2hZN2dPdHJhMjZkT21TaW9xS2RPalFJYm03dTJ2Um9rVjI5VCtXTFZ1bWJkdTJhY2VPSFRwdzRJQW1UWnFrTVdQRzlNb05lVUZCZ2JadTNhckt5a290V3JSSUR6NzRvTlBIN09EdTdxN3E2bXFkT25WS0ZSVVZLaWtwVVVsSmlZNGRPNmFyVjY5MnFzVVJHeHVyTld2V2RMdk8vTWlSSTlxOWU3Y2thN0RTMU5TazV1Wm0rZmo0S0NBZ1FNbkp5YXF1cmxaZ1lLQmlZMlAxMEVNUHlkUFRVNTZlbmpJWURHcHZiMWRyYTZ1YW1wcFVWVldsbXBvYXV6RmNmN042L2ZLaTJ0cGFmZkRCQjFxMmJKbTh2THhVVTFPanJLd3NWVlJVYU8zYXRVcElTSkRaYkZacGFha09IanlvTTJmT2FPYk1tWm80Y1dLM2dWVlRVNVAyN2R1bnh4OS8vS2EvdjQ3S3pjMlZaQTNTenAwN2Q5c0RGa2w2NXBsblpEQVl0SFBuVGcwZVBGaXhzYkhLek16VXlaTW5sWlNVcERGanh0enlzZmZ2MzYrd3NEQU5IVHEwRjBmY1dXRmhvZDNNaGJObnorcUxMNzdROHVYTE93V0hWVlZWRHMxYUNBME5WV2hvcU4yMmpzRGsrdmZJb0VHRDlORkhINm1wcWNuV0dyaTZ1bG9uVDU2VXA2ZW53KzFaL2Z6ODlKZS8vRVVuVHB5UTFQbDkzYUdqYTQ1a0RUOGQ5ZGhqajJudTNMbDJIY082Y3VuU0pmM2hEMy9RcEVtVGJEVldIbi84Y1czWXNFRm56NTVWUmthR1JqdFJuTFNvcUVpU2JxbVk4cGd4WTFSWFY2Znk4bkk5OHNnalhSN0RZckVvS3l0TGUvYnMwVk5QUGRXcEZ0bVFJVU0wYmRvMDdkKy9YK3ZYcjlmQ2hRdnRaZ01CUTRjTzFlOSs5N3RlTGM0TjlBY2YvKzIwTnY3bGtGSVNvN1JxNFZTRkJsbC9QNlZOVHRhVUJ3YXJwcjVKa1NIWFprVi9ldklML2VXVEUxcjluV2xhT0d1TVBHNmlYZnpCbkh6RlJRYnIyWXpaM2I0bUlUcEV2L3Y1U3JXMVdXdHpOYmUyNmNpWlFwVmNybExxNkVRTkN1LzU5eFdBZXhjQnl6MnN2cjVlNTgrZlYxVlZsYTBMeU5OUFA5M2xUWk9ycTZ2UzA5TVZFaEtpN2R1M0t6TXpVNW1abVFvSUNGQlNVcElTRWhKc0JWZ2RWVkpTb2wyN2R1bjA2ZE9hTkdtU25uenlTYWVXYlZ5K2ZGbVptWmxxYVdsUmJXMnRxcXFxMU43ZXJwS1NFdHVuNStQSGo3Y0ZIa2FqVVVhalVTNHUxamJhSFVzc2VycEpIVDkrdlB6OS9WVmNYS3lBZ0FDRmhZVXBLQ2pJb1UveG5WVmZYNitOR3pkcXlaSWx0cGJNUnFOUkN4WXNzQnV6cTZ1cmxpOWZyaTFidHVqQ2hRdmF2bjI3OXU3ZHE5VFVWTTJjT2JQVGpmbjc3Nyt2SVVPRzlGcjc3YTdNbmoxYk8zYnNVRXRMeXgxckFlM3Q3YTJQUHZwSUJRVUZ0cVVxYytiTWtZZUhoKzE3TW16WU1GdFk1YWl5c2pKbFpXWHA2YWVmdmwxRHQzRnpjN05iUW1heFdMUm16Wm91YjVnYkdocHUrWDNZY2J6cmkwbEhSMGZMYkRicjVaZGYxc0NCQStYbjV5ZGZYMTlGUlVVcFBqNisyNWxaMXpNWURNckl5RkI1ZWJtcXE2dTdyVnZUTVpNbU1EQlFaODZja2FRYmhpWWRidlM2bkp3Yy9lbFBmOUxreVpPMVlNRUMyL2JZMkZpbHA2ZnIzWGZmMVh2dnZhZms1T1JibmozWE1ZUEYwZURwZXRPblQrLzJhN1cxdFhybm5YZGtzVmowb3gvOXFOdVc4Z3NXTEZCcGFhbnk4L08xY2VOR2hZV0ZhY2FNR1pvd1lRSkJDMjVyelNpZ0w4MlpNa0xuQzh2MDU2d1RhbTFyMXo4LzlTM2IxM3k4UE9UajVhSC85L1p1bFZ5dTBnTkRvM1d1b0ZULy9jL2ZVMFRJemYxTlVsblRvTDhkejlkTHp5MVJRMU9MUGpseVh2T21qcFM3bTFIbGxiVXlHZzBLR09Bams4bXN5MWRyZGVKOHNZN25GaW0vK0lxOFBOeDBxYnhHcjIvZHIwZW1qZExmTDUvVDI5OEdBSGNCQXBaN21LK3ZiNmM2SGpjeWZmcDBKU1ltS2lzclMwVkZSYXFycTFOT1RvNU9uRGdoTHk4dmhZZUhLeTB0cmR1MnppYVRTZWZQbjllaFE0ZVVuNSt2TVdQRzZQbm5uMWQ0ZUxqVDF4TVdGcVpKa3lZcE56ZlhGdnFFaDRmM2VzMlZJVU9HOUdwaFRFZTB0TFFvSnlkSEsxYXNzS3RoMHQwU0FDOHZMNjFjdWZLR3g5MnpaNDl0OXN2dE5IWHFWTVhFeEdqRGhnMTY0SUVIYnV1NUpPdXNySzFidDZxd3NGQS8rTUVQN0c2K3AwK2ZydWpvYUczY3VGRzV1Ym5hdTNldnc4VWNhMnBxOU9hYmIycng0c1dLaW9xNlhjTzNtVHg1c3NyS3ltelBleXBDSEJRVWRNdDFOeUlpSXVUdDdhMlFrQkM3N1FhRFFkT21UZE0zdnZFTnAvOGZHUXdHelp3NVU5N2UzdDB1UmZEdzhGQjJkcmIyN3QxcmV4NGZIKy9VZWN2S3lyUno1MDdWMTlmcmlTZWU2TElEM2FSSmsxUlhWNmVkTzNlcXVibjVsZ09Xa0pBUUdReUdic09QVzFWVlZhVURCdzRvTFMzdGhoMzBPanF2WGJseXhUWUx5TnZibTNBRndEM054Y1ZGejJha0tUNHFSRFgxWGRmdWV1STcwL1NmbXo3VzVoMmY2b05YbjFWdVFhbDJIRGlsRVlNak5URWwzcUhmYys5OW5LMTUwMFpxZUVLay9ucnd0SDcxeHozS0xTalZUMWJOMStZUEQ2dWl1azd1YmtiVjFqY3BJbVNna3VMQ3RTWjl1dUtpZ25YMGJLRisrdXBXalU2SzBiamtydjlPQm5EdkkyQkJKNUdSa2NySXlMaXBmYTVldmFxY25Cd1ZGeGZMMzk5ZkV5Wk0wUExseTN1OWxrdGZoQjkzZ29lSGg2Wk5tOWFyeDl5MWE1ZXFxNnYxNUpOUDl2clBvU3RaV1ZsNitPR0hiL25UZlVkMEZJRE55Y25ScUZHamxKNmUzdVhOZkVKQ2duNzR3eC9xcmJmZTB1WExseDA2ZG1WbHBkNTc3ejJscDZmZnNmZllzR0hESEo3S1AzWHFWSWRubEZ6UDFkVlZxMWF0NnZKbjA1dWRSRzYwTE12VjFWVUxGaXlRbDVlWGR1ellZWHQ4cXdvTEMxVlNVcUo1OCtiZE1NUk5TMHZUOE9IRG5YcC9UcGt5UmFXbHBiMWVZRFlnSUVEZi9PWTNiMnFmcnBhQ0FjQzlic0ZEOWgvaVZGVFZ5V2cweU1QZHFLSkxWelZpY0tScTY1djE4c2FQNWVGbTFKN1B6dW1kblovcCtSVnpOZmZCbEc2T2FwVjM4YklPbnlyUWhuOThYR2F6V2R2MkhGTmNaTERXcEQra0kyY0t0ZlBnS1czNnhXcUZCbmI5ZTJUMzRWejk4a2RMTkdZWU04bUEreGtCQzNwRlVGQ1EwdExTK25vWStFcERRNE5HakJoeHg3cEY3TjY5V3dhRG9WTTNsOTZXbjUrditQajRMbHVCWDgvZjMxL3IxcTF6T0pTb3JhM1ZxbFdyK20waHlCdk5iTGdSWjJlSzlLYlpzMmNySlNYRjZScFBjWEZ4aW92clhJQ3dPODdPU2hvd1lJQkRNOGR3RDBwTWxQNzFYNlgyZHV0akFQMUM0YVdyK3Vtci82UFUwWW1hTkRKZSs0N21xYUdwUlMvK2NMRWt5YzNOb1BmMzVDZzJzdWN1bVIyelZiNDU0d0hsRlY3VzJjOHZxYXFtVWIvNldZWUMvWDMwNzcvZHJzbWpCbmNicmtqU2o3NzNzTnlNZEhnRDdnaFhWOG5EUTNKeHNUN3VSd2hZZ0h1UWo0L1BIZXN3VWxOVG80Q0FBTTJhTmV1MkwxTzRsVG95amhZa3Zaa2JkVGp2ZG5XMEFtNkw2R2hwelpxK0hnVndYNnVvcnBmWmJMWUxPVVlueGNqZHphQjVVMU0wZWRSZ2ZWNWNydHlDVXR2WGsrS3NzeHVEQS93NkhlL3JqcDY5S0E5M282cHFHcFI5dWtEdjc4blJTODh0VWNoWDUwcFBHeWV6MmFKLyt0VTJQYi95Ry9MM3RjNitiRzgzS2JlZ1ZObG5DblhpZkxFa2FjVzNIMlFXQzNDN0RSMHEvZktYa3Nsa2ZkeVBFTEFBY0lxL3Y3K3RZd3NBQUVCdk1adk55aSsrb3NNbnY5Q2ZNbytxcWFWVnl4ZE0wZkp2cGtxU2pFYURBdjJ0SHlqbEZwU3F1S3hTQlY5V2FNRzZWL1hTYzBzVU5ORGFYTUZpTnZkNG5yOWZQa2Z1YmdaWkxOSno2N2ZvMll6WmRtMmRVMGNuNm8zM0QraGtYb2xPNVpXb3VLeFNaejcvVXFjdWZLbmdBRitOVG9yUnQyZU8wWWpFeUI1bnVRRG9KZUhoMHFPUDl2VW91a1RBQWdBQUFLRGZLYStxMTg3OXB4UWFPRUFUVXVLMTcraDVqUmhzdjl6VGFEQ290cjVKSlplcjFOcldydUVKRWZySE5Rc1U2TytqTDByS0pVazE5YzIyMlNoZDhmWjBsOFZpMFMvZitFakRFeUkwOThFVU5UUzE2T0tscTBvZUhLbXlpaHI5T2V1NC9zL1QzOUxvcEJqbEZ2Z28wTjlIaDA4VjZDZXI1bWxvclBQTkhBRGNHd2hZQUFBQWVsSmRMWjA3WjUyS25KSWkzYUYyOU1EOUxpeG9nUDV1bWJYZDhhdHZaZXFoOFVrYWUxMkhudGEyZGdVUDlOUERxU21xcm0xVVZWMmpxbW9iMU5qY3FnRmZMZVdwcUs1VDRxRHVDNE0zTkRicmxjMjdkREt2UkErbmp0QVAvdU50RFFvUFZNWWprMlV5bWZYaTczY3FQaXBZSTRkRXk5WFZWY21ESTFYd1pibFNSeWZLMzlkYkh4ODZvMk5uTHlwb29LOGVuVHZCZGw0QTl4OENGZ0FBZ0o2Y1BTczkvYlRVM0N5OThZYVVtdHJYSXdMdU8yNXVSbm1hT2kvMXFhMXZWa1ZOdlg3N1AvdVVsWjJySzVWMU92ZjVKYzFKSGFIMHRIR1NwQ3VWZFQwZWU5K3hDOHJLUGk4dlQzZTF0Wm4wVDJzWDJHYThiUDd3VTgyYm1xSzZoaFlkT0haQk15Y08wNFozOXVqRStXTEZSZ1JwMis1amlnangxOURZTVAzNjNTeFYxdFRySjZ0NnIwTWZnQzdVMVVsZmZDRlpMTkxnd1pKZnozV1c3aVFDRmdBQWdKNjB0a3BYcmtoTlRkYkhBTzY0c2NOajlSK3Y3OURmTFV1VDBXRHQxbE5XVWFQbTFqYkZSd1pyVUhpZ0xsK3RWZXBvYjYxYmVxMnJvYXVyaXlwckdubzg5cVNSQ1ZxVFBsM3pwNDJVci9lMTR2anRKcE1lSEoyb3VLaGc3ZGgvVXFVVk5aSWtUdzgzalJ3YXJXY2ZtMjEzbkQvdVBLell5T0RldW1RQTNUbDZWRnE2VkdwcGtiWnRrMmJNNk9zUjJmU3Zua1lBQUFBQWNKMlJRNkxVMk55aTlxL05ZaWt1cTVRa1JZVDRhMWg4aE1LREJpaGdnSDBYUll2Rm9ycUc1aDZQSGVqdm8rL09uV0FYcnB6NzRwSmUyWlFwYnk5M1NWSmJ1MG50SnBNa0tUSmtvSnFhVy9YSmtmTjZmZXMrNVYyOExFbnk4ZkpRR0VWdWdmc2FNMWdBQUFBQTlHc2U3a1lseFVYSTA5M050aTAwMEU5QkEzM3RncEdRQUQvVjFEWHFWUDZYYW1wdWs4VWllWG00ZFhYSVRzeG1zdzZmS3REVzNVZlYzbTdXVDFiTnMzVUZhbXh1bGVtcmNNZG9NQ2kvNklvR1JRUXBKanpRMXNsSWtzeVduanNXQWJpM0ViQUFBQUFBNkhkMkhqaWxzb29hWFNxdjF1ZkY1V3B1YWRQejY3Y29aVWkweGlmSGFsaDhoSDZRY1cyWmpvZTdtd2JIQk12ZnoxdGxGVFg2Ny9jK2tTUWx4ZlhjNWVkOFlaa081RnpRN2svUHFicXVVU3UvL2FBV3p4a25WOWRyay8ycmFodmxackErdDhpaXFOQUFMZjNHUkx2anRMV2JWTi9ZMGx1WEQrQXVSTUFDQUFBQW9OL3hkSGZUL21NWE5HM3NFSzFiT2tzRC9ieGxNcGwxS3I5RUh4MDhyWC83elhZTlM0aFFWVzJqSnFURWFXN3FDSVVHV1dlY0xKNHpYdVdWZGZyMDVCZWE4c0RnYnMvUjJ0YXVYNzZ4VTBXbGxZb0pEOVN2bnMxUVFuVG5qa1BGWlpXMlRrVHVSb05LTGxmcHQzLzZSR1ZYYTFWZVZhY1o0NU5VV2RPZ0JnSVc0TDVHd0FJQUFBQ2czNWs1Y1pobVRoeG10ODFnY05Yb3BFRWFuVFJJRFUwdDJubmdsTjc1NkxCZWVTdFQwV0VCR3BFWXBiaklJSVVIKzJ0c2NxeEdKY1dvN0dxdHZEemQ1R1l3eU9EcUlrOFBkeG0rbW8zaTdtYlVmLzJ2RE8wN21xZnBZNGZJNTJ2TGpiNnV0THhhbzRaR1M1S2l3d0xsNyt1cEtROE1scHViVWE0dUx0cDErS3phVFdhNUdpaHhDZHpQQ0ZnQUFBQUEzSFY4dkR5MGVNNTRmV2YyV08wL2RrSHYvalZiZnoxNHV0dlhHdzJ1R2pra1d2T21qclFMYm55OFBEUnY2c2dlenhVODBGY0owU0dTcE1SQm9mckpxbm0yVnM2U0ZCN3NyL2YzNUdqd1Y2OEJjSDhpWUFFQUFBQncxM0oxZGRWRDQ1UDAwUGdrSFQ5ZnBBLzNuVlQyNlVLWlRDWkZoZ1lvS1M1Y1k0Y1Awb1NVZVBsNGVkelNPWjU1YkxhaXdnSnN6ME91NnhiazUrT3BqUG1UTkhaNHJGUFhBdUR1UnNBQ0FBQUE0SjdRc1h5b3Q4VkZCZC93TlN1KzlXQ3ZueGZBM1lXQUJRQUFvQ2RHbytUdkw3bTdXeDhEQUFCMGdiOFNBQUFBZXBLU0l2Mys5NUxaYkgwTUFBRDZqcWVuRkJNanRiWmFIL2NqQkN3QUFBQTlHVGhRU2szdDYxRUFBQUJKZXVBQjZkMTNyWS9Edy90MkxOY2hZQUVBQUFBQUFIY0hMeThwUHI2dlI5RWxHclVEQUFBQUFBQTRpUmtzQUFBQVBibDBTZHE5VzJwdmwrYk9sU0lqKzNwRUFBQ2dIeUpnQVFBQTZFbGVudlRqSDB0TlRkTDc3eE93QUFEUWw2NWNrUTRkc2hhZmYvQkJLVFMwcjBka1E4QUNBQUFBQUFEdURtZlBTazgrS2JXMFNOdTI5YXVBaFJvc0FBQUFBQUFBVGlKZ0FRQUFBQUFBY0JJQkN3QUFBQUFBZ0pNSVdBQUFBQUFBQUp4RXdBSUFBQUFBQU9Ba3VnajFBclBKck9LU1MzSnpjK3Zyb1FBQTBLZUtpcjlVdTZsZEJnTi9ZdHhQVENhejhvcks1ZTdHengwQWJvZmFodWErSGdJY3dHL0JYdERTMnFvZEgrK1cwY2kzRXdCd2YyczN0YXVwcVZtK3ZyNTlQUlRjUWMwdGJmckQ5c055Y3pQMDlWQUE0SjVVVTBmQWNqY2dFWEJDVUZDZ1FrT0MxZExTS2tteTlQRjRBQURvYXdhRFViNit2Z29PQ2xSSVNIQmZEd2UzV1ZCUW9NTERRbFJiVnlkSmFqUDM4WUFBNEI3bDdlTWpkemVqd3NOQzVlcEtwWS8raW9ERkNkRlJrZnJQRi85ZFZ5dXIrbm9vQUFEMEt3RUJBeFVmTzZpdmg5RTdCZzZVVWxPbGxoYnJZOWhFUjBYcXhYLzdGMTBwcitqcm9RREFQYy9EdzBPSmcrUDdlaGpvZ1l2RlltSGlCUUFBUUhkYVc2V2FHc2xzbGdJQ0pIZjN2aDRSQUFEM3I2TkhwWi85elByN2VmMTZhZHk0dmg2UkRRRUxBQUFBQUFDQWsxaThCUUFBQUFBQTRDUUNGZ0FBQUFBQUFDZFI1QllBQUtBbitmblNwazNXdGQ1UFBDRWxKdmIxaUFBQXVIK1p6ZGJmeVM0dWtwdWIxSSs2S2hHd0FBQUE5S1NrUlByTmI2U21KbW51WEFJV0FBRDZVbDZlOU90ZlMrM3QwclBQU3NPRzlmV0liUHBQMUFNQUFBQUFBTkNUc2pKcHl4YnA3YmV0ai9zUkFoWUFBQUFBQUFBbkViQUFBQUFBQUFBNGlZQUZBQUFBQUFEQVNRUXNBQUFBQUFBQVRpSmdBUUFBQUFBQWNCSUJDd0FBQUFBQWdKTUlXQUFBQUFBQUFKeEV3QUlBQUFBQUFPQWtZMThQQUFBQW9GK0xqSlMrOXoycHRkWDZHQUFBb0FzRUxBQUFBRDBaT2xSNjhjVytIZ1VBQUpDazBGQnA0VUxwMUNuSjA3T3ZSMlBIeFdLeFdQcDZFQUFBQUFBQUFIY3phckFBQUFBQUFBQTRpWUFGQUFEQUVSYUxkUHEwZFB5NHRSNExBQUM0YzFwYXBJb0t5V1RxNjVGMGl4b3NBQUFBanNqS2t0YXVsUzVmbGxhc2tFYU1rS0tqSlYvZnJsOC9ZNGI5ODhKQzZ6OUhlSHBLa3lmYmJ6dHlSS3F2ZDJ6L3VEanJ2K3ZINzZqeDQrMnZxN2xaK3ZSVHgvZm4ycS9oMmgzYmwydTMzOGExTzdZLzEyNi83VjY5OXZaMjY3RnpjcVJEaDZRWFhwRG16NWRjWEJ3Zjd4MUNEUllBQUFCSDVPZEw2ZW5TeVpQVzUxNWVrcmUzNU9iVzlldExTKzJmcjE4dnZmeXlZK2VLanBheXMrMjNwYVZKWjg0NHR2OXp6MG5QUDIrL0xTTENzWDBsS1ROVFNrbTU5cnk0V0pvNDBmSDl1ZlpydUhiSDl1WGE3YmR4N1k3dHo3WGJiN3RYcjkxc3RvWXZUVTNXVUdYNWN1blZWeVYvZjhmSGU0Y3dnd1VBQU1BUmlZblNybDNTSzY5SW16ZGIvOUJyYTdOKzZ1Y0lrOG54MTNhMUJLbTE5ZWJPZFQxSDkrMk9NL3R6N1k2OWxtdnZ2STFyZCt4YzErUGFieDNYZm10dTU3Vzd1RmpEbEpBUWFmVnE2Ui8rUWZMd3VQV3gza2JNWUFFQUFMaFo3ZTNXR1MzbDVkMnZCV2ZxK0RWY3UyUDdjdTMyMjdoMngvYm4ydTIzY2UyT3VadXUzV2kwWG10NHVQVnhQMGJBQWdBQUFBQUE0Q1M2Q0FFQUFBQUFBRGlKZ0FVQUFBQUFBTUJKQkN3QUFBQUFBQUJPSW1BQkFBQUFBQUJ3RWdFTEFBQUFBQUNBa3doWUFBQUFBQUFBbkVUQUFnQUFBQUFBNENRQ0ZnQUFBQUFBQUNjUnNBQUFBQUFBQURpSmdBVUFBQUFBQU1CSkJDd0FBQUFBQUFCT0ltQUJBQUFBQUFCd0VnRUxBQUFBQUFDQWt3aFlBQUFBQUFBQW5FVEFBZ0FBQUFBQTRDUUNGZ0FBQUFBQUFDY1JzQUFBQUFBQUFEaUpnQVVBQUFBQUFNQkpCQ3dBQUFBQUFBQk9JbUFCQUFBQUFBQndFZ0VMQUFBQUFBQ0Frd2hZQUFBQUFBQUFuRVRBQWdBQUFBQUE0Q1FDRmdBQUFBQUFBQ2NSc0FBQUFBQUFBRGlKZ0FVQUFBQUFBTUJKQkN3QUFBQUFBQUJPSW1BQkFBQUFBQUJ3RWdFTEFBQUFBQUNBa3doWUFBQUFBQUFBbkVUQUFnQUFBQUFBNENRQ0ZnQUFBQUFBQUNjUnNBQUFBQUFBQURpSmdBVUFBQUFBQU1CSi94ODB1dHFKZCtON0FnQUFBQUJKUlU1RXJrSmdnZz09IiwKCSJUaGVtZSIgOiAiIiwKCSJUeXBlIiA6ICJmbG93IiwKCSJWZXJzaW9uIiA6ICI1MiIKfQo="/>
    </extobj>
  </extobjs>
</s:customData>
</file>

<file path=customXml/itemProps1.xml><?xml version="1.0" encoding="utf-8"?>
<ds:datastoreItem xmlns:ds="http://schemas.openxmlformats.org/officeDocument/2006/customXml" ds:itemID="{22E00AE8-C7AD-438D-AAB9-3D9E82ACA2F5}">
  <ds:schemaRefs/>
</ds:datastoreItem>
</file>

<file path=docProps/app.xml><?xml version="1.0" encoding="utf-8"?>
<Properties xmlns="http://schemas.openxmlformats.org/officeDocument/2006/extended-properties" xmlns:vt="http://schemas.openxmlformats.org/officeDocument/2006/docPropsVTypes">
  <TotalTime>51397</TotalTime>
  <Words>2826</Words>
  <Application>Microsoft Office PowerPoint</Application>
  <PresentationFormat>宽屏</PresentationFormat>
  <Paragraphs>328</Paragraphs>
  <Slides>22</Slides>
  <Notes>22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22</vt:i4>
      </vt:variant>
    </vt:vector>
  </HeadingPairs>
  <TitlesOfParts>
    <vt:vector size="36" baseType="lpstr">
      <vt:lpstr>Google Sans Text</vt:lpstr>
      <vt:lpstr>Graphik</vt:lpstr>
      <vt:lpstr>PingFang SC</vt:lpstr>
      <vt:lpstr>ui-sans-serif</vt:lpstr>
      <vt:lpstr>等线</vt:lpstr>
      <vt:lpstr>楷体</vt:lpstr>
      <vt:lpstr>楷体</vt:lpstr>
      <vt:lpstr>Arial</vt:lpstr>
      <vt:lpstr>Calibri</vt:lpstr>
      <vt:lpstr>Noto Sans</vt:lpstr>
      <vt:lpstr>Times New Roman</vt:lpstr>
      <vt:lpstr>Wingdings</vt:lpstr>
      <vt:lpstr>Office 主题​​</vt:lpstr>
      <vt:lpstr>Equation</vt:lpstr>
      <vt:lpstr>能源与全球信用体系变局 ——基于美以伊地缘冲突与石油美元体系变革 </vt:lpstr>
      <vt:lpstr>  引言</vt:lpstr>
      <vt:lpstr>  引言</vt:lpstr>
      <vt:lpstr>1.作为替代的稳定币</vt:lpstr>
      <vt:lpstr>PowerPoint 演示文稿</vt:lpstr>
      <vt:lpstr>PowerPoint 演示文稿</vt:lpstr>
      <vt:lpstr>PowerPoint 演示文稿</vt:lpstr>
      <vt:lpstr>PowerPoint 演示文稿</vt:lpstr>
      <vt:lpstr>1.作为替代的稳定币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谢谢大家！敬请雅正！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信任重构与货币体系变局</dc:title>
  <dc:creator>Kenny</dc:creator>
  <cp:keywords>2025秋外研</cp:keywords>
  <cp:lastModifiedBy>a29757</cp:lastModifiedBy>
  <cp:revision>446</cp:revision>
  <dcterms:created xsi:type="dcterms:W3CDTF">2021-10-09T15:05:00Z</dcterms:created>
  <dcterms:modified xsi:type="dcterms:W3CDTF">2026-04-21T10:47:00Z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C8AF3CB31F4A41E5B4CEF77BEEBF9913_12</vt:lpwstr>
  </property>
  <property fmtid="{D5CDD505-2E9C-101B-9397-08002B2CF9AE}" pid="3" name="KSOProductBuildVer">
    <vt:lpwstr>2052-12.1.0.16120</vt:lpwstr>
  </property>
</Properties>
</file>